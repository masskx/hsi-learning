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c240b5a8c540da" /><Relationship Type="http://schemas.openxmlformats.org/officeDocument/2006/relationships/extended-properties" Target="/docProps/app.xml" Id="Re19fc5e036804edf" /><Relationship Type="http://schemas.openxmlformats.org/officeDocument/2006/relationships/officeDocument" Target="/ppt/presentation.xml" Id="R0d6990447d9747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8b2e3c1b524e54"/>
  </p:sldMasterIdLst>
  <p:notesMasterIdLst>
    <p:notesMasterId xmlns:r="http://schemas.openxmlformats.org/officeDocument/2006/relationships" r:id="R486c664efbde4c73"/>
  </p:notesMasterIdLst>
  <p:sldIdLst>
    <p:sldId xmlns:r="http://schemas.openxmlformats.org/officeDocument/2006/relationships" id="256" r:id="R5ead1527c45f44ba"/>
    <p:sldId xmlns:r="http://schemas.openxmlformats.org/officeDocument/2006/relationships" id="257" r:id="Rb0313cf90b9d4afc"/>
    <p:sldId xmlns:r="http://schemas.openxmlformats.org/officeDocument/2006/relationships" id="258" r:id="R0a70299acf3d4c66"/>
    <p:sldId xmlns:r="http://schemas.openxmlformats.org/officeDocument/2006/relationships" id="259" r:id="R3bb6c172c67f4d57"/>
    <p:sldId xmlns:r="http://schemas.openxmlformats.org/officeDocument/2006/relationships" id="260" r:id="R73d309dc3e8e4d5c"/>
    <p:sldId xmlns:r="http://schemas.openxmlformats.org/officeDocument/2006/relationships" id="261" r:id="R0f6e88c538b34aac"/>
    <p:sldId xmlns:r="http://schemas.openxmlformats.org/officeDocument/2006/relationships" id="262" r:id="Rc63c7afcd3034d7c"/>
    <p:sldId xmlns:r="http://schemas.openxmlformats.org/officeDocument/2006/relationships" id="263" r:id="Ra2fd00362ad54f19"/>
    <p:sldId xmlns:r="http://schemas.openxmlformats.org/officeDocument/2006/relationships" id="264" r:id="R3c2aecab167144fd"/>
    <p:sldId xmlns:r="http://schemas.openxmlformats.org/officeDocument/2006/relationships" id="265" r:id="R8994c47328dc4315"/>
    <p:sldId xmlns:r="http://schemas.openxmlformats.org/officeDocument/2006/relationships" id="266" r:id="R6eaa5770fc0342b0"/>
    <p:sldId xmlns:r="http://schemas.openxmlformats.org/officeDocument/2006/relationships" id="267" r:id="R44eecb79578a467a"/>
    <p:sldId xmlns:r="http://schemas.openxmlformats.org/officeDocument/2006/relationships" id="268" r:id="Rdde2a2ef50fd4d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21227ab3224891" /><Relationship Type="http://schemas.openxmlformats.org/officeDocument/2006/relationships/slideMaster" Target="/ppt/slideMasters/slideMaster1.xml" Id="R4b8b2e3c1b524e54" /><Relationship Type="http://schemas.openxmlformats.org/officeDocument/2006/relationships/notesMaster" Target="/ppt/notesMasters/notesMaster1.xml" Id="R486c664efbde4c73" /><Relationship Type="http://schemas.openxmlformats.org/officeDocument/2006/relationships/presProps" Target="/ppt/presProps.xml" Id="Rc166806d1f5240d1" /><Relationship Type="http://schemas.openxmlformats.org/officeDocument/2006/relationships/tableStyles" Target="/ppt/tableStyles.xml" Id="R32ae94390fa44df3" /><Relationship Type="http://schemas.openxmlformats.org/officeDocument/2006/relationships/slide" Target="/ppt/slides/slide1.xml" Id="R5ead1527c45f44ba" /><Relationship Type="http://schemas.openxmlformats.org/officeDocument/2006/relationships/slide" Target="/ppt/slides/slide2.xml" Id="Rb0313cf90b9d4afc" /><Relationship Type="http://schemas.openxmlformats.org/officeDocument/2006/relationships/slide" Target="/ppt/slides/slide3.xml" Id="R0a70299acf3d4c66" /><Relationship Type="http://schemas.openxmlformats.org/officeDocument/2006/relationships/slide" Target="/ppt/slides/slide4.xml" Id="R3bb6c172c67f4d57" /><Relationship Type="http://schemas.openxmlformats.org/officeDocument/2006/relationships/slide" Target="/ppt/slides/slide5.xml" Id="R73d309dc3e8e4d5c" /><Relationship Type="http://schemas.openxmlformats.org/officeDocument/2006/relationships/slide" Target="/ppt/slides/slide6.xml" Id="R0f6e88c538b34aac" /><Relationship Type="http://schemas.openxmlformats.org/officeDocument/2006/relationships/slide" Target="/ppt/slides/slide7.xml" Id="Rc63c7afcd3034d7c" /><Relationship Type="http://schemas.openxmlformats.org/officeDocument/2006/relationships/slide" Target="/ppt/slides/slide8.xml" Id="Ra2fd00362ad54f19" /><Relationship Type="http://schemas.openxmlformats.org/officeDocument/2006/relationships/slide" Target="/ppt/slides/slide9.xml" Id="R3c2aecab167144fd" /><Relationship Type="http://schemas.openxmlformats.org/officeDocument/2006/relationships/slide" Target="/ppt/slides/slide10.xml" Id="R8994c47328dc4315" /><Relationship Type="http://schemas.openxmlformats.org/officeDocument/2006/relationships/slide" Target="/ppt/slides/slide11.xml" Id="R6eaa5770fc0342b0" /><Relationship Type="http://schemas.openxmlformats.org/officeDocument/2006/relationships/slide" Target="/ppt/slides/slide12.xml" Id="R44eecb79578a467a" /><Relationship Type="http://schemas.openxmlformats.org/officeDocument/2006/relationships/slide" Target="/ppt/slides/slide13.xml" Id="Rdde2a2ef50fd4d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daf9c00ea4e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0b3a0638ba4d96" /><Relationship Type="http://schemas.openxmlformats.org/officeDocument/2006/relationships/notesMaster" Target="/ppt/notesMasters/notesMaster1.xml" Id="R8569ecb9686543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a30f079b624e67" /><Relationship Type="http://schemas.openxmlformats.org/officeDocument/2006/relationships/notesMaster" Target="/ppt/notesMasters/notesMaster1.xml" Id="R787096601fc340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be67bb4a4d4816" /><Relationship Type="http://schemas.openxmlformats.org/officeDocument/2006/relationships/notesMaster" Target="/ppt/notesMasters/notesMaster1.xml" Id="R96be1ab2bd7348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4e30838e214833" /><Relationship Type="http://schemas.openxmlformats.org/officeDocument/2006/relationships/notesMaster" Target="/ppt/notesMasters/notesMaster1.xml" Id="R691f6da998c841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3f22422d6b4590" /><Relationship Type="http://schemas.openxmlformats.org/officeDocument/2006/relationships/notesMaster" Target="/ppt/notesMasters/notesMaster1.xml" Id="Rf24f0771c8d848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936a9e8fa04b67" /><Relationship Type="http://schemas.openxmlformats.org/officeDocument/2006/relationships/notesMaster" Target="/ppt/notesMasters/notesMaster1.xml" Id="Rec0932bedf6c49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508f5165a24b79" /><Relationship Type="http://schemas.openxmlformats.org/officeDocument/2006/relationships/notesMaster" Target="/ppt/notesMasters/notesMaster1.xml" Id="R679528dc08224a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d0ffcbba7b4500" /><Relationship Type="http://schemas.openxmlformats.org/officeDocument/2006/relationships/notesMaster" Target="/ppt/notesMasters/notesMaster1.xml" Id="R9355a944aef349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42168205f84d72" /><Relationship Type="http://schemas.openxmlformats.org/officeDocument/2006/relationships/notesMaster" Target="/ppt/notesMasters/notesMaster1.xml" Id="Rd8f70420761945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74ab0aa4e64f47" /><Relationship Type="http://schemas.openxmlformats.org/officeDocument/2006/relationships/notesMaster" Target="/ppt/notesMasters/notesMaster1.xml" Id="Rb631ca60bcd848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84f7e161ec46dc" /><Relationship Type="http://schemas.openxmlformats.org/officeDocument/2006/relationships/notesMaster" Target="/ppt/notesMasters/notesMaster1.xml" Id="Rc4810b23f03945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f757deb60d4683" /><Relationship Type="http://schemas.openxmlformats.org/officeDocument/2006/relationships/notesMaster" Target="/ppt/notesMasters/notesMaster1.xml" Id="Ra3eb0c45de4a4a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ff177b96534f31" /><Relationship Type="http://schemas.openxmlformats.org/officeDocument/2006/relationships/notesMaster" Target="/ppt/notesMasters/notesMaster1.xml" Id="Rb6f8725541014b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开场问题：Conv2d首层是否聚合所有输入通道？</a:t>
            </a:r>
          </a:p>
          <a:p xmlns:a="http://schemas.openxmlformats.org/drawingml/2006/main">
            <a:r>
              <a:t>原标题：1D、2D、3D：到底沿哪个轴卷积？</a:t>
            </a:r>
          </a:p>
          <a:p xmlns:a="http://schemas.openxmlformats.org/drawingml/2006/main">
            <a:r>
              <a:t>参考节奏：5分钟回顾，10分钟手算，10分钟代码，12分钟练习，5分钟错误分析，3分钟退出题。</a:t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  <a:p xmlns:a="http://schemas.openxmlformats.org/drawingml/2006/main">
            <a:r>
              <a:t>封面图源：12_convolution_classroom.ipynb / current-curves / 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交付物以代码、配置、输出和解释为准。先做完整示例，再做填空与迁移任务。</a:t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此处D可为PCA分量，不能自动称波长轴。给随机张量现场跑一次 Conv1d 看 shape。</a:t>
            </a:r>
          </a:p>
          <a:p xmlns:a="http://schemas.openxmlformats.org/drawingml/2006/main">
            <a:r>
              <a:t>1D: N,1,B / 2D: N,B,H,W / 3D: N,1,D,H,W</a:t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纠正“2D只看一个通道”的常见误解。参数量当场手算，再用 weight.shape 验证。</a:t>
            </a:r>
          </a:p>
          <a:p xmlns:a="http://schemas.openxmlformats.org/drawingml/2006/main">
            <a:r>
              <a:t>Cin channels / kh × kw window / Cout features</a:t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感受野纠错是本项目实测经历：只数卷积核会漏掉池化层。现在测试用例锁死 26（2D 同理是 12），回归测试防止再错。</a:t>
            </a:r>
          </a:p>
          <a:p xmlns:a="http://schemas.openxmlformats.org/drawingml/2006/main">
            <a:r>
              <a:t>Conv / Pool / Next conv</a:t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曲线来自当前classifier-ce演示包，不沿用历史1D模型的训练数字。</a:t>
            </a:r>
          </a:p>
          <a:p xmlns:a="http://schemas.openxmlformats.org/drawingml/2006/main">
            <a:r>
              <a:t>Training loss / train acc / val acc</a:t>
            </a:r>
          </a:p>
          <a:p xmlns:a="http://schemas.openxmlformats.org/drawingml/2006/main">
            <a:r>
              <a:t>图源：12_convolution_classroom.ipynb / current-curves / 0</a:t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Notebook15当前CE和weighted全图；数字只在test中心报告。</a:t>
            </a:r>
          </a:p>
          <a:p xmlns:a="http://schemas.openxmlformats.org/drawingml/2006/main">
            <a:r>
              <a:t>Pseudo RGB / Ground truth / Prediction</a:t>
            </a:r>
          </a:p>
          <a:p xmlns:a="http://schemas.openxmlformats.org/drawingml/2006/main">
            <a:r>
              <a:t>图源：15_imbalance_analysis_teaching.ipynb / maps / 0</a:t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本项目纠过的错：曾把 PCA 分量按每分量 10nm 换算成“覆盖130nm”——错。分量是 200 个波段的线性组合，没有波长。</a:t>
            </a:r>
          </a:p>
          <a:p xmlns:a="http://schemas.openxmlformats.org/drawingml/2006/main">
            <a:r>
              <a:t>Raw bands / PCA basis / Component depth</a:t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先写答案，再运行manual-convolution。深度学习框架的Conv实际使用互相关约定。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原始band与PCA分量的depth语义分别说明。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只运行指定短cell；完整训练已在课前完成。缺资产时使用已执行输出备用并说明。</a:t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停下来收集预测，发现错误后重新解释；不等到课后作业才知道学生没理解。</a:t>
            </a:r>
          </a:p>
          <a:p xmlns:a="http://schemas.openxmlformats.org/drawingml/2006/main">
            <a:r>
              <a:t>作业：A03；完整示例 / 填空 / 迁移；提交代码、配置、结果和限制。</a:t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区分已观察事实、候选解释与下一项检验。</a:t>
            </a:r>
          </a:p>
          <a:p xmlns:a="http://schemas.openxmlformats.org/drawingml/2006/main">
            <a:r>
              <a:t>退出题：Conv2d首层是否聚合所有输入通道？</a:t>
            </a:r>
          </a:p>
          <a:p xmlns:a="http://schemas.openxmlformats.org/drawingml/2006/main">
            <a:r>
              <a:t>课堂入口: 12_convolution_classroom.ipynb</a:t>
            </a:r>
          </a:p>
          <a:p xmlns:a="http://schemas.openxmlformats.org/drawingml/2006/main">
            <a:r>
              <a:t>定位: manual-convolution, three-axes, receptive-field, current-curves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AI辅助：根据这段模型代码生成逐层shape/感受野表，必须把池化、stride、padding写全。列出假设，不凭模型名推断。</a:t>
            </a:r>
          </a:p>
          <a:p xmlns:a="http://schemas.openxmlformats.org/drawingml/2006/main">
            <a:r>
              <a:t>人工核验：dummy forward检查shape；独立递推检查RF；不要把表生成器当真理。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3b8603b2149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3c29f014a4c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2fc00981b46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1d51bb8be4c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e7675fa3f48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2aaaccae447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A2AE68-8A25-4679-AEE8-5ED35424E7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2A17B8-09E2-4100-AB17-E84CD9ACBC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D32436-12F6-461B-A54C-3F84F1B54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F57361-9269-4F5D-908F-77E1A66DF2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788DEF-74D6-4471-8222-9B681A5021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2EEA4A-59C7-4392-8522-BEEBC198DF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C8A0B9-7450-45C2-8EA8-A4B17BBF32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815EFA-5FA6-49CD-AF9A-D4F00494A9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EF136E-F131-4700-ABB1-AC040A84E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89FE0B-6387-490E-BA9D-21A3561D41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b92042106c43f5" /><Relationship Type="http://schemas.openxmlformats.org/officeDocument/2006/relationships/slideLayout" Target="/ppt/slideLayouts/slideLayout1.xml" Id="R223022227a5e423c" /><Relationship Type="http://schemas.openxmlformats.org/officeDocument/2006/relationships/slideLayout" Target="/ppt/slideLayouts/slideLayout2.xml" Id="Rd235e06845a940e5" /><Relationship Type="http://schemas.openxmlformats.org/officeDocument/2006/relationships/slideLayout" Target="/ppt/slideLayouts/slideLayout3.xml" Id="R5ccf791ca24b4492" /><Relationship Type="http://schemas.openxmlformats.org/officeDocument/2006/relationships/slideLayout" Target="/ppt/slideLayouts/slideLayout4.xml" Id="Rd51d8519f69a4bc8" /><Relationship Type="http://schemas.openxmlformats.org/officeDocument/2006/relationships/slideLayout" Target="/ppt/slideLayouts/slideLayout5.xml" Id="R03011c3135564e12" /><Relationship Type="http://schemas.openxmlformats.org/officeDocument/2006/relationships/slideLayout" Target="/ppt/slideLayouts/slideLayout6.xml" Id="R8a9ac841c9ba43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3022227a5e423c"/>
    <p:sldLayoutId xmlns:r="http://schemas.openxmlformats.org/officeDocument/2006/relationships" id="2147483650" r:id="Rd235e06845a940e5"/>
    <p:sldLayoutId xmlns:r="http://schemas.openxmlformats.org/officeDocument/2006/relationships" id="2147483651" r:id="R5ccf791ca24b4492"/>
    <p:sldLayoutId xmlns:r="http://schemas.openxmlformats.org/officeDocument/2006/relationships" id="2147483652" r:id="Rd51d8519f69a4bc8"/>
    <p:sldLayoutId xmlns:r="http://schemas.openxmlformats.org/officeDocument/2006/relationships" id="2147483653" r:id="R03011c3135564e12"/>
    <p:sldLayoutId xmlns:r="http://schemas.openxmlformats.org/officeDocument/2006/relationships" id="2147483654" r:id="R8a9ac841c9ba43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b2237367d4b2c" /><Relationship Type="http://schemas.openxmlformats.org/officeDocument/2006/relationships/image" Target="/ppt/media/image.png" Id="Rb981a6528282446f" /><Relationship Type="http://schemas.openxmlformats.org/officeDocument/2006/relationships/notesSlide" Target="/ppt/notesSlides/notesSlide1.xml" Id="Re1ca5d71d3944e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80c3e7d5c49b4" /><Relationship Type="http://schemas.openxmlformats.org/officeDocument/2006/relationships/notesSlide" Target="/ppt/notesSlides/notesSlide2.xml" Id="R3d4802e0fb8b41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5bf607a1f4614" /><Relationship Type="http://schemas.openxmlformats.org/officeDocument/2006/relationships/notesSlide" Target="/ppt/notesSlides/notesSlide3.xml" Id="R116d6dfb9f6f4f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379790287485c" /><Relationship Type="http://schemas.openxmlformats.org/officeDocument/2006/relationships/image" Target="/ppt/media/image2.png" Id="R419ee8b1a3454e0f" /><Relationship Type="http://schemas.openxmlformats.org/officeDocument/2006/relationships/notesSlide" Target="/ppt/notesSlides/notesSlide4.xml" Id="R1b9cc07d3ed848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3f1b8db9a4184" /><Relationship Type="http://schemas.openxmlformats.org/officeDocument/2006/relationships/image" Target="/ppt/media/image3.png" Id="R5b0231d9338c4c7f" /><Relationship Type="http://schemas.openxmlformats.org/officeDocument/2006/relationships/notesSlide" Target="/ppt/notesSlides/notesSlide5.xml" Id="R92c2fa42568a41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3a996595147e7" /><Relationship Type="http://schemas.openxmlformats.org/officeDocument/2006/relationships/image" Target="/ppt/media/image4.png" Id="Rfedfdc08eaa14189" /><Relationship Type="http://schemas.openxmlformats.org/officeDocument/2006/relationships/notesSlide" Target="/ppt/notesSlides/notesSlide6.xml" Id="R8b90bb3a846340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7ad1318c34b67" /><Relationship Type="http://schemas.openxmlformats.org/officeDocument/2006/relationships/image" Target="/ppt/media/image5.png" Id="Re6a2368dd10f4566" /><Relationship Type="http://schemas.openxmlformats.org/officeDocument/2006/relationships/notesSlide" Target="/ppt/notesSlides/notesSlide7.xml" Id="R03083fb67b514e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6da9246ab4f0b" /><Relationship Type="http://schemas.openxmlformats.org/officeDocument/2006/relationships/notesSlide" Target="/ppt/notesSlides/notesSlide8.xml" Id="R959e3e9d526e4c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9a22294d04da4" /><Relationship Type="http://schemas.openxmlformats.org/officeDocument/2006/relationships/notesSlide" Target="/ppt/notesSlides/notesSlide9.xml" Id="Ra4b9393c641146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7017d6b014736" /><Relationship Type="http://schemas.openxmlformats.org/officeDocument/2006/relationships/notesSlide" Target="/ppt/notesSlides/notesSlide10.xml" Id="Re615b48fcec646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bb5ceaad2d4cd2" /><Relationship Type="http://schemas.openxmlformats.org/officeDocument/2006/relationships/notesSlide" Target="/ppt/notesSlides/notesSlide11.xml" Id="Rebd9f1e97cf54a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ac3734e6a4372" /><Relationship Type="http://schemas.openxmlformats.org/officeDocument/2006/relationships/notesSlide" Target="/ppt/notesSlides/notesSlide12.xml" Id="R5e791340c9454a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0a1409d284090" /><Relationship Type="http://schemas.openxmlformats.org/officeDocument/2006/relationships/notesSlide" Target="/ppt/notesSlides/notesSlide13.xml" Id="Rc3287d2e9d6a4b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C657F4D3-846A-4330-B4C7-44A4B8C6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E18D26EF-85C8-48DF-97CE-FB19FD7F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26A96-BA27-4D43-BE90-E21C9EE9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DB3B6-EB66-476E-A842-2A71031D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卷积的轴&#10;与感受野">
            <a:extLst xmlns:a="http://schemas.openxmlformats.org/drawingml/2006/main">
              <a:ext uri="{FF2B5EF4-FFF2-40B4-BE49-F238E27FC236}">
                <a16:creationId xmlns:a16="http://schemas.microsoft.com/office/drawing/2014/main" id="{EC9FEF48-2496-4553-BCDD-18D7978A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524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卷积的轴</a:t>
            </a:r>
          </a:p>
          <a:p xmlns:a="http://schemas.openxmlformats.org/drawingml/2006/main">
            <a: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与感受野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F1E34-A239-45BB-AD92-E4299DCFE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1a6528282446f"/>
          <a:stretch xmlns:a="http://schemas.openxmlformats.org/drawingml/2006/main"/>
        </p:blipFill>
        <p:spPr>
          <a:xfrm xmlns:a="http://schemas.openxmlformats.org/drawingml/2006/main">
            <a:off x="6849487" y="2076450"/>
            <a:ext cx="4398527" cy="2228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F4124-EBBF-4B45-8EC1-D799C150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核、通道、感受野与计算">
            <a:extLst xmlns:a="http://schemas.openxmlformats.org/drawingml/2006/main">
              <a:ext uri="{FF2B5EF4-FFF2-40B4-BE49-F238E27FC236}">
                <a16:creationId xmlns:a16="http://schemas.microsoft.com/office/drawing/2014/main" id="{A1D4A09D-0F37-484B-9754-99D41C3A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核、通道、感受野与计算</a:t>
            </a:r>
          </a:p>
        </p:txBody>
      </p:sp>
      <p:sp>
        <p:nvSpPr>
          <p:cNvPr id="9" name="先修  /  L04：张量轴与patch">
            <a:extLst xmlns:a="http://schemas.openxmlformats.org/drawingml/2006/main">
              <a:ext uri="{FF2B5EF4-FFF2-40B4-BE49-F238E27FC236}">
                <a16:creationId xmlns:a16="http://schemas.microsoft.com/office/drawing/2014/main" id="{DF48C461-78AF-4700-874B-E9954485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先修  /  L04：张量轴与patch</a:t>
            </a:r>
          </a:p>
        </p:txBody>
      </p:sp>
    </p:spTree>
    <p:extLst>
      <p:ext uri="{BB962C8B-B14F-4D97-AF65-F5344CB8AC3E}">
        <p14:creationId xmlns:p14="http://schemas.microsoft.com/office/powerpoint/2010/main" val="38395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4E182903-EEA7-4D39-B901-42138048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36204FF0-3C68-4481-A942-956EDCFE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这节课，你将完成什么">
            <a:extLst xmlns:a="http://schemas.openxmlformats.org/drawingml/2006/main">
              <a:ext uri="{FF2B5EF4-FFF2-40B4-BE49-F238E27FC236}">
                <a16:creationId xmlns:a16="http://schemas.microsoft.com/office/drawing/2014/main" id="{9A36BEB5-6E9D-4A17-856A-3735BB6B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这节课，你将完成什么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5D1C1-2DE5-40E4-B629-52756A42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A3EEE33D-2DE8-4357-8DDF-DA2E400A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三模型shape表">
            <a:extLst xmlns:a="http://schemas.openxmlformats.org/drawingml/2006/main">
              <a:ext uri="{FF2B5EF4-FFF2-40B4-BE49-F238E27FC236}">
                <a16:creationId xmlns:a16="http://schemas.microsoft.com/office/drawing/2014/main" id="{87427EC9-F7EC-4921-9AF7-9C8C6BFF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三模型shape表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B7643-B01A-482E-BBC4-6220558F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194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84F30148-B6C1-4EA4-B9DD-C6D85C34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含pool的感受野推导">
            <a:extLst xmlns:a="http://schemas.openxmlformats.org/drawingml/2006/main">
              <a:ext uri="{FF2B5EF4-FFF2-40B4-BE49-F238E27FC236}">
                <a16:creationId xmlns:a16="http://schemas.microsoft.com/office/drawing/2014/main" id="{28CF1AB4-DB53-4514-938F-620CD2F7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09975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含pool的感受野推导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58E58-8D50-4FBA-8729-6745692A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CFC5ADAE-DCFD-4C5D-8EE8-9F48A789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受控对比限制">
            <a:extLst xmlns:a="http://schemas.openxmlformats.org/drawingml/2006/main">
              <a:ext uri="{FF2B5EF4-FFF2-40B4-BE49-F238E27FC236}">
                <a16:creationId xmlns:a16="http://schemas.microsoft.com/office/drawing/2014/main" id="{A5E92B3E-727C-440C-A300-B7E9E2FA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006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受控对比限制</a:t>
            </a:r>
          </a:p>
        </p:txBody>
      </p:sp>
    </p:spTree>
    <p:extLst>
      <p:ext uri="{BB962C8B-B14F-4D97-AF65-F5344CB8AC3E}">
        <p14:creationId xmlns:p14="http://schemas.microsoft.com/office/powerpoint/2010/main" val="1351079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7A3FF032-4974-4476-92B6-A0313E4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F8D5E30F-249E-4C00-8BDD-3D5ED218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先看轴，再看模型名字">
            <a:extLst xmlns:a="http://schemas.openxmlformats.org/drawingml/2006/main">
              <a:ext uri="{FF2B5EF4-FFF2-40B4-BE49-F238E27FC236}">
                <a16:creationId xmlns:a16="http://schemas.microsoft.com/office/drawing/2014/main" id="{91CDC391-2D7A-4F1D-A2E8-07C6B325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先看轴，再看模型名字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6C74D-7099-472E-961C-DEB24861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0723E995-37E7-485E-8FEC-2A425ED0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1D沿波段索引">
            <a:extLst xmlns:a="http://schemas.openxmlformats.org/drawingml/2006/main">
              <a:ext uri="{FF2B5EF4-FFF2-40B4-BE49-F238E27FC236}">
                <a16:creationId xmlns:a16="http://schemas.microsoft.com/office/drawing/2014/main" id="{31FEA069-2D9E-4D30-AB9D-A21DE37F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1D沿波段索引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105B6D93-FBD5-4A84-BE06-8DC6EA4F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2D沿空间，聚合所有输入通道">
            <a:extLst xmlns:a="http://schemas.openxmlformats.org/drawingml/2006/main">
              <a:ext uri="{FF2B5EF4-FFF2-40B4-BE49-F238E27FC236}">
                <a16:creationId xmlns:a16="http://schemas.microsoft.com/office/drawing/2014/main" id="{43E22D80-E579-4DCF-AA03-13C18C6C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2D沿空间，聚合所有输入通道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AD624FE8-6063-4502-B649-E4549E65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3D沿深度与空间局部滑动">
            <a:extLst xmlns:a="http://schemas.openxmlformats.org/drawingml/2006/main">
              <a:ext uri="{FF2B5EF4-FFF2-40B4-BE49-F238E27FC236}">
                <a16:creationId xmlns:a16="http://schemas.microsoft.com/office/drawing/2014/main" id="{8B221D70-51C9-40C8-A0B4-05C8DA48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3D沿深度与空间局部滑动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1F5F3-E686-4C8D-AC20-26A8C6A2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2" name="&gt;&gt;&gt; nn.Conv1d(1, 32, 7)(torch.">
            <a:extLst xmlns:a="http://schemas.openxmlformats.org/drawingml/2006/main">
              <a:ext uri="{FF2B5EF4-FFF2-40B4-BE49-F238E27FC236}">
                <a16:creationId xmlns:a16="http://schemas.microsoft.com/office/drawing/2014/main" id="{B1D3DDB4-218B-4DD2-9F14-C83AA04F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040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&gt;&gt;&gt; nn.Conv1d(1, 32, 7)(torch.randn(2,1,200)).shape</a:t>
            </a:r>
          </a:p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torch.Size([2, 32, 194])</a:t>
            </a:r>
          </a:p>
        </p:txBody>
      </p:sp>
    </p:spTree>
    <p:extLst>
      <p:ext uri="{BB962C8B-B14F-4D97-AF65-F5344CB8AC3E}">
        <p14:creationId xmlns:p14="http://schemas.microsoft.com/office/powerpoint/2010/main" val="2121585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69F79EAB-F699-4501-903C-7904D91C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66DF34E7-3885-4E2C-A389-CDC80773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2D卷积也混合通道">
            <a:extLst xmlns:a="http://schemas.openxmlformats.org/drawingml/2006/main">
              <a:ext uri="{FF2B5EF4-FFF2-40B4-BE49-F238E27FC236}">
                <a16:creationId xmlns:a16="http://schemas.microsoft.com/office/drawing/2014/main" id="{7CA7F8B8-219B-4017-BF83-D9A8C620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2D卷积也混合通道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CE54F-885E-4405-BD9F-D57E6517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groups=1时每核看全部Cin">
            <a:extLst xmlns:a="http://schemas.openxmlformats.org/drawingml/2006/main">
              <a:ext uri="{FF2B5EF4-FFF2-40B4-BE49-F238E27FC236}">
                <a16:creationId xmlns:a16="http://schemas.microsoft.com/office/drawing/2014/main" id="{BDE36A1B-FA40-413F-BFD3-5316E521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groups=1时每核看全部Cin</a:t>
            </a:r>
          </a:p>
        </p:txBody>
      </p:sp>
      <p:sp>
        <p:nvSpPr>
          <p:cNvPr id="6" name="首层 12→32、k=3：32·12·3·3+32=3488">
            <a:extLst xmlns:a="http://schemas.openxmlformats.org/drawingml/2006/main">
              <a:ext uri="{FF2B5EF4-FFF2-40B4-BE49-F238E27FC236}">
                <a16:creationId xmlns:a16="http://schemas.microsoft.com/office/drawing/2014/main" id="{4EAE6C73-07D0-41E2-BF8E-44680AC5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首层 12→32、k=3：32·12·3·3+32=3488</a:t>
            </a:r>
          </a:p>
        </p:txBody>
      </p:sp>
      <p:sp>
        <p:nvSpPr>
          <p:cNvPr id="7" name="3D区别在depth轴的局部共享">
            <a:extLst xmlns:a="http://schemas.openxmlformats.org/drawingml/2006/main">
              <a:ext uri="{FF2B5EF4-FFF2-40B4-BE49-F238E27FC236}">
                <a16:creationId xmlns:a16="http://schemas.microsoft.com/office/drawing/2014/main" id="{B377885D-31E0-41CF-8DD9-B3937077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3D区别在depth轴的局部共享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827ED-3FB9-4FE5-AAA8-A3ECAD2949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ee8b1a3454e0f"/>
          <a:stretch xmlns:a="http://schemas.openxmlformats.org/drawingml/2006/main"/>
        </p:blipFill>
        <p:spPr>
          <a:xfrm xmlns:a="http://schemas.openxmlformats.org/drawingml/2006/main">
            <a:off x="6096000" y="3059477"/>
            <a:ext cx="5410200" cy="65332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AC2ED-7D87-44A9-B49F-3BE93F3C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0" name="&gt;&gt;&gt; nn.Conv2d(12, 32, 3).weigh">
            <a:extLst xmlns:a="http://schemas.openxmlformats.org/drawingml/2006/main">
              <a:ext uri="{FF2B5EF4-FFF2-40B4-BE49-F238E27FC236}">
                <a16:creationId xmlns:a16="http://schemas.microsoft.com/office/drawing/2014/main" id="{22DF5322-467E-4550-9A37-1D5089C9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52E50"/>
                </a:solidFill>
                <a:latin typeface="Consolas"/>
                <a:ea typeface="Consolas"/>
                <a:cs typeface="Consolas"/>
              </a:rPr>
              <a:t>&gt;&gt;&gt; nn.Conv2d(12, 32, 3).weight.shape</a:t>
            </a:r>
          </a:p>
        </p:txBody>
      </p:sp>
      <p:sp>
        <p:nvSpPr>
          <p:cNvPr id="11" name="torch.Size([32, 12, 3, 3])">
            <a:extLst xmlns:a="http://schemas.openxmlformats.org/drawingml/2006/main">
              <a:ext uri="{FF2B5EF4-FFF2-40B4-BE49-F238E27FC236}">
                <a16:creationId xmlns:a16="http://schemas.microsoft.com/office/drawing/2014/main" id="{06553719-57CA-4DC2-BC0A-09B3F1E4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05525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torch.Size([32, 12, 3, 3])</a:t>
            </a:r>
          </a:p>
        </p:txBody>
      </p:sp>
    </p:spTree>
    <p:extLst>
      <p:ext uri="{BB962C8B-B14F-4D97-AF65-F5344CB8AC3E}">
        <p14:creationId xmlns:p14="http://schemas.microsoft.com/office/powerpoint/2010/main" val="2117702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19E24025-8C50-4859-A716-9ADFFAC2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0FD85428-D5BE-40AE-AA2C-DCDB149E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池化也扩大感受野">
            <a:extLst xmlns:a="http://schemas.openxmlformats.org/drawingml/2006/main">
              <a:ext uri="{FF2B5EF4-FFF2-40B4-BE49-F238E27FC236}">
                <a16:creationId xmlns:a16="http://schemas.microsoft.com/office/drawing/2014/main" id="{6589D1A8-1819-4F6F-BF95-9292BC63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池化也扩大感受野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2E9AC-B93F-4E12-9C6B-6C0F91F9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r′=r+(k−1)·j，池化核也要算">
            <a:extLst xmlns:a="http://schemas.openxmlformats.org/drawingml/2006/main">
              <a:ext uri="{FF2B5EF4-FFF2-40B4-BE49-F238E27FC236}">
                <a16:creationId xmlns:a16="http://schemas.microsoft.com/office/drawing/2014/main" id="{6DBC3F7B-0FE6-4CFD-9328-BD9AC95B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r′=r+(k−1)·j，池化核也要算</a:t>
            </a:r>
          </a:p>
        </p:txBody>
      </p:sp>
      <p:sp>
        <p:nvSpPr>
          <p:cNvPr id="6" name="1D 实算 7→8→16→18→26">
            <a:extLst xmlns:a="http://schemas.openxmlformats.org/drawingml/2006/main">
              <a:ext uri="{FF2B5EF4-FFF2-40B4-BE49-F238E27FC236}">
                <a16:creationId xmlns:a16="http://schemas.microsoft.com/office/drawing/2014/main" id="{31C52438-68F9-4E56-9343-0BA14CA5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1D 实算 7→8→16→18→26</a:t>
            </a:r>
          </a:p>
        </p:txBody>
      </p:sp>
      <p:sp>
        <p:nvSpPr>
          <p:cNvPr id="7" name="含池化的理论RF为26；逐层独立递推">
            <a:extLst xmlns:a="http://schemas.openxmlformats.org/drawingml/2006/main">
              <a:ext uri="{FF2B5EF4-FFF2-40B4-BE49-F238E27FC236}">
                <a16:creationId xmlns:a16="http://schemas.microsoft.com/office/drawing/2014/main" id="{6EF8BE41-F8E8-4698-94BC-24BE3BAF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含池化的理论RF为26；逐层独立递推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79707-F09F-47E3-80D3-C0A8466498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231d9338c4c7f"/>
          <a:stretch xmlns:a="http://schemas.openxmlformats.org/drawingml/2006/main"/>
        </p:blipFill>
        <p:spPr>
          <a:xfrm xmlns:a="http://schemas.openxmlformats.org/drawingml/2006/main">
            <a:off x="6096000" y="3141691"/>
            <a:ext cx="5410200" cy="48889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70C97-8679-48D7-A450-F8DC3F0D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0" name="&gt;&gt;&gt; assert r == 26; r">
            <a:extLst xmlns:a="http://schemas.openxmlformats.org/drawingml/2006/main">
              <a:ext uri="{FF2B5EF4-FFF2-40B4-BE49-F238E27FC236}">
                <a16:creationId xmlns:a16="http://schemas.microsoft.com/office/drawing/2014/main" id="{74FA76DA-54D1-49F4-84E5-496CF65B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52E50"/>
                </a:solidFill>
                <a:latin typeface="Consolas"/>
                <a:ea typeface="Consolas"/>
                <a:cs typeface="Consolas"/>
              </a:rPr>
              <a:t>&gt;&gt;&gt; assert r == 26; r</a:t>
            </a:r>
          </a:p>
        </p:txBody>
      </p:sp>
      <p:sp>
        <p:nvSpPr>
          <p:cNvPr id="11" name="26">
            <a:extLst xmlns:a="http://schemas.openxmlformats.org/drawingml/2006/main">
              <a:ext uri="{FF2B5EF4-FFF2-40B4-BE49-F238E27FC236}">
                <a16:creationId xmlns:a16="http://schemas.microsoft.com/office/drawing/2014/main" id="{A680F1C4-D8D6-4876-8BFE-95CE48FD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05525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38987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40EA3241-E06E-4E4E-847C-C200642A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93D7B9EE-1A18-442D-85C1-912290F4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训练曲线读的是趋势">
            <a:extLst xmlns:a="http://schemas.openxmlformats.org/drawingml/2006/main">
              <a:ext uri="{FF2B5EF4-FFF2-40B4-BE49-F238E27FC236}">
                <a16:creationId xmlns:a16="http://schemas.microsoft.com/office/drawing/2014/main" id="{121857B4-F93F-4F60-AD90-BDA01DAE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训练曲线读的是趋势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92599-9A48-4E3B-95C8-03FB8A63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95A82-FB67-4F92-93E3-F6B24AB4DC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fdc08eaa14189"/>
          <a:stretch xmlns:a="http://schemas.openxmlformats.org/drawingml/2006/main"/>
        </p:blipFill>
        <p:spPr>
          <a:xfrm xmlns:a="http://schemas.openxmlformats.org/drawingml/2006/main">
            <a:off x="2242590" y="2019300"/>
            <a:ext cx="7706821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8B35B-4116-415D-8F78-24D0C35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7" name="当前协议E的train与val曲线">
            <a:extLst xmlns:a="http://schemas.openxmlformats.org/drawingml/2006/main">
              <a:ext uri="{FF2B5EF4-FFF2-40B4-BE49-F238E27FC236}">
                <a16:creationId xmlns:a16="http://schemas.microsoft.com/office/drawing/2014/main" id="{A8977FBA-653B-4EEC-83C3-4575D4FB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当前协议E的train与val曲线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3199A-6407-47EC-8F53-C0D98614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9" name="看趋势与验证选择，不只看末轮">
            <a:extLst xmlns:a="http://schemas.openxmlformats.org/drawingml/2006/main">
              <a:ext uri="{FF2B5EF4-FFF2-40B4-BE49-F238E27FC236}">
                <a16:creationId xmlns:a16="http://schemas.microsoft.com/office/drawing/2014/main" id="{84037A70-E8E0-41C7-BE66-81756E2A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看趋势与验证选择，不只看末轮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2F830-D819-4149-B4F9-14E6B23F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11" name="逐类表现另看Notebook15">
            <a:extLst xmlns:a="http://schemas.openxmlformats.org/drawingml/2006/main">
              <a:ext uri="{FF2B5EF4-FFF2-40B4-BE49-F238E27FC236}">
                <a16:creationId xmlns:a16="http://schemas.microsoft.com/office/drawing/2014/main" id="{D9AA33A5-1A0B-4DAB-9718-CCC93728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逐类表现另看Notebook15</a:t>
            </a:r>
          </a:p>
        </p:txBody>
      </p:sp>
    </p:spTree>
    <p:extLst>
      <p:ext uri="{BB962C8B-B14F-4D97-AF65-F5344CB8AC3E}">
        <p14:creationId xmlns:p14="http://schemas.microsoft.com/office/powerpoint/2010/main" val="273235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AA454B78-EF23-49F9-B6E6-D3CD5498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3C4F7580-527F-4DC4-BE7C-C5EA8D80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预测放回空间再读">
            <a:extLst xmlns:a="http://schemas.openxmlformats.org/drawingml/2006/main">
              <a:ext uri="{FF2B5EF4-FFF2-40B4-BE49-F238E27FC236}">
                <a16:creationId xmlns:a16="http://schemas.microsoft.com/office/drawing/2014/main" id="{5E47DF46-1D2E-40A8-B909-3FA48044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预测放回空间再读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8004A-77E4-4781-B87B-0FADC822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16D2C-EE54-4D30-A879-394CEA28A3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2368dd10f4566"/>
          <a:stretch xmlns:a="http://schemas.openxmlformats.org/drawingml/2006/main"/>
        </p:blipFill>
        <p:spPr>
          <a:xfrm xmlns:a="http://schemas.openxmlformats.org/drawingml/2006/main">
            <a:off x="685800" y="2052952"/>
            <a:ext cx="10820400" cy="383794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91EF1-8096-43E2-982B-C4F1C571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7" name="同split的GT与两种损失预测">
            <a:extLst xmlns:a="http://schemas.openxmlformats.org/drawingml/2006/main">
              <a:ext uri="{FF2B5EF4-FFF2-40B4-BE49-F238E27FC236}">
                <a16:creationId xmlns:a16="http://schemas.microsoft.com/office/drawing/2014/main" id="{13BA5EF9-5154-4C10-A461-46DB4220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同split的GT与两种损失预测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5AF83-1FFF-4DA5-A3A4-F7FCDAF7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9" name="全图显示包含训练中心">
            <a:extLst xmlns:a="http://schemas.openxmlformats.org/drawingml/2006/main">
              <a:ext uri="{FF2B5EF4-FFF2-40B4-BE49-F238E27FC236}">
                <a16:creationId xmlns:a16="http://schemas.microsoft.com/office/drawing/2014/main" id="{2E8E1D36-B145-4E5F-8EE9-AEBA00E6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全图显示包含训练中心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806A7-E79B-4C1D-B0FB-9C48018E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11" name="错误图只评价test中心">
            <a:extLst xmlns:a="http://schemas.openxmlformats.org/drawingml/2006/main">
              <a:ext uri="{FF2B5EF4-FFF2-40B4-BE49-F238E27FC236}">
                <a16:creationId xmlns:a16="http://schemas.microsoft.com/office/drawing/2014/main" id="{3B1BD61E-8B43-4D2E-80C2-A182644B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错误图只评价test中心</a:t>
            </a:r>
          </a:p>
        </p:txBody>
      </p:sp>
    </p:spTree>
    <p:extLst>
      <p:ext uri="{BB962C8B-B14F-4D97-AF65-F5344CB8AC3E}">
        <p14:creationId xmlns:p14="http://schemas.microsoft.com/office/powerpoint/2010/main" val="1434826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D44D74D3-82DE-4EAE-B996-40C48BB4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F6B50313-E417-4875-826B-06FBFB4E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PCA空间与物理光谱分开">
            <a:extLst xmlns:a="http://schemas.openxmlformats.org/drawingml/2006/main">
              <a:ext uri="{FF2B5EF4-FFF2-40B4-BE49-F238E27FC236}">
                <a16:creationId xmlns:a16="http://schemas.microsoft.com/office/drawing/2014/main" id="{A234D27F-493E-4F69-A53F-7CFABFF8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PCA空间与物理光谱分开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B983B-961C-40B0-AAF6-BB5DFAAA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A6FF6E72-4DB3-4A36-A999-77305ADA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C是原波段的线性组合">
            <a:extLst xmlns:a="http://schemas.openxmlformats.org/drawingml/2006/main">
              <a:ext uri="{FF2B5EF4-FFF2-40B4-BE49-F238E27FC236}">
                <a16:creationId xmlns:a16="http://schemas.microsoft.com/office/drawing/2014/main" id="{52F7A82F-D848-4A5E-9A42-C12BCED4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PC是原波段的线性组合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FB246B5C-05B7-4A02-82AC-2332BFDD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分量相邻不等于波长相邻">
            <a:extLst xmlns:a="http://schemas.openxmlformats.org/drawingml/2006/main">
              <a:ext uri="{FF2B5EF4-FFF2-40B4-BE49-F238E27FC236}">
                <a16:creationId xmlns:a16="http://schemas.microsoft.com/office/drawing/2014/main" id="{ED9254F7-9AEB-495D-9A93-894433B0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分量相邻不等于波长相邻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90A49B48-DA47-43DA-AD45-433990D3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RF不能换算成nm">
            <a:extLst xmlns:a="http://schemas.openxmlformats.org/drawingml/2006/main">
              <a:ext uri="{FF2B5EF4-FFF2-40B4-BE49-F238E27FC236}">
                <a16:creationId xmlns:a16="http://schemas.microsoft.com/office/drawing/2014/main" id="{C2D2825E-5CD5-4D74-B1CB-13919BD6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RF不能换算成nm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C3A93-B670-4463-9B6B-F7414A11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2" name="&gt;&gt;&gt; (cfg['components'], 200)&#10;(">
            <a:extLst xmlns:a="http://schemas.openxmlformats.org/drawingml/2006/main">
              <a:ext uri="{FF2B5EF4-FFF2-40B4-BE49-F238E27FC236}">
                <a16:creationId xmlns:a16="http://schemas.microsoft.com/office/drawing/2014/main" id="{4D73192A-CB9B-4958-83EF-4A647383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040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&gt;&gt;&gt; (cfg['components'], 200)</a:t>
            </a:r>
          </a:p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(12, 200)</a:t>
            </a:r>
          </a:p>
        </p:txBody>
      </p:sp>
    </p:spTree>
    <p:extLst>
      <p:ext uri="{BB962C8B-B14F-4D97-AF65-F5344CB8AC3E}">
        <p14:creationId xmlns:p14="http://schemas.microsoft.com/office/powerpoint/2010/main" val="5992079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22EB4C16-87A9-4FB2-A32E-E3BD49CB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9562399C-DF88-4D69-80FA-FD51E8C9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一次卷积乘加">
            <a:extLst xmlns:a="http://schemas.openxmlformats.org/drawingml/2006/main">
              <a:ext uri="{FF2B5EF4-FFF2-40B4-BE49-F238E27FC236}">
                <a16:creationId xmlns:a16="http://schemas.microsoft.com/office/drawing/2014/main" id="{667B5A41-DCE5-47E7-BD16-C2E63579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一次卷积乘加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C1611-200B-4105-B8C9-A311F0E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输入[1,2,3,4,5]，核[1,0,-1]">
            <a:extLst xmlns:a="http://schemas.openxmlformats.org/drawingml/2006/main">
              <a:ext uri="{FF2B5EF4-FFF2-40B4-BE49-F238E27FC236}">
                <a16:creationId xmlns:a16="http://schemas.microsoft.com/office/drawing/2014/main" id="{EBF2E400-A3DB-41F9-A389-BB9E9FE1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输入[1,2,3,4,5]，核[1,0,-1]</a:t>
            </a:r>
          </a:p>
        </p:txBody>
      </p:sp>
      <p:sp>
        <p:nvSpPr>
          <p:cNvPr id="6" name="步长1、无padding，输出长度3">
            <a:extLst xmlns:a="http://schemas.openxmlformats.org/drawingml/2006/main">
              <a:ext uri="{FF2B5EF4-FFF2-40B4-BE49-F238E27FC236}">
                <a16:creationId xmlns:a16="http://schemas.microsoft.com/office/drawing/2014/main" id="{086DC981-50D5-4C8E-9DFC-1B42565A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步长1、无padding，输出长度3</a:t>
            </a:r>
          </a:p>
        </p:txBody>
      </p:sp>
      <p:sp>
        <p:nvSpPr>
          <p:cNvPr id="7" name="三个位置输出都为-2">
            <a:extLst xmlns:a="http://schemas.openxmlformats.org/drawingml/2006/main">
              <a:ext uri="{FF2B5EF4-FFF2-40B4-BE49-F238E27FC236}">
                <a16:creationId xmlns:a16="http://schemas.microsoft.com/office/drawing/2014/main" id="{690B0049-F039-4E0B-A59E-293019FB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三个位置输出都为-2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A62C37BF-E2D5-4C23-AF71-124880F1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[1,2,3]">
            <a:extLst xmlns:a="http://schemas.openxmlformats.org/drawingml/2006/main">
              <a:ext uri="{FF2B5EF4-FFF2-40B4-BE49-F238E27FC236}">
                <a16:creationId xmlns:a16="http://schemas.microsoft.com/office/drawing/2014/main" id="{0DF0A893-03F1-48DA-92E5-133B9434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4767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[1,2,3]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FB70D-1CA8-42B9-84A3-D9983F08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90825"/>
            <a:ext cx="9525" cy="74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6B7A7DC4-E44D-474D-884E-33B3AC56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680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1×1+2×0−3×1">
            <a:extLst xmlns:a="http://schemas.openxmlformats.org/drawingml/2006/main">
              <a:ext uri="{FF2B5EF4-FFF2-40B4-BE49-F238E27FC236}">
                <a16:creationId xmlns:a16="http://schemas.microsoft.com/office/drawing/2014/main" id="{5797292D-D369-47CA-9D70-A91B62EE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6800"/>
            <a:ext cx="44767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1×1+2×0−3×1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9BCC5-A5CD-4E49-B3C3-A6FE316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2575"/>
            <a:ext cx="9525" cy="74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8C37EB20-059B-42E7-8B9D-55423E5D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085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输出−2">
            <a:extLst xmlns:a="http://schemas.openxmlformats.org/drawingml/2006/main">
              <a:ext uri="{FF2B5EF4-FFF2-40B4-BE49-F238E27FC236}">
                <a16:creationId xmlns:a16="http://schemas.microsoft.com/office/drawing/2014/main" id="{9535F9C0-DB98-4CA3-B318-8CF5D00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08550"/>
            <a:ext cx="44767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输出−2</a:t>
            </a:r>
          </a:p>
        </p:txBody>
      </p:sp>
    </p:spTree>
    <p:extLst>
      <p:ext uri="{BB962C8B-B14F-4D97-AF65-F5344CB8AC3E}">
        <p14:creationId xmlns:p14="http://schemas.microsoft.com/office/powerpoint/2010/main" val="1121035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9BFA37C9-5AE6-4533-AE06-3E7ACBBF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AFB921E0-3721-4194-B792-80FCF3CB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三种输入轴与参数量">
            <a:extLst xmlns:a="http://schemas.openxmlformats.org/drawingml/2006/main">
              <a:ext uri="{FF2B5EF4-FFF2-40B4-BE49-F238E27FC236}">
                <a16:creationId xmlns:a16="http://schemas.microsoft.com/office/drawing/2014/main" id="{29F31451-9B2D-4A8C-B9D4-58B44EDB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三种输入轴与参数量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54CD0-9575-4EA5-B144-38BA8286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batch变化不改变权重形状  ·  2D核聚合全部Cin ">
            <a:extLst xmlns:a="http://schemas.openxmlformats.org/drawingml/2006/main">
              <a:ext uri="{FF2B5EF4-FFF2-40B4-BE49-F238E27FC236}">
                <a16:creationId xmlns:a16="http://schemas.microsoft.com/office/drawing/2014/main" id="{11BB4D26-B48C-4324-93EC-22421597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batch变化不改变权重形状  ·  2D核聚合全部Cin  ·  3D核沿depth局部滑动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1D373-EBE1-4375-8BF3-2DB86D1A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E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D30F7-3C86-4549-A373-6F7A6F0E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模型">
            <a:extLst xmlns:a="http://schemas.openxmlformats.org/drawingml/2006/main">
              <a:ext uri="{FF2B5EF4-FFF2-40B4-BE49-F238E27FC236}">
                <a16:creationId xmlns:a16="http://schemas.microsoft.com/office/drawing/2014/main" id="{F2B644D1-05B6-4358-8815-0777535A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3275"/>
            <a:ext cx="334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9" name="输入">
            <a:extLst xmlns:a="http://schemas.openxmlformats.org/drawingml/2006/main">
              <a:ext uri="{FF2B5EF4-FFF2-40B4-BE49-F238E27FC236}">
                <a16:creationId xmlns:a16="http://schemas.microsoft.com/office/drawing/2014/main" id="{FC5F32CD-3FC4-40D3-9663-C98197BE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343275"/>
            <a:ext cx="334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滑动轴">
            <a:extLst xmlns:a="http://schemas.openxmlformats.org/drawingml/2006/main">
              <a:ext uri="{FF2B5EF4-FFF2-40B4-BE49-F238E27FC236}">
                <a16:creationId xmlns:a16="http://schemas.microsoft.com/office/drawing/2014/main" id="{9E816FB6-892C-46EF-8962-601B97FC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343275"/>
            <a:ext cx="334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滑动轴</a:t>
            </a:r>
          </a:p>
        </p:txBody>
      </p:sp>
      <p:sp>
        <p:nvSpPr>
          <p:cNvPr id="11" name="Conv1d">
            <a:extLst xmlns:a="http://schemas.openxmlformats.org/drawingml/2006/main">
              <a:ext uri="{FF2B5EF4-FFF2-40B4-BE49-F238E27FC236}">
                <a16:creationId xmlns:a16="http://schemas.microsoft.com/office/drawing/2014/main" id="{E9095D0C-4BEE-49C0-8322-6B6FC204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334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Conv1d</a:t>
            </a:r>
          </a:p>
        </p:txBody>
      </p:sp>
      <p:sp>
        <p:nvSpPr>
          <p:cNvPr id="12" name="N,1,B">
            <a:extLst xmlns:a="http://schemas.openxmlformats.org/drawingml/2006/main">
              <a:ext uri="{FF2B5EF4-FFF2-40B4-BE49-F238E27FC236}">
                <a16:creationId xmlns:a16="http://schemas.microsoft.com/office/drawing/2014/main" id="{135F4E26-EDB7-45D1-8974-F6ACF70D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4057650"/>
            <a:ext cx="334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N,1,B</a:t>
            </a:r>
          </a:p>
        </p:txBody>
      </p:sp>
      <p:sp>
        <p:nvSpPr>
          <p:cNvPr id="13" name="B">
            <a:extLst xmlns:a="http://schemas.openxmlformats.org/drawingml/2006/main">
              <a:ext uri="{FF2B5EF4-FFF2-40B4-BE49-F238E27FC236}">
                <a16:creationId xmlns:a16="http://schemas.microsoft.com/office/drawing/2014/main" id="{7DAF9D9A-8A66-4BC5-A073-19CA19C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4057650"/>
            <a:ext cx="334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4" name="Conv2d">
            <a:extLst xmlns:a="http://schemas.openxmlformats.org/drawingml/2006/main">
              <a:ext uri="{FF2B5EF4-FFF2-40B4-BE49-F238E27FC236}">
                <a16:creationId xmlns:a16="http://schemas.microsoft.com/office/drawing/2014/main" id="{6132DFE5-471D-4BA3-B4E3-310E80DE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334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Conv2d</a:t>
            </a:r>
          </a:p>
        </p:txBody>
      </p:sp>
      <p:sp>
        <p:nvSpPr>
          <p:cNvPr id="15" name="N,B,H,W">
            <a:extLst xmlns:a="http://schemas.openxmlformats.org/drawingml/2006/main">
              <a:ext uri="{FF2B5EF4-FFF2-40B4-BE49-F238E27FC236}">
                <a16:creationId xmlns:a16="http://schemas.microsoft.com/office/drawing/2014/main" id="{5858C903-57CC-4CC9-986A-B2F921A2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4772025"/>
            <a:ext cx="334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N,B,H,W</a:t>
            </a:r>
          </a:p>
        </p:txBody>
      </p:sp>
      <p:sp>
        <p:nvSpPr>
          <p:cNvPr id="16" name="H,W">
            <a:extLst xmlns:a="http://schemas.openxmlformats.org/drawingml/2006/main">
              <a:ext uri="{FF2B5EF4-FFF2-40B4-BE49-F238E27FC236}">
                <a16:creationId xmlns:a16="http://schemas.microsoft.com/office/drawing/2014/main" id="{2A310E53-F651-4110-ACD3-C5B11677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4772025"/>
            <a:ext cx="334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H,W</a:t>
            </a:r>
          </a:p>
        </p:txBody>
      </p:sp>
      <p:sp>
        <p:nvSpPr>
          <p:cNvPr id="17" name="Conv3d">
            <a:extLst xmlns:a="http://schemas.openxmlformats.org/drawingml/2006/main">
              <a:ext uri="{FF2B5EF4-FFF2-40B4-BE49-F238E27FC236}">
                <a16:creationId xmlns:a16="http://schemas.microsoft.com/office/drawing/2014/main" id="{2A2D3006-82AF-4AA2-A6FD-59EAED1B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334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Conv3d</a:t>
            </a:r>
          </a:p>
        </p:txBody>
      </p:sp>
      <p:sp>
        <p:nvSpPr>
          <p:cNvPr id="18" name="N,1,D,H,W">
            <a:extLst xmlns:a="http://schemas.openxmlformats.org/drawingml/2006/main">
              <a:ext uri="{FF2B5EF4-FFF2-40B4-BE49-F238E27FC236}">
                <a16:creationId xmlns:a16="http://schemas.microsoft.com/office/drawing/2014/main" id="{03C3BBF5-BE02-4170-953D-62658D2C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5486400"/>
            <a:ext cx="334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N,1,D,H,W</a:t>
            </a:r>
          </a:p>
        </p:txBody>
      </p:sp>
      <p:sp>
        <p:nvSpPr>
          <p:cNvPr id="19" name="D,H,W">
            <a:extLst xmlns:a="http://schemas.openxmlformats.org/drawingml/2006/main">
              <a:ext uri="{FF2B5EF4-FFF2-40B4-BE49-F238E27FC236}">
                <a16:creationId xmlns:a16="http://schemas.microsoft.com/office/drawing/2014/main" id="{F6954C21-3C91-4493-8639-37774FF9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5486400"/>
            <a:ext cx="334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D,H,W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A10A3-9EA6-48C9-B2BE-4205CB03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E5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223043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115004B5-9D34-42AC-B00F-4CEF7178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F255A2B1-DFCD-4C69-A587-13DEC4A9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让代码验证你的判断">
            <a:extLst xmlns:a="http://schemas.openxmlformats.org/drawingml/2006/main">
              <a:ext uri="{FF2B5EF4-FFF2-40B4-BE49-F238E27FC236}">
                <a16:creationId xmlns:a16="http://schemas.microsoft.com/office/drawing/2014/main" id="{EC1D91D3-1980-4A48-98B3-313BFF29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让代码验证你的判断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ECC6A-9413-4F18-817E-E07959B1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05931-599D-46BB-AAAD-7C1A7215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E3C"/>
          </a:solidFill>
          <a:ln xmlns:a="http://schemas.openxmlformats.org/drawingml/2006/main" w="0">
            <a:noFill/>
          </a:ln>
        </p:spPr>
      </p:sp>
      <p:sp>
        <p:nvSpPr>
          <p:cNvPr id="6" name="r, jump = 1, 1&#10;for kernel, str">
            <a:extLst xmlns:a="http://schemas.openxmlformats.org/drawingml/2006/main">
              <a:ext uri="{FF2B5EF4-FFF2-40B4-BE49-F238E27FC236}">
                <a16:creationId xmlns:a16="http://schemas.microsoft.com/office/drawing/2014/main" id="{1F011510-A1EA-4BE2-82C6-25B97182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287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r, jump = 1, 1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for kernel, stride in [(7,1),(2,2),(5,1),(2,2),(3,1)]: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    r += (kernel-1)*jump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    jump *= stride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assert r == 26</a:t>
            </a:r>
          </a:p>
        </p:txBody>
      </p:sp>
      <p:sp>
        <p:nvSpPr>
          <p:cNvPr id="7" name="先预测输出，再运行对应单元格。">
            <a:extLst xmlns:a="http://schemas.openxmlformats.org/drawingml/2006/main">
              <a:ext uri="{FF2B5EF4-FFF2-40B4-BE49-F238E27FC236}">
                <a16:creationId xmlns:a16="http://schemas.microsoft.com/office/drawing/2014/main" id="{DC71A896-8841-4180-88A0-1841E4D7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先预测输出，再运行对应单元格。</a:t>
            </a:r>
          </a:p>
        </p:txBody>
      </p:sp>
    </p:spTree>
    <p:extLst>
      <p:ext uri="{BB962C8B-B14F-4D97-AF65-F5344CB8AC3E}">
        <p14:creationId xmlns:p14="http://schemas.microsoft.com/office/powerpoint/2010/main" val="17119901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BBD6C01F-4A81-404D-9603-7C3AA4B5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17661B5B-2487-4E79-94B7-B0133DB6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停下来，做一次判断">
            <a:extLst xmlns:a="http://schemas.openxmlformats.org/drawingml/2006/main">
              <a:ext uri="{FF2B5EF4-FFF2-40B4-BE49-F238E27FC236}">
                <a16:creationId xmlns:a16="http://schemas.microsoft.com/office/drawing/2014/main" id="{D3B774A9-A66B-47E2-901C-C4043636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停下来，做一次判断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663EC-BD90-4DEA-A2C2-3EFB83E4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课堂预测">
            <a:extLst xmlns:a="http://schemas.openxmlformats.org/drawingml/2006/main">
              <a:ext uri="{FF2B5EF4-FFF2-40B4-BE49-F238E27FC236}">
                <a16:creationId xmlns:a16="http://schemas.microsoft.com/office/drawing/2014/main" id="{BB4624D0-092B-42FD-90A0-41BDE21F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课堂预测</a:t>
            </a:r>
          </a:p>
        </p:txBody>
      </p:sp>
      <p:sp>
        <p:nvSpPr>
          <p:cNvPr id="6" name="固定输入，将核3换为1，分别检查参数、感受野与输出。">
            <a:extLst xmlns:a="http://schemas.openxmlformats.org/drawingml/2006/main">
              <a:ext uri="{FF2B5EF4-FFF2-40B4-BE49-F238E27FC236}">
                <a16:creationId xmlns:a16="http://schemas.microsoft.com/office/drawing/2014/main" id="{DBF5AE49-6C7E-4F43-AD59-E0BD75D2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固定输入，将核3换为1，分别检查参数、感受野与输出。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25DF0-1761-4E81-B2D0-3D0939E2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退出题">
            <a:extLst xmlns:a="http://schemas.openxmlformats.org/drawingml/2006/main">
              <a:ext uri="{FF2B5EF4-FFF2-40B4-BE49-F238E27FC236}">
                <a16:creationId xmlns:a16="http://schemas.microsoft.com/office/drawing/2014/main" id="{6F45AC02-EA66-41B9-920A-25F43EC3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退出题</a:t>
            </a:r>
          </a:p>
        </p:txBody>
      </p:sp>
      <p:sp>
        <p:nvSpPr>
          <p:cNvPr id="9" name="Conv2d首层是否聚合所有输入通道？">
            <a:extLst xmlns:a="http://schemas.openxmlformats.org/drawingml/2006/main">
              <a:ext uri="{FF2B5EF4-FFF2-40B4-BE49-F238E27FC236}">
                <a16:creationId xmlns:a16="http://schemas.microsoft.com/office/drawing/2014/main" id="{D7780888-1509-4448-B2AE-DCE3EE70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8204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Conv2d首层是否聚合所有输入通道？</a:t>
            </a:r>
          </a:p>
        </p:txBody>
      </p:sp>
    </p:spTree>
    <p:extLst>
      <p:ext uri="{BB962C8B-B14F-4D97-AF65-F5344CB8AC3E}">
        <p14:creationId xmlns:p14="http://schemas.microsoft.com/office/powerpoint/2010/main" val="19252380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05  /  HSI LEARNING">
            <a:extLst xmlns:a="http://schemas.openxmlformats.org/drawingml/2006/main">
              <a:ext uri="{FF2B5EF4-FFF2-40B4-BE49-F238E27FC236}">
                <a16:creationId xmlns:a16="http://schemas.microsoft.com/office/drawing/2014/main" id="{1285CB0F-4AE7-48B2-BBC1-E719B50B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  /  HSI LEARNING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EE9C8BEB-1BA0-4344-A300-0323C052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结论要有边界">
            <a:extLst xmlns:a="http://schemas.openxmlformats.org/drawingml/2006/main">
              <a:ext uri="{FF2B5EF4-FFF2-40B4-BE49-F238E27FC236}">
                <a16:creationId xmlns:a16="http://schemas.microsoft.com/office/drawing/2014/main" id="{30D4A2C3-2D45-4BC8-A7A7-E20529AF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结论要有边界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88710-E082-40B3-A885-96231A19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已知">
            <a:extLst xmlns:a="http://schemas.openxmlformats.org/drawingml/2006/main">
              <a:ext uri="{FF2B5EF4-FFF2-40B4-BE49-F238E27FC236}">
                <a16:creationId xmlns:a16="http://schemas.microsoft.com/office/drawing/2014/main" id="{29101B9E-439A-4B80-8A2D-ADF38DF0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90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6" name="理论感受野不是有效注意区域">
            <a:extLst xmlns:a="http://schemas.openxmlformats.org/drawingml/2006/main">
              <a:ext uri="{FF2B5EF4-FFF2-40B4-BE49-F238E27FC236}">
                <a16:creationId xmlns:a16="http://schemas.microsoft.com/office/drawing/2014/main" id="{4D3A2BEE-39B2-48BB-A475-77CB9F09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66950"/>
            <a:ext cx="9296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理论感受野不是有效注意区域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EA0C3-68D2-4CB1-88F4-33B54F37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52850"/>
            <a:ext cx="929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边界">
            <a:extLst xmlns:a="http://schemas.openxmlformats.org/drawingml/2006/main">
              <a:ext uri="{FF2B5EF4-FFF2-40B4-BE49-F238E27FC236}">
                <a16:creationId xmlns:a16="http://schemas.microsoft.com/office/drawing/2014/main" id="{E5DA4AF7-8FFD-4C47-AAE6-AD725A6B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90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9" name="超过patch不等于深层没有作用">
            <a:extLst xmlns:a="http://schemas.openxmlformats.org/drawingml/2006/main">
              <a:ext uri="{FF2B5EF4-FFF2-40B4-BE49-F238E27FC236}">
                <a16:creationId xmlns:a16="http://schemas.microsoft.com/office/drawing/2014/main" id="{52901987-FC48-4FFE-8BEE-F040B3F1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10025"/>
            <a:ext cx="9296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超过patch不等于深层没有作用</a:t>
            </a:r>
          </a:p>
        </p:txBody>
      </p:sp>
      <p:sp>
        <p:nvSpPr>
          <p:cNvPr id="10" name="来源、复现入口与辅助提示见讲者备注。">
            <a:extLst xmlns:a="http://schemas.openxmlformats.org/drawingml/2006/main">
              <a:ext uri="{FF2B5EF4-FFF2-40B4-BE49-F238E27FC236}">
                <a16:creationId xmlns:a16="http://schemas.microsoft.com/office/drawing/2014/main" id="{5DBE2E9C-E3A5-4B32-8501-9F9197B8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来源、复现入口与辅助提示见讲者备注。</a:t>
            </a:r>
          </a:p>
        </p:txBody>
      </p:sp>
    </p:spTree>
    <p:extLst>
      <p:ext uri="{BB962C8B-B14F-4D97-AF65-F5344CB8AC3E}">
        <p14:creationId xmlns:p14="http://schemas.microsoft.com/office/powerpoint/2010/main" val="1640600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2026-10-09T03:34:34.2290000Z</dcterms:created>
  <dcterms:modified xsi:type="dcterms:W3CDTF">2026-10-09T03:34:34.2290000Z</dcterms:modified>
</coreProperties>
</file>