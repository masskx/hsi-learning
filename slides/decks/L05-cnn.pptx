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用真实问题开场，先让学生提出预测。不要从依赖列表开始读。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05_2d_cnn_teaching.ipynb</a:t>
            </a:r>
          </a:p>
          <a:p>
            <a:r>
              <a:t>定位: SpectralSpatialCNN2D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完成标准是能独立生成交付物，而不是只复述概念。右侧面板是本课的Notebook与cell入口。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05_2d_cnn_teaching.ipynb</a:t>
            </a:r>
          </a:p>
          <a:p>
            <a:r>
              <a:t>定位: SpectralSpatialCNN2D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此处D可为PCA分量，不能自动称波长轴。给随机张量现场跑一次 Conv1d 看 shape。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05_2d_cnn_teaching.ipynb</a:t>
            </a:r>
          </a:p>
          <a:p>
            <a:r>
              <a:t>定位: SpectralSpatialCNN2D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纠正“2D只看一个通道”的常见误解。参数量当场手算，再用 weight.shape 验证。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05_2d_cnn_teaching.ipynb</a:t>
            </a:r>
          </a:p>
          <a:p>
            <a:r>
              <a:t>定位: SpectralSpatialCNN2D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感受野纠错是本项目实测经历：只数卷积核会漏掉池化层。现在测试用例锁死 26（2D 同理是 12），回归测试防止再错。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05_2d_cnn_teaching.ipynb</a:t>
            </a:r>
          </a:p>
          <a:p>
            <a:r>
              <a:t>定位: SpectralSpatialCNN2D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曲线来自notebook 05实际训练（协议C，train/val/test=1024/1025/8200）。OA 70% 而 AA 不到 50%——小类全灭的活例子，下一课展开。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05_2d_cnn_teaching.ipynb</a:t>
            </a:r>
          </a:p>
          <a:p>
            <a:r>
              <a:t>定位: SpectralSpatialCNN2D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本图为notebook 05预测输出（pred_map 145×145）。对照GT指出两三处错分区域，回到混淆矩阵看错误方向。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05_2d_cnn_teaching.ipynb</a:t>
            </a:r>
          </a:p>
          <a:p>
            <a:r>
              <a:t>定位: SpectralSpatialCNN2D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本项目纠过的错：曾把 PCA 分量按每分量 10nm 换算成“覆盖130nm”——错。分量是 200 个波段的线性组合，没有波长。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05_2d_cnn_teaching.ipynb</a:t>
            </a:r>
          </a:p>
          <a:p>
            <a:r>
              <a:t>定位: SpectralSpatialCNN2D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这是关键代码节选，完整上下文在Notebook中。现场只做最小例或载入模型推理；完整训练提前排队。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05_2d_cnn_teaching.ipynb</a:t>
            </a:r>
          </a:p>
          <a:p>
            <a:r>
              <a:t>定位: SpectralSpatialCNN2D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先让学生在右侧预测框写出预期，再运行一次受控改动。若与预期不同，保留记录而不是换种子直到符合故事。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05_2d_cnn_teaching.ipynb</a:t>
            </a:r>
          </a:p>
          <a:p>
            <a:r>
              <a:t>定位: SpectralSpatialCNN2D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可复制提示词见内容源。数据边界：不上传未授权数据或未公开稿件；不让AI虚构引用、指标或执行记录。根据这段模型代码生成逐层shape/感受野表，必须把池化、stride、padding写全。列出假设，不凭模型名推断。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05_2d_cnn_teaching.ipynb</a:t>
            </a:r>
          </a:p>
          <a:p>
            <a:r>
              <a:t>定位: SpectralSpatialCNN2D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结束时请学生用一句话回答本课开头的问题，要求带证据类型。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05_2d_cnn_teaching.ipynb</a:t>
            </a:r>
          </a:p>
          <a:p>
            <a:r>
              <a:t>定位: SpectralSpatialCNN2D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每次发布应补源码版本与运行配置；网络资料可访问不等于可自由再分发。</a:t>
            </a:r>
          </a:p>
          <a:p/>
          <a:p>
            <a:r>
              <a:t>教学边界：本课不是榜单排名；历史结果不等同修正版实验。</a:t>
            </a:r>
          </a:p>
          <a:p>
            <a:r>
              <a:t>Notebook: 05_2d_cnn_teaching.ipynb</a:t>
            </a:r>
          </a:p>
          <a:p>
            <a:r>
              <a:t>定位: SpectralSpatialCNN2D</a:t>
            </a:r>
          </a:p>
          <a:p>
            <a:r>
              <a:t>PyTorch documentation</a:t>
            </a:r>
          </a:p>
          <a:p>
            <a:r>
              <a:t>https://docs.pytorch.org/docs/stable/index.html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024128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1" spc="300">
                <a:solidFill>
                  <a:srgbClr val="5C6B7A"/>
                </a:solidFill>
                <a:latin typeface="Microsoft YaHei"/>
                <a:ea typeface="Microsoft YaHei"/>
              </a:rPr>
              <a:t>HSI-LEARNING</a:t>
            </a:r>
            <a:r>
              <a:rPr sz="1250" b="0" spc="200">
                <a:solidFill>
                  <a:srgbClr val="5C6B7A"/>
                </a:solidFill>
                <a:latin typeface="Microsoft YaHei"/>
                <a:ea typeface="Microsoft YaHei"/>
              </a:rPr>
              <a:t>  ·  高光谱图像分类课程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1572768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4600" b="1">
                <a:solidFill>
                  <a:srgbClr val="C9571E"/>
                </a:solidFill>
                <a:latin typeface="Microsoft YaHei"/>
                <a:ea typeface="Microsoft YaHei"/>
              </a:rPr>
              <a:t>L05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615184"/>
            <a:ext cx="99669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3700" b="1">
                <a:solidFill>
                  <a:srgbClr val="1C2B3A"/>
                </a:solidFill>
                <a:latin typeface="Microsoft YaHei"/>
                <a:ea typeface="Microsoft YaHei"/>
              </a:rPr>
              <a:t>1D、2D、3D：到底沿哪个轴卷积？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41648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800" b="0">
                <a:solidFill>
                  <a:srgbClr val="5C6B7A"/>
                </a:solidFill>
                <a:latin typeface="Microsoft YaHei"/>
                <a:ea typeface="Microsoft YaHei"/>
              </a:rPr>
              <a:t>核、通道、感受野与计算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736592"/>
            <a:ext cx="996696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99262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本课交付 · </a:t>
            </a: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</a:rPr>
              <a:t>三模型shape表  ·  含pool的感受野推导  ·  受控对比限制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87044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先修 · </a:t>
            </a:r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L04：张量轴与patch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L05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核、通道、感受野与计算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本课交付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7510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2011679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三模型shape表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779776"/>
            <a:ext cx="594360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07238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310896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含pool的感受野推导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877056"/>
            <a:ext cx="594360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169664"/>
            <a:ext cx="777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1">
                <a:solidFill>
                  <a:srgbClr val="C9571E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420624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受控对比限制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2011680"/>
            <a:ext cx="3886200" cy="320040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22860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课堂入口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761488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NOTEBOOK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017520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100" b="0">
                <a:solidFill>
                  <a:srgbClr val="1C2B3A"/>
                </a:solidFill>
                <a:latin typeface="Consolas"/>
                <a:ea typeface="Microsoft YaHei"/>
              </a:rPr>
              <a:t>05_2d_cnn_teaching.ipynb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602736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CELLS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858768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100" b="0">
                <a:solidFill>
                  <a:srgbClr val="1C2B3A"/>
                </a:solidFill>
                <a:latin typeface="Consolas"/>
                <a:ea typeface="Microsoft YaHei"/>
              </a:rPr>
              <a:t>SpectralSpatialCNN2D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443984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700016"/>
            <a:ext cx="324612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1C2B3A"/>
                </a:solidFill>
                <a:latin typeface="Microsoft YaHei"/>
                <a:ea typeface="Microsoft YaHei"/>
              </a:rPr>
              <a:t>A03 · 交付：代码 + 配置 + 解释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L05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核、通道、感受野与计算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先看轴，再看模型名字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1D沿波段索引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2D沿空间，聚合所有输入通道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3D沿深度与空间局部滑动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150" b="0">
                <a:solidFill>
                  <a:srgbClr val="1C2B3A"/>
                </a:solidFill>
                <a:latin typeface="Consolas"/>
                <a:ea typeface="Microsoft YaHei"/>
              </a:rPr>
              <a:t>nn.Conv1d(1, 32, 7)(torch.randn(2,1,200)).shape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Consolas"/>
                <a:ea typeface="Microsoft YaHei"/>
              </a:rPr>
              <a:t>torch.Size([2, 32, 194])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3408" y="2103120"/>
            <a:ext cx="14630" cy="4059935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50431" y="2052827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6016" y="1911095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1D: N,1,B</a:t>
            </a:r>
          </a:p>
        </p:txBody>
      </p:sp>
      <p:sp>
        <p:nvSpPr>
          <p:cNvPr id="13" name="Oval 12"/>
          <p:cNvSpPr/>
          <p:nvPr/>
        </p:nvSpPr>
        <p:spPr>
          <a:xfrm>
            <a:off x="6650431" y="407365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393192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2D: N,B,H,W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3D: N,1,D,H,W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L05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核、通道、感受野与计算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2D卷积也混合通道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groups=1时每核看全部Cin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首层 12→32、k=3：32·12·3·3+32=3488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3D区别在depth轴的局部共享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nn.Conv2d(12, 32, 3).weight.shape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torch.Size([32, 12, 3, 3])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4956048" cy="219456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ormula-47b88c10ec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04" y="2749750"/>
            <a:ext cx="4434840" cy="53553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93408" y="4434840"/>
            <a:ext cx="14630" cy="1728216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50431" y="4384548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4242816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Cin channels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523951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09778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kh × kw window</a:t>
            </a:r>
          </a:p>
        </p:txBody>
      </p:sp>
      <p:sp>
        <p:nvSpPr>
          <p:cNvPr id="17" name="Oval 16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Cout features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L05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核、通道、感受野与计算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池化也扩大感受野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r′=r+(k−1)·j，池化核也要算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1D 实算 7→8→16→18→26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本章初稿漏算 pooling 写成 23——已修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assert r == 26; 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20240"/>
            <a:ext cx="4956048" cy="219456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ormula-d637a4d0c7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04" y="2817142"/>
            <a:ext cx="4434840" cy="40075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93408" y="4434840"/>
            <a:ext cx="14630" cy="1728216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50431" y="4384548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4242816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Conv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523951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09778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Pool</a:t>
            </a:r>
          </a:p>
        </p:txBody>
      </p:sp>
      <p:sp>
        <p:nvSpPr>
          <p:cNvPr id="17" name="Oval 16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Next conv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L05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核、通道、感受野与计算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训练曲线读的是趋势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_2d_cnn_teaching-1a44d125-0-5ed72801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936846"/>
            <a:ext cx="6903720" cy="226446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2936846"/>
            <a:ext cx="6903720" cy="2264466"/>
          </a:xfrm>
          <a:prstGeom prst="rect">
            <a:avLst/>
          </a:prstGeom>
          <a:noFill/>
          <a:ln w="1270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怎么读这张图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395728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10轮 val 到 0.6868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test OA 0.7056，AA 只有 0.4957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Oats 16 个测试样本召回 0.0000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587044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05_2d_cnn_teaching.ipynb</a:t>
            </a:r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  ·  cell 1a44d125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L05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核、通道、感受野与计算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预测放回空间再读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_2d_cnn_teaching-feb108ea-0-96f683fa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876449"/>
            <a:ext cx="6903720" cy="23852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41248" y="2876449"/>
            <a:ext cx="6903720" cy="2385260"/>
          </a:xfrm>
          <a:prstGeom prst="rect">
            <a:avLst/>
          </a:prstGeom>
          <a:noFill/>
          <a:ln w="1270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怎么读这张图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395728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伪彩色观测、GT、预测三联对照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错误集中在哪些地物边界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全图显示包含训练像元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587044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05_2d_cnn_teaching.ipynb</a:t>
            </a:r>
            <a:r>
              <a:rPr sz="1050" b="0">
                <a:solidFill>
                  <a:srgbClr val="5C6B7A"/>
                </a:solidFill>
                <a:latin typeface="Consolas"/>
                <a:ea typeface="Microsoft YaHei"/>
              </a:rPr>
              <a:t>  ·  cell feb108ea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L05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核、通道、感受野与计算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PCA空间与物理光谱分开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4983480" cy="3017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PC是线性组合，不是原始band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分量邻近不等于波长邻近</a:t>
            </a:r>
          </a:p>
          <a:p>
            <a:pPr>
              <a:lnSpc>
                <a:spcPct val="120000"/>
              </a:lnSpc>
              <a:spcAft>
                <a:spcPts val="1300"/>
              </a:spcAft>
            </a:pPr>
            <a:r>
              <a:rPr sz="19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感受野不能写成nm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193792"/>
            <a:ext cx="4983480" cy="932688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5" y="5321808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&gt;&gt;&gt;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pca.components_.shape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5705856"/>
            <a:ext cx="461772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Consolas"/>
                <a:ea typeface="Microsoft YaHei"/>
              </a:rPr>
              <a:t>(12, 200)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3408" y="2103120"/>
            <a:ext cx="14630" cy="4059935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50431" y="2052827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86016" y="1911095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Raw bands</a:t>
            </a:r>
          </a:p>
        </p:txBody>
      </p:sp>
      <p:sp>
        <p:nvSpPr>
          <p:cNvPr id="13" name="Oval 12"/>
          <p:cNvSpPr/>
          <p:nvPr/>
        </p:nvSpPr>
        <p:spPr>
          <a:xfrm>
            <a:off x="6650431" y="4073652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86016" y="3931920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PCA basis</a:t>
            </a:r>
          </a:p>
        </p:txBody>
      </p:sp>
      <p:sp>
        <p:nvSpPr>
          <p:cNvPr id="15" name="Oval 14"/>
          <p:cNvSpPr/>
          <p:nvPr/>
        </p:nvSpPr>
        <p:spPr>
          <a:xfrm>
            <a:off x="6650431" y="6094476"/>
            <a:ext cx="100584" cy="100584"/>
          </a:xfrm>
          <a:prstGeom prst="ellipse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6016" y="5952744"/>
            <a:ext cx="448056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650" b="0">
                <a:solidFill>
                  <a:srgbClr val="1C2B3A"/>
                </a:solidFill>
                <a:latin typeface="Microsoft YaHei"/>
                <a:ea typeface="Microsoft YaHei"/>
              </a:rPr>
              <a:t>Component depth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L05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核、通道、感受野与计算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代码实操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47088"/>
            <a:ext cx="76809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打开 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05_2d_cnn_teaching.ipynb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487168"/>
            <a:ext cx="6858000" cy="2235708"/>
          </a:xfrm>
          <a:prstGeom prst="roundRect">
            <a:avLst>
              <a:gd name="adj" fmla="val 4500"/>
            </a:avLst>
          </a:prstGeom>
          <a:solidFill>
            <a:srgbClr val="20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5296" y="2798064"/>
            <a:ext cx="6172200" cy="166877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r, jump = 1, 1</a:t>
            </a:r>
          </a:p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for kernel, stride in [(7,1),(2,2),(5,1),(2,2),(3,1)]:</a:t>
            </a:r>
          </a:p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    r += (kernel-1)*jump</a:t>
            </a:r>
          </a:p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    jump *= stride</a:t>
            </a:r>
          </a:p>
          <a:p>
            <a:pPr>
              <a:lnSpc>
                <a:spcPct val="142000"/>
              </a:lnSpc>
            </a:pPr>
            <a:r>
              <a:rPr sz="1300" b="0">
                <a:solidFill>
                  <a:srgbClr val="DEE9F2"/>
                </a:solidFill>
                <a:latin typeface="Consolas"/>
                <a:ea typeface="Microsoft YaHei"/>
              </a:rPr>
              <a:t>assert r ==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78908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0">
                <a:solidFill>
                  <a:srgbClr val="5C6B7A"/>
                </a:solidFill>
                <a:latin typeface="Microsoft YaHei"/>
                <a:ea typeface="Microsoft YaHei"/>
              </a:rPr>
              <a:t>定位 cell  </a:t>
            </a:r>
            <a:r>
              <a:rPr sz="1300" b="0">
                <a:solidFill>
                  <a:srgbClr val="1C2B3A"/>
                </a:solidFill>
                <a:latin typeface="Consolas"/>
                <a:ea typeface="Microsoft YaHei"/>
              </a:rPr>
              <a:t>SpectralSpatialCNN2D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3852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现场安排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395728"/>
            <a:ext cx="324612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现场：逐个运行本页 cell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完整训练：课前排队完成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1500" b="0">
                <a:solidFill>
                  <a:srgbClr val="1C2B3A"/>
                </a:solidFill>
                <a:latin typeface="Microsoft YaHei"/>
                <a:ea typeface="Microsoft YaHei"/>
              </a:rPr>
              <a:t>结果解读：以当前输出为准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L05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核、通道、感受野与计算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课堂练习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48840"/>
            <a:ext cx="6035040" cy="2377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2300" b="0">
                <a:solidFill>
                  <a:srgbClr val="1C2B3A"/>
                </a:solidFill>
                <a:latin typeface="Microsoft YaHei"/>
                <a:ea typeface="Microsoft YaHei"/>
              </a:rPr>
              <a:t>固定输入，将核3换为1，分别检查参数、感受野与输出。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4892040"/>
            <a:ext cx="5669280" cy="603504"/>
          </a:xfrm>
          <a:prstGeom prst="roundRect">
            <a:avLst>
              <a:gd name="adj" fmla="val 50000"/>
            </a:avLst>
          </a:prstGeom>
          <a:noFill/>
          <a:ln w="13970">
            <a:solidFill>
              <a:srgbClr val="C957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5056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1">
                <a:solidFill>
                  <a:srgbClr val="C9571E"/>
                </a:solidFill>
                <a:latin typeface="Microsoft YaHei"/>
                <a:ea typeface="Microsoft YaHei"/>
              </a:rPr>
              <a:t>任务 A03</a:t>
            </a:r>
            <a:r>
              <a:rPr sz="1400" b="0">
                <a:solidFill>
                  <a:srgbClr val="1C2B3A"/>
                </a:solidFill>
                <a:latin typeface="Microsoft YaHei"/>
                <a:ea typeface="Microsoft YaHei"/>
              </a:rPr>
              <a:t>　交付：代码 + 配置 + 解释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2057400"/>
            <a:ext cx="3886200" cy="3438144"/>
          </a:xfrm>
          <a:prstGeom prst="rect">
            <a:avLst/>
          </a:prstGeom>
          <a:noFill/>
          <a:ln w="15240">
            <a:solidFill>
              <a:srgbClr val="D9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350008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>
                <a:solidFill>
                  <a:srgbClr val="C9571E"/>
                </a:solidFill>
                <a:latin typeface="Microsoft YaHei"/>
                <a:ea typeface="Microsoft YaHei"/>
              </a:rPr>
              <a:t>先写预测，再运行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3355848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4069080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4782312"/>
            <a:ext cx="3246120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L05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核、通道、感受野与计算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AI 辅助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651760"/>
            <a:ext cx="6903720" cy="265176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651760"/>
            <a:ext cx="50292" cy="2651760"/>
          </a:xfrm>
          <a:prstGeom prst="rect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89864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提示词（可直接复制）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319272"/>
            <a:ext cx="62636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0000"/>
              </a:lnSpc>
            </a:pPr>
            <a:r>
              <a:rPr sz="1550" b="0">
                <a:solidFill>
                  <a:srgbClr val="1C2B3A"/>
                </a:solidFill>
                <a:latin typeface="Microsoft YaHei"/>
                <a:ea typeface="Microsoft YaHei"/>
              </a:rPr>
              <a:t>根据这段模型代码生成逐层shape/感受野表，必须把池化、stride、padding写全。列出假设，不凭模型名推断。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71576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人工核验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136392"/>
            <a:ext cx="3246120" cy="2194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5000"/>
              </a:lnSpc>
            </a:pPr>
            <a:r>
              <a:rPr sz="1450" b="0">
                <a:solidFill>
                  <a:srgbClr val="1C2B3A"/>
                </a:solidFill>
                <a:latin typeface="Microsoft YaHei"/>
                <a:ea typeface="Microsoft YaHei"/>
              </a:rPr>
              <a:t>dummy forward检查shape；独立递推检查RF；不要把表生成器当真理。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L05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核、通道、感受野与计算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小结与边界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48840"/>
            <a:ext cx="5669280" cy="3291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理论感受野不是有效注意区域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2000" b="1">
                <a:solidFill>
                  <a:srgbClr val="C9571E"/>
                </a:solidFill>
                <a:latin typeface="Microsoft YaHei"/>
                <a:ea typeface="Microsoft YaHei"/>
              </a:rPr>
              <a:t>—  </a:t>
            </a:r>
            <a:r>
              <a:rPr sz="2000" b="0">
                <a:solidFill>
                  <a:srgbClr val="1C2B3A"/>
                </a:solidFill>
                <a:latin typeface="Microsoft YaHei"/>
                <a:ea typeface="Microsoft YaHei"/>
              </a:rPr>
              <a:t>超过patch不等于深层没有作用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0" y="2103120"/>
            <a:ext cx="4114800" cy="2743200"/>
          </a:xfrm>
          <a:prstGeom prst="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23760" y="2103120"/>
            <a:ext cx="50292" cy="2743200"/>
          </a:xfrm>
          <a:prstGeom prst="rect">
            <a:avLst/>
          </a:prstGeom>
          <a:solidFill>
            <a:srgbClr val="C95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07808" y="2395728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>
                <a:solidFill>
                  <a:srgbClr val="C9571E"/>
                </a:solidFill>
                <a:latin typeface="Microsoft YaHei"/>
                <a:ea typeface="Microsoft YaHei"/>
              </a:rPr>
              <a:t>回到本课开头的问题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07808" y="2834640"/>
            <a:ext cx="352044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40000"/>
              </a:lnSpc>
            </a:pPr>
            <a:r>
              <a:rPr sz="1900" b="0">
                <a:solidFill>
                  <a:srgbClr val="1C2B3A"/>
                </a:solidFill>
                <a:latin typeface="Microsoft YaHei"/>
                <a:ea typeface="Microsoft YaHei"/>
              </a:rPr>
              <a:t>1D、2D、3D：到底沿哪个轴卷积？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gradFill rotWithShape="1">
            <a:gsLst>
              <a:gs pos="0">
                <a:srgbClr val="472A8A"/>
              </a:gs>
              <a:gs pos="16667">
                <a:srgbClr val="2C5FB0"/>
              </a:gs>
              <a:gs pos="33333">
                <a:srgbClr val="1F8FB8"/>
              </a:gs>
              <a:gs pos="50000">
                <a:srgbClr val="2E9E4F"/>
              </a:gs>
              <a:gs pos="66667">
                <a:srgbClr val="F2C316"/>
              </a:gs>
              <a:gs pos="83333">
                <a:srgbClr val="E8752A"/>
              </a:gs>
              <a:gs pos="100000">
                <a:srgbClr val="D33A2C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7548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50" b="1" spc="140">
                <a:solidFill>
                  <a:srgbClr val="C9571E"/>
                </a:solidFill>
                <a:latin typeface="Microsoft YaHei"/>
                <a:ea typeface="Microsoft YaHei"/>
              </a:rPr>
              <a:t>L05</a:t>
            </a:r>
            <a:r>
              <a:rPr sz="1150" b="0" spc="140">
                <a:solidFill>
                  <a:srgbClr val="5C6B7A"/>
                </a:solidFill>
                <a:latin typeface="Microsoft YaHei"/>
                <a:ea typeface="Microsoft YaHei"/>
              </a:rPr>
              <a:t>  ·  核、通道、感受野与计算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04672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800" b="1">
                <a:solidFill>
                  <a:srgbClr val="1C2B3A"/>
                </a:solidFill>
                <a:latin typeface="Microsoft YaHei"/>
                <a:ea typeface="Microsoft YaHei"/>
              </a:rPr>
              <a:t>来源、版本与复现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45920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93392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>
                <a:solidFill>
                  <a:srgbClr val="1C2B3A"/>
                </a:solidFill>
                <a:latin typeface="Microsoft YaHei"/>
                <a:ea typeface="Microsoft YaHei"/>
              </a:rPr>
              <a:t>PyTorch documentation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2020824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https://docs.pytorch.org/docs/stable/index.html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487168"/>
            <a:ext cx="10506456" cy="11887"/>
          </a:xfrm>
          <a:prstGeom prst="rect">
            <a:avLst/>
          </a:prstGeom>
          <a:solidFill>
            <a:srgbClr val="D9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5760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250" b="0">
                <a:solidFill>
                  <a:srgbClr val="5C6B7A"/>
                </a:solidFill>
                <a:latin typeface="Microsoft YaHei"/>
                <a:ea typeface="Microsoft YaHei"/>
              </a:rPr>
              <a:t>完整来源状态与许可边界见 docs/teaching/source-audit.md；图像取自当前 Notebook 输出。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1D、2D、3D：到底沿哪个轴卷积？</dc:title>
  <dc:subject>Theory + practice + verified AI research assistance</dc:subject>
  <dc:creator>HSI-Learning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