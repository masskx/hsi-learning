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用真实问题开场，先让学生提出预测。不要从依赖列表开始读。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01_data_reading_and_visualization.ipynb</a:t>
            </a:r>
          </a:p>
          <a:p>
            <a:r>
              <a:t>定位: loadmat, cube[:, :, b], cube[r, c, :]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完成标准是能独立生成交付物，而不是只复述概念。右侧面板是本课的Notebook与cell入口。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01_data_reading_and_visualization.ipynb</a:t>
            </a:r>
          </a:p>
          <a:p>
            <a:r>
              <a:t>定位: loadmat, cube[:, :, b], cube[r, c, :]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先让学生区分伪彩色与GT。GT不能作为分类输入的一部分。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01_data_reading_and_visualization.ipynb</a:t>
            </a:r>
          </a:p>
          <a:p>
            <a:r>
              <a:t>定位: loadmat, cube[:, :, b], cube[r, c, :]</a:t>
            </a:r>
          </a:p>
          <a:p>
            <a:r>
              <a:t>EHU: Hyperspectral Remote Sensing Scenes</a:t>
            </a:r>
          </a:p>
          <a:p>
            <a:r>
              <a:t>https://www.ehu.eus/ccwintco/index.php/Hyperspectral_Remote_Sensing_Scenes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真彩色合成来自notebook 03。问学生：换成(50,90,150)显示会怎样？显示选择是演示变量，不是实验变量。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01_data_reading_and_visualization.ipynb</a:t>
            </a:r>
          </a:p>
          <a:p>
            <a:r>
              <a:t>定位: loadmat, cube[:, :, b], cube[r, c, :]</a:t>
            </a:r>
          </a:p>
          <a:p>
            <a:r>
              <a:t>EHU: Hyperspectral Remote Sensing Scenes</a:t>
            </a:r>
          </a:p>
          <a:p>
            <a:r>
              <a:t>https://www.ehu.eus/ccwintco/index.php/Hyperspectral_Remote_Sensing_Scenes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让学生对 toy 数组口算 shape，再对 IP 实测。ndarray 不自带物理轴语义。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01_data_reading_and_visualization.ipynb</a:t>
            </a:r>
          </a:p>
          <a:p>
            <a:r>
              <a:t>定位: loadmat, cube[:, :, b], cube[r, c, :]</a:t>
            </a:r>
          </a:p>
          <a:p>
            <a:r>
              <a:t>EHU: Hyperspectral Remote Sensing Scenes</a:t>
            </a:r>
          </a:p>
          <a:p>
            <a:r>
              <a:t>https://www.ehu.eus/ccwintco/index.php/Hyperspectral_Remote_Sensing_Scenes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本图来自notebook 01的实际波段切片。band index不是波长：删带改变索引与波长对应，没有元数据不做nm换算。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01_data_reading_and_visualization.ipynb</a:t>
            </a:r>
          </a:p>
          <a:p>
            <a:r>
              <a:t>定位: loadmat, cube[:, :, b], cube[r, c, :]</a:t>
            </a:r>
          </a:p>
          <a:p>
            <a:r>
              <a:t>NASA/JPL AVIRIS instrument overview</a:t>
            </a:r>
          </a:p>
          <a:p>
            <a:r>
              <a:t>https://aviris.jpl.nasa.gov/html/aviris.overview.html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 实测形状 145×145×200 来自 dataset/README.md 的本地加载记录。给 3×4×5 toy 数组依次问 shape。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01_data_reading_and_visualization.ipynb</a:t>
            </a:r>
          </a:p>
          <a:p>
            <a:r>
              <a:t>定位: loadmat, cube[:, :, b], cube[r, c, :]</a:t>
            </a:r>
          </a:p>
          <a:p>
            <a:r>
              <a:t>EHU: Hyperspectral Remote Sensing Scenes</a:t>
            </a:r>
          </a:p>
          <a:p>
            <a:r>
              <a:t>https://www.ehu.eus/ccwintco/index.php/Hyperspectral_Remote_Sensing_Scenes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现场运行这条命令并读数：10249 个监督样本占总像元不到一半。20 与 2455 相差超过 120 倍——后面讲不均衡和开集的根子就在这里。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01_data_reading_and_visualization.ipynb</a:t>
            </a:r>
          </a:p>
          <a:p>
            <a:r>
              <a:t>定位: loadmat, cube[:, :, b], cube[r, c, :]</a:t>
            </a:r>
          </a:p>
          <a:p>
            <a:r>
              <a:t>EHU: Hyperspectral Remote Sensing Scenes</a:t>
            </a:r>
          </a:p>
          <a:p>
            <a:r>
              <a:t>https://www.ehu.eus/ccwintco/index.php/Hyperspectral_Remote_Sensing_Scenes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这是关键代码节选，完整上下文在Notebook中。现场只做最小例或载入模型推理；完整训练提前排队。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01_data_reading_and_visualization.ipynb</a:t>
            </a:r>
          </a:p>
          <a:p>
            <a:r>
              <a:t>定位: loadmat, cube[:, :, b], cube[r, c, :]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先让学生在右侧预测框写出预期，再运行一次受控改动。若与预期不同，保留记录而不是换种子直到符合故事。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01_data_reading_and_visualization.ipynb</a:t>
            </a:r>
          </a:p>
          <a:p>
            <a:r>
              <a:t>定位: loadmat, cube[:, :, b], cube[r, c, :]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可复制提示词见内容源。数据边界：不上传未授权数据或未公开稿件；不让AI虚构引用、指标或执行记录。只依据给出的 MAT keys、shape、dtype 和来源片段生成数据卡。区分实测项与文献项；没有波长表时不要推断波长或红边位置。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01_data_reading_and_visualization.ipynb</a:t>
            </a:r>
          </a:p>
          <a:p>
            <a:r>
              <a:t>定位: loadmat, cube[:, :, b], cube[r, c, :]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结束时请学生用一句话回答本课开头的问题，要求带证据类型。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01_data_reading_and_visualization.ipynb</a:t>
            </a:r>
          </a:p>
          <a:p>
            <a:r>
              <a:t>定位: loadmat, cube[:, :, b], cube[r, c, :]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每次发布应补源码版本与运行配置；网络资料可访问不等于可自由再分发。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01_data_reading_and_visualization.ipynb</a:t>
            </a:r>
          </a:p>
          <a:p>
            <a:r>
              <a:t>定位: loadmat, cube[:, :, b], cube[r, c, :]</a:t>
            </a:r>
          </a:p>
          <a:p>
            <a:r>
              <a:t>EHU: Hyperspectral Remote Sensing Scenes</a:t>
            </a:r>
          </a:p>
          <a:p>
            <a:r>
              <a:t>https://www.ehu.eus/ccwintco/index.php/Hyperspectral_Remote_Sensing_Scenes</a:t>
            </a:r>
          </a:p>
          <a:p>
            <a:r>
              <a:t>NASA/JPL AVIRIS instrument overview</a:t>
            </a:r>
          </a:p>
          <a:p>
            <a:r>
              <a:t>https://aviris.jpl.nasa.gov/html/aviris.overview.html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241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1" spc="300">
                <a:solidFill>
                  <a:srgbClr val="5C6B7A"/>
                </a:solidFill>
                <a:latin typeface="Microsoft YaHei"/>
                <a:ea typeface="Microsoft YaHei"/>
              </a:rPr>
              <a:t>HSI-LEARNING</a:t>
            </a:r>
            <a:r>
              <a:rPr sz="1250" b="0" spc="200">
                <a:solidFill>
                  <a:srgbClr val="5C6B7A"/>
                </a:solidFill>
                <a:latin typeface="Microsoft YaHei"/>
                <a:ea typeface="Microsoft YaHei"/>
              </a:rPr>
              <a:t>  ·  高光谱图像分类课程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1572768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600" b="1">
                <a:solidFill>
                  <a:srgbClr val="C9571E"/>
                </a:solidFill>
                <a:latin typeface="Microsoft YaHei"/>
                <a:ea typeface="Microsoft YaHei"/>
              </a:rPr>
              <a:t>L01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615184"/>
            <a:ext cx="99669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700" b="1">
                <a:solidFill>
                  <a:srgbClr val="1C2B3A"/>
                </a:solidFill>
                <a:latin typeface="Microsoft YaHei"/>
                <a:ea typeface="Microsoft YaHei"/>
              </a:rPr>
              <a:t>200 个波段，是 200 张照片吗？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416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>
                <a:solidFill>
                  <a:srgbClr val="5C6B7A"/>
                </a:solidFill>
                <a:latin typeface="Microsoft YaHei"/>
                <a:ea typeface="Microsoft YaHei"/>
              </a:rPr>
              <a:t>从数据立方体到一条光谱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736592"/>
            <a:ext cx="996696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9262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>
                <a:solidFill>
                  <a:srgbClr val="1C2B3A"/>
                </a:solidFill>
                <a:latin typeface="Microsoft YaHei"/>
                <a:ea typeface="Microsoft YaHei"/>
              </a:rPr>
              <a:t>本课交付 · </a:t>
            </a:r>
            <a:r>
              <a:rPr sz="1500" b="0">
                <a:solidFill>
                  <a:srgbClr val="5C6B7A"/>
                </a:solidFill>
                <a:latin typeface="Microsoft YaHei"/>
                <a:ea typeface="Microsoft YaHei"/>
              </a:rPr>
              <a:t>一页数据卡  ·  空间/光谱切片  ·  GT与观测的区别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7044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0">
                <a:solidFill>
                  <a:srgbClr val="5C6B7A"/>
                </a:solidFill>
                <a:latin typeface="Microsoft YaHei"/>
                <a:ea typeface="Microsoft YaHei"/>
              </a:rPr>
              <a:t>先修 · </a:t>
            </a:r>
            <a:r>
              <a:rPr sz="1300" b="0">
                <a:solidFill>
                  <a:srgbClr val="5C6B7A"/>
                </a:solidFill>
                <a:latin typeface="Microsoft YaHei"/>
                <a:ea typeface="Microsoft YaHei"/>
              </a:rPr>
              <a:t>L00：环境和路径已检查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L01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从数据立方体到一条光谱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本课交付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7510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C9571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2011679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一页数据卡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779776"/>
            <a:ext cx="594360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07238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C9571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31089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空间/光谱切片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877056"/>
            <a:ext cx="594360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16966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C9571E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42062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GT与观测的区别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011680"/>
            <a:ext cx="3886200" cy="320040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2860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课堂入口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614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NOTEBOOK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017520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100" b="0">
                <a:solidFill>
                  <a:srgbClr val="1C2B3A"/>
                </a:solidFill>
                <a:latin typeface="Consolas"/>
                <a:ea typeface="Microsoft YaHei"/>
              </a:rPr>
              <a:t>01_data_reading_and_visualization.ipynb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602736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CELLS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858768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100" b="0">
                <a:solidFill>
                  <a:srgbClr val="1C2B3A"/>
                </a:solidFill>
                <a:latin typeface="Consolas"/>
                <a:ea typeface="Microsoft YaHei"/>
              </a:rPr>
              <a:t>loadmat, cube[:, :, b], cube[r, c, :]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443984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700016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1C2B3A"/>
                </a:solidFill>
                <a:latin typeface="Microsoft YaHei"/>
                <a:ea typeface="Microsoft YaHei"/>
              </a:rPr>
              <a:t>A01 · 交付：代码 + 配置 + 解释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L01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从数据立方体到一条光谱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同样大小的两幅图，只有一幅是标签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0_environment_check-dataset-0-ce2f8ec3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438" y="1874519"/>
            <a:ext cx="4469338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58438" y="1874519"/>
            <a:ext cx="4469338" cy="4389120"/>
          </a:xfrm>
          <a:prstGeom prst="rect">
            <a:avLst/>
          </a:prstGeom>
          <a:noFill/>
          <a:ln w="12700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93852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怎么读这张图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395728"/>
            <a:ext cx="324612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观测是传感器记录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GT 是人工/调查监督信息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类别颜色不是材料真实颜色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587044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0">
                <a:solidFill>
                  <a:srgbClr val="5C6B7A"/>
                </a:solidFill>
                <a:latin typeface="Consolas"/>
                <a:ea typeface="Microsoft YaHei"/>
              </a:rPr>
              <a:t>00_environment_check.ipynb</a:t>
            </a:r>
            <a:r>
              <a:rPr sz="1050" b="0">
                <a:solidFill>
                  <a:srgbClr val="5C6B7A"/>
                </a:solidFill>
                <a:latin typeface="Consolas"/>
                <a:ea typeface="Microsoft YaHei"/>
              </a:rPr>
              <a:t>  ·  cell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L01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从数据立方体到一条光谱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观测图是三个波段的合成显示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hybridsn_baseline-cell5-0-86778d06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821" y="1874519"/>
            <a:ext cx="4316572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34821" y="1874519"/>
            <a:ext cx="4316572" cy="4389120"/>
          </a:xfrm>
          <a:prstGeom prst="rect">
            <a:avLst/>
          </a:prstGeom>
          <a:noFill/>
          <a:ln w="12700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93852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怎么读这张图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395728"/>
            <a:ext cx="324612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真彩色只取三个波段映射到RGB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改变波段组合不改变数据本身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显示拉伸只影响人眼，不影响标签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587044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0">
                <a:solidFill>
                  <a:srgbClr val="5C6B7A"/>
                </a:solidFill>
                <a:latin typeface="Consolas"/>
                <a:ea typeface="Microsoft YaHei"/>
              </a:rPr>
              <a:t>03_hybridsn_baseline.ipynb</a:t>
            </a:r>
            <a:r>
              <a:rPr sz="1050" b="0">
                <a:solidFill>
                  <a:srgbClr val="5C6B7A"/>
                </a:solidFill>
                <a:latin typeface="Consolas"/>
                <a:ea typeface="Microsoft YaHei"/>
              </a:rPr>
              <a:t>  ·  cell cell5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L01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从数据立方体到一条光谱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一个数组，两种视角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固定波段：一张 145×145 灰度图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固定位置：一条 200 维光谱向量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第三维不是类别轴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193792"/>
            <a:ext cx="4983480" cy="93268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5321808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&gt;&gt;&gt; </a:t>
            </a:r>
            <a:r>
              <a:rPr sz="1150" b="0">
                <a:solidFill>
                  <a:srgbClr val="1C2B3A"/>
                </a:solidFill>
                <a:latin typeface="Consolas"/>
                <a:ea typeface="Microsoft YaHei"/>
              </a:rPr>
              <a:t>cube[:, :, 50].shape, cube[30, 40, :].shape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5705856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Consolas"/>
                <a:ea typeface="Microsoft YaHei"/>
              </a:rPr>
              <a:t>((145, 145), (200,))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4956048" cy="219456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ormula-0523e775bf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244" y="2773680"/>
            <a:ext cx="2423160" cy="48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93408" y="4434840"/>
            <a:ext cx="14630" cy="1728216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50431" y="4384548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4242816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H 行</a:t>
            </a:r>
          </a:p>
        </p:txBody>
      </p:sp>
      <p:sp>
        <p:nvSpPr>
          <p:cNvPr id="15" name="Oval 14"/>
          <p:cNvSpPr/>
          <p:nvPr/>
        </p:nvSpPr>
        <p:spPr>
          <a:xfrm>
            <a:off x="6650431" y="523951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509778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W 列</a:t>
            </a:r>
          </a:p>
        </p:txBody>
      </p:sp>
      <p:sp>
        <p:nvSpPr>
          <p:cNvPr id="17" name="Oval 16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B 波段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L01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从数据立方体到一条光谱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不同波段，同一地物亮度不同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ata_reading_and_visualization-8482399b-633f-4fb3-922f-94cb5d0df5b1-0-6f07f265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713" y="1874519"/>
            <a:ext cx="5810788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87713" y="1874519"/>
            <a:ext cx="5810788" cy="4389120"/>
          </a:xfrm>
          <a:prstGeom prst="rect">
            <a:avLst/>
          </a:prstGeom>
          <a:noFill/>
          <a:ln w="12700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93852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怎么读这张图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395728"/>
            <a:ext cx="324612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六个波段显示六种纹理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农田与道路在不同波段对比度不同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波段选择同时影响显示与可分性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587044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0">
                <a:solidFill>
                  <a:srgbClr val="5C6B7A"/>
                </a:solidFill>
                <a:latin typeface="Consolas"/>
                <a:ea typeface="Microsoft YaHei"/>
              </a:rPr>
              <a:t>01_data_reading_and_visualization.ipynb</a:t>
            </a:r>
            <a:r>
              <a:rPr sz="1050" b="0">
                <a:solidFill>
                  <a:srgbClr val="5C6B7A"/>
                </a:solidFill>
                <a:latin typeface="Consolas"/>
                <a:ea typeface="Microsoft YaHei"/>
              </a:rPr>
              <a:t>  ·  cell 8482399b...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L01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从数据立方体到一条光谱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先预测 shape，再切片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X[:, :, b] → (H,W)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X[r,c,:] → (B,)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X[r,:,:] 是行切片，不是波段切片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193792"/>
            <a:ext cx="4983480" cy="93268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5321808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Microsoft YaHei"/>
                <a:ea typeface="Microsoft YaHei"/>
              </a:rPr>
              <a:t>&gt;&gt;&gt; </a:t>
            </a:r>
            <a:r>
              <a:rPr sz="1300" b="0">
                <a:solidFill>
                  <a:srgbClr val="1C2B3A"/>
                </a:solidFill>
                <a:latin typeface="Consolas"/>
                <a:ea typeface="Microsoft YaHei"/>
              </a:rPr>
              <a:t>cube[:, :, :3].transpose(2, 0, 1).shape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5705856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Consolas"/>
                <a:ea typeface="Microsoft YaHei"/>
              </a:rPr>
              <a:t>(3, 145, 145)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4956048" cy="219456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ormula-daff915ad2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324" y="2799588"/>
            <a:ext cx="2667000" cy="435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93408" y="4434840"/>
            <a:ext cx="14630" cy="1728216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50431" y="4384548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4242816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固定 b</a:t>
            </a:r>
          </a:p>
        </p:txBody>
      </p:sp>
      <p:sp>
        <p:nvSpPr>
          <p:cNvPr id="15" name="Oval 14"/>
          <p:cNvSpPr/>
          <p:nvPr/>
        </p:nvSpPr>
        <p:spPr>
          <a:xfrm>
            <a:off x="6650431" y="523951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509778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空间切片</a:t>
            </a:r>
          </a:p>
        </p:txBody>
      </p:sp>
      <p:sp>
        <p:nvSpPr>
          <p:cNvPr id="17" name="Oval 16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固定 r,c → 光谱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L01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从数据立方体到一条光谱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零标签不等于零信号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gt=0 是未标注，不是一类背景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已标注 10249 / 未标注 10776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最少类 Oats 只有 20 个样本，最多类 2455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193792"/>
            <a:ext cx="4983480" cy="93268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5321808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Microsoft YaHei"/>
                <a:ea typeface="Microsoft YaHei"/>
              </a:rPr>
              <a:t>&gt;&gt;&gt; </a:t>
            </a:r>
            <a:r>
              <a:rPr sz="1300" b="0">
                <a:solidFill>
                  <a:srgbClr val="1C2B3A"/>
                </a:solidFill>
                <a:latin typeface="Consolas"/>
                <a:ea typeface="Microsoft YaHei"/>
              </a:rPr>
              <a:t>(gt &gt; 0).sum(), (gt == 9).sum()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5705856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Consolas"/>
                <a:ea typeface="Microsoft YaHei"/>
              </a:rPr>
              <a:t>(10249, 20)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2103120"/>
            <a:ext cx="14630" cy="4059935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50431" y="2052827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016" y="1911095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全部像元</a:t>
            </a:r>
          </a:p>
        </p:txBody>
      </p:sp>
      <p:sp>
        <p:nvSpPr>
          <p:cNvPr id="13" name="Oval 12"/>
          <p:cNvSpPr/>
          <p:nvPr/>
        </p:nvSpPr>
        <p:spPr>
          <a:xfrm>
            <a:off x="6650431" y="407365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393192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有标注中心</a:t>
            </a:r>
          </a:p>
        </p:txBody>
      </p:sp>
      <p:sp>
        <p:nvSpPr>
          <p:cNvPr id="15" name="Oval 14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监督损失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L01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从数据立方体到一条光谱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代码实操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76809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0">
                <a:solidFill>
                  <a:srgbClr val="5C6B7A"/>
                </a:solidFill>
                <a:latin typeface="Microsoft YaHei"/>
                <a:ea typeface="Microsoft YaHei"/>
              </a:rPr>
              <a:t>打开  </a:t>
            </a:r>
            <a:r>
              <a:rPr sz="1300" b="0">
                <a:solidFill>
                  <a:srgbClr val="1C2B3A"/>
                </a:solidFill>
                <a:latin typeface="Consolas"/>
                <a:ea typeface="Microsoft YaHei"/>
              </a:rPr>
              <a:t>01_data_reading_and_visualization.ipynb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87168"/>
            <a:ext cx="6858000" cy="1920239"/>
          </a:xfrm>
          <a:prstGeom prst="roundRect">
            <a:avLst>
              <a:gd name="adj" fmla="val 4500"/>
            </a:avLst>
          </a:prstGeom>
          <a:solidFill>
            <a:srgbClr val="20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798064"/>
            <a:ext cx="6172200" cy="1353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2000"/>
              </a:lnSpc>
            </a:pPr>
            <a:r>
              <a:rPr sz="1500" b="0">
                <a:solidFill>
                  <a:srgbClr val="DEE9F2"/>
                </a:solidFill>
                <a:latin typeface="Consolas"/>
                <a:ea typeface="Microsoft YaHei"/>
              </a:rPr>
              <a:t>band = cube[:, :, 50]</a:t>
            </a:r>
          </a:p>
          <a:p>
            <a:pPr>
              <a:lnSpc>
                <a:spcPct val="142000"/>
              </a:lnSpc>
            </a:pPr>
            <a:r>
              <a:rPr sz="1500" b="0">
                <a:solidFill>
                  <a:srgbClr val="DEE9F2"/>
                </a:solidFill>
                <a:latin typeface="Consolas"/>
                <a:ea typeface="Microsoft YaHei"/>
              </a:rPr>
              <a:t>spectrum = cube[30, 40, :]</a:t>
            </a:r>
          </a:p>
          <a:p>
            <a:pPr>
              <a:lnSpc>
                <a:spcPct val="142000"/>
              </a:lnSpc>
            </a:pPr>
            <a:r>
              <a:rPr sz="1500" b="0">
                <a:solidFill>
                  <a:srgbClr val="DEE9F2"/>
                </a:solidFill>
                <a:latin typeface="Consolas"/>
                <a:ea typeface="Microsoft YaHei"/>
              </a:rPr>
              <a:t>mask = gt &gt; 0</a:t>
            </a:r>
          </a:p>
          <a:p>
            <a:pPr>
              <a:lnSpc>
                <a:spcPct val="142000"/>
              </a:lnSpc>
            </a:pPr>
            <a:r>
              <a:rPr sz="1500" b="0">
                <a:solidFill>
                  <a:srgbClr val="DEE9F2"/>
                </a:solidFill>
                <a:latin typeface="Consolas"/>
                <a:ea typeface="Microsoft YaHei"/>
              </a:rPr>
              <a:t>print(band.shape, spectrum.shape, mask.sum())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66344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0">
                <a:solidFill>
                  <a:srgbClr val="5C6B7A"/>
                </a:solidFill>
                <a:latin typeface="Microsoft YaHei"/>
                <a:ea typeface="Microsoft YaHei"/>
              </a:rPr>
              <a:t>定位 cell  </a:t>
            </a:r>
            <a:r>
              <a:rPr sz="1300" b="0">
                <a:solidFill>
                  <a:srgbClr val="1C2B3A"/>
                </a:solidFill>
                <a:latin typeface="Consolas"/>
                <a:ea typeface="Microsoft YaHei"/>
              </a:rPr>
              <a:t>loadmat, cube[:, :, b], cube[r, c, :]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3852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现场安排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95728"/>
            <a:ext cx="324612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现场：逐个运行本页 cell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完整训练：课前排队完成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结果解读：以当前输出为准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L01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从数据立方体到一条光谱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60350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2300" b="0">
                <a:solidFill>
                  <a:srgbClr val="1C2B3A"/>
                </a:solidFill>
                <a:latin typeface="Microsoft YaHei"/>
                <a:ea typeface="Microsoft YaHei"/>
              </a:rPr>
              <a:t>只改变显示波段组合，验证样本数和GT完全不变。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892040"/>
            <a:ext cx="5669280" cy="603504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C9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0566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>
                <a:solidFill>
                  <a:srgbClr val="C9571E"/>
                </a:solidFill>
                <a:latin typeface="Microsoft YaHei"/>
                <a:ea typeface="Microsoft YaHei"/>
              </a:rPr>
              <a:t>任务 A01</a:t>
            </a:r>
            <a:r>
              <a:rPr sz="1400" b="0">
                <a:solidFill>
                  <a:srgbClr val="1C2B3A"/>
                </a:solidFill>
                <a:latin typeface="Microsoft YaHei"/>
                <a:ea typeface="Microsoft YaHei"/>
              </a:rPr>
              <a:t>　交付：代码 + 配置 + 解释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2057400"/>
            <a:ext cx="3886200" cy="3438144"/>
          </a:xfrm>
          <a:prstGeom prst="rect">
            <a:avLst/>
          </a:prstGeom>
          <a:noFill/>
          <a:ln w="15240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350008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Microsoft YaHei"/>
                <a:ea typeface="Microsoft YaHei"/>
              </a:rPr>
              <a:t>先写预测，再运行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355848"/>
            <a:ext cx="324612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4069080"/>
            <a:ext cx="324612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4782312"/>
            <a:ext cx="324612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L01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从数据立方体到一条光谱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AI 辅助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2651760"/>
            <a:ext cx="6903720" cy="265176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651760"/>
            <a:ext cx="50292" cy="2651760"/>
          </a:xfrm>
          <a:prstGeom prst="rect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898648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提示词（可直接复制）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319272"/>
            <a:ext cx="62636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550" b="0">
                <a:solidFill>
                  <a:srgbClr val="1C2B3A"/>
                </a:solidFill>
                <a:latin typeface="Microsoft YaHei"/>
                <a:ea typeface="Microsoft YaHei"/>
              </a:rPr>
              <a:t>只依据给出的 MAT keys、shape、dtype 和来源片段生成数据卡。区分实测项与文献项；没有波长表时不要推断波长或红边位置。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7157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人工核验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136392"/>
            <a:ext cx="324612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450" b="0">
                <a:solidFill>
                  <a:srgbClr val="1C2B3A"/>
                </a:solidFill>
                <a:latin typeface="Microsoft YaHei"/>
                <a:ea typeface="Microsoft YaHei"/>
              </a:rPr>
              <a:t>用loadmat与shape断言检查实测项；传感器/波长需要原始资料证据。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L01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从数据立方体到一条光谱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小结与边界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5669280" cy="3291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显示好看不等于数据可分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传感器参数不能替代本文件元数据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2103120"/>
            <a:ext cx="4114800" cy="274320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2103120"/>
            <a:ext cx="50292" cy="2743200"/>
          </a:xfrm>
          <a:prstGeom prst="rect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23957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回到本课开头的问题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2834640"/>
            <a:ext cx="35204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200 个波段，是 200 张照片吗？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L01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从数据立方体到一条光谱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来源、版本与复现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93392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>
                <a:solidFill>
                  <a:srgbClr val="1C2B3A"/>
                </a:solidFill>
                <a:latin typeface="Microsoft YaHei"/>
                <a:ea typeface="Microsoft YaHei"/>
              </a:rPr>
              <a:t>EHU: Hyperspectral Remote Sensing Scenes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02082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</a:rPr>
              <a:t>https://www.ehu.eus/ccwintco/index.php/Hyperspectral_Remote_Sensing_Scenes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487168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65176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>
                <a:solidFill>
                  <a:srgbClr val="1C2B3A"/>
                </a:solidFill>
                <a:latin typeface="Microsoft YaHei"/>
                <a:ea typeface="Microsoft YaHei"/>
              </a:rPr>
              <a:t>NASA/JPL AVIRIS instrument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7919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</a:rPr>
              <a:t>https://aviris.jpl.nasa.gov/html/aviris.overview.html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145536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760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0">
                <a:solidFill>
                  <a:srgbClr val="5C6B7A"/>
                </a:solidFill>
                <a:latin typeface="Microsoft YaHei"/>
                <a:ea typeface="Microsoft YaHei"/>
              </a:rPr>
              <a:t>完整来源状态与许可边界见 docs/teaching/source-audit.md；图像取自当前 Notebook 输出。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 个波段，是 200 张照片吗？</dc:title>
  <dc:subject>Theory + practice + verified AI research assistance</dc:subject>
  <dc:creator>HSI-Learning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