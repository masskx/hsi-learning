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a7ab319d794928" /><Relationship Type="http://schemas.openxmlformats.org/officeDocument/2006/relationships/extended-properties" Target="/docProps/app.xml" Id="R7fabb2cadcba4646" /><Relationship Type="http://schemas.openxmlformats.org/officeDocument/2006/relationships/officeDocument" Target="/ppt/presentation.xml" Id="R1c11b3854b9a4e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a9c476d56448d9"/>
  </p:sldMasterIdLst>
  <p:notesMasterIdLst>
    <p:notesMasterId xmlns:r="http://schemas.openxmlformats.org/officeDocument/2006/relationships" r:id="R63492ef068c8412f"/>
  </p:notesMasterIdLst>
  <p:sldIdLst>
    <p:sldId xmlns:r="http://schemas.openxmlformats.org/officeDocument/2006/relationships" id="256" r:id="R311224875e2f4da5"/>
    <p:sldId xmlns:r="http://schemas.openxmlformats.org/officeDocument/2006/relationships" id="257" r:id="Rd5dee6b68d76430c"/>
    <p:sldId xmlns:r="http://schemas.openxmlformats.org/officeDocument/2006/relationships" id="258" r:id="Raa3af2e1598b40a2"/>
    <p:sldId xmlns:r="http://schemas.openxmlformats.org/officeDocument/2006/relationships" id="259" r:id="Ra21131cae5de47e4"/>
    <p:sldId xmlns:r="http://schemas.openxmlformats.org/officeDocument/2006/relationships" id="260" r:id="Ra22d7e103a744261"/>
    <p:sldId xmlns:r="http://schemas.openxmlformats.org/officeDocument/2006/relationships" id="261" r:id="Rae879b5e98ea48c6"/>
    <p:sldId xmlns:r="http://schemas.openxmlformats.org/officeDocument/2006/relationships" id="262" r:id="R1aed270f223c477a"/>
    <p:sldId xmlns:r="http://schemas.openxmlformats.org/officeDocument/2006/relationships" id="263" r:id="R3ecd4f1476004ea6"/>
    <p:sldId xmlns:r="http://schemas.openxmlformats.org/officeDocument/2006/relationships" id="264" r:id="R378f6191fdbf4f41"/>
    <p:sldId xmlns:r="http://schemas.openxmlformats.org/officeDocument/2006/relationships" id="265" r:id="Rb0c169120a9548d5"/>
    <p:sldId xmlns:r="http://schemas.openxmlformats.org/officeDocument/2006/relationships" id="266" r:id="R4cb4218702e84bca"/>
    <p:sldId xmlns:r="http://schemas.openxmlformats.org/officeDocument/2006/relationships" id="267" r:id="Rdd5f5b8154b04609"/>
    <p:sldId xmlns:r="http://schemas.openxmlformats.org/officeDocument/2006/relationships" id="268" r:id="R35a0f06fcb6b47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bc0f923e7c4029" /><Relationship Type="http://schemas.openxmlformats.org/officeDocument/2006/relationships/slideMaster" Target="/ppt/slideMasters/slideMaster1.xml" Id="R2ba9c476d56448d9" /><Relationship Type="http://schemas.openxmlformats.org/officeDocument/2006/relationships/notesMaster" Target="/ppt/notesMasters/notesMaster1.xml" Id="R63492ef068c8412f" /><Relationship Type="http://schemas.openxmlformats.org/officeDocument/2006/relationships/presProps" Target="/ppt/presProps.xml" Id="Rdae943fe08a24ef5" /><Relationship Type="http://schemas.openxmlformats.org/officeDocument/2006/relationships/tableStyles" Target="/ppt/tableStyles.xml" Id="R13d0fa7f11b14f83" /><Relationship Type="http://schemas.openxmlformats.org/officeDocument/2006/relationships/slide" Target="/ppt/slides/slide1.xml" Id="R311224875e2f4da5" /><Relationship Type="http://schemas.openxmlformats.org/officeDocument/2006/relationships/slide" Target="/ppt/slides/slide2.xml" Id="Rd5dee6b68d76430c" /><Relationship Type="http://schemas.openxmlformats.org/officeDocument/2006/relationships/slide" Target="/ppt/slides/slide3.xml" Id="Raa3af2e1598b40a2" /><Relationship Type="http://schemas.openxmlformats.org/officeDocument/2006/relationships/slide" Target="/ppt/slides/slide4.xml" Id="Ra21131cae5de47e4" /><Relationship Type="http://schemas.openxmlformats.org/officeDocument/2006/relationships/slide" Target="/ppt/slides/slide5.xml" Id="Ra22d7e103a744261" /><Relationship Type="http://schemas.openxmlformats.org/officeDocument/2006/relationships/slide" Target="/ppt/slides/slide6.xml" Id="Rae879b5e98ea48c6" /><Relationship Type="http://schemas.openxmlformats.org/officeDocument/2006/relationships/slide" Target="/ppt/slides/slide7.xml" Id="R1aed270f223c477a" /><Relationship Type="http://schemas.openxmlformats.org/officeDocument/2006/relationships/slide" Target="/ppt/slides/slide8.xml" Id="R3ecd4f1476004ea6" /><Relationship Type="http://schemas.openxmlformats.org/officeDocument/2006/relationships/slide" Target="/ppt/slides/slide9.xml" Id="R378f6191fdbf4f41" /><Relationship Type="http://schemas.openxmlformats.org/officeDocument/2006/relationships/slide" Target="/ppt/slides/slide10.xml" Id="Rb0c169120a9548d5" /><Relationship Type="http://schemas.openxmlformats.org/officeDocument/2006/relationships/slide" Target="/ppt/slides/slide11.xml" Id="R4cb4218702e84bca" /><Relationship Type="http://schemas.openxmlformats.org/officeDocument/2006/relationships/slide" Target="/ppt/slides/slide12.xml" Id="Rdd5f5b8154b04609" /><Relationship Type="http://schemas.openxmlformats.org/officeDocument/2006/relationships/slide" Target="/ppt/slides/slide13.xml" Id="R35a0f06fcb6b47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f4b15c591d41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221730533c41a4" /><Relationship Type="http://schemas.openxmlformats.org/officeDocument/2006/relationships/notesMaster" Target="/ppt/notesMasters/notesMaster1.xml" Id="R6ef5523ef12449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314fe6954d4ad0" /><Relationship Type="http://schemas.openxmlformats.org/officeDocument/2006/relationships/notesMaster" Target="/ppt/notesMasters/notesMaster1.xml" Id="Rb6deec7a586e45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c0d7594a55467d" /><Relationship Type="http://schemas.openxmlformats.org/officeDocument/2006/relationships/notesMaster" Target="/ppt/notesMasters/notesMaster1.xml" Id="Rbb108dbd921e4c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1e2a31ec984e30" /><Relationship Type="http://schemas.openxmlformats.org/officeDocument/2006/relationships/notesMaster" Target="/ppt/notesMasters/notesMaster1.xml" Id="R58f63d47399549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f008168a3e4346" /><Relationship Type="http://schemas.openxmlformats.org/officeDocument/2006/relationships/notesMaster" Target="/ppt/notesMasters/notesMaster1.xml" Id="Ra9c383714e6b47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984a3678e34682" /><Relationship Type="http://schemas.openxmlformats.org/officeDocument/2006/relationships/notesMaster" Target="/ppt/notesMasters/notesMaster1.xml" Id="R786312a18b6c4c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385a1f5f2094278" /><Relationship Type="http://schemas.openxmlformats.org/officeDocument/2006/relationships/notesMaster" Target="/ppt/notesMasters/notesMaster1.xml" Id="R8500e47f6b204d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5a4e386e3a4389" /><Relationship Type="http://schemas.openxmlformats.org/officeDocument/2006/relationships/notesMaster" Target="/ppt/notesMasters/notesMaster1.xml" Id="R3205f3f596cf41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c171de762f4008" /><Relationship Type="http://schemas.openxmlformats.org/officeDocument/2006/relationships/notesMaster" Target="/ppt/notesMasters/notesMaster1.xml" Id="R8da2164e0e4245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1b463f1f144ed3" /><Relationship Type="http://schemas.openxmlformats.org/officeDocument/2006/relationships/notesMaster" Target="/ppt/notesMasters/notesMaster1.xml" Id="Re882c4a43beb4d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d77a2a06dd447a" /><Relationship Type="http://schemas.openxmlformats.org/officeDocument/2006/relationships/notesMaster" Target="/ppt/notesMasters/notesMaster1.xml" Id="Raf86b63ca490461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9daae00d024b83" /><Relationship Type="http://schemas.openxmlformats.org/officeDocument/2006/relationships/notesMaster" Target="/ppt/notesMasters/notesMaster1.xml" Id="R5eb917658c2a4e6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e56ebb703845c6" /><Relationship Type="http://schemas.openxmlformats.org/officeDocument/2006/relationships/notesMaster" Target="/ppt/notesMasters/notesMaster1.xml" Id="R9fb0472e15d041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开场问题：gt=0的像元能否存在非零光谱？</a:t>
            </a:r>
          </a:p>
          <a:p xmlns:a="http://schemas.openxmlformats.org/drawingml/2006/main">
            <a:r>
              <a:t>原标题：200 个波段，是 200 张照片吗？</a:t>
            </a:r>
          </a:p>
          <a:p xmlns:a="http://schemas.openxmlformats.org/drawingml/2006/main">
            <a:r>
              <a:t>参考节奏：5分钟回顾，10分钟手算，10分钟代码，12分钟练习，5分钟错误分析，3分钟退出题。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  <a:p xmlns:a="http://schemas.openxmlformats.org/drawingml/2006/main">
            <a:r>
              <a:t>封面图源：00_environment_check.ipynb / dataset / 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交付物以代码、配置、输出和解释为准。先做完整示例，再做填空与迁移任务。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先让学生区分伪彩色与GT。GT不能作为分类输入的一部分。</a:t>
            </a:r>
          </a:p>
          <a:p xmlns:a="http://schemas.openxmlformats.org/drawingml/2006/main">
            <a:r>
              <a:t>观测 X / 标签 y / 显示颜色</a:t>
            </a:r>
          </a:p>
          <a:p xmlns:a="http://schemas.openxmlformats.org/drawingml/2006/main">
            <a:r>
              <a:t>图源：00_environment_check.ipynb / dataset / 0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真彩色合成来自notebook 03。问学生：换成(50,90,150)显示会怎样？显示选择是演示变量，不是实验变量。</a:t>
            </a:r>
          </a:p>
          <a:p xmlns:a="http://schemas.openxmlformats.org/drawingml/2006/main">
            <a:r>
              <a:t>历史协议B输出，仅用于结构/读图；不是协议E的比较成绩。</a:t>
            </a:r>
          </a:p>
          <a:p xmlns:a="http://schemas.openxmlformats.org/drawingml/2006/main">
            <a:r>
              <a:t>Band r/g/b / Stretch / GT 不变</a:t>
            </a:r>
          </a:p>
          <a:p xmlns:a="http://schemas.openxmlformats.org/drawingml/2006/main">
            <a:r>
              <a:t>图源：03_hybridsn_baseline.ipynb / legacy-5 / 0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让学生对 toy 数组口算 shape，再对 IP 实测。ndarray 不自带物理轴语义。</a:t>
            </a:r>
          </a:p>
          <a:p xmlns:a="http://schemas.openxmlformats.org/drawingml/2006/main">
            <a:r>
              <a:t>H 行 / W 列 / B 波段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本图来自notebook 01的实际波段切片。band index不是波长：删带改变索引与波长对应，没有元数据不做nm换算。</a:t>
            </a:r>
          </a:p>
          <a:p xmlns:a="http://schemas.openxmlformats.org/drawingml/2006/main">
            <a:r>
              <a:t>band 84 / band 128 / band 35</a:t>
            </a:r>
          </a:p>
          <a:p xmlns:a="http://schemas.openxmlformats.org/drawingml/2006/main">
            <a:r>
              <a:t>图源：01_data_reading_and_visualization.ipynb / 8482399b-633f-4fb3-922f-94cb5d0df5b1 / 0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IP 实测形状 145×145×200 来自 dataset/README.md 的本地加载记录。给 3×4×5 toy 数组依次问 shape。</a:t>
            </a:r>
          </a:p>
          <a:p xmlns:a="http://schemas.openxmlformats.org/drawingml/2006/main">
            <a:r>
              <a:t>固定 b / 空间切片 / 固定 r,c → 光谱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现场运行这条命令并读数：10249 个监督样本占总像元不到一半。20 与 2455 相差超过 120 倍——后面讲不均衡和开集的根子就在这里。</a:t>
            </a:r>
          </a:p>
          <a:p xmlns:a="http://schemas.openxmlformats.org/drawingml/2006/main">
            <a:r>
              <a:t>全部像元 / 有标注中心 / 监督损失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打开Notebook01的spectral-comparison；请学生先判断哪些曲线更难区分，再展示类别。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图源：01_data_reading_and_visualization.ipynb / spectral-comparison / 0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一张图的颜色改变不能当作模型输入已经改变；区分显示代码与训练预处理。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只运行指定短cell；完整训练已在课前完成。缺资产时使用已执行输出备用并说明。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停下来收集预测，发现错误后重新解释；不等到课后作业才知道学生没理解。</a:t>
            </a:r>
          </a:p>
          <a:p xmlns:a="http://schemas.openxmlformats.org/drawingml/2006/main">
            <a:r>
              <a:t>作业：A01；完整示例 / 填空 / 迁移；提交代码、配置、结果和限制。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区分已观察事实、候选解释与下一项检验。</a:t>
            </a:r>
          </a:p>
          <a:p xmlns:a="http://schemas.openxmlformats.org/drawingml/2006/main">
            <a:r>
              <a:t>退出题：gt=0的像元能否存在非零光谱？</a:t>
            </a:r>
          </a:p>
          <a:p xmlns:a="http://schemas.openxmlformats.org/drawingml/2006/main">
            <a:r>
              <a:t>课堂入口: 01_data_reading_and_visualization.ipynb</a:t>
            </a:r>
          </a:p>
          <a:p xmlns:a="http://schemas.openxmlformats.org/drawingml/2006/main">
            <a:r>
              <a:t>定位: loadmat, cube[:, :, b], cube[r, c, :]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AI辅助：只依据给出的 MAT keys、shape、dtype 和来源片段生成数据卡。区分实测项与文献项；没有波长表时不要推断波长或红边位置。</a:t>
            </a:r>
          </a:p>
          <a:p xmlns:a="http://schemas.openxmlformats.org/drawingml/2006/main">
            <a:r>
              <a:t>人工核验：用loadmat与shape断言检查实测项；传感器/波长需要原始资料证据。</a:t>
            </a:r>
          </a:p>
          <a:p xmlns:a="http://schemas.openxmlformats.org/drawingml/2006/main">
            <a:r>
              <a:t>EHU: Hyperspectral Remote Sensing Scenes</a:t>
            </a:r>
          </a:p>
          <a:p xmlns:a="http://schemas.openxmlformats.org/drawingml/2006/main">
            <a:r>
              <a:t>https://www.ehu.eus/ccwintco/index.php/Hyperspectral_Remote_Sensing_Scenes</a:t>
            </a:r>
          </a:p>
          <a:p xmlns:a="http://schemas.openxmlformats.org/drawingml/2006/main">
            <a:r>
              <a:t>NASA/JPL AVIRIS instrument overview</a:t>
            </a:r>
          </a:p>
          <a:p xmlns:a="http://schemas.openxmlformats.org/drawingml/2006/main">
            <a:r>
              <a:t>https://aviris.jpl.nasa.gov/html/aviris.overview.html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350cfce33647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7bb02895774f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240b4e5a04e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a0b2225bd46e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36729cd62840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292785368c40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45F22E-9A4A-4181-8A96-69FD0F9292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462B2BA-686F-4599-BF1C-19F6F666E2E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80C29C5-6CF7-4A55-9514-A01753FA35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4913FD-B669-4F2A-8270-B49192572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DFFDDC7-2C08-4028-94EC-B7591F4F83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C58F0AA-0065-4BFE-8248-505D9DB62A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9112E79-29F1-4F4B-B5A3-4F3C297BF8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649EF0D-419E-486D-B862-018B16636A0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68C0AA-3B53-4C20-93FA-6DCE72B56D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1F2CD41-797D-4824-96D2-94927E1E24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2ab05d34d240f6" /><Relationship Type="http://schemas.openxmlformats.org/officeDocument/2006/relationships/slideLayout" Target="/ppt/slideLayouts/slideLayout1.xml" Id="R1bff4767088147af" /><Relationship Type="http://schemas.openxmlformats.org/officeDocument/2006/relationships/slideLayout" Target="/ppt/slideLayouts/slideLayout2.xml" Id="Rd18640777b8043cf" /><Relationship Type="http://schemas.openxmlformats.org/officeDocument/2006/relationships/slideLayout" Target="/ppt/slideLayouts/slideLayout3.xml" Id="Rbec5d2c9a0e34de2" /><Relationship Type="http://schemas.openxmlformats.org/officeDocument/2006/relationships/slideLayout" Target="/ppt/slideLayouts/slideLayout4.xml" Id="Rdc77aefd2b6a4b24" /><Relationship Type="http://schemas.openxmlformats.org/officeDocument/2006/relationships/slideLayout" Target="/ppt/slideLayouts/slideLayout5.xml" Id="R0a43024c21594264" /><Relationship Type="http://schemas.openxmlformats.org/officeDocument/2006/relationships/slideLayout" Target="/ppt/slideLayouts/slideLayout6.xml" Id="Rae142d5675554e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ff4767088147af"/>
    <p:sldLayoutId xmlns:r="http://schemas.openxmlformats.org/officeDocument/2006/relationships" id="2147483650" r:id="Rd18640777b8043cf"/>
    <p:sldLayoutId xmlns:r="http://schemas.openxmlformats.org/officeDocument/2006/relationships" id="2147483651" r:id="Rbec5d2c9a0e34de2"/>
    <p:sldLayoutId xmlns:r="http://schemas.openxmlformats.org/officeDocument/2006/relationships" id="2147483652" r:id="Rdc77aefd2b6a4b24"/>
    <p:sldLayoutId xmlns:r="http://schemas.openxmlformats.org/officeDocument/2006/relationships" id="2147483653" r:id="R0a43024c21594264"/>
    <p:sldLayoutId xmlns:r="http://schemas.openxmlformats.org/officeDocument/2006/relationships" id="2147483654" r:id="Rae142d5675554e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4de44404fa44e8" /><Relationship Type="http://schemas.openxmlformats.org/officeDocument/2006/relationships/image" Target="/ppt/media/image.png" Id="Rf9364f609b4c4545" /><Relationship Type="http://schemas.openxmlformats.org/officeDocument/2006/relationships/notesSlide" Target="/ppt/notesSlides/notesSlide1.xml" Id="Re4518b47671848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37feed25f84c01" /><Relationship Type="http://schemas.openxmlformats.org/officeDocument/2006/relationships/notesSlide" Target="/ppt/notesSlides/notesSlide2.xml" Id="R83c9b8c4eba645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1575c533e1497f" /><Relationship Type="http://schemas.openxmlformats.org/officeDocument/2006/relationships/image" Target="/ppt/media/image2.png" Id="R73af2bb55d6d4784" /><Relationship Type="http://schemas.openxmlformats.org/officeDocument/2006/relationships/notesSlide" Target="/ppt/notesSlides/notesSlide3.xml" Id="Reb3a9e1f59c14a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aa55ce74b74223" /><Relationship Type="http://schemas.openxmlformats.org/officeDocument/2006/relationships/image" Target="/ppt/media/image3.png" Id="R3255c6e4509c4cdc" /><Relationship Type="http://schemas.openxmlformats.org/officeDocument/2006/relationships/notesSlide" Target="/ppt/notesSlides/notesSlide4.xml" Id="Rc579c19296b742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3c9b6d8e7345fe" /><Relationship Type="http://schemas.openxmlformats.org/officeDocument/2006/relationships/image" Target="/ppt/media/image4.png" Id="Rad626fc3359a4cb4" /><Relationship Type="http://schemas.openxmlformats.org/officeDocument/2006/relationships/notesSlide" Target="/ppt/notesSlides/notesSlide5.xml" Id="R51dc1cb225a843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cb82663136447a" /><Relationship Type="http://schemas.openxmlformats.org/officeDocument/2006/relationships/image" Target="/ppt/media/image5.png" Id="R09ce632268044590" /><Relationship Type="http://schemas.openxmlformats.org/officeDocument/2006/relationships/notesSlide" Target="/ppt/notesSlides/notesSlide6.xml" Id="R2e7b2254610f4e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bf7fe2307b4646" /><Relationship Type="http://schemas.openxmlformats.org/officeDocument/2006/relationships/image" Target="/ppt/media/image6.png" Id="R8b3b8930ec2a4d11" /><Relationship Type="http://schemas.openxmlformats.org/officeDocument/2006/relationships/notesSlide" Target="/ppt/notesSlides/notesSlide7.xml" Id="Rbdf139aa8ed443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d2e3fe8b1a4ac1" /><Relationship Type="http://schemas.openxmlformats.org/officeDocument/2006/relationships/notesSlide" Target="/ppt/notesSlides/notesSlide8.xml" Id="Rfafcd249fb524b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afd8a207a54be3" /><Relationship Type="http://schemas.openxmlformats.org/officeDocument/2006/relationships/image" Target="/ppt/media/image7.png" Id="R092545df2fcc4683" /><Relationship Type="http://schemas.openxmlformats.org/officeDocument/2006/relationships/notesSlide" Target="/ppt/notesSlides/notesSlide9.xml" Id="Rabe3eccdee8a48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3c9aa2db5a431f" /><Relationship Type="http://schemas.openxmlformats.org/officeDocument/2006/relationships/notesSlide" Target="/ppt/notesSlides/notesSlide10.xml" Id="R16708b3e316e44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86a6abab2f4755" /><Relationship Type="http://schemas.openxmlformats.org/officeDocument/2006/relationships/notesSlide" Target="/ppt/notesSlides/notesSlide11.xml" Id="Ra8e57e9048af46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12c45874eb4cb5" /><Relationship Type="http://schemas.openxmlformats.org/officeDocument/2006/relationships/notesSlide" Target="/ppt/notesSlides/notesSlide12.xml" Id="R7ea7d02d472e42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67063062e14b54" /><Relationship Type="http://schemas.openxmlformats.org/officeDocument/2006/relationships/notesSlide" Target="/ppt/notesSlides/notesSlide13.xml" Id="R874fc0a788c942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14A93C7E-3F4C-4F52-94D7-A15BDF45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5C198AE6-FB5C-4B24-ACB8-A127C32A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A80B3-57D3-4C8B-8F2D-299CB3F4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55120-CD94-4789-9B6B-48C54095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理解&#10;高光谱数据">
            <a:extLst xmlns:a="http://schemas.openxmlformats.org/drawingml/2006/main">
              <a:ext uri="{FF2B5EF4-FFF2-40B4-BE49-F238E27FC236}">
                <a16:creationId xmlns:a16="http://schemas.microsoft.com/office/drawing/2014/main" id="{C43DA60D-1E1E-44D5-ABAC-6A20DB79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理解</a:t>
            </a:r>
          </a:p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高光谱数据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46064-E2A7-4625-AB3D-8DC4284082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64f609b4c4545"/>
          <a:stretch xmlns:a="http://schemas.openxmlformats.org/drawingml/2006/main"/>
        </p:blipFill>
        <p:spPr>
          <a:xfrm xmlns:a="http://schemas.openxmlformats.org/drawingml/2006/main">
            <a:off x="7913957" y="2076450"/>
            <a:ext cx="2269586" cy="22288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6D3C9B-4A96-493D-8F13-7AC121F1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从数据立方体到一条光谱">
            <a:extLst xmlns:a="http://schemas.openxmlformats.org/drawingml/2006/main">
              <a:ext uri="{FF2B5EF4-FFF2-40B4-BE49-F238E27FC236}">
                <a16:creationId xmlns:a16="http://schemas.microsoft.com/office/drawing/2014/main" id="{C6462176-90C3-4F91-9920-E9E7C480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从数据立方体到一条光谱</a:t>
            </a:r>
          </a:p>
        </p:txBody>
      </p:sp>
      <p:sp>
        <p:nvSpPr>
          <p:cNvPr id="9" name="先修  /  L00：环境和路径已检查">
            <a:extLst xmlns:a="http://schemas.openxmlformats.org/drawingml/2006/main">
              <a:ext uri="{FF2B5EF4-FFF2-40B4-BE49-F238E27FC236}">
                <a16:creationId xmlns:a16="http://schemas.microsoft.com/office/drawing/2014/main" id="{007524BF-13C6-4251-97C9-2CD21E6C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先修  /  L00：环境和路径已检查</a:t>
            </a:r>
          </a:p>
        </p:txBody>
      </p:sp>
    </p:spTree>
    <p:extLst>
      <p:ext uri="{BB962C8B-B14F-4D97-AF65-F5344CB8AC3E}">
        <p14:creationId xmlns:p14="http://schemas.microsoft.com/office/powerpoint/2010/main" val="6778263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75DB8019-21E6-4870-B130-084A11CA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B1CD579A-F9A3-4F34-989C-632A71FB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这节课，你将完成什么">
            <a:extLst xmlns:a="http://schemas.openxmlformats.org/drawingml/2006/main">
              <a:ext uri="{FF2B5EF4-FFF2-40B4-BE49-F238E27FC236}">
                <a16:creationId xmlns:a16="http://schemas.microsoft.com/office/drawing/2014/main" id="{9428BCEE-76B1-423E-A7C6-BC00281E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这节课，你将完成什么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09171-AD43-41AF-8AEB-A0289350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266D4647-4771-4EB3-BAB6-2B7010F3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一页数据卡">
            <a:extLst xmlns:a="http://schemas.openxmlformats.org/drawingml/2006/main">
              <a:ext uri="{FF2B5EF4-FFF2-40B4-BE49-F238E27FC236}">
                <a16:creationId xmlns:a16="http://schemas.microsoft.com/office/drawing/2014/main" id="{AD51DF0E-7DC8-4D40-BABF-48FE6B8B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193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一页数据卡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81D0A8-BB58-4A3C-947B-43895884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19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5060241F-465C-4354-918E-5BA80F90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空间/光谱切片">
            <a:extLst xmlns:a="http://schemas.openxmlformats.org/drawingml/2006/main">
              <a:ext uri="{FF2B5EF4-FFF2-40B4-BE49-F238E27FC236}">
                <a16:creationId xmlns:a16="http://schemas.microsoft.com/office/drawing/2014/main" id="{E1385914-5E73-4F49-A49F-AC09EA68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99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空间/光谱切片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6F438-4A2D-4FF0-AE7E-44E17A4C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1FE50FA0-42C4-4FBB-BCCC-513DB717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GT与观测的区别">
            <a:extLst xmlns:a="http://schemas.openxmlformats.org/drawingml/2006/main">
              <a:ext uri="{FF2B5EF4-FFF2-40B4-BE49-F238E27FC236}">
                <a16:creationId xmlns:a16="http://schemas.microsoft.com/office/drawing/2014/main" id="{0DA5FF45-865D-4DFC-B01F-025646A5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GT与观测的区别</a:t>
            </a:r>
          </a:p>
        </p:txBody>
      </p:sp>
    </p:spTree>
    <p:extLst>
      <p:ext uri="{BB962C8B-B14F-4D97-AF65-F5344CB8AC3E}">
        <p14:creationId xmlns:p14="http://schemas.microsoft.com/office/powerpoint/2010/main" val="3276462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0E1AAE70-ED68-4A84-8895-B9153CC4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29220D0A-90E1-4A3E-9FBE-561ABFD7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同样大小的两幅图，只有一幅是标签">
            <a:extLst xmlns:a="http://schemas.openxmlformats.org/drawingml/2006/main">
              <a:ext uri="{FF2B5EF4-FFF2-40B4-BE49-F238E27FC236}">
                <a16:creationId xmlns:a16="http://schemas.microsoft.com/office/drawing/2014/main" id="{021B7498-F089-4B48-9AEF-24103C09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同样大小的两幅图，只有一幅是标签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5FEEA-C9E5-43E6-A872-48E843AC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6482B-6C29-4AAD-B80F-87985F9CB6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f2bb55d6d4784"/>
          <a:stretch xmlns:a="http://schemas.openxmlformats.org/drawingml/2006/main"/>
        </p:blipFill>
        <p:spPr>
          <a:xfrm xmlns:a="http://schemas.openxmlformats.org/drawingml/2006/main">
            <a:off x="4107687" y="2019300"/>
            <a:ext cx="3976625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619D4-57B0-435F-A37F-FA195E18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观测是传感器记录">
            <a:extLst xmlns:a="http://schemas.openxmlformats.org/drawingml/2006/main">
              <a:ext uri="{FF2B5EF4-FFF2-40B4-BE49-F238E27FC236}">
                <a16:creationId xmlns:a16="http://schemas.microsoft.com/office/drawing/2014/main" id="{9F6E3F5A-89DD-4F50-A194-F1E55ADC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观测是传感器记录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A788A-6A17-49D3-B4DE-B1080BE8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GT 是人工/调查监督信息">
            <a:extLst xmlns:a="http://schemas.openxmlformats.org/drawingml/2006/main">
              <a:ext uri="{FF2B5EF4-FFF2-40B4-BE49-F238E27FC236}">
                <a16:creationId xmlns:a16="http://schemas.microsoft.com/office/drawing/2014/main" id="{5359AC75-A6F9-4E8F-8887-6C657632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GT 是人工/调查监督信息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CB42F-3417-4F73-A362-8232815E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类别颜色不是材料真实颜色">
            <a:extLst xmlns:a="http://schemas.openxmlformats.org/drawingml/2006/main">
              <a:ext uri="{FF2B5EF4-FFF2-40B4-BE49-F238E27FC236}">
                <a16:creationId xmlns:a16="http://schemas.microsoft.com/office/drawing/2014/main" id="{94364140-61B1-433F-A0F4-35A48B0F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类别颜色不是材料真实颜色</a:t>
            </a:r>
          </a:p>
        </p:txBody>
      </p:sp>
    </p:spTree>
    <p:extLst>
      <p:ext uri="{BB962C8B-B14F-4D97-AF65-F5344CB8AC3E}">
        <p14:creationId xmlns:p14="http://schemas.microsoft.com/office/powerpoint/2010/main" val="17070030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FA45ADD6-8E6B-471F-A0DF-84928849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D28B1D8B-130F-48CA-BD68-774E7438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观测图是三个波段的合成显示">
            <a:extLst xmlns:a="http://schemas.openxmlformats.org/drawingml/2006/main">
              <a:ext uri="{FF2B5EF4-FFF2-40B4-BE49-F238E27FC236}">
                <a16:creationId xmlns:a16="http://schemas.microsoft.com/office/drawing/2014/main" id="{883615AE-77FA-4B74-8580-B0D7B57A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观测图是三个波段的合成显示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B0A45-EBEA-41D9-AC1C-E11BC9CD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4B329F-10CE-44E1-9D7B-2F6D9B0854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5c6e4509c4cdc"/>
          <a:stretch xmlns:a="http://schemas.openxmlformats.org/drawingml/2006/main"/>
        </p:blipFill>
        <p:spPr>
          <a:xfrm xmlns:a="http://schemas.openxmlformats.org/drawingml/2006/main">
            <a:off x="4175650" y="2019300"/>
            <a:ext cx="3840700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4462C-F0A5-47B2-99EA-DA3D29EC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真彩色只取三个波段映射到RGB">
            <a:extLst xmlns:a="http://schemas.openxmlformats.org/drawingml/2006/main">
              <a:ext uri="{FF2B5EF4-FFF2-40B4-BE49-F238E27FC236}">
                <a16:creationId xmlns:a16="http://schemas.microsoft.com/office/drawing/2014/main" id="{70E95C67-38A6-4426-AEF5-777D5AEC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真彩色只取三个波段映射到RGB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E0AD7-0CFC-4334-99CC-F771FE18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改变波段组合不改变数据本身">
            <a:extLst xmlns:a="http://schemas.openxmlformats.org/drawingml/2006/main">
              <a:ext uri="{FF2B5EF4-FFF2-40B4-BE49-F238E27FC236}">
                <a16:creationId xmlns:a16="http://schemas.microsoft.com/office/drawing/2014/main" id="{0E3BE46F-A472-42BC-9170-5A9A1C1E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改变波段组合不改变数据本身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40E1EE-5500-47E9-A2F3-A6B85F95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显示拉伸只影响人眼，不影响标签">
            <a:extLst xmlns:a="http://schemas.openxmlformats.org/drawingml/2006/main">
              <a:ext uri="{FF2B5EF4-FFF2-40B4-BE49-F238E27FC236}">
                <a16:creationId xmlns:a16="http://schemas.microsoft.com/office/drawing/2014/main" id="{C98536A9-EC5F-4A47-A410-AEDE5689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显示拉伸只影响人眼，不影响标签</a:t>
            </a:r>
          </a:p>
        </p:txBody>
      </p:sp>
    </p:spTree>
    <p:extLst>
      <p:ext uri="{BB962C8B-B14F-4D97-AF65-F5344CB8AC3E}">
        <p14:creationId xmlns:p14="http://schemas.microsoft.com/office/powerpoint/2010/main" val="1501601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5606BF8F-E1A4-41A1-9DE5-8EDFD347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6A3F115E-4ABB-4C0D-862C-52AB04C0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一个数组，两种视角">
            <a:extLst xmlns:a="http://schemas.openxmlformats.org/drawingml/2006/main">
              <a:ext uri="{FF2B5EF4-FFF2-40B4-BE49-F238E27FC236}">
                <a16:creationId xmlns:a16="http://schemas.microsoft.com/office/drawing/2014/main" id="{C5A78C32-17A9-4AFA-929A-07517EF6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一个数组，两种视角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464F42-1366-43AE-9BAC-B96EAF3F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固定波段：一张 145×145 灰度图">
            <a:extLst xmlns:a="http://schemas.openxmlformats.org/drawingml/2006/main">
              <a:ext uri="{FF2B5EF4-FFF2-40B4-BE49-F238E27FC236}">
                <a16:creationId xmlns:a16="http://schemas.microsoft.com/office/drawing/2014/main" id="{3B98CFD6-82F1-47F7-853D-CB5E3843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固定波段：一张 145×145 灰度图</a:t>
            </a:r>
          </a:p>
        </p:txBody>
      </p:sp>
      <p:sp>
        <p:nvSpPr>
          <p:cNvPr id="6" name="固定位置：一条 200 维光谱向量">
            <a:extLst xmlns:a="http://schemas.openxmlformats.org/drawingml/2006/main">
              <a:ext uri="{FF2B5EF4-FFF2-40B4-BE49-F238E27FC236}">
                <a16:creationId xmlns:a16="http://schemas.microsoft.com/office/drawing/2014/main" id="{7FD5A7EE-E25B-4E45-9FCE-0AEEC69E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固定位置：一条 200 维光谱向量</a:t>
            </a:r>
          </a:p>
        </p:txBody>
      </p:sp>
      <p:sp>
        <p:nvSpPr>
          <p:cNvPr id="7" name="第三维不是类别轴">
            <a:extLst xmlns:a="http://schemas.openxmlformats.org/drawingml/2006/main">
              <a:ext uri="{FF2B5EF4-FFF2-40B4-BE49-F238E27FC236}">
                <a16:creationId xmlns:a16="http://schemas.microsoft.com/office/drawing/2014/main" id="{7D383AA6-9DC2-469A-9A7B-B024E615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第三维不是类别轴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8DBCC-7211-4AEC-A62E-F7E37B1CB0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26fc3359a4cb4"/>
          <a:stretch xmlns:a="http://schemas.openxmlformats.org/drawingml/2006/main"/>
        </p:blipFill>
        <p:spPr>
          <a:xfrm xmlns:a="http://schemas.openxmlformats.org/drawingml/2006/main">
            <a:off x="6096000" y="2841715"/>
            <a:ext cx="5410200" cy="108884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C7467-9FD1-4404-9829-DC20CDDF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cube[:, :, 50].shape, cube">
            <a:extLst xmlns:a="http://schemas.openxmlformats.org/drawingml/2006/main">
              <a:ext uri="{FF2B5EF4-FFF2-40B4-BE49-F238E27FC236}">
                <a16:creationId xmlns:a16="http://schemas.microsoft.com/office/drawing/2014/main" id="{81418C94-0FD6-474C-92CD-D1A08677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cube[:, :, 50].shape, cube[30, 40, :].shape</a:t>
            </a:r>
          </a:p>
        </p:txBody>
      </p:sp>
      <p:sp>
        <p:nvSpPr>
          <p:cNvPr id="11" name="((145, 145), (200,))">
            <a:extLst xmlns:a="http://schemas.openxmlformats.org/drawingml/2006/main">
              <a:ext uri="{FF2B5EF4-FFF2-40B4-BE49-F238E27FC236}">
                <a16:creationId xmlns:a16="http://schemas.microsoft.com/office/drawing/2014/main" id="{E24E6529-3443-406F-A5F3-FD3E3C11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((145, 145), (200,))</a:t>
            </a:r>
          </a:p>
        </p:txBody>
      </p:sp>
    </p:spTree>
    <p:extLst>
      <p:ext uri="{BB962C8B-B14F-4D97-AF65-F5344CB8AC3E}">
        <p14:creationId xmlns:p14="http://schemas.microsoft.com/office/powerpoint/2010/main" val="15202036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639FDA5C-A237-48D3-8E25-136E6D8C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C377415B-B1A8-48A6-8CA7-A44F2BAD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不同波段，同一地物亮度不同">
            <a:extLst xmlns:a="http://schemas.openxmlformats.org/drawingml/2006/main">
              <a:ext uri="{FF2B5EF4-FFF2-40B4-BE49-F238E27FC236}">
                <a16:creationId xmlns:a16="http://schemas.microsoft.com/office/drawing/2014/main" id="{E2864566-A360-4CE8-BF5F-93C267EF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不同波段，同一地物亮度不同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99749-6F1A-48C6-BE9A-21C96DDA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418BF5-392E-42A2-B83B-4E0DFB1920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ce632268044590"/>
          <a:stretch xmlns:a="http://schemas.openxmlformats.org/drawingml/2006/main"/>
        </p:blipFill>
        <p:spPr>
          <a:xfrm xmlns:a="http://schemas.openxmlformats.org/drawingml/2006/main">
            <a:off x="2710347" y="2019300"/>
            <a:ext cx="6771306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85BD2-D4A6-4A55-8130-58C26E69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六个波段显示六种纹理">
            <a:extLst xmlns:a="http://schemas.openxmlformats.org/drawingml/2006/main">
              <a:ext uri="{FF2B5EF4-FFF2-40B4-BE49-F238E27FC236}">
                <a16:creationId xmlns:a16="http://schemas.microsoft.com/office/drawing/2014/main" id="{B01676EE-9CF4-49C0-8094-00922C92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六个波段显示六种纹理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DC948-D9FC-4964-87DB-704828DF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农田与道路在不同波段对比度不同">
            <a:extLst xmlns:a="http://schemas.openxmlformats.org/drawingml/2006/main">
              <a:ext uri="{FF2B5EF4-FFF2-40B4-BE49-F238E27FC236}">
                <a16:creationId xmlns:a16="http://schemas.microsoft.com/office/drawing/2014/main" id="{CA29F1A7-BFCD-4501-9D5A-E779C76F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农田与道路在不同波段对比度不同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C60F1-BC66-4202-B51E-3A8181F2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波段选择同时影响显示与可分性">
            <a:extLst xmlns:a="http://schemas.openxmlformats.org/drawingml/2006/main">
              <a:ext uri="{FF2B5EF4-FFF2-40B4-BE49-F238E27FC236}">
                <a16:creationId xmlns:a16="http://schemas.microsoft.com/office/drawing/2014/main" id="{749BC2C8-C914-47DE-9AE0-F801C4D7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波段选择同时影响显示与可分性</a:t>
            </a:r>
          </a:p>
        </p:txBody>
      </p:sp>
    </p:spTree>
    <p:extLst>
      <p:ext uri="{BB962C8B-B14F-4D97-AF65-F5344CB8AC3E}">
        <p14:creationId xmlns:p14="http://schemas.microsoft.com/office/powerpoint/2010/main" val="18792552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4E7B82D7-3EAC-453A-8083-178DAF9E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81D2425D-01EE-4DEB-9E1C-EF3880F5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先预测 shape，再切片">
            <a:extLst xmlns:a="http://schemas.openxmlformats.org/drawingml/2006/main">
              <a:ext uri="{FF2B5EF4-FFF2-40B4-BE49-F238E27FC236}">
                <a16:creationId xmlns:a16="http://schemas.microsoft.com/office/drawing/2014/main" id="{52F817B8-5416-44F2-8F64-3D451936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先预测 shape，再切片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36099-AF21-4728-9E4A-3486CF07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X[:, :, b] → (H,W)">
            <a:extLst xmlns:a="http://schemas.openxmlformats.org/drawingml/2006/main">
              <a:ext uri="{FF2B5EF4-FFF2-40B4-BE49-F238E27FC236}">
                <a16:creationId xmlns:a16="http://schemas.microsoft.com/office/drawing/2014/main" id="{6DCAF1B6-30B9-43A8-9BBB-08C996A5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X[:, :, b] → (H,W)</a:t>
            </a:r>
          </a:p>
        </p:txBody>
      </p:sp>
      <p:sp>
        <p:nvSpPr>
          <p:cNvPr id="6" name="X[r,c,:] → (B,)">
            <a:extLst xmlns:a="http://schemas.openxmlformats.org/drawingml/2006/main">
              <a:ext uri="{FF2B5EF4-FFF2-40B4-BE49-F238E27FC236}">
                <a16:creationId xmlns:a16="http://schemas.microsoft.com/office/drawing/2014/main" id="{D14532D0-0071-40A3-B860-B197E178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X[r,c,:] → (B,)</a:t>
            </a:r>
          </a:p>
        </p:txBody>
      </p:sp>
      <p:sp>
        <p:nvSpPr>
          <p:cNvPr id="7" name="X[r,:,:] 是行切片，不是波段切片">
            <a:extLst xmlns:a="http://schemas.openxmlformats.org/drawingml/2006/main">
              <a:ext uri="{FF2B5EF4-FFF2-40B4-BE49-F238E27FC236}">
                <a16:creationId xmlns:a16="http://schemas.microsoft.com/office/drawing/2014/main" id="{F48EBC89-332E-430A-8BD9-1A05321A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X[r,:,:] 是行切片，不是波段切片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EDE98-EA29-4018-A32E-A29B28CC90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3b8930ec2a4d11"/>
          <a:stretch xmlns:a="http://schemas.openxmlformats.org/drawingml/2006/main"/>
        </p:blipFill>
        <p:spPr>
          <a:xfrm xmlns:a="http://schemas.openxmlformats.org/drawingml/2006/main">
            <a:off x="6096000" y="2944047"/>
            <a:ext cx="5410200" cy="884181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972E52-9C12-43E8-B6AA-89759F76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cube[:, :, :3].transpose(2">
            <a:extLst xmlns:a="http://schemas.openxmlformats.org/drawingml/2006/main">
              <a:ext uri="{FF2B5EF4-FFF2-40B4-BE49-F238E27FC236}">
                <a16:creationId xmlns:a16="http://schemas.microsoft.com/office/drawing/2014/main" id="{A7020EE3-CAAA-4881-A099-C5908BAE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cube[:, :, :3].transpose(2, 0, 1).shape</a:t>
            </a:r>
          </a:p>
        </p:txBody>
      </p:sp>
      <p:sp>
        <p:nvSpPr>
          <p:cNvPr id="11" name="(3, 145, 145)">
            <a:extLst xmlns:a="http://schemas.openxmlformats.org/drawingml/2006/main">
              <a:ext uri="{FF2B5EF4-FFF2-40B4-BE49-F238E27FC236}">
                <a16:creationId xmlns:a16="http://schemas.microsoft.com/office/drawing/2014/main" id="{F2F7E943-8B7C-4471-BEA9-D4B9A0AC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(3, 145, 145)</a:t>
            </a:r>
          </a:p>
        </p:txBody>
      </p:sp>
    </p:spTree>
    <p:extLst>
      <p:ext uri="{BB962C8B-B14F-4D97-AF65-F5344CB8AC3E}">
        <p14:creationId xmlns:p14="http://schemas.microsoft.com/office/powerpoint/2010/main" val="21007694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BACD7294-463C-4F64-A0C1-7B373A8E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176AF045-60A8-4F1B-A760-801500A6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零标签不等于零信号">
            <a:extLst xmlns:a="http://schemas.openxmlformats.org/drawingml/2006/main">
              <a:ext uri="{FF2B5EF4-FFF2-40B4-BE49-F238E27FC236}">
                <a16:creationId xmlns:a16="http://schemas.microsoft.com/office/drawing/2014/main" id="{C14AA649-DF23-4A06-A548-75E653E2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零标签不等于零信号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26E0D-7C5B-4375-980E-9DBE1166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9B1CFACB-5B32-4244-BF70-82736D45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gt=0 是未标注，不是一类背景">
            <a:extLst xmlns:a="http://schemas.openxmlformats.org/drawingml/2006/main">
              <a:ext uri="{FF2B5EF4-FFF2-40B4-BE49-F238E27FC236}">
                <a16:creationId xmlns:a16="http://schemas.microsoft.com/office/drawing/2014/main" id="{D860296A-D2D2-4794-B6F3-38061E0E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gt=0 是未标注，不是一类背景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86352A4D-E2BE-4668-A63C-38006B79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已标注 10249 / 未标注 10776">
            <a:extLst xmlns:a="http://schemas.openxmlformats.org/drawingml/2006/main">
              <a:ext uri="{FF2B5EF4-FFF2-40B4-BE49-F238E27FC236}">
                <a16:creationId xmlns:a16="http://schemas.microsoft.com/office/drawing/2014/main" id="{B683ABD0-D512-4B6F-BE42-61A884AA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已标注 10249 / 未标注 10776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653C67D3-DC2D-4353-9FF8-D48694EC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最少类 Oats 只有 20 个样本，最多类 2455">
            <a:extLst xmlns:a="http://schemas.openxmlformats.org/drawingml/2006/main">
              <a:ext uri="{FF2B5EF4-FFF2-40B4-BE49-F238E27FC236}">
                <a16:creationId xmlns:a16="http://schemas.microsoft.com/office/drawing/2014/main" id="{75D31AC5-5862-453C-8848-A3C310E9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最少类 Oats 只有 20 个样本，最多类 2455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FF887-A974-42D6-A93A-666690B4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(gt &gt; 0).sum(), (gt == 9).">
            <a:extLst xmlns:a="http://schemas.openxmlformats.org/drawingml/2006/main">
              <a:ext uri="{FF2B5EF4-FFF2-40B4-BE49-F238E27FC236}">
                <a16:creationId xmlns:a16="http://schemas.microsoft.com/office/drawing/2014/main" id="{178B040F-9CE8-4CF2-A748-581247EA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(gt &gt; 0).sum(), (gt == 9).sum()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(10249, 20)</a:t>
            </a:r>
          </a:p>
        </p:txBody>
      </p:sp>
    </p:spTree>
    <p:extLst>
      <p:ext uri="{BB962C8B-B14F-4D97-AF65-F5344CB8AC3E}">
        <p14:creationId xmlns:p14="http://schemas.microsoft.com/office/powerpoint/2010/main" val="16356351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46449E31-ED0A-40D6-9605-5CABDB02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206A316C-C87A-468B-A380-7BCC7272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光谱曲线里的类内与类间变化">
            <a:extLst xmlns:a="http://schemas.openxmlformats.org/drawingml/2006/main">
              <a:ext uri="{FF2B5EF4-FFF2-40B4-BE49-F238E27FC236}">
                <a16:creationId xmlns:a16="http://schemas.microsoft.com/office/drawing/2014/main" id="{24890501-78E8-42DD-942F-9AAAAA79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光谱曲线里的类内与类间变化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A6675-193D-4941-A0F4-CFFBECF7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17366-5BED-4937-861A-EF8356DEBA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545df2fcc4683"/>
          <a:stretch xmlns:a="http://schemas.openxmlformats.org/drawingml/2006/main"/>
        </p:blipFill>
        <p:spPr>
          <a:xfrm xmlns:a="http://schemas.openxmlformats.org/drawingml/2006/main">
            <a:off x="1767393" y="2019300"/>
            <a:ext cx="8657213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7F5A07-325A-45D5-89F3-F8684527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同类不同像元也有差异">
            <a:extLst xmlns:a="http://schemas.openxmlformats.org/drawingml/2006/main">
              <a:ext uri="{FF2B5EF4-FFF2-40B4-BE49-F238E27FC236}">
                <a16:creationId xmlns:a16="http://schemas.microsoft.com/office/drawing/2014/main" id="{3F1D0ADD-33B0-45F6-AE80-5438A5F5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同类不同像元也有差异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8AEA8-06DD-4237-8FB8-A48EBBEA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不同类别的曲线可以重叠">
            <a:extLst xmlns:a="http://schemas.openxmlformats.org/drawingml/2006/main">
              <a:ext uri="{FF2B5EF4-FFF2-40B4-BE49-F238E27FC236}">
                <a16:creationId xmlns:a16="http://schemas.microsoft.com/office/drawing/2014/main" id="{3C82825B-EFF2-4E15-B579-25DB4966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不同类别的曲线可以重叠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718A5-FC9C-4FD9-B812-B70D74AE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横轴先使用波段索引">
            <a:extLst xmlns:a="http://schemas.openxmlformats.org/drawingml/2006/main">
              <a:ext uri="{FF2B5EF4-FFF2-40B4-BE49-F238E27FC236}">
                <a16:creationId xmlns:a16="http://schemas.microsoft.com/office/drawing/2014/main" id="{7A15043A-66FC-4428-B692-0A66A240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横轴先使用波段索引</a:t>
            </a:r>
          </a:p>
        </p:txBody>
      </p:sp>
    </p:spTree>
    <p:extLst>
      <p:ext uri="{BB962C8B-B14F-4D97-AF65-F5344CB8AC3E}">
        <p14:creationId xmlns:p14="http://schemas.microsoft.com/office/powerpoint/2010/main" val="8210235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9B461B44-D2F0-4505-80CE-CB5C7783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3DB07088-34BE-4FF3-97E8-2F5CBB54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显示、标准化、PCA分别改变什么">
            <a:extLst xmlns:a="http://schemas.openxmlformats.org/drawingml/2006/main">
              <a:ext uri="{FF2B5EF4-FFF2-40B4-BE49-F238E27FC236}">
                <a16:creationId xmlns:a16="http://schemas.microsoft.com/office/drawing/2014/main" id="{0BE18D0B-D540-4C18-9B2C-D48980B2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显示、标准化、PCA分别改变什么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B3F04-D8E8-4EE2-B465-B0DC3957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显示拉伸帮助人眼读图  ·  标准化改变特征尺度  ·  P">
            <a:extLst xmlns:a="http://schemas.openxmlformats.org/drawingml/2006/main">
              <a:ext uri="{FF2B5EF4-FFF2-40B4-BE49-F238E27FC236}">
                <a16:creationId xmlns:a16="http://schemas.microsoft.com/office/drawing/2014/main" id="{237414F6-EAA6-49DA-B016-FD7C8A9D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显示拉伸帮助人眼读图  ·  标准化改变特征尺度  ·  PCA改变特征表示，不新增监督标签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1D3C8-6EB9-40AC-B3A8-2C93C72F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8A45A-7C8F-4948-A25C-419FBA57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操作">
            <a:extLst xmlns:a="http://schemas.openxmlformats.org/drawingml/2006/main">
              <a:ext uri="{FF2B5EF4-FFF2-40B4-BE49-F238E27FC236}">
                <a16:creationId xmlns:a16="http://schemas.microsoft.com/office/drawing/2014/main" id="{849229EB-6BBA-4AEB-9648-0632D9EC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4327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9" name="拟合信息">
            <a:extLst xmlns:a="http://schemas.openxmlformats.org/drawingml/2006/main">
              <a:ext uri="{FF2B5EF4-FFF2-40B4-BE49-F238E27FC236}">
                <a16:creationId xmlns:a16="http://schemas.microsoft.com/office/drawing/2014/main" id="{F5E5F6DE-97FC-4001-9AE5-A0562C71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334327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拟合信息</a:t>
            </a:r>
          </a:p>
        </p:txBody>
      </p:sp>
      <p:sp>
        <p:nvSpPr>
          <p:cNvPr id="10" name="课堂检查">
            <a:extLst xmlns:a="http://schemas.openxmlformats.org/drawingml/2006/main">
              <a:ext uri="{FF2B5EF4-FFF2-40B4-BE49-F238E27FC236}">
                <a16:creationId xmlns:a16="http://schemas.microsoft.com/office/drawing/2014/main" id="{6FC3DA52-8274-47F4-A900-DD3C3D27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334327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课堂检查</a:t>
            </a:r>
          </a:p>
        </p:txBody>
      </p:sp>
      <p:sp>
        <p:nvSpPr>
          <p:cNvPr id="11" name="显示拉伸">
            <a:extLst xmlns:a="http://schemas.openxmlformats.org/drawingml/2006/main">
              <a:ext uri="{FF2B5EF4-FFF2-40B4-BE49-F238E27FC236}">
                <a16:creationId xmlns:a16="http://schemas.microsoft.com/office/drawing/2014/main" id="{613EF28F-2623-4627-8512-130601B3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显示拉伸</a:t>
            </a:r>
          </a:p>
        </p:txBody>
      </p:sp>
      <p:sp>
        <p:nvSpPr>
          <p:cNvPr id="12" name="显示范围">
            <a:extLst xmlns:a="http://schemas.openxmlformats.org/drawingml/2006/main">
              <a:ext uri="{FF2B5EF4-FFF2-40B4-BE49-F238E27FC236}">
                <a16:creationId xmlns:a16="http://schemas.microsoft.com/office/drawing/2014/main" id="{839B43A7-3724-420D-A2DB-A0BF8EB9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405765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显示范围</a:t>
            </a:r>
          </a:p>
        </p:txBody>
      </p:sp>
      <p:sp>
        <p:nvSpPr>
          <p:cNvPr id="13" name="GT和样本数不变">
            <a:extLst xmlns:a="http://schemas.openxmlformats.org/drawingml/2006/main">
              <a:ext uri="{FF2B5EF4-FFF2-40B4-BE49-F238E27FC236}">
                <a16:creationId xmlns:a16="http://schemas.microsoft.com/office/drawing/2014/main" id="{955F52A0-5DE8-424B-BB6F-9E909A03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405765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GT和样本数不变</a:t>
            </a:r>
          </a:p>
        </p:txBody>
      </p:sp>
      <p:sp>
        <p:nvSpPr>
          <p:cNvPr id="14" name="StandardScaler">
            <a:extLst xmlns:a="http://schemas.openxmlformats.org/drawingml/2006/main">
              <a:ext uri="{FF2B5EF4-FFF2-40B4-BE49-F238E27FC236}">
                <a16:creationId xmlns:a16="http://schemas.microsoft.com/office/drawing/2014/main" id="{B5292ACC-554E-4671-BE7B-C876C63B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7202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StandardScaler</a:t>
            </a:r>
          </a:p>
        </p:txBody>
      </p:sp>
      <p:sp>
        <p:nvSpPr>
          <p:cNvPr id="15" name="训练特征">
            <a:extLst xmlns:a="http://schemas.openxmlformats.org/drawingml/2006/main">
              <a:ext uri="{FF2B5EF4-FFF2-40B4-BE49-F238E27FC236}">
                <a16:creationId xmlns:a16="http://schemas.microsoft.com/office/drawing/2014/main" id="{14537734-9ED3-47FB-93CF-448EF345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477202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训练特征</a:t>
            </a:r>
          </a:p>
        </p:txBody>
      </p:sp>
      <p:sp>
        <p:nvSpPr>
          <p:cNvPr id="16" name="test仅transform">
            <a:extLst xmlns:a="http://schemas.openxmlformats.org/drawingml/2006/main">
              <a:ext uri="{FF2B5EF4-FFF2-40B4-BE49-F238E27FC236}">
                <a16:creationId xmlns:a16="http://schemas.microsoft.com/office/drawing/2014/main" id="{37A2F927-0287-4A64-9014-DFDB5645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4772025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test仅transform</a:t>
            </a:r>
          </a:p>
        </p:txBody>
      </p:sp>
      <p:sp>
        <p:nvSpPr>
          <p:cNvPr id="17" name="PCA/白化">
            <a:extLst xmlns:a="http://schemas.openxmlformats.org/drawingml/2006/main">
              <a:ext uri="{FF2B5EF4-FFF2-40B4-BE49-F238E27FC236}">
                <a16:creationId xmlns:a16="http://schemas.microsoft.com/office/drawing/2014/main" id="{F3F28138-1865-41B2-820A-445A62A8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8640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PCA/白化</a:t>
            </a:r>
          </a:p>
        </p:txBody>
      </p:sp>
      <p:sp>
        <p:nvSpPr>
          <p:cNvPr id="18" name="训练特征">
            <a:extLst xmlns:a="http://schemas.openxmlformats.org/drawingml/2006/main">
              <a:ext uri="{FF2B5EF4-FFF2-40B4-BE49-F238E27FC236}">
                <a16:creationId xmlns:a16="http://schemas.microsoft.com/office/drawing/2014/main" id="{D19CC31F-7C33-4EE7-86B5-7071C687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548640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训练特征</a:t>
            </a:r>
          </a:p>
        </p:txBody>
      </p:sp>
      <p:sp>
        <p:nvSpPr>
          <p:cNvPr id="19" name="检查方差与分量数">
            <a:extLst xmlns:a="http://schemas.openxmlformats.org/drawingml/2006/main">
              <a:ext uri="{FF2B5EF4-FFF2-40B4-BE49-F238E27FC236}">
                <a16:creationId xmlns:a16="http://schemas.microsoft.com/office/drawing/2014/main" id="{CF566653-D6B7-4745-8405-86CC5480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5486400"/>
            <a:ext cx="334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检查方差与分量数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F542D3-4B34-4608-9D13-013F9556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260006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C63772C1-F39D-47EC-BF87-71C2CD49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F5300DA0-5AF6-465A-BB36-695BFE49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让代码验证你的判断">
            <a:extLst xmlns:a="http://schemas.openxmlformats.org/drawingml/2006/main">
              <a:ext uri="{FF2B5EF4-FFF2-40B4-BE49-F238E27FC236}">
                <a16:creationId xmlns:a16="http://schemas.microsoft.com/office/drawing/2014/main" id="{BFC57985-9186-4540-B3C2-9A4B33DA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让代码验证你的判断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069F9-5D45-4C9F-B229-B0E8CD87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CEBE5-00BA-43B0-BEBB-A4EE66B6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C"/>
          </a:solidFill>
          <a:ln xmlns:a="http://schemas.openxmlformats.org/drawingml/2006/main" w="0">
            <a:noFill/>
          </a:ln>
        </p:spPr>
      </p:sp>
      <p:sp>
        <p:nvSpPr>
          <p:cNvPr id="6" name="band = cube[:, :, 50]&#10;spectrum">
            <a:extLst xmlns:a="http://schemas.openxmlformats.org/drawingml/2006/main">
              <a:ext uri="{FF2B5EF4-FFF2-40B4-BE49-F238E27FC236}">
                <a16:creationId xmlns:a16="http://schemas.microsoft.com/office/drawing/2014/main" id="{C8781C55-1CEA-4394-BD2D-8FF33CAE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02870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band = cube[:, :, 50]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spectrum = cube[30, 40, :]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mask = gt &gt; 0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print(band.shape, spectrum.shape, mask.sum())</a:t>
            </a:r>
          </a:p>
        </p:txBody>
      </p:sp>
      <p:sp>
        <p:nvSpPr>
          <p:cNvPr id="7" name="先预测输出，再运行对应单元格。">
            <a:extLst xmlns:a="http://schemas.openxmlformats.org/drawingml/2006/main">
              <a:ext uri="{FF2B5EF4-FFF2-40B4-BE49-F238E27FC236}">
                <a16:creationId xmlns:a16="http://schemas.microsoft.com/office/drawing/2014/main" id="{B36A666C-11E9-4339-95E7-8B8A12AC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先预测输出，再运行对应单元格。</a:t>
            </a:r>
          </a:p>
        </p:txBody>
      </p:sp>
    </p:spTree>
    <p:extLst>
      <p:ext uri="{BB962C8B-B14F-4D97-AF65-F5344CB8AC3E}">
        <p14:creationId xmlns:p14="http://schemas.microsoft.com/office/powerpoint/2010/main" val="9076230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6C572AF1-7746-4F72-BF94-F99A96E8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1DB6CE1E-5416-45F5-99FD-83C3FA44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停下来，做一次判断">
            <a:extLst xmlns:a="http://schemas.openxmlformats.org/drawingml/2006/main">
              <a:ext uri="{FF2B5EF4-FFF2-40B4-BE49-F238E27FC236}">
                <a16:creationId xmlns:a16="http://schemas.microsoft.com/office/drawing/2014/main" id="{A18CC11A-CCD9-49AD-B58B-C4B59A43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停下来，做一次判断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8ECB97-D23A-4E4A-A3AF-542ADAB2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课堂预测">
            <a:extLst xmlns:a="http://schemas.openxmlformats.org/drawingml/2006/main">
              <a:ext uri="{FF2B5EF4-FFF2-40B4-BE49-F238E27FC236}">
                <a16:creationId xmlns:a16="http://schemas.microsoft.com/office/drawing/2014/main" id="{793EFDF9-22A3-451C-8CCD-6B3CC5E6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课堂预测</a:t>
            </a:r>
          </a:p>
        </p:txBody>
      </p:sp>
      <p:sp>
        <p:nvSpPr>
          <p:cNvPr id="6" name="只改变显示波段组合，验证样本数和GT完全不变。">
            <a:extLst xmlns:a="http://schemas.openxmlformats.org/drawingml/2006/main">
              <a:ext uri="{FF2B5EF4-FFF2-40B4-BE49-F238E27FC236}">
                <a16:creationId xmlns:a16="http://schemas.microsoft.com/office/drawing/2014/main" id="{E080E541-BE21-46CD-91C7-872223A0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只改变显示波段组合，验证样本数和GT完全不变。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EB95D-7652-4631-878E-60CCD7AC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退出题">
            <a:extLst xmlns:a="http://schemas.openxmlformats.org/drawingml/2006/main">
              <a:ext uri="{FF2B5EF4-FFF2-40B4-BE49-F238E27FC236}">
                <a16:creationId xmlns:a16="http://schemas.microsoft.com/office/drawing/2014/main" id="{67463BAC-4DA1-432E-AF21-60911E55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退出题</a:t>
            </a:r>
          </a:p>
        </p:txBody>
      </p:sp>
      <p:sp>
        <p:nvSpPr>
          <p:cNvPr id="9" name="gt=0的像元能否存在非零光谱？">
            <a:extLst xmlns:a="http://schemas.openxmlformats.org/drawingml/2006/main">
              <a:ext uri="{FF2B5EF4-FFF2-40B4-BE49-F238E27FC236}">
                <a16:creationId xmlns:a16="http://schemas.microsoft.com/office/drawing/2014/main" id="{48A0FC3A-D2F8-4C51-9F89-0FD82918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204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gt=0的像元能否存在非零光谱？</a:t>
            </a:r>
          </a:p>
        </p:txBody>
      </p:sp>
    </p:spTree>
    <p:extLst>
      <p:ext uri="{BB962C8B-B14F-4D97-AF65-F5344CB8AC3E}">
        <p14:creationId xmlns:p14="http://schemas.microsoft.com/office/powerpoint/2010/main" val="11584128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1  /  HSI LEARNING">
            <a:extLst xmlns:a="http://schemas.openxmlformats.org/drawingml/2006/main">
              <a:ext uri="{FF2B5EF4-FFF2-40B4-BE49-F238E27FC236}">
                <a16:creationId xmlns:a16="http://schemas.microsoft.com/office/drawing/2014/main" id="{D502BFB8-8E82-4498-A4FE-F256548D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L01  /  HSI LEARNING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1A35C9CA-84E5-4A50-A5A8-FD4B5258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结论要有边界">
            <a:extLst xmlns:a="http://schemas.openxmlformats.org/drawingml/2006/main">
              <a:ext uri="{FF2B5EF4-FFF2-40B4-BE49-F238E27FC236}">
                <a16:creationId xmlns:a16="http://schemas.microsoft.com/office/drawing/2014/main" id="{7B89A01C-0B5C-4255-A5B6-D68E9A65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结论要有边界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FF0B4-38D2-4FA3-BB6D-A68016D1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已知">
            <a:extLst xmlns:a="http://schemas.openxmlformats.org/drawingml/2006/main">
              <a:ext uri="{FF2B5EF4-FFF2-40B4-BE49-F238E27FC236}">
                <a16:creationId xmlns:a16="http://schemas.microsoft.com/office/drawing/2014/main" id="{0148C534-8877-446F-A27E-587E9A27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6" name="显示好看不等于数据可分">
            <a:extLst xmlns:a="http://schemas.openxmlformats.org/drawingml/2006/main">
              <a:ext uri="{FF2B5EF4-FFF2-40B4-BE49-F238E27FC236}">
                <a16:creationId xmlns:a16="http://schemas.microsoft.com/office/drawing/2014/main" id="{F300153C-384E-4BEF-808F-FDB52804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66950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显示好看不等于数据可分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85D3C-59D0-4276-BC5A-D07FDDAF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528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边界">
            <a:extLst xmlns:a="http://schemas.openxmlformats.org/drawingml/2006/main">
              <a:ext uri="{FF2B5EF4-FFF2-40B4-BE49-F238E27FC236}">
                <a16:creationId xmlns:a16="http://schemas.microsoft.com/office/drawing/2014/main" id="{DC05702C-66E8-4DE2-9E64-F8050EDD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传感器参数不能替代本文件元数据">
            <a:extLst xmlns:a="http://schemas.openxmlformats.org/drawingml/2006/main">
              <a:ext uri="{FF2B5EF4-FFF2-40B4-BE49-F238E27FC236}">
                <a16:creationId xmlns:a16="http://schemas.microsoft.com/office/drawing/2014/main" id="{96E53DB3-553D-4D10-AEFF-D67BCC99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10025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传感器参数不能替代本文件元数据</a:t>
            </a:r>
          </a:p>
        </p:txBody>
      </p:sp>
      <p:sp>
        <p:nvSpPr>
          <p:cNvPr id="10" name="来源、复现入口与辅助提示见讲者备注。">
            <a:extLst xmlns:a="http://schemas.openxmlformats.org/drawingml/2006/main">
              <a:ext uri="{FF2B5EF4-FFF2-40B4-BE49-F238E27FC236}">
                <a16:creationId xmlns:a16="http://schemas.microsoft.com/office/drawing/2014/main" id="{8BD9D43F-68DF-4B02-9734-503218FC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来源、复现入口与辅助提示见讲者备注。</a:t>
            </a:r>
          </a:p>
        </p:txBody>
      </p:sp>
    </p:spTree>
    <p:extLst>
      <p:ext uri="{BB962C8B-B14F-4D97-AF65-F5344CB8AC3E}">
        <p14:creationId xmlns:p14="http://schemas.microsoft.com/office/powerpoint/2010/main" val="6115452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2026-10-09T03:34:10.7800000Z</dcterms:created>
  <dcterms:modified xsi:type="dcterms:W3CDTF">2026-10-09T03:34:10.7800000Z</dcterms:modified>
</coreProperties>
</file>