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0c63ca19-597d-a9a4-67f0-4800e950e099}">
          <p14:sldIdLst>
            <p14:sldId id="256"/>
            <p14:sldId id="257"/>
          </p14:sldIdLst>
        </p14:section>
        <p14:section name="讲解" id="{bc15fe97-1079-9931-5ba4-a6d5aa9b59f3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练习" id="{5eb1958a-a31b-948a-d41e-fda35ba86498}">
          <p14:sldIdLst>
            <p14:sldId id="266"/>
            <p14:sldId id="267"/>
          </p14:sldIdLst>
        </p14:section>
        <p14:section name="收束" id="{d0059f78-50f2-c325-0c2d-e7d896de497b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开场问题：gt=0的像元能否存在非零光谱？
原标题：200 个波段，是 200 张照片吗？
参考节奏：5分钟回顾，10分钟手算，10分钟代码，12分钟练习，5分钟错误分析，3分钟退出题。
课堂入口: 01_data_reading_and_visualization.ipynb
定位: loadmat, cube[:, :, b], cube[r, c, :]
先预测，再运行；答错时回到手算例。
AI辅助：只依据给出的 MAT keys、shape、dtype 和来源片段生成数据卡。区分实测项与文献项；没有波长表时不要推断波长或红边位置。
人工核验：用loadmat与shape断言检查实测项；传感器/波长需要原始资料证据。
EHU: Hyperspectral Remote Sensing Scenes
https://www.ehu.eus/ccwintco/index.php/Hyperspectral_Remote_Sensing_Scenes
NASA/JPL AVIRIS instrument overview
https://aviris.jpl.nasa.gov/html/aviris.overview.html
运行配置、数据哈希和结果：artifacts/teaching/classroom-facts.json
封面图源：00_environment_check.ipynb / dataset / 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交付物以代码、配置、输出和解释为准。先做完整示例，再做填空与迁移任务。
课堂入口: 01_data_reading_and_visualization.ipynb
定位: loadmat, cube[:, :, b], cube[r, c, :]
先预测，再运行；答错时回到手算例。
AI辅助：只依据给出的 MAT keys、shape、dtype 和来源片段生成数据卡。区分实测项与文献项；没有波长表时不要推断波长或红边位置。
人工核验：用loadmat与shape断言检查实测项；传感器/波长需要原始资料证据。
EHU: Hyperspectral Remote Sensing Scenes
https://www.ehu.eus/ccwintco/index.php/Hyperspectral_Remote_Sensing_Scenes
NASA/JPL AVIRIS instrument overview
https://aviris.jpl.nasa.gov/html/aviris.overview.html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先让学生区分伪彩色与GT。GT不能作为分类输入的一部分。
观测 X / 标签 y / 显示颜色
图源：00_environment_check.ipynb / dataset / 0
课堂入口: 01_data_reading_and_visualization.ipynb
定位: loadmat, cube[:, :, b], cube[r, c, :]
先预测，再运行；答错时回到手算例。
AI辅助：只依据给出的 MAT keys、shape、dtype 和来源片段生成数据卡。区分实测项与文献项；没有波长表时不要推断波长或红边位置。
人工核验：用loadmat与shape断言检查实测项；传感器/波长需要原始资料证据。
EHU: Hyperspectral Remote Sensing Scenes
https://www.ehu.eus/ccwintco/index.php/Hyperspectral_Remote_Sensing_Scenes
NASA/JPL AVIRIS instrument overview
https://aviris.jpl.nasa.gov/html/aviris.overview.html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真彩色合成来自notebook 03。问学生：换成(50,90,150)显示会怎样？显示选择是演示变量，不是实验变量。
历史协议B输出，仅用于结构/读图；不是协议E的比较成绩。
Band r/g/b / Stretch / GT 不变
图源：03_hybridsn_baseline.ipynb / legacy-5 / 0
课堂入口: 01_data_reading_and_visualization.ipynb
定位: loadmat, cube[:, :, b], cube[r, c, :]
先预测，再运行；答错时回到手算例。
AI辅助：只依据给出的 MAT keys、shape、dtype 和来源片段生成数据卡。区分实测项与文献项；没有波长表时不要推断波长或红边位置。
人工核验：用loadmat与shape断言检查实测项；传感器/波长需要原始资料证据。
EHU: Hyperspectral Remote Sensing Scenes
https://www.ehu.eus/ccwintco/index.php/Hyperspectral_Remote_Sensing_Scenes
NASA/JPL AVIRIS instrument overview
https://aviris.jpl.nasa.gov/html/aviris.overview.html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让学生对 toy 数组口算 shape，再对 IP 实测。ndarray 不自带物理轴语义。
H 行 / W 列 / B 波段
课堂入口: 01_data_reading_and_visualization.ipynb
定位: loadmat, cube[:, :, b], cube[r, c, :]
先预测，再运行；答错时回到手算例。
AI辅助：只依据给出的 MAT keys、shape、dtype 和来源片段生成数据卡。区分实测项与文献项；没有波长表时不要推断波长或红边位置。
人工核验：用loadmat与shape断言检查实测项；传感器/波长需要原始资料证据。
EHU: Hyperspectral Remote Sensing Scenes
https://www.ehu.eus/ccwintco/index.php/Hyperspectral_Remote_Sensing_Scenes
NASA/JPL AVIRIS instrument overview
https://aviris.jpl.nasa.gov/html/aviris.overview.html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本图来自notebook 01的实际波段切片。band index不是波长：删带改变索引与波长对应，没有元数据不做nm换算。
band 84 / band 128 / band 35
图源：01_data_reading_and_visualization.ipynb / 8482399b-633f-4fb3-922f-94cb5d0df5b1 / 0
课堂入口: 01_data_reading_and_visualization.ipynb
定位: loadmat, cube[:, :, b], cube[r, c, :]
先预测，再运行；答错时回到手算例。
AI辅助：只依据给出的 MAT keys、shape、dtype 和来源片段生成数据卡。区分实测项与文献项；没有波长表时不要推断波长或红边位置。
人工核验：用loadmat与shape断言检查实测项；传感器/波长需要原始资料证据。
EHU: Hyperspectral Remote Sensing Scenes
https://www.ehu.eus/ccwintco/index.php/Hyperspectral_Remote_Sensing_Scenes
NASA/JPL AVIRIS instrument overview
https://aviris.jpl.nasa.gov/html/aviris.overview.html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IP 实测形状 145×145×200 来自 dataset/README.md 的本地加载记录。给 3×4×5 toy 数组依次问 shape。
固定 b / 空间切片 / 固定 r,c → 光谱
课堂入口: 01_data_reading_and_visualization.ipynb
定位: loadmat, cube[:, :, b], cube[r, c, :]
先预测，再运行；答错时回到手算例。
AI辅助：只依据给出的 MAT keys、shape、dtype 和来源片段生成数据卡。区分实测项与文献项；没有波长表时不要推断波长或红边位置。
人工核验：用loadmat与shape断言检查实测项；传感器/波长需要原始资料证据。
EHU: Hyperspectral Remote Sensing Scenes
https://www.ehu.eus/ccwintco/index.php/Hyperspectral_Remote_Sensing_Scenes
NASA/JPL AVIRIS instrument overview
https://aviris.jpl.nasa.gov/html/aviris.overview.html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现场运行这条命令并读数：10249 个监督样本占总像元不到一半。20 与 2455 相差超过 120 倍——后面讲不均衡和开集的根子就在这里。
全部像元 / 有标注中心 / 监督损失
课堂入口: 01_data_reading_and_visualization.ipynb
定位: loadmat, cube[:, :, b], cube[r, c, :]
先预测，再运行；答错时回到手算例。
AI辅助：只依据给出的 MAT keys、shape、dtype 和来源片段生成数据卡。区分实测项与文献项；没有波长表时不要推断波长或红边位置。
人工核验：用loadmat与shape断言检查实测项；传感器/波长需要原始资料证据。
EHU: Hyperspectral Remote Sensing Scenes
https://www.ehu.eus/ccwintco/index.php/Hyperspectral_Remote_Sensing_Scenes
NASA/JPL AVIRIS instrument overview
https://aviris.jpl.nasa.gov/html/aviris.overview.html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打开Notebook01的spectral-comparison；请学生先判断哪些曲线更难区分，再展示类别。
图源：01_data_reading_and_visualization.ipynb / spectral-comparison / 0
课堂入口: 01_data_reading_and_visualization.ipynb
定位: loadmat, cube[:, :, b], cube[r, c, :]
先预测，再运行；答错时回到手算例。
AI辅助：只依据给出的 MAT keys、shape、dtype 和来源片段生成数据卡。区分实测项与文献项；没有波长表时不要推断波长或红边位置。
人工核验：用loadmat与shape断言检查实测项；传感器/波长需要原始资料证据。
EHU: Hyperspectral Remote Sensing Scenes
https://www.ehu.eus/ccwintco/index.php/Hyperspectral_Remote_Sensing_Scenes
NASA/JPL AVIRIS instrument overview
https://aviris.jpl.nasa.gov/html/aviris.overview.html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一张图的颜色改变不能当作模型输入已经改变；区分显示代码与训练预处理。
课堂入口: 01_data_reading_and_visualization.ipynb
定位: loadmat, cube[:, :, b], cube[r, c, :]
先预测，再运行；答错时回到手算例。
AI辅助：只依据给出的 MAT keys、shape、dtype 和来源片段生成数据卡。区分实测项与文献项；没有波长表时不要推断波长或红边位置。
人工核验：用loadmat与shape断言检查实测项；传感器/波长需要原始资料证据。
EHU: Hyperspectral Remote Sensing Scenes
https://www.ehu.eus/ccwintco/index.php/Hyperspectral_Remote_Sensing_Scenes
NASA/JPL AVIRIS instrument overview
https://aviris.jpl.nasa.gov/html/aviris.overview.html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只运行指定短cell；完整训练已在课前完成。缺资产时使用已执行输出备用并说明。
课堂入口: 01_data_reading_and_visualization.ipynb
定位: loadmat, cube[:, :, b], cube[r, c, :]
先预测，再运行；答错时回到手算例。
AI辅助：只依据给出的 MAT keys、shape、dtype 和来源片段生成数据卡。区分实测项与文献项；没有波长表时不要推断波长或红边位置。
人工核验：用loadmat与shape断言检查实测项；传感器/波长需要原始资料证据。
EHU: Hyperspectral Remote Sensing Scenes
https://www.ehu.eus/ccwintco/index.php/Hyperspectral_Remote_Sensing_Scenes
NASA/JPL AVIRIS instrument overview
https://aviris.jpl.nasa.gov/html/aviris.overview.html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停下来收集预测，发现错误后重新解释；不等到课后作业才知道学生没理解。
作业：A01；完整示例 / 填空 / 迁移；提交代码、配置、结果和限制。
课堂入口: 01_data_reading_and_visualization.ipynb
定位: loadmat, cube[:, :, b], cube[r, c, :]
先预测，再运行；答错时回到手算例。
AI辅助：只依据给出的 MAT keys、shape、dtype 和来源片段生成数据卡。区分实测项与文献项；没有波长表时不要推断波长或红边位置。
人工核验：用loadmat与shape断言检查实测项；传感器/波长需要原始资料证据。
EHU: Hyperspectral Remote Sensing Scenes
https://www.ehu.eus/ccwintco/index.php/Hyperspectral_Remote_Sensing_Scenes
NASA/JPL AVIRIS instrument overview
https://aviris.jpl.nasa.gov/html/aviris.overview.html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区分已观察事实、候选解释与下一项检验。
退出题：gt=0的像元能否存在非零光谱？
课堂入口: 01_data_reading_and_visualization.ipynb
定位: loadmat, cube[:, :, b], cube[r, c, :]
先预测，再运行；答错时回到手算例。
AI辅助：只依据给出的 MAT keys、shape、dtype 和来源片段生成数据卡。区分实测项与文献项；没有波长表时不要推断波长或红边位置。
人工核验：用loadmat与shape断言检查实测项；传感器/波长需要原始资料证据。
EHU: Hyperspectral Remote Sensing Scenes
https://www.ehu.eus/ccwintco/index.php/Hyperspectral_Remote_Sensing_Scenes
NASA/JPL AVIRIS instrument overview
https://aviris.jpl.nasa.gov/html/aviris.overview.html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0" y="5440680"/>
            <a:ext cx="12191695" cy="1417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endParaRPr lang="en-US" sz="5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0D1B2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0" y="5897880"/>
            <a:ext cx="12191695" cy="9601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2F5BB7"/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L01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</a:t>
            </a:r>
            <a:endParaRPr lang="en-US" sz="50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高光谱数据</a:t>
            </a:r>
            <a:endParaRPr lang="en-US" sz="5000" dirty="0"/>
          </a:p>
        </p:txBody>
      </p:sp>
      <p:sp>
        <p:nvSpPr>
          <p:cNvPr id="3" name="lesson id"/>
          <p:cNvSpPr/>
          <p:nvPr/>
        </p:nvSpPr>
        <p:spPr>
          <a:xfrm>
            <a:off x="685800" y="1243584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2F5BB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43584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730752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本课问题  </a:t>
            </a:r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个波段，是 200 张照片吗？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062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从数据立方体到一条光谱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64515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  ·  L00：环境和路径已检查</a:t>
            </a:r>
            <a:endParaRPr lang="en-US" sz="1300" dirty="0"/>
          </a:p>
        </p:txBody>
      </p:sp>
      <p:sp>
        <p:nvSpPr>
          <p:cNvPr id="8" name="hero frame"/>
          <p:cNvSpPr/>
          <p:nvPr/>
        </p:nvSpPr>
        <p:spPr>
          <a:xfrm>
            <a:off x="7409383" y="1188720"/>
            <a:ext cx="4096512" cy="361188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0" descr="cover fig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23537" y="1389888"/>
            <a:ext cx="3268204" cy="32095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这节课，你将完成什么</a:t>
            </a:r>
            <a:endParaRPr lang="en-US" sz="3000" dirty="0"/>
          </a:p>
        </p:txBody>
      </p:sp>
      <p:sp>
        <p:nvSpPr>
          <p:cNvPr id="3" name="deliverable 1"/>
          <p:cNvSpPr/>
          <p:nvPr/>
        </p:nvSpPr>
        <p:spPr>
          <a:xfrm>
            <a:off x="685800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一页数据卡</a:t>
            </a:r>
            <a:endParaRPr lang="en-US" sz="2200" dirty="0"/>
          </a:p>
        </p:txBody>
      </p:sp>
      <p:sp>
        <p:nvSpPr>
          <p:cNvPr id="7" name="deliverable 2"/>
          <p:cNvSpPr/>
          <p:nvPr/>
        </p:nvSpPr>
        <p:spPr>
          <a:xfrm>
            <a:off x="4383938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空间/光谱切片</a:t>
            </a:r>
            <a:endParaRPr lang="en-US" sz="2200" dirty="0"/>
          </a:p>
        </p:txBody>
      </p:sp>
      <p:sp>
        <p:nvSpPr>
          <p:cNvPr id="11" name="deliverable 3"/>
          <p:cNvSpPr/>
          <p:nvPr/>
        </p:nvSpPr>
        <p:spPr>
          <a:xfrm>
            <a:off x="8082077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GT与观测的区别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85800" y="4846320"/>
            <a:ext cx="10820095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NOTEBOOK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01_data_reading_and_visualization.ipynb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83938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383938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loadmat · cube[:, :, b] · cube[r, c, :]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082077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082077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A01 · 完整示例 / 填空 / 迁移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同样大小的两幅图，只有一幅是标签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6720840" cy="4480560"/>
          </a:xfrm>
          <a:prstGeom prst="roundRect">
            <a:avLst>
              <a:gd name="adj" fmla="val 1633"/>
            </a:avLst>
          </a:prstGeom>
          <a:solidFill>
            <a:srgbClr val="F2F5F9"/>
          </a:solidFill>
          <a:ln/>
        </p:spPr>
      </p:sp>
      <p:pic>
        <p:nvPicPr>
          <p:cNvPr id="4" name="Image 0" descr="00_environment_check-dataset-0-c619d8144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2595" y="2039112"/>
            <a:ext cx="4227250" cy="4151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0" y="1920240"/>
            <a:ext cx="3730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怎么读这张图</a:t>
            </a:r>
            <a:endParaRPr lang="en-US" sz="1300" dirty="0"/>
          </a:p>
        </p:txBody>
      </p:sp>
      <p:sp>
        <p:nvSpPr>
          <p:cNvPr id="6" name="chip 01"/>
          <p:cNvSpPr/>
          <p:nvPr/>
        </p:nvSpPr>
        <p:spPr>
          <a:xfrm>
            <a:off x="7772400" y="2459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0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42316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观测是传感器记录</a:t>
            </a:r>
            <a:endParaRPr lang="en-US" sz="1700" dirty="0"/>
          </a:p>
        </p:txBody>
      </p:sp>
      <p:sp>
        <p:nvSpPr>
          <p:cNvPr id="9" name="chip 02"/>
          <p:cNvSpPr/>
          <p:nvPr/>
        </p:nvSpPr>
        <p:spPr>
          <a:xfrm>
            <a:off x="7772400" y="355701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772400" y="3557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352044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GT 是人工/调查监督信息</a:t>
            </a:r>
            <a:endParaRPr lang="en-US" sz="1700" dirty="0"/>
          </a:p>
        </p:txBody>
      </p:sp>
      <p:sp>
        <p:nvSpPr>
          <p:cNvPr id="12" name="chip 03"/>
          <p:cNvSpPr/>
          <p:nvPr/>
        </p:nvSpPr>
        <p:spPr>
          <a:xfrm>
            <a:off x="7772400" y="46542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0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394192" y="461772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类别颜色不是材料真实颜色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5897880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00_environment_check.ipynb  ·  cell dataset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观测图是三个波段的合成显示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6720840" cy="4480560"/>
          </a:xfrm>
          <a:prstGeom prst="roundRect">
            <a:avLst>
              <a:gd name="adj" fmla="val 1633"/>
            </a:avLst>
          </a:prstGeom>
          <a:solidFill>
            <a:srgbClr val="F2F5F9"/>
          </a:solidFill>
          <a:ln/>
        </p:spPr>
      </p:sp>
      <p:pic>
        <p:nvPicPr>
          <p:cNvPr id="4" name="Image 0" descr="03_hybridsn_baseline-legacy-5-0-86778d063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4841" y="2039112"/>
            <a:ext cx="4082758" cy="4151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0" y="1920240"/>
            <a:ext cx="3730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怎么读这张图</a:t>
            </a:r>
            <a:endParaRPr lang="en-US" sz="1300" dirty="0"/>
          </a:p>
        </p:txBody>
      </p:sp>
      <p:sp>
        <p:nvSpPr>
          <p:cNvPr id="6" name="chip 01"/>
          <p:cNvSpPr/>
          <p:nvPr/>
        </p:nvSpPr>
        <p:spPr>
          <a:xfrm>
            <a:off x="7772400" y="2459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0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42316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真彩色只取三个波段映射到RGB</a:t>
            </a:r>
            <a:endParaRPr lang="en-US" sz="1700" dirty="0"/>
          </a:p>
        </p:txBody>
      </p:sp>
      <p:sp>
        <p:nvSpPr>
          <p:cNvPr id="9" name="chip 02"/>
          <p:cNvSpPr/>
          <p:nvPr/>
        </p:nvSpPr>
        <p:spPr>
          <a:xfrm>
            <a:off x="7772400" y="355701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772400" y="3557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352044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改变波段组合不改变数据本身</a:t>
            </a:r>
            <a:endParaRPr lang="en-US" sz="1700" dirty="0"/>
          </a:p>
        </p:txBody>
      </p:sp>
      <p:sp>
        <p:nvSpPr>
          <p:cNvPr id="12" name="chip 03"/>
          <p:cNvSpPr/>
          <p:nvPr/>
        </p:nvSpPr>
        <p:spPr>
          <a:xfrm>
            <a:off x="7772400" y="46542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0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394192" y="461772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显示拉伸只影响人眼，不影响标签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5897880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03_hybridsn_baseline.ipynb  ·  cell legacy-5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一个数组，两种视角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固定波段：一张 145×145 灰度图</a:t>
            </a:r>
            <a:endParaRPr lang="en-US" sz="19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固定位置：一条 200 维光谱向量</a:t>
            </a:r>
            <a:endParaRPr lang="en-US" sz="19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第三维不是类别轴</a:t>
            </a:r>
            <a:endParaRPr lang="en-US" sz="1900" dirty="0"/>
          </a:p>
        </p:txBody>
      </p:sp>
      <p:sp>
        <p:nvSpPr>
          <p:cNvPr id="12" name="formula card"/>
          <p:cNvSpPr/>
          <p:nvPr/>
        </p:nvSpPr>
        <p:spPr>
          <a:xfrm>
            <a:off x="5989320" y="1874520"/>
            <a:ext cx="5513832" cy="3017520"/>
          </a:xfrm>
          <a:prstGeom prst="roundRect">
            <a:avLst>
              <a:gd name="adj" fmla="val 3030"/>
            </a:avLst>
          </a:prstGeom>
          <a:solidFill>
            <a:srgbClr val="F2F5F9"/>
          </a:solidFill>
          <a:ln/>
        </p:spPr>
      </p:sp>
      <p:pic>
        <p:nvPicPr>
          <p:cNvPr id="13" name="Image 0" descr="formula: X \in \mathbb{R}^{H \times W \times B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86550" y="2968752"/>
            <a:ext cx="4119372" cy="829056"/>
          </a:xfrm>
          <a:prstGeom prst="rect">
            <a:avLst/>
          </a:prstGeom>
        </p:spPr>
      </p:pic>
      <p:sp>
        <p:nvSpPr>
          <p:cNvPr id="14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cube[:, :, 50].shape, cube[30, 40, :].shape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((145, 145), (200,))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不同波段，同一地物亮度不同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6720840" cy="4480560"/>
          </a:xfrm>
          <a:prstGeom prst="roundRect">
            <a:avLst>
              <a:gd name="adj" fmla="val 1633"/>
            </a:avLst>
          </a:prstGeom>
          <a:solidFill>
            <a:srgbClr val="F2F5F9"/>
          </a:solidFill>
          <a:ln/>
        </p:spPr>
      </p:sp>
      <p:pic>
        <p:nvPicPr>
          <p:cNvPr id="4" name="Image 0" descr="01_data_reading_and_visualization-8482399b-633f-4fb3-922f-94cb5d0df5b1-0-3193cd1f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271654"/>
            <a:ext cx="6391656" cy="36862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0" y="1920240"/>
            <a:ext cx="3730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怎么读这张图</a:t>
            </a:r>
            <a:endParaRPr lang="en-US" sz="1300" dirty="0"/>
          </a:p>
        </p:txBody>
      </p:sp>
      <p:sp>
        <p:nvSpPr>
          <p:cNvPr id="6" name="chip 01"/>
          <p:cNvSpPr/>
          <p:nvPr/>
        </p:nvSpPr>
        <p:spPr>
          <a:xfrm>
            <a:off x="7772400" y="2459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0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42316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六个波段显示六种纹理</a:t>
            </a:r>
            <a:endParaRPr lang="en-US" sz="1700" dirty="0"/>
          </a:p>
        </p:txBody>
      </p:sp>
      <p:sp>
        <p:nvSpPr>
          <p:cNvPr id="9" name="chip 02"/>
          <p:cNvSpPr/>
          <p:nvPr/>
        </p:nvSpPr>
        <p:spPr>
          <a:xfrm>
            <a:off x="7772400" y="355701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772400" y="3557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352044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农田与道路在不同波段对比度不同</a:t>
            </a:r>
            <a:endParaRPr lang="en-US" sz="1700" dirty="0"/>
          </a:p>
        </p:txBody>
      </p:sp>
      <p:sp>
        <p:nvSpPr>
          <p:cNvPr id="12" name="chip 03"/>
          <p:cNvSpPr/>
          <p:nvPr/>
        </p:nvSpPr>
        <p:spPr>
          <a:xfrm>
            <a:off x="7772400" y="46542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0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394192" y="461772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波段选择同时影响显示与可分性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5897880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01_data_reading_and_visualization.ipynb  ·  cell 8482399b-633f-4fb3-922f-94cb5d0df5b1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 shape，再切片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X[:, :, b] → (H,W)</a:t>
            </a:r>
            <a:endParaRPr lang="en-US" sz="19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X[r,c,:] → (B,)</a:t>
            </a:r>
            <a:endParaRPr lang="en-US" sz="19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X[r,:,:] 是行切片，不是波段切片</a:t>
            </a:r>
            <a:endParaRPr lang="en-US" sz="1900" dirty="0"/>
          </a:p>
        </p:txBody>
      </p:sp>
      <p:sp>
        <p:nvSpPr>
          <p:cNvPr id="12" name="formula card"/>
          <p:cNvSpPr/>
          <p:nvPr/>
        </p:nvSpPr>
        <p:spPr>
          <a:xfrm>
            <a:off x="5989320" y="1874520"/>
            <a:ext cx="5513832" cy="3017520"/>
          </a:xfrm>
          <a:prstGeom prst="roundRect">
            <a:avLst>
              <a:gd name="adj" fmla="val 3030"/>
            </a:avLst>
          </a:prstGeom>
          <a:solidFill>
            <a:srgbClr val="F2F5F9"/>
          </a:solidFill>
          <a:ln/>
        </p:spPr>
      </p:sp>
      <p:pic>
        <p:nvPicPr>
          <p:cNvPr id="13" name="Image 0" descr="formula: 145 \times 145 \times 20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79286" y="3012796"/>
            <a:ext cx="4533900" cy="740969"/>
          </a:xfrm>
          <a:prstGeom prst="rect">
            <a:avLst/>
          </a:prstGeom>
        </p:spPr>
      </p:pic>
      <p:sp>
        <p:nvSpPr>
          <p:cNvPr id="14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cube[:, :, :3].transpose(2, 0, 1).shape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(3, 145, 145)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零标签不等于零信号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gt=0 是未标注，不是一类背景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已标注 10249 / 未标注 10776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最少类 Oats 只有 20 个样本，最多类 2455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3154680"/>
          </a:xfrm>
          <a:prstGeom prst="roundRect">
            <a:avLst>
              <a:gd name="adj" fmla="val 2899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01752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292608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2834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全部像元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370332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有标注中心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448056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4389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监督损失</a:t>
            </a:r>
            <a:endParaRPr lang="en-US" sz="1600" dirty="0"/>
          </a:p>
        </p:txBody>
      </p:sp>
      <p:sp>
        <p:nvSpPr>
          <p:cNvPr id="21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(gt &gt; 0).sum(), (gt == 9).sum()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(10249, 20)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光谱曲线里的类内与类间变化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10820095" cy="3246120"/>
          </a:xfrm>
          <a:prstGeom prst="roundRect">
            <a:avLst>
              <a:gd name="adj" fmla="val 2254"/>
            </a:avLst>
          </a:prstGeom>
          <a:solidFill>
            <a:srgbClr val="F2F5F9"/>
          </a:solidFill>
          <a:ln/>
        </p:spPr>
      </p:sp>
      <p:pic>
        <p:nvPicPr>
          <p:cNvPr id="4" name="Image 0" descr="01_data_reading_and_visualization-spectral-comparison-0-4af96f18c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62695" y="2039112"/>
            <a:ext cx="6466305" cy="2916936"/>
          </a:xfrm>
          <a:prstGeom prst="rect">
            <a:avLst/>
          </a:prstGeom>
        </p:spPr>
      </p:pic>
      <p:sp>
        <p:nvSpPr>
          <p:cNvPr id="5" name="chip 01"/>
          <p:cNvSpPr/>
          <p:nvPr/>
        </p:nvSpPr>
        <p:spPr>
          <a:xfrm>
            <a:off x="685800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5B3FA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97864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同类不同像元也有差异</a:t>
            </a:r>
            <a:endParaRPr lang="en-US" sz="1600" dirty="0"/>
          </a:p>
        </p:txBody>
      </p:sp>
      <p:sp>
        <p:nvSpPr>
          <p:cNvPr id="8" name="chip 02"/>
          <p:cNvSpPr/>
          <p:nvPr/>
        </p:nvSpPr>
        <p:spPr>
          <a:xfrm>
            <a:off x="4399178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2E9E4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399178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911242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不同类别的曲线可以重叠</a:t>
            </a:r>
            <a:endParaRPr lang="en-US" sz="1600" dirty="0"/>
          </a:p>
        </p:txBody>
      </p:sp>
      <p:sp>
        <p:nvSpPr>
          <p:cNvPr id="11" name="chip 03"/>
          <p:cNvSpPr/>
          <p:nvPr/>
        </p:nvSpPr>
        <p:spPr>
          <a:xfrm>
            <a:off x="8112557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D33A2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112557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624621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横轴先使用波段索引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6400800"/>
            <a:ext cx="1082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01_data_reading_and_visualization.ipynb  ·  cell spectral-comparison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显示、标准化、PCA分别改变什么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87452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显示拉伸帮助人眼读图   ·   标准化改变特征尺度   ·   PCA改变特征表示，不新增监督标签</a:t>
            </a:r>
            <a:endParaRPr lang="en-US" sz="1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06040"/>
          <a:ext cx="10820095" cy="914400"/>
        </p:xfrm>
        <a:graphic>
          <a:graphicData uri="http://schemas.openxmlformats.org/drawingml/2006/table">
            <a:tbl>
              <a:tblPr/>
              <a:tblGrid>
                <a:gridCol w="3606698"/>
                <a:gridCol w="3606698"/>
                <a:gridCol w="3606698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拟合信息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课堂检查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显示拉伸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显示范围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GT和样本数不变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StandardScaler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训练特征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test仅transform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PCA/白化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训练特征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检查方差与分量数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让代码验证你的判断</a:t>
            </a:r>
            <a:endParaRPr lang="en-US" sz="3000" dirty="0"/>
          </a:p>
        </p:txBody>
      </p:sp>
      <p:sp>
        <p:nvSpPr>
          <p:cNvPr id="3" name="code panel"/>
          <p:cNvSpPr/>
          <p:nvPr/>
        </p:nvSpPr>
        <p:spPr>
          <a:xfrm>
            <a:off x="685800" y="1874520"/>
            <a:ext cx="7406640" cy="3749040"/>
          </a:xfrm>
          <a:prstGeom prst="roundRect">
            <a:avLst>
              <a:gd name="adj" fmla="val 2439"/>
            </a:avLst>
          </a:prstGeom>
          <a:solidFill>
            <a:srgbClr val="0D1B2E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" y="2075688"/>
            <a:ext cx="118872" cy="118872"/>
          </a:xfrm>
          <a:prstGeom prst="ellipse">
            <a:avLst/>
          </a:prstGeom>
          <a:solidFill>
            <a:srgbClr val="D33A2C"/>
          </a:solidFill>
          <a:ln/>
        </p:spPr>
      </p:sp>
      <p:sp>
        <p:nvSpPr>
          <p:cNvPr id="5" name="Shape 3"/>
          <p:cNvSpPr/>
          <p:nvPr/>
        </p:nvSpPr>
        <p:spPr>
          <a:xfrm>
            <a:off x="1179576" y="2075688"/>
            <a:ext cx="118872" cy="118872"/>
          </a:xfrm>
          <a:prstGeom prst="ellipse">
            <a:avLst/>
          </a:prstGeom>
          <a:solidFill>
            <a:srgbClr val="F2C316"/>
          </a:solidFill>
          <a:ln/>
        </p:spPr>
      </p:sp>
      <p:sp>
        <p:nvSpPr>
          <p:cNvPr id="6" name="Shape 4"/>
          <p:cNvSpPr/>
          <p:nvPr/>
        </p:nvSpPr>
        <p:spPr>
          <a:xfrm>
            <a:off x="1399032" y="2075688"/>
            <a:ext cx="118872" cy="118872"/>
          </a:xfrm>
          <a:prstGeom prst="ellipse">
            <a:avLst/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423160"/>
            <a:ext cx="66751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band = cube[:, :, 50]</a:t>
            </a:r>
            <a:endParaRPr lang="en-US" sz="16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spectrum = cube[30, 40, :]</a:t>
            </a:r>
            <a:endParaRPr lang="en-US" sz="16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mask = gt &gt; 0</a:t>
            </a:r>
            <a:endParaRPr lang="en-US" sz="16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print(band.shape, spectrum.shape, mask.sum())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458200" y="192024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458200" y="2240280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01_data_reading_and_visualization.ipynb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458200" y="310896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1" name="cell loadmat"/>
          <p:cNvSpPr/>
          <p:nvPr/>
        </p:nvSpPr>
        <p:spPr>
          <a:xfrm>
            <a:off x="8458200" y="3474720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0" y="3474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loadmat</a:t>
            </a:r>
            <a:endParaRPr lang="en-US" sz="1200" dirty="0"/>
          </a:p>
        </p:txBody>
      </p:sp>
      <p:sp>
        <p:nvSpPr>
          <p:cNvPr id="13" name="cell cube[:, :, b]"/>
          <p:cNvSpPr/>
          <p:nvPr/>
        </p:nvSpPr>
        <p:spPr>
          <a:xfrm>
            <a:off x="8458200" y="3950208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95360" y="39502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cube[:, :, b]</a:t>
            </a:r>
            <a:endParaRPr lang="en-US" sz="1200" dirty="0"/>
          </a:p>
        </p:txBody>
      </p:sp>
      <p:sp>
        <p:nvSpPr>
          <p:cNvPr id="15" name="cell cube[r, c, :]"/>
          <p:cNvSpPr/>
          <p:nvPr/>
        </p:nvSpPr>
        <p:spPr>
          <a:xfrm>
            <a:off x="8458200" y="4425696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95360" y="442569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cube[r, c, :]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8521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先预测输出，再运行对应单元格。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停下来，做一次判断</a:t>
            </a:r>
            <a:endParaRPr lang="en-US" sz="3000" dirty="0"/>
          </a:p>
        </p:txBody>
      </p:sp>
      <p:sp>
        <p:nvSpPr>
          <p:cNvPr id="3" name="prediction card"/>
          <p:cNvSpPr/>
          <p:nvPr/>
        </p:nvSpPr>
        <p:spPr>
          <a:xfrm>
            <a:off x="685800" y="1874520"/>
            <a:ext cx="6355080" cy="4343400"/>
          </a:xfrm>
          <a:prstGeom prst="roundRect">
            <a:avLst>
              <a:gd name="adj" fmla="val 2105"/>
            </a:avLst>
          </a:prstGeom>
          <a:solidFill>
            <a:srgbClr val="F2F5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7280" y="2240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课堂预测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697480"/>
            <a:ext cx="5532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只改变显示波段组合，验证样本数和GT完全不变。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553212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 A01  ·  完整示例 / 填空 / 迁移</a:t>
            </a:r>
            <a:endParaRPr lang="en-US" sz="1400" dirty="0"/>
          </a:p>
        </p:txBody>
      </p:sp>
      <p:sp>
        <p:nvSpPr>
          <p:cNvPr id="7" name="exit question card"/>
          <p:cNvSpPr/>
          <p:nvPr/>
        </p:nvSpPr>
        <p:spPr>
          <a:xfrm>
            <a:off x="7315200" y="1874520"/>
            <a:ext cx="4187952" cy="4343400"/>
          </a:xfrm>
          <a:prstGeom prst="roundRect">
            <a:avLst>
              <a:gd name="adj" fmla="val 2183"/>
            </a:avLst>
          </a:prstGeom>
          <a:solidFill>
            <a:srgbClr val="0D1B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26680" y="22402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退出题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2697480"/>
            <a:ext cx="3383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gt=0的像元能否存在非零光谱？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结论要有边界</a:t>
            </a:r>
            <a:endParaRPr lang="en-US" sz="3000" dirty="0"/>
          </a:p>
        </p:txBody>
      </p:sp>
      <p:sp>
        <p:nvSpPr>
          <p:cNvPr id="3" name="known"/>
          <p:cNvSpPr/>
          <p:nvPr/>
        </p:nvSpPr>
        <p:spPr>
          <a:xfrm>
            <a:off x="685800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4" name="tag"/>
          <p:cNvSpPr/>
          <p:nvPr/>
        </p:nvSpPr>
        <p:spPr>
          <a:xfrm>
            <a:off x="1051560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1F8FB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显示好看不等于数据可分</a:t>
            </a:r>
            <a:endParaRPr lang="en-US" sz="2400" dirty="0"/>
          </a:p>
        </p:txBody>
      </p:sp>
      <p:sp>
        <p:nvSpPr>
          <p:cNvPr id="7" name="boundary"/>
          <p:cNvSpPr/>
          <p:nvPr/>
        </p:nvSpPr>
        <p:spPr>
          <a:xfrm>
            <a:off x="6233008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8" name="tag"/>
          <p:cNvSpPr/>
          <p:nvPr/>
        </p:nvSpPr>
        <p:spPr>
          <a:xfrm>
            <a:off x="6598768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E875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传感器参数不能替代本文件元数据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523036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来源、复现入口与辅助提示见讲者备注。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HSI-Learning Spectral">
      <a:dk1>
        <a:srgbClr val="14233A"/>
      </a:dk1>
      <a:lt1>
        <a:srgbClr val="FFFFFF"/>
      </a:lt1>
      <a:dk2>
        <a:srgbClr val="0D1B2E"/>
      </a:dk2>
      <a:lt2>
        <a:srgbClr val="F2F5F9"/>
      </a:lt2>
      <a:accent1>
        <a:srgbClr val="2F5BB7"/>
      </a:accent1>
      <a:accent2>
        <a:srgbClr val="1F8FB8"/>
      </a:accent2>
      <a:accent3>
        <a:srgbClr val="2E9E4F"/>
      </a:accent3>
      <a:accent4>
        <a:srgbClr val="E8752A"/>
      </a:accent4>
      <a:accent5>
        <a:srgbClr val="5B3FA0"/>
      </a:accent5>
      <a:accent6>
        <a:srgbClr val="D33A2C"/>
      </a:accent6>
      <a:hlink>
        <a:srgbClr val="2F5BB7"/>
      </a:hlink>
      <a:folHlink>
        <a:srgbClr val="5B3FA0"/>
      </a:folHlink>
    </a:clrScheme>
    <a:fontScheme name="Office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L01 200 个波段，是 200 张照片吗？</dc:title>
  <dc:subject>PptxGenJS Presentation</dc:subject>
  <dc:creator>HSI-Learning</dc:creator>
  <cp:lastModifiedBy>HSI-Learning</cp:lastModifiedBy>
  <cp:revision>1</cp:revision>
  <dcterms:created xsi:type="dcterms:W3CDTF">2026-10-10T13:42:17Z</dcterms:created>
  <dcterms:modified xsi:type="dcterms:W3CDTF">2026-10-10T13:42:17Z</dcterms:modified>
</cp:coreProperties>
</file>