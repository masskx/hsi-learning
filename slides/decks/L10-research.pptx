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13cd3cb87c4d09" /><Relationship Type="http://schemas.openxmlformats.org/officeDocument/2006/relationships/extended-properties" Target="/docProps/app.xml" Id="R2ee31127fca04d5b" /><Relationship Type="http://schemas.openxmlformats.org/officeDocument/2006/relationships/officeDocument" Target="/ppt/presentation.xml" Id="Rfcc170eefb744a3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cb259ac7004177"/>
  </p:sldMasterIdLst>
  <p:notesMasterIdLst>
    <p:notesMasterId xmlns:r="http://schemas.openxmlformats.org/officeDocument/2006/relationships" r:id="R1fbee81be23e4659"/>
  </p:notesMasterIdLst>
  <p:sldIdLst>
    <p:sldId xmlns:r="http://schemas.openxmlformats.org/officeDocument/2006/relationships" id="256" r:id="R94ebc33a9f4c4195"/>
    <p:sldId xmlns:r="http://schemas.openxmlformats.org/officeDocument/2006/relationships" id="257" r:id="R8cc573850d11488e"/>
    <p:sldId xmlns:r="http://schemas.openxmlformats.org/officeDocument/2006/relationships" id="258" r:id="Raf4d4f89bc784a9b"/>
    <p:sldId xmlns:r="http://schemas.openxmlformats.org/officeDocument/2006/relationships" id="259" r:id="Reaf85c3d9cff4eab"/>
    <p:sldId xmlns:r="http://schemas.openxmlformats.org/officeDocument/2006/relationships" id="260" r:id="Rc9d5366403cd453d"/>
    <p:sldId xmlns:r="http://schemas.openxmlformats.org/officeDocument/2006/relationships" id="261" r:id="R09ddbc029057409e"/>
    <p:sldId xmlns:r="http://schemas.openxmlformats.org/officeDocument/2006/relationships" id="262" r:id="Rf1cfb3f4c0dd495c"/>
    <p:sldId xmlns:r="http://schemas.openxmlformats.org/officeDocument/2006/relationships" id="263" r:id="R8334a02b980049b6"/>
    <p:sldId xmlns:r="http://schemas.openxmlformats.org/officeDocument/2006/relationships" id="264" r:id="Rfdafb2c25bad4082"/>
    <p:sldId xmlns:r="http://schemas.openxmlformats.org/officeDocument/2006/relationships" id="265" r:id="R1dc08f9f7b334f5c"/>
    <p:sldId xmlns:r="http://schemas.openxmlformats.org/officeDocument/2006/relationships" id="266" r:id="Rfde618af1ce4464a"/>
    <p:sldId xmlns:r="http://schemas.openxmlformats.org/officeDocument/2006/relationships" id="267" r:id="Rac59daf7e4b54c4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5bfa39cce20420f" /><Relationship Type="http://schemas.openxmlformats.org/officeDocument/2006/relationships/slideMaster" Target="/ppt/slideMasters/slideMaster1.xml" Id="R06cb259ac7004177" /><Relationship Type="http://schemas.openxmlformats.org/officeDocument/2006/relationships/notesMaster" Target="/ppt/notesMasters/notesMaster1.xml" Id="R1fbee81be23e4659" /><Relationship Type="http://schemas.openxmlformats.org/officeDocument/2006/relationships/presProps" Target="/ppt/presProps.xml" Id="R46c49c2b1ef14725" /><Relationship Type="http://schemas.openxmlformats.org/officeDocument/2006/relationships/tableStyles" Target="/ppt/tableStyles.xml" Id="R7eda13d8f3ca4d33" /><Relationship Type="http://schemas.openxmlformats.org/officeDocument/2006/relationships/slide" Target="/ppt/slides/slide1.xml" Id="R94ebc33a9f4c4195" /><Relationship Type="http://schemas.openxmlformats.org/officeDocument/2006/relationships/slide" Target="/ppt/slides/slide2.xml" Id="R8cc573850d11488e" /><Relationship Type="http://schemas.openxmlformats.org/officeDocument/2006/relationships/slide" Target="/ppt/slides/slide3.xml" Id="Raf4d4f89bc784a9b" /><Relationship Type="http://schemas.openxmlformats.org/officeDocument/2006/relationships/slide" Target="/ppt/slides/slide4.xml" Id="Reaf85c3d9cff4eab" /><Relationship Type="http://schemas.openxmlformats.org/officeDocument/2006/relationships/slide" Target="/ppt/slides/slide5.xml" Id="Rc9d5366403cd453d" /><Relationship Type="http://schemas.openxmlformats.org/officeDocument/2006/relationships/slide" Target="/ppt/slides/slide6.xml" Id="R09ddbc029057409e" /><Relationship Type="http://schemas.openxmlformats.org/officeDocument/2006/relationships/slide" Target="/ppt/slides/slide7.xml" Id="Rf1cfb3f4c0dd495c" /><Relationship Type="http://schemas.openxmlformats.org/officeDocument/2006/relationships/slide" Target="/ppt/slides/slide8.xml" Id="R8334a02b980049b6" /><Relationship Type="http://schemas.openxmlformats.org/officeDocument/2006/relationships/slide" Target="/ppt/slides/slide9.xml" Id="Rfdafb2c25bad4082" /><Relationship Type="http://schemas.openxmlformats.org/officeDocument/2006/relationships/slide" Target="/ppt/slides/slide10.xml" Id="R1dc08f9f7b334f5c" /><Relationship Type="http://schemas.openxmlformats.org/officeDocument/2006/relationships/slide" Target="/ppt/slides/slide11.xml" Id="Rfde618af1ce4464a" /><Relationship Type="http://schemas.openxmlformats.org/officeDocument/2006/relationships/slide" Target="/ppt/slides/slide12.xml" Id="Rac59daf7e4b54c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c0e4c4414cf499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a69858c060d48ce" /><Relationship Type="http://schemas.openxmlformats.org/officeDocument/2006/relationships/notesMaster" Target="/ppt/notesMasters/notesMaster1.xml" Id="Rd4d1a3ec098b496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3ad5a20603b4206" /><Relationship Type="http://schemas.openxmlformats.org/officeDocument/2006/relationships/notesMaster" Target="/ppt/notesMasters/notesMaster1.xml" Id="R93fafc8ec3544ea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80ce37797064db6" /><Relationship Type="http://schemas.openxmlformats.org/officeDocument/2006/relationships/notesMaster" Target="/ppt/notesMasters/notesMaster1.xml" Id="R42b6f443f93e43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2d93defb093432d" /><Relationship Type="http://schemas.openxmlformats.org/officeDocument/2006/relationships/notesMaster" Target="/ppt/notesMasters/notesMaster1.xml" Id="R929f8d37de464da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da5ad0c66804e69" /><Relationship Type="http://schemas.openxmlformats.org/officeDocument/2006/relationships/notesMaster" Target="/ppt/notesMasters/notesMaster1.xml" Id="R0b18a3ca43b2410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839df40de724c27" /><Relationship Type="http://schemas.openxmlformats.org/officeDocument/2006/relationships/notesMaster" Target="/ppt/notesMasters/notesMaster1.xml" Id="R62d97a3763f7476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69721ea4215426f" /><Relationship Type="http://schemas.openxmlformats.org/officeDocument/2006/relationships/notesMaster" Target="/ppt/notesMasters/notesMaster1.xml" Id="Raa294a5f65ec4de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1cee84385564bc6" /><Relationship Type="http://schemas.openxmlformats.org/officeDocument/2006/relationships/notesMaster" Target="/ppt/notesMasters/notesMaster1.xml" Id="Rc5ca2117b2cf4bc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b9a22d49546401d" /><Relationship Type="http://schemas.openxmlformats.org/officeDocument/2006/relationships/notesMaster" Target="/ppt/notesMasters/notesMaster1.xml" Id="Ra4ca9c36d6894fe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ef80495f98b4fd1" /><Relationship Type="http://schemas.openxmlformats.org/officeDocument/2006/relationships/notesMaster" Target="/ppt/notesMasters/notesMaster1.xml" Id="R2d6e418c109c412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f99909fa3fd43e8" /><Relationship Type="http://schemas.openxmlformats.org/officeDocument/2006/relationships/notesMaster" Target="/ppt/notesMasters/notesMaster1.xml" Id="R7edea49927a74f8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f046f91840d463b" /><Relationship Type="http://schemas.openxmlformats.org/officeDocument/2006/relationships/notesMaster" Target="/ppt/notesMasters/notesMaster1.xml" Id="R7c08e73a03fc43f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开场问题：观察与候选解释各应写在哪里？</a:t>
            </a:r>
          </a:p>
          <a:p xmlns:a="http://schemas.openxmlformats.org/drawingml/2006/main">
            <a:r>
              <a:t>原标题：一次实验怎样变成可信研究证据？</a:t>
            </a:r>
          </a:p>
          <a:p xmlns:a="http://schemas.openxmlformats.org/drawingml/2006/main">
            <a:r>
              <a:t>参考节奏：5分钟回顾，10分钟手算，10分钟代码，12分钟练习，5分钟错误分析，3分钟退出题。</a:t>
            </a:r>
          </a:p>
          <a:p xmlns:a="http://schemas.openxmlformats.org/drawingml/2006/main">
            <a:r>
              <a:t>课堂入口: docs/teaching/research-case.md</a:t>
            </a:r>
          </a:p>
          <a:p xmlns:a="http://schemas.openxmlformats.org/drawingml/2006/main">
            <a:r>
              <a:t>定位: run_config.json, metrics.json, source-audit.md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AI辅助：仅根据给定实验表润色英文结果段落。不得新增数字、引用或因果主张；每句话附证据行号，证据不足写[needs evidence]，保留负结果。</a:t>
            </a:r>
          </a:p>
          <a:p xmlns:a="http://schemas.openxmlformats.org/drawingml/2006/main">
            <a:r>
              <a:t>人工核验：逐句核对数值和来源；遵守投稿方AI披露政策，不上传未授权资料。</a:t>
            </a:r>
          </a:p>
          <a:p xmlns:a="http://schemas.openxmlformats.org/drawingml/2006/main">
            <a:r>
              <a:t>Keshav: How to Read a Paper</a:t>
            </a:r>
          </a:p>
          <a:p xmlns:a="http://schemas.openxmlformats.org/drawingml/2006/main">
            <a:r>
              <a:t>https://web.stanford.edu/class/ee384m/Handouts/HowtoReadPaper.pdf</a:t>
            </a:r>
          </a:p>
          <a:p xmlns:a="http://schemas.openxmlformats.org/drawingml/2006/main">
            <a:r>
              <a:t>Pineau et al. Reproducibility, JMLR 2021</a:t>
            </a:r>
          </a:p>
          <a:p xmlns:a="http://schemas.openxmlformats.org/drawingml/2006/main">
            <a:r>
              <a:t>https://jmlr.org/papers/v22/20-303.html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  <a:p xmlns:a="http://schemas.openxmlformats.org/drawingml/2006/main">
            <a:r>
              <a:t>封面图源：01_data_reading_and_visualization.ipynb / spectral-comparison / 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交付物以代码、配置、输出和解释为准。先做完整示例，再做填空与迁移任务。</a:t>
            </a:r>
          </a:p>
          <a:p xmlns:a="http://schemas.openxmlformats.org/drawingml/2006/main">
            <a:r>
              <a:t>课堂入口: docs/teaching/research-case.md</a:t>
            </a:r>
          </a:p>
          <a:p xmlns:a="http://schemas.openxmlformats.org/drawingml/2006/main">
            <a:r>
              <a:t>定位: run_config.json, metrics.json, source-audit.md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AI辅助：仅根据给定实验表润色英文结果段落。不得新增数字、引用或因果主张；每句话附证据行号，证据不足写[needs evidence]，保留负结果。</a:t>
            </a:r>
          </a:p>
          <a:p xmlns:a="http://schemas.openxmlformats.org/drawingml/2006/main">
            <a:r>
              <a:t>人工核验：逐句核对数值和来源；遵守投稿方AI披露政策，不上传未授权资料。</a:t>
            </a:r>
          </a:p>
          <a:p xmlns:a="http://schemas.openxmlformats.org/drawingml/2006/main">
            <a:r>
              <a:t>Keshav: How to Read a Paper</a:t>
            </a:r>
          </a:p>
          <a:p xmlns:a="http://schemas.openxmlformats.org/drawingml/2006/main">
            <a:r>
              <a:t>https://web.stanford.edu/class/ee384m/Handouts/HowtoReadPaper.pdf</a:t>
            </a:r>
          </a:p>
          <a:p xmlns:a="http://schemas.openxmlformats.org/drawingml/2006/main">
            <a:r>
              <a:t>Pineau et al. Reproducibility, JMLR 2021</a:t>
            </a:r>
          </a:p>
          <a:p xmlns:a="http://schemas.openxmlformats.org/drawingml/2006/main">
            <a:r>
              <a:t>https://jmlr.org/papers/v22/20-303.html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采用Notebook15同split证据，全部数字来自当前配置。结构和预算固定仍需更多种子，不宣称普遍优势。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课堂入口: docs/teaching/research-case.md</a:t>
            </a:r>
          </a:p>
          <a:p xmlns:a="http://schemas.openxmlformats.org/drawingml/2006/main">
            <a:r>
              <a:t>定位: run_config.json, metrics.json, source-audit.md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AI辅助：仅根据给定实验表润色英文结果段落。不得新增数字、引用或因果主张；每句话附证据行号，证据不足写[needs evidence]，保留负结果。</a:t>
            </a:r>
          </a:p>
          <a:p xmlns:a="http://schemas.openxmlformats.org/drawingml/2006/main">
            <a:r>
              <a:t>人工核验：逐句核对数值和来源；遵守投稿方AI披露政策，不上传未授权资料。</a:t>
            </a:r>
          </a:p>
          <a:p xmlns:a="http://schemas.openxmlformats.org/drawingml/2006/main">
            <a:r>
              <a:t>Keshav: How to Read a Paper</a:t>
            </a:r>
          </a:p>
          <a:p xmlns:a="http://schemas.openxmlformats.org/drawingml/2006/main">
            <a:r>
              <a:t>https://web.stanford.edu/class/ee384m/Handouts/HowtoReadPaper.pdf</a:t>
            </a:r>
          </a:p>
          <a:p xmlns:a="http://schemas.openxmlformats.org/drawingml/2006/main">
            <a:r>
              <a:t>Pineau et al. Reproducibility, JMLR 2021</a:t>
            </a:r>
          </a:p>
          <a:p xmlns:a="http://schemas.openxmlformats.org/drawingml/2006/main">
            <a:r>
              <a:t>https://jmlr.org/papers/v22/20-303.html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没有原文证据时停在待核验；不能给编造机制套“待核对”脚注。</a:t>
            </a:r>
          </a:p>
          <a:p xmlns:a="http://schemas.openxmlformats.org/drawingml/2006/main">
            <a:r>
              <a:t>Paper / Code / Teaching variant</a:t>
            </a:r>
          </a:p>
          <a:p xmlns:a="http://schemas.openxmlformats.org/drawingml/2006/main">
            <a:r>
              <a:t>课堂入口: docs/teaching/research-case.md</a:t>
            </a:r>
          </a:p>
          <a:p xmlns:a="http://schemas.openxmlformats.org/drawingml/2006/main">
            <a:r>
              <a:t>定位: run_config.json, metrics.json, source-audit.md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AI辅助：仅根据给定实验表润色英文结果段落。不得新增数字、引用或因果主张；每句话附证据行号，证据不足写[needs evidence]，保留负结果。</a:t>
            </a:r>
          </a:p>
          <a:p xmlns:a="http://schemas.openxmlformats.org/drawingml/2006/main">
            <a:r>
              <a:t>人工核验：逐句核对数值和来源；遵守投稿方AI披露政策，不上传未授权资料。</a:t>
            </a:r>
          </a:p>
          <a:p xmlns:a="http://schemas.openxmlformats.org/drawingml/2006/main">
            <a:r>
              <a:t>Keshav: How to Read a Paper</a:t>
            </a:r>
          </a:p>
          <a:p xmlns:a="http://schemas.openxmlformats.org/drawingml/2006/main">
            <a:r>
              <a:t>https://web.stanford.edu/class/ee384m/Handouts/HowtoReadPaper.pdf</a:t>
            </a:r>
          </a:p>
          <a:p xmlns:a="http://schemas.openxmlformats.org/drawingml/2006/main">
            <a:r>
              <a:t>Pineau et al. Reproducibility, JMLR 2021</a:t>
            </a:r>
          </a:p>
          <a:p xmlns:a="http://schemas.openxmlformats.org/drawingml/2006/main">
            <a:r>
              <a:t>https://jmlr.org/papers/v22/20-303.html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同epoch不一定同优化预算；记录更新次数和算力目标。</a:t>
            </a:r>
          </a:p>
          <a:p xmlns:a="http://schemas.openxmlformats.org/drawingml/2006/main">
            <a:r>
              <a:t>Baseline / One change / Matched comparison</a:t>
            </a:r>
          </a:p>
          <a:p xmlns:a="http://schemas.openxmlformats.org/drawingml/2006/main">
            <a:r>
              <a:t>课堂入口: docs/teaching/research-case.md</a:t>
            </a:r>
          </a:p>
          <a:p xmlns:a="http://schemas.openxmlformats.org/drawingml/2006/main">
            <a:r>
              <a:t>定位: run_config.json, metrics.json, source-audit.md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AI辅助：仅根据给定实验表润色英文结果段落。不得新增数字、引用或因果主张；每句话附证据行号，证据不足写[needs evidence]，保留负结果。</a:t>
            </a:r>
          </a:p>
          <a:p xmlns:a="http://schemas.openxmlformats.org/drawingml/2006/main">
            <a:r>
              <a:t>人工核验：逐句核对数值和来源；遵守投稿方AI披露政策，不上传未授权资料。</a:t>
            </a:r>
          </a:p>
          <a:p xmlns:a="http://schemas.openxmlformats.org/drawingml/2006/main">
            <a:r>
              <a:t>Keshav: How to Read a Paper</a:t>
            </a:r>
          </a:p>
          <a:p xmlns:a="http://schemas.openxmlformats.org/drawingml/2006/main">
            <a:r>
              <a:t>https://web.stanford.edu/class/ee384m/Handouts/HowtoReadPaper.pdf</a:t>
            </a:r>
          </a:p>
          <a:p xmlns:a="http://schemas.openxmlformats.org/drawingml/2006/main">
            <a:r>
              <a:t>Pineau et al. Reproducibility, JMLR 2021</a:t>
            </a:r>
          </a:p>
          <a:p xmlns:a="http://schemas.openxmlformats.org/drawingml/2006/main">
            <a:r>
              <a:t>https://jmlr.org/papers/v22/20-303.html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示例 d=[-0.1,-0.2,-0.1]：均值-0.133、样本std 0.058。三次同号不等于显著——说显著要先定检验和功效。</a:t>
            </a:r>
          </a:p>
          <a:p xmlns:a="http://schemas.openxmlformats.org/drawingml/2006/main">
            <a:r>
              <a:t>Run pairs / Delta distribution / Scope of evidence</a:t>
            </a:r>
          </a:p>
          <a:p xmlns:a="http://schemas.openxmlformats.org/drawingml/2006/main">
            <a:r>
              <a:t>课堂入口: docs/teaching/research-case.md</a:t>
            </a:r>
          </a:p>
          <a:p xmlns:a="http://schemas.openxmlformats.org/drawingml/2006/main">
            <a:r>
              <a:t>定位: run_config.json, metrics.json, source-audit.md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AI辅助：仅根据给定实验表润色英文结果段落。不得新增数字、引用或因果主张；每句话附证据行号，证据不足写[needs evidence]，保留负结果。</a:t>
            </a:r>
          </a:p>
          <a:p xmlns:a="http://schemas.openxmlformats.org/drawingml/2006/main">
            <a:r>
              <a:t>人工核验：逐句核对数值和来源；遵守投稿方AI披露政策，不上传未授权资料。</a:t>
            </a:r>
          </a:p>
          <a:p xmlns:a="http://schemas.openxmlformats.org/drawingml/2006/main">
            <a:r>
              <a:t>Keshav: How to Read a Paper</a:t>
            </a:r>
          </a:p>
          <a:p xmlns:a="http://schemas.openxmlformats.org/drawingml/2006/main">
            <a:r>
              <a:t>https://web.stanford.edu/class/ee384m/Handouts/HowtoReadPaper.pdf</a:t>
            </a:r>
          </a:p>
          <a:p xmlns:a="http://schemas.openxmlformats.org/drawingml/2006/main">
            <a:r>
              <a:t>Pineau et al. Reproducibility, JMLR 2021</a:t>
            </a:r>
          </a:p>
          <a:p xmlns:a="http://schemas.openxmlformats.org/drawingml/2006/main">
            <a:r>
              <a:t>https://jmlr.org/papers/v22/20-303.html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示范把“模块证明有效”改成限定条件的描述。</a:t>
            </a:r>
          </a:p>
          <a:p xmlns:a="http://schemas.openxmlformats.org/drawingml/2006/main">
            <a:r>
              <a:t>Observation / Hypothesis / Limitation</a:t>
            </a:r>
          </a:p>
          <a:p xmlns:a="http://schemas.openxmlformats.org/drawingml/2006/main">
            <a:r>
              <a:t>课堂入口: docs/teaching/research-case.md</a:t>
            </a:r>
          </a:p>
          <a:p xmlns:a="http://schemas.openxmlformats.org/drawingml/2006/main">
            <a:r>
              <a:t>定位: run_config.json, metrics.json, source-audit.md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AI辅助：仅根据给定实验表润色英文结果段落。不得新增数字、引用或因果主张；每句话附证据行号，证据不足写[needs evidence]，保留负结果。</a:t>
            </a:r>
          </a:p>
          <a:p xmlns:a="http://schemas.openxmlformats.org/drawingml/2006/main">
            <a:r>
              <a:t>人工核验：逐句核对数值和来源；遵守投稿方AI披露政策，不上传未授权资料。</a:t>
            </a:r>
          </a:p>
          <a:p xmlns:a="http://schemas.openxmlformats.org/drawingml/2006/main">
            <a:r>
              <a:t>Keshav: How to Read a Paper</a:t>
            </a:r>
          </a:p>
          <a:p xmlns:a="http://schemas.openxmlformats.org/drawingml/2006/main">
            <a:r>
              <a:t>https://web.stanford.edu/class/ee384m/Handouts/HowtoReadPaper.pdf</a:t>
            </a:r>
          </a:p>
          <a:p xmlns:a="http://schemas.openxmlformats.org/drawingml/2006/main">
            <a:r>
              <a:t>Pineau et al. Reproducibility, JMLR 2021</a:t>
            </a:r>
          </a:p>
          <a:p xmlns:a="http://schemas.openxmlformats.org/drawingml/2006/main">
            <a:r>
              <a:t>https://jmlr.org/papers/v22/20-303.html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先写确定的实验和方法，再写摘要引言；模板编译需实际验证。</a:t>
            </a:r>
          </a:p>
          <a:p xmlns:a="http://schemas.openxmlformats.org/drawingml/2006/main">
            <a:r>
              <a:t>Method / Experiments / Discussion</a:t>
            </a:r>
          </a:p>
          <a:p xmlns:a="http://schemas.openxmlformats.org/drawingml/2006/main">
            <a:r>
              <a:t>课堂入口: docs/teaching/research-case.md</a:t>
            </a:r>
          </a:p>
          <a:p xmlns:a="http://schemas.openxmlformats.org/drawingml/2006/main">
            <a:r>
              <a:t>定位: run_config.json, metrics.json, source-audit.md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AI辅助：仅根据给定实验表润色英文结果段落。不得新增数字、引用或因果主张；每句话附证据行号，证据不足写[needs evidence]，保留负结果。</a:t>
            </a:r>
          </a:p>
          <a:p xmlns:a="http://schemas.openxmlformats.org/drawingml/2006/main">
            <a:r>
              <a:t>人工核验：逐句核对数值和来源；遵守投稿方AI披露政策，不上传未授权资料。</a:t>
            </a:r>
          </a:p>
          <a:p xmlns:a="http://schemas.openxmlformats.org/drawingml/2006/main">
            <a:r>
              <a:t>Keshav: How to Read a Paper</a:t>
            </a:r>
          </a:p>
          <a:p xmlns:a="http://schemas.openxmlformats.org/drawingml/2006/main">
            <a:r>
              <a:t>https://web.stanford.edu/class/ee384m/Handouts/HowtoReadPaper.pdf</a:t>
            </a:r>
          </a:p>
          <a:p xmlns:a="http://schemas.openxmlformats.org/drawingml/2006/main">
            <a:r>
              <a:t>Pineau et al. Reproducibility, JMLR 2021</a:t>
            </a:r>
          </a:p>
          <a:p xmlns:a="http://schemas.openxmlformats.org/drawingml/2006/main">
            <a:r>
              <a:t>https://jmlr.org/papers/v22/20-303.html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案例和配对seed模板见research-case.md。段落不新增未经执行的数值或显著性。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课堂入口: docs/teaching/research-case.md</a:t>
            </a:r>
          </a:p>
          <a:p xmlns:a="http://schemas.openxmlformats.org/drawingml/2006/main">
            <a:r>
              <a:t>定位: run_config.json, metrics.json, source-audit.md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AI辅助：仅根据给定实验表润色英文结果段落。不得新增数字、引用或因果主张；每句话附证据行号，证据不足写[needs evidence]，保留负结果。</a:t>
            </a:r>
          </a:p>
          <a:p xmlns:a="http://schemas.openxmlformats.org/drawingml/2006/main">
            <a:r>
              <a:t>人工核验：逐句核对数值和来源；遵守投稿方AI披露政策，不上传未授权资料。</a:t>
            </a:r>
          </a:p>
          <a:p xmlns:a="http://schemas.openxmlformats.org/drawingml/2006/main">
            <a:r>
              <a:t>Keshav: How to Read a Paper</a:t>
            </a:r>
          </a:p>
          <a:p xmlns:a="http://schemas.openxmlformats.org/drawingml/2006/main">
            <a:r>
              <a:t>https://web.stanford.edu/class/ee384m/Handouts/HowtoReadPaper.pdf</a:t>
            </a:r>
          </a:p>
          <a:p xmlns:a="http://schemas.openxmlformats.org/drawingml/2006/main">
            <a:r>
              <a:t>Pineau et al. Reproducibility, JMLR 2021</a:t>
            </a:r>
          </a:p>
          <a:p xmlns:a="http://schemas.openxmlformats.org/drawingml/2006/main">
            <a:r>
              <a:t>https://jmlr.org/papers/v22/20-303.html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只运行指定短cell；完整训练已在课前完成。缺资产时使用已执行输出备用并说明。</a:t>
            </a:r>
          </a:p>
          <a:p xmlns:a="http://schemas.openxmlformats.org/drawingml/2006/main">
            <a:r>
              <a:t>课堂入口: docs/teaching/research-case.md</a:t>
            </a:r>
          </a:p>
          <a:p xmlns:a="http://schemas.openxmlformats.org/drawingml/2006/main">
            <a:r>
              <a:t>定位: run_config.json, metrics.json, source-audit.md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AI辅助：仅根据给定实验表润色英文结果段落。不得新增数字、引用或因果主张；每句话附证据行号，证据不足写[needs evidence]，保留负结果。</a:t>
            </a:r>
          </a:p>
          <a:p xmlns:a="http://schemas.openxmlformats.org/drawingml/2006/main">
            <a:r>
              <a:t>人工核验：逐句核对数值和来源；遵守投稿方AI披露政策，不上传未授权资料。</a:t>
            </a:r>
          </a:p>
          <a:p xmlns:a="http://schemas.openxmlformats.org/drawingml/2006/main">
            <a:r>
              <a:t>Keshav: How to Read a Paper</a:t>
            </a:r>
          </a:p>
          <a:p xmlns:a="http://schemas.openxmlformats.org/drawingml/2006/main">
            <a:r>
              <a:t>https://web.stanford.edu/class/ee384m/Handouts/HowtoReadPaper.pdf</a:t>
            </a:r>
          </a:p>
          <a:p xmlns:a="http://schemas.openxmlformats.org/drawingml/2006/main">
            <a:r>
              <a:t>Pineau et al. Reproducibility, JMLR 2021</a:t>
            </a:r>
          </a:p>
          <a:p xmlns:a="http://schemas.openxmlformats.org/drawingml/2006/main">
            <a:r>
              <a:t>https://jmlr.org/papers/v22/20-303.html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停下来收集预测，发现错误后重新解释；不等到课后作业才知道学生没理解。</a:t>
            </a:r>
          </a:p>
          <a:p xmlns:a="http://schemas.openxmlformats.org/drawingml/2006/main">
            <a:r>
              <a:t>作业：A06；完整示例 / 填空 / 迁移；提交代码、配置、结果和限制。</a:t>
            </a:r>
          </a:p>
          <a:p xmlns:a="http://schemas.openxmlformats.org/drawingml/2006/main">
            <a:r>
              <a:t>课堂入口: docs/teaching/research-case.md</a:t>
            </a:r>
          </a:p>
          <a:p xmlns:a="http://schemas.openxmlformats.org/drawingml/2006/main">
            <a:r>
              <a:t>定位: run_config.json, metrics.json, source-audit.md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AI辅助：仅根据给定实验表润色英文结果段落。不得新增数字、引用或因果主张；每句话附证据行号，证据不足写[needs evidence]，保留负结果。</a:t>
            </a:r>
          </a:p>
          <a:p xmlns:a="http://schemas.openxmlformats.org/drawingml/2006/main">
            <a:r>
              <a:t>人工核验：逐句核对数值和来源；遵守投稿方AI披露政策，不上传未授权资料。</a:t>
            </a:r>
          </a:p>
          <a:p xmlns:a="http://schemas.openxmlformats.org/drawingml/2006/main">
            <a:r>
              <a:t>Keshav: How to Read a Paper</a:t>
            </a:r>
          </a:p>
          <a:p xmlns:a="http://schemas.openxmlformats.org/drawingml/2006/main">
            <a:r>
              <a:t>https://web.stanford.edu/class/ee384m/Handouts/HowtoReadPaper.pdf</a:t>
            </a:r>
          </a:p>
          <a:p xmlns:a="http://schemas.openxmlformats.org/drawingml/2006/main">
            <a:r>
              <a:t>Pineau et al. Reproducibility, JMLR 2021</a:t>
            </a:r>
          </a:p>
          <a:p xmlns:a="http://schemas.openxmlformats.org/drawingml/2006/main">
            <a:r>
              <a:t>https://jmlr.org/papers/v22/20-303.html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区分已观察事实、候选解释与下一项检验。</a:t>
            </a:r>
          </a:p>
          <a:p xmlns:a="http://schemas.openxmlformats.org/drawingml/2006/main">
            <a:r>
              <a:t>退出题：观察与候选解释各应写在哪里？</a:t>
            </a:r>
          </a:p>
          <a:p xmlns:a="http://schemas.openxmlformats.org/drawingml/2006/main">
            <a:r>
              <a:t>课堂入口: docs/teaching/research-case.md</a:t>
            </a:r>
          </a:p>
          <a:p xmlns:a="http://schemas.openxmlformats.org/drawingml/2006/main">
            <a:r>
              <a:t>定位: run_config.json, metrics.json, source-audit.md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AI辅助：仅根据给定实验表润色英文结果段落。不得新增数字、引用或因果主张；每句话附证据行号，证据不足写[needs evidence]，保留负结果。</a:t>
            </a:r>
          </a:p>
          <a:p xmlns:a="http://schemas.openxmlformats.org/drawingml/2006/main">
            <a:r>
              <a:t>人工核验：逐句核对数值和来源；遵守投稿方AI披露政策，不上传未授权资料。</a:t>
            </a:r>
          </a:p>
          <a:p xmlns:a="http://schemas.openxmlformats.org/drawingml/2006/main">
            <a:r>
              <a:t>Keshav: How to Read a Paper</a:t>
            </a:r>
          </a:p>
          <a:p xmlns:a="http://schemas.openxmlformats.org/drawingml/2006/main">
            <a:r>
              <a:t>https://web.stanford.edu/class/ee384m/Handouts/HowtoReadPaper.pdf</a:t>
            </a:r>
          </a:p>
          <a:p xmlns:a="http://schemas.openxmlformats.org/drawingml/2006/main">
            <a:r>
              <a:t>Pineau et al. Reproducibility, JMLR 2021</a:t>
            </a:r>
          </a:p>
          <a:p xmlns:a="http://schemas.openxmlformats.org/drawingml/2006/main">
            <a:r>
              <a:t>https://jmlr.org/papers/v22/20-303.html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ba721e5e5b411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b2192bffb4476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3b1777ad3b45c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f334589e1c4c7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e18c49d4e7448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a903808575407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CCBA843-15EB-4110-85EE-11C4E0C5A3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D2156CF-E6C8-402D-A241-B54C3C12E6A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DE36E98-BAB7-4B71-B83B-B06D63425D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7F6E897-0227-432F-84A0-CB535E9F47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E19733D-1B7B-425B-A956-7CCC656FCC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D3D53CF-0F2D-4E03-9120-E2339D071B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5E6CEB9-026F-49EE-944D-0185A42564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5E2A6CE-D897-4DC1-AFF9-8ECCE0C3DFF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ED71A8C-B0A5-4099-AD84-B648601B31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BDB8199-B4A2-4D6C-8D75-3538E1E480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436c197e6d4243" /><Relationship Type="http://schemas.openxmlformats.org/officeDocument/2006/relationships/slideLayout" Target="/ppt/slideLayouts/slideLayout1.xml" Id="Rdad370293d494d88" /><Relationship Type="http://schemas.openxmlformats.org/officeDocument/2006/relationships/slideLayout" Target="/ppt/slideLayouts/slideLayout2.xml" Id="R666a816e3600481d" /><Relationship Type="http://schemas.openxmlformats.org/officeDocument/2006/relationships/slideLayout" Target="/ppt/slideLayouts/slideLayout3.xml" Id="R22a2885ae2504b29" /><Relationship Type="http://schemas.openxmlformats.org/officeDocument/2006/relationships/slideLayout" Target="/ppt/slideLayouts/slideLayout4.xml" Id="Rc47f2c6e60e54195" /><Relationship Type="http://schemas.openxmlformats.org/officeDocument/2006/relationships/slideLayout" Target="/ppt/slideLayouts/slideLayout5.xml" Id="R35a1642828944427" /><Relationship Type="http://schemas.openxmlformats.org/officeDocument/2006/relationships/slideLayout" Target="/ppt/slideLayouts/slideLayout6.xml" Id="R572eff0215904b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d370293d494d88"/>
    <p:sldLayoutId xmlns:r="http://schemas.openxmlformats.org/officeDocument/2006/relationships" id="2147483650" r:id="R666a816e3600481d"/>
    <p:sldLayoutId xmlns:r="http://schemas.openxmlformats.org/officeDocument/2006/relationships" id="2147483651" r:id="R22a2885ae2504b29"/>
    <p:sldLayoutId xmlns:r="http://schemas.openxmlformats.org/officeDocument/2006/relationships" id="2147483652" r:id="Rc47f2c6e60e54195"/>
    <p:sldLayoutId xmlns:r="http://schemas.openxmlformats.org/officeDocument/2006/relationships" id="2147483653" r:id="R35a1642828944427"/>
    <p:sldLayoutId xmlns:r="http://schemas.openxmlformats.org/officeDocument/2006/relationships" id="2147483654" r:id="R572eff0215904b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7402ce066e4dd7" /><Relationship Type="http://schemas.openxmlformats.org/officeDocument/2006/relationships/image" Target="/ppt/media/image.png" Id="Re621d096fc764a11" /><Relationship Type="http://schemas.openxmlformats.org/officeDocument/2006/relationships/notesSlide" Target="/ppt/notesSlides/notesSlide1.xml" Id="Rd4b3400244064e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66449b9f374c2d" /><Relationship Type="http://schemas.openxmlformats.org/officeDocument/2006/relationships/notesSlide" Target="/ppt/notesSlides/notesSlide2.xml" Id="R11ab446c52594f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3758bd56a24bb6" /><Relationship Type="http://schemas.openxmlformats.org/officeDocument/2006/relationships/notesSlide" Target="/ppt/notesSlides/notesSlide3.xml" Id="R45afb13c9a2345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b1362b821f4db9" /><Relationship Type="http://schemas.openxmlformats.org/officeDocument/2006/relationships/notesSlide" Target="/ppt/notesSlides/notesSlide4.xml" Id="R93fbd0a8750d4d3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aa7a89fa204795" /><Relationship Type="http://schemas.openxmlformats.org/officeDocument/2006/relationships/notesSlide" Target="/ppt/notesSlides/notesSlide5.xml" Id="R903539634d85494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f8f036b2a746f4" /><Relationship Type="http://schemas.openxmlformats.org/officeDocument/2006/relationships/image" Target="/ppt/media/image2.png" Id="R218084a0bfe64720" /><Relationship Type="http://schemas.openxmlformats.org/officeDocument/2006/relationships/notesSlide" Target="/ppt/notesSlides/notesSlide6.xml" Id="Rbbf386f4e60142a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82d37cdd024f67" /><Relationship Type="http://schemas.openxmlformats.org/officeDocument/2006/relationships/notesSlide" Target="/ppt/notesSlides/notesSlide7.xml" Id="R8c02c1ebac2d40e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66a04cbea94796" /><Relationship Type="http://schemas.openxmlformats.org/officeDocument/2006/relationships/notesSlide" Target="/ppt/notesSlides/notesSlide8.xml" Id="R8cb3e3ecc51d48a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fac4ad20f1422e" /><Relationship Type="http://schemas.openxmlformats.org/officeDocument/2006/relationships/notesSlide" Target="/ppt/notesSlides/notesSlide9.xml" Id="R62012cd879c2485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c3fdad4c2146cf" /><Relationship Type="http://schemas.openxmlformats.org/officeDocument/2006/relationships/notesSlide" Target="/ppt/notesSlides/notesSlide10.xml" Id="Rc5cc740718d945d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73732787284323" /><Relationship Type="http://schemas.openxmlformats.org/officeDocument/2006/relationships/notesSlide" Target="/ppt/notesSlides/notesSlide11.xml" Id="R851c2f7ae3054be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93b4bf7af846d1" /><Relationship Type="http://schemas.openxmlformats.org/officeDocument/2006/relationships/notesSlide" Target="/ppt/notesSlides/notesSlide12.xml" Id="R39e958e78498437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10  /  HSI LEARNING">
            <a:extLst xmlns:a="http://schemas.openxmlformats.org/drawingml/2006/main">
              <a:ext uri="{FF2B5EF4-FFF2-40B4-BE49-F238E27FC236}">
                <a16:creationId xmlns:a16="http://schemas.microsoft.com/office/drawing/2014/main" id="{73681305-BFD3-4063-901A-690988E5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L10  /  HSI LEARNING</a:t>
            </a:r>
          </a:p>
        </p:txBody>
      </p:sp>
      <p:sp>
        <p:nvSpPr>
          <p:cNvPr id="2" name="01">
            <a:extLst xmlns:a="http://schemas.openxmlformats.org/drawingml/2006/main">
              <a:ext uri="{FF2B5EF4-FFF2-40B4-BE49-F238E27FC236}">
                <a16:creationId xmlns:a16="http://schemas.microsoft.com/office/drawing/2014/main" id="{37F41480-D7F5-4CBD-A96D-D7AA3A96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F48706-DB93-4DF1-B041-910B89DF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B4D952-D2DC-4D5A-BB21-7ACFE429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从实验记录&#10;到研究证据">
            <a:extLst xmlns:a="http://schemas.openxmlformats.org/drawingml/2006/main">
              <a:ext uri="{FF2B5EF4-FFF2-40B4-BE49-F238E27FC236}">
                <a16:creationId xmlns:a16="http://schemas.microsoft.com/office/drawing/2014/main" id="{22A05A50-2A84-4379-9689-FCF320D38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5524500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从实验记录</a:t>
            </a:r>
          </a:p>
          <a:p xmlns:a="http://schemas.openxmlformats.org/drawingml/2006/main">
            <a:pPr>
              <a:def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到研究证据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EA0402-DD09-4AAA-80B2-4AED2D7759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21d096fc764a11"/>
          <a:stretch xmlns:a="http://schemas.openxmlformats.org/drawingml/2006/main"/>
        </p:blipFill>
        <p:spPr>
          <a:xfrm xmlns:a="http://schemas.openxmlformats.org/drawingml/2006/main">
            <a:off x="6591300" y="2082325"/>
            <a:ext cx="4914900" cy="2217101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3509E-B7C8-44A0-821D-9D24D146C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阅读、假设、对照、写作">
            <a:extLst xmlns:a="http://schemas.openxmlformats.org/drawingml/2006/main">
              <a:ext uri="{FF2B5EF4-FFF2-40B4-BE49-F238E27FC236}">
                <a16:creationId xmlns:a16="http://schemas.microsoft.com/office/drawing/2014/main" id="{3D5D6980-5F5E-4C6F-8BCE-44A3B013E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9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阅读、假设、对照、写作</a:t>
            </a:r>
          </a:p>
        </p:txBody>
      </p:sp>
      <p:sp>
        <p:nvSpPr>
          <p:cNvPr id="9" name="先修  /  L02与至少一个模型实践">
            <a:extLst xmlns:a="http://schemas.openxmlformats.org/drawingml/2006/main">
              <a:ext uri="{FF2B5EF4-FFF2-40B4-BE49-F238E27FC236}">
                <a16:creationId xmlns:a16="http://schemas.microsoft.com/office/drawing/2014/main" id="{6C24D589-F289-4AA3-9FBF-73ACF46D8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24525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先修  /  L02与至少一个模型实践</a:t>
            </a:r>
          </a:p>
        </p:txBody>
      </p:sp>
    </p:spTree>
    <p:extLst>
      <p:ext uri="{BB962C8B-B14F-4D97-AF65-F5344CB8AC3E}">
        <p14:creationId xmlns:p14="http://schemas.microsoft.com/office/powerpoint/2010/main" val="1935677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10  /  HSI LEARNING">
            <a:extLst xmlns:a="http://schemas.openxmlformats.org/drawingml/2006/main">
              <a:ext uri="{FF2B5EF4-FFF2-40B4-BE49-F238E27FC236}">
                <a16:creationId xmlns:a16="http://schemas.microsoft.com/office/drawing/2014/main" id="{6DA516F7-CDD2-47C5-A839-7CDA2BAF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L10  /  HSI LEARNING</a:t>
            </a:r>
          </a:p>
        </p:txBody>
      </p:sp>
      <p:sp>
        <p:nvSpPr>
          <p:cNvPr id="2" name="02">
            <a:extLst xmlns:a="http://schemas.openxmlformats.org/drawingml/2006/main">
              <a:ext uri="{FF2B5EF4-FFF2-40B4-BE49-F238E27FC236}">
                <a16:creationId xmlns:a16="http://schemas.microsoft.com/office/drawing/2014/main" id="{A3CF1E46-4DB7-4541-86A2-F8E1C2A3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" name="这节课，你将完成什么">
            <a:extLst xmlns:a="http://schemas.openxmlformats.org/drawingml/2006/main">
              <a:ext uri="{FF2B5EF4-FFF2-40B4-BE49-F238E27FC236}">
                <a16:creationId xmlns:a16="http://schemas.microsoft.com/office/drawing/2014/main" id="{289F3748-A4FF-4ACC-85F8-FA12809D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这节课，你将完成什么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3BF4D6-97B9-4231-8ACB-91F68249B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445BB50B-08F5-4E1A-BEF2-1058DE8F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半页研究登记">
            <a:extLst xmlns:a="http://schemas.openxmlformats.org/drawingml/2006/main">
              <a:ext uri="{FF2B5EF4-FFF2-40B4-BE49-F238E27FC236}">
                <a16:creationId xmlns:a16="http://schemas.microsoft.com/office/drawing/2014/main" id="{3E99261A-E2D0-4C72-8ECD-A99795B8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41935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半页研究登记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0B136A-7754-4142-B306-F3D7033A4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19475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02">
            <a:extLst xmlns:a="http://schemas.openxmlformats.org/drawingml/2006/main">
              <a:ext uri="{FF2B5EF4-FFF2-40B4-BE49-F238E27FC236}">
                <a16:creationId xmlns:a16="http://schemas.microsoft.com/office/drawing/2014/main" id="{2510E64F-B63D-4FF7-82BA-BC7D19EC7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9975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来源差异表">
            <a:extLst xmlns:a="http://schemas.openxmlformats.org/drawingml/2006/main">
              <a:ext uri="{FF2B5EF4-FFF2-40B4-BE49-F238E27FC236}">
                <a16:creationId xmlns:a16="http://schemas.microsoft.com/office/drawing/2014/main" id="{6C4B0736-B186-49BD-9225-C28AB514D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09975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来源差异表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B94B8F-7129-4ED9-B414-294C1187D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10100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11" name="03">
            <a:extLst xmlns:a="http://schemas.openxmlformats.org/drawingml/2006/main">
              <a:ext uri="{FF2B5EF4-FFF2-40B4-BE49-F238E27FC236}">
                <a16:creationId xmlns:a16="http://schemas.microsoft.com/office/drawing/2014/main" id="{46F38DD4-715C-43CD-963E-8AA85158D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2" name="受限结果段落">
            <a:extLst xmlns:a="http://schemas.openxmlformats.org/drawingml/2006/main">
              <a:ext uri="{FF2B5EF4-FFF2-40B4-BE49-F238E27FC236}">
                <a16:creationId xmlns:a16="http://schemas.microsoft.com/office/drawing/2014/main" id="{6C784AA8-6D2C-45B4-9CDA-31B601B3D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8006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受限结果段落</a:t>
            </a:r>
          </a:p>
        </p:txBody>
      </p:sp>
    </p:spTree>
    <p:extLst>
      <p:ext uri="{BB962C8B-B14F-4D97-AF65-F5344CB8AC3E}">
        <p14:creationId xmlns:p14="http://schemas.microsoft.com/office/powerpoint/2010/main" val="5791405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L10  /  HSI LEARNING">
            <a:extLst xmlns:a="http://schemas.openxmlformats.org/drawingml/2006/main">
              <a:ext uri="{FF2B5EF4-FFF2-40B4-BE49-F238E27FC236}">
                <a16:creationId xmlns:a16="http://schemas.microsoft.com/office/drawing/2014/main" id="{B49423AA-3895-4694-8FAE-E268C416F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L10  /  HSI LEARNING</a:t>
            </a:r>
          </a:p>
        </p:txBody>
      </p:sp>
      <p:sp>
        <p:nvSpPr>
          <p:cNvPr id="2" name="03">
            <a:extLst xmlns:a="http://schemas.openxmlformats.org/drawingml/2006/main">
              <a:ext uri="{FF2B5EF4-FFF2-40B4-BE49-F238E27FC236}">
                <a16:creationId xmlns:a16="http://schemas.microsoft.com/office/drawing/2014/main" id="{46FE5022-4536-436F-80FA-EBBD54AD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" name="研究案例：加权损失的代价">
            <a:extLst xmlns:a="http://schemas.openxmlformats.org/drawingml/2006/main">
              <a:ext uri="{FF2B5EF4-FFF2-40B4-BE49-F238E27FC236}">
                <a16:creationId xmlns:a16="http://schemas.microsoft.com/office/drawing/2014/main" id="{73453750-90D1-469C-B044-CAFAB886F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研究案例：加权损失的代价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C4289B-47F2-4E0D-80CF-E8364B21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E5615251-9F5E-4A80-B53C-D05E098FE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问题：少数类recall低，改loss是否有帮助？">
            <a:extLst xmlns:a="http://schemas.openxmlformats.org/drawingml/2006/main">
              <a:ext uri="{FF2B5EF4-FFF2-40B4-BE49-F238E27FC236}">
                <a16:creationId xmlns:a16="http://schemas.microsoft.com/office/drawing/2014/main" id="{D11EFB9B-0992-401E-A2EC-8400792D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574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问题：少数类recall低，改loss是否有帮助？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56A98F1D-B79B-4AF1-B236-E1DA6576C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唯一改动：CE变为weighted CE">
            <a:extLst xmlns:a="http://schemas.openxmlformats.org/drawingml/2006/main">
              <a:ext uri="{FF2B5EF4-FFF2-40B4-BE49-F238E27FC236}">
                <a16:creationId xmlns:a16="http://schemas.microsoft.com/office/drawing/2014/main" id="{FDBB73C5-7048-487C-AE75-DC51BD766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唯一改动：CE变为weighted CE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DB390596-5EA4-4020-837C-96D0E45F3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比较OA、AA、逐类recall与失败地图">
            <a:extLst xmlns:a="http://schemas.openxmlformats.org/drawingml/2006/main">
              <a:ext uri="{FF2B5EF4-FFF2-40B4-BE49-F238E27FC236}">
                <a16:creationId xmlns:a16="http://schemas.microsoft.com/office/drawing/2014/main" id="{C4B557CA-1EBE-4E81-B842-2E2F6FB76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958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比较OA、AA、逐类recall与失败地图</a:t>
            </a:r>
          </a:p>
        </p:txBody>
      </p:sp>
    </p:spTree>
    <p:extLst>
      <p:ext uri="{BB962C8B-B14F-4D97-AF65-F5344CB8AC3E}">
        <p14:creationId xmlns:p14="http://schemas.microsoft.com/office/powerpoint/2010/main" val="8134912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L10  /  HSI LEARNING">
            <a:extLst xmlns:a="http://schemas.openxmlformats.org/drawingml/2006/main">
              <a:ext uri="{FF2B5EF4-FFF2-40B4-BE49-F238E27FC236}">
                <a16:creationId xmlns:a16="http://schemas.microsoft.com/office/drawing/2014/main" id="{C6F23887-4564-4553-85FB-45A96BDB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L10  /  HSI LEARNING</a:t>
            </a:r>
          </a:p>
        </p:txBody>
      </p:sp>
      <p:sp>
        <p:nvSpPr>
          <p:cNvPr id="2" name="04">
            <a:extLst xmlns:a="http://schemas.openxmlformats.org/drawingml/2006/main">
              <a:ext uri="{FF2B5EF4-FFF2-40B4-BE49-F238E27FC236}">
                <a16:creationId xmlns:a16="http://schemas.microsoft.com/office/drawing/2014/main" id="{B5C16AD9-43C7-4685-9450-F99F34DBF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" name="阅读先区分三个层次">
            <a:extLst xmlns:a="http://schemas.openxmlformats.org/drawingml/2006/main">
              <a:ext uri="{FF2B5EF4-FFF2-40B4-BE49-F238E27FC236}">
                <a16:creationId xmlns:a16="http://schemas.microsoft.com/office/drawing/2014/main" id="{E2F4DD31-7E33-4094-A63F-77A1511CC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阅读先区分三个层次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BBB372-96CC-428D-A71F-752EF09D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585670C6-8D9E-4B0C-B38F-7891D5CA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原文贡献与设定">
            <a:extLst xmlns:a="http://schemas.openxmlformats.org/drawingml/2006/main">
              <a:ext uri="{FF2B5EF4-FFF2-40B4-BE49-F238E27FC236}">
                <a16:creationId xmlns:a16="http://schemas.microsoft.com/office/drawing/2014/main" id="{7E629815-F617-47A3-B30A-9C2B9F11E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574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原文贡献与设定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1480AE68-AD15-4D9F-8556-8B567EE2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官方代码的实际实现">
            <a:extLst xmlns:a="http://schemas.openxmlformats.org/drawingml/2006/main">
              <a:ext uri="{FF2B5EF4-FFF2-40B4-BE49-F238E27FC236}">
                <a16:creationId xmlns:a16="http://schemas.microsoft.com/office/drawing/2014/main" id="{995C8421-58CC-472A-B8BA-833ECB496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官方代码的实际实现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7F4229EB-ECD0-41D5-9919-B783B1D0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课程简化和自定义扩展">
            <a:extLst xmlns:a="http://schemas.openxmlformats.org/drawingml/2006/main">
              <a:ext uri="{FF2B5EF4-FFF2-40B4-BE49-F238E27FC236}">
                <a16:creationId xmlns:a16="http://schemas.microsoft.com/office/drawing/2014/main" id="{685857C1-03E0-4721-BF7F-46BA6D61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958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课程简化和自定义扩展</a:t>
            </a:r>
          </a:p>
        </p:txBody>
      </p:sp>
    </p:spTree>
    <p:extLst>
      <p:ext uri="{BB962C8B-B14F-4D97-AF65-F5344CB8AC3E}">
        <p14:creationId xmlns:p14="http://schemas.microsoft.com/office/powerpoint/2010/main" val="1030136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L10  /  HSI LEARNING">
            <a:extLst xmlns:a="http://schemas.openxmlformats.org/drawingml/2006/main">
              <a:ext uri="{FF2B5EF4-FFF2-40B4-BE49-F238E27FC236}">
                <a16:creationId xmlns:a16="http://schemas.microsoft.com/office/drawing/2014/main" id="{C672B09F-6943-4298-B402-8A84F231D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L10  /  HSI LEARNING</a:t>
            </a:r>
          </a:p>
        </p:txBody>
      </p:sp>
      <p:sp>
        <p:nvSpPr>
          <p:cNvPr id="2" name="05">
            <a:extLst xmlns:a="http://schemas.openxmlformats.org/drawingml/2006/main">
              <a:ext uri="{FF2B5EF4-FFF2-40B4-BE49-F238E27FC236}">
                <a16:creationId xmlns:a16="http://schemas.microsoft.com/office/drawing/2014/main" id="{F498710B-C366-489D-9DCA-59CB992AB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" name="一次只改一个有解释的变量">
            <a:extLst xmlns:a="http://schemas.openxmlformats.org/drawingml/2006/main">
              <a:ext uri="{FF2B5EF4-FFF2-40B4-BE49-F238E27FC236}">
                <a16:creationId xmlns:a16="http://schemas.microsoft.com/office/drawing/2014/main" id="{AE68FFBE-674A-41E0-AD5E-BC13FE38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一次只改一个有解释的变量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FFB32D-3B11-451D-B1CF-80276313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150AECAD-964C-4D15-B6DE-6405F4B9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固定数据与选择规则">
            <a:extLst xmlns:a="http://schemas.openxmlformats.org/drawingml/2006/main">
              <a:ext uri="{FF2B5EF4-FFF2-40B4-BE49-F238E27FC236}">
                <a16:creationId xmlns:a16="http://schemas.microsoft.com/office/drawing/2014/main" id="{CB99F4CA-0AB4-44F6-8D79-56DCB44AB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574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固定数据与选择规则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9AA587D0-9B81-439F-ADEA-5F5CB66A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记录预算和环境">
            <a:extLst xmlns:a="http://schemas.openxmlformats.org/drawingml/2006/main">
              <a:ext uri="{FF2B5EF4-FFF2-40B4-BE49-F238E27FC236}">
                <a16:creationId xmlns:a16="http://schemas.microsoft.com/office/drawing/2014/main" id="{5F0C5B52-FADC-4D0F-9418-56A82DD7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记录预算和环境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742847CA-5DBB-4AF4-AF90-D90831A5E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模型实现要支持消融开关">
            <a:extLst xmlns:a="http://schemas.openxmlformats.org/drawingml/2006/main">
              <a:ext uri="{FF2B5EF4-FFF2-40B4-BE49-F238E27FC236}">
                <a16:creationId xmlns:a16="http://schemas.microsoft.com/office/drawing/2014/main" id="{7DD19D8C-B212-405A-8643-3A3B6F810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958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模型实现要支持消融开关</a:t>
            </a:r>
          </a:p>
        </p:txBody>
      </p:sp>
    </p:spTree>
    <p:extLst>
      <p:ext uri="{BB962C8B-B14F-4D97-AF65-F5344CB8AC3E}">
        <p14:creationId xmlns:p14="http://schemas.microsoft.com/office/powerpoint/2010/main" val="7669289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10  /  HSI LEARNING">
            <a:extLst xmlns:a="http://schemas.openxmlformats.org/drawingml/2006/main">
              <a:ext uri="{FF2B5EF4-FFF2-40B4-BE49-F238E27FC236}">
                <a16:creationId xmlns:a16="http://schemas.microsoft.com/office/drawing/2014/main" id="{52253851-30E4-4511-8746-561EA0AD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L10  /  HSI LEARNING</a:t>
            </a:r>
          </a:p>
        </p:txBody>
      </p:sp>
      <p:sp>
        <p:nvSpPr>
          <p:cNvPr id="2" name="06">
            <a:extLst xmlns:a="http://schemas.openxmlformats.org/drawingml/2006/main">
              <a:ext uri="{FF2B5EF4-FFF2-40B4-BE49-F238E27FC236}">
                <a16:creationId xmlns:a16="http://schemas.microsoft.com/office/drawing/2014/main" id="{5500A3D0-7C59-4C7B-973F-7B195D460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" name="三颗种子不是统计魔法">
            <a:extLst xmlns:a="http://schemas.openxmlformats.org/drawingml/2006/main">
              <a:ext uri="{FF2B5EF4-FFF2-40B4-BE49-F238E27FC236}">
                <a16:creationId xmlns:a16="http://schemas.microsoft.com/office/drawing/2014/main" id="{451D534D-953F-4CB9-A950-CFF141A8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三颗种子不是统计魔法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F582CC-CEBC-47D0-9FE7-ECA387AD7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先看每颗种子的配对差">
            <a:extLst xmlns:a="http://schemas.openxmlformats.org/drawingml/2006/main">
              <a:ext uri="{FF2B5EF4-FFF2-40B4-BE49-F238E27FC236}">
                <a16:creationId xmlns:a16="http://schemas.microsoft.com/office/drawing/2014/main" id="{331EDE9B-E9EF-441F-ADB1-072183377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先看每颗种子的配对差</a:t>
            </a:r>
          </a:p>
        </p:txBody>
      </p:sp>
      <p:sp>
        <p:nvSpPr>
          <p:cNvPr id="6" name="说明重复单位和相关性">
            <a:extLst xmlns:a="http://schemas.openxmlformats.org/drawingml/2006/main">
              <a:ext uri="{FF2B5EF4-FFF2-40B4-BE49-F238E27FC236}">
                <a16:creationId xmlns:a16="http://schemas.microsoft.com/office/drawing/2014/main" id="{F2EC6EDC-2455-434D-BE0E-58D675E5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说明重复单位和相关性</a:t>
            </a:r>
          </a:p>
        </p:txBody>
      </p:sp>
      <p:sp>
        <p:nvSpPr>
          <p:cNvPr id="7" name="std不是显著性阈值">
            <a:extLst xmlns:a="http://schemas.openxmlformats.org/drawingml/2006/main">
              <a:ext uri="{FF2B5EF4-FFF2-40B4-BE49-F238E27FC236}">
                <a16:creationId xmlns:a16="http://schemas.microsoft.com/office/drawing/2014/main" id="{3EF5FDA1-D73D-417A-99C0-027BAAC3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std不是显著性阈值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B2B1D4-1669-4B99-B234-5A388340C6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8084a0bfe64720"/>
          <a:stretch xmlns:a="http://schemas.openxmlformats.org/drawingml/2006/main"/>
        </p:blipFill>
        <p:spPr>
          <a:xfrm xmlns:a="http://schemas.openxmlformats.org/drawingml/2006/main">
            <a:off x="6096000" y="3159532"/>
            <a:ext cx="5410200" cy="45321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D80E1A-6608-483E-B0E1-653F3C22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0" name="&gt;&gt;&gt; np.mean(d), np.std(d, ddof">
            <a:extLst xmlns:a="http://schemas.openxmlformats.org/drawingml/2006/main">
              <a:ext uri="{FF2B5EF4-FFF2-40B4-BE49-F238E27FC236}">
                <a16:creationId xmlns:a16="http://schemas.microsoft.com/office/drawing/2014/main" id="{D95EC1FC-AA0F-4EEF-8EA6-CBF306542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15000"/>
            <a:ext cx="1040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152E5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52E5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52E50"/>
                </a:solidFill>
                <a:latin typeface="Consolas"/>
                <a:ea typeface="Consolas"/>
                <a:cs typeface="Consolas"/>
              </a:rPr>
              <a:t>&gt;&gt;&gt; np.mean(d), np.std(d, ddof=1)  # d=[-.1,-.2,-.1]</a:t>
            </a:r>
          </a:p>
        </p:txBody>
      </p:sp>
      <p:sp>
        <p:nvSpPr>
          <p:cNvPr id="11" name="(-0.133, 0.058)">
            <a:extLst xmlns:a="http://schemas.openxmlformats.org/drawingml/2006/main">
              <a:ext uri="{FF2B5EF4-FFF2-40B4-BE49-F238E27FC236}">
                <a16:creationId xmlns:a16="http://schemas.microsoft.com/office/drawing/2014/main" id="{808803B3-961D-4BFA-9E83-8E0EEF3F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105525"/>
            <a:ext cx="1040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(-0.133, 0.058)</a:t>
            </a:r>
          </a:p>
        </p:txBody>
      </p:sp>
    </p:spTree>
    <p:extLst>
      <p:ext uri="{BB962C8B-B14F-4D97-AF65-F5344CB8AC3E}">
        <p14:creationId xmlns:p14="http://schemas.microsoft.com/office/powerpoint/2010/main" val="11144140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L10  /  HSI LEARNING">
            <a:extLst xmlns:a="http://schemas.openxmlformats.org/drawingml/2006/main">
              <a:ext uri="{FF2B5EF4-FFF2-40B4-BE49-F238E27FC236}">
                <a16:creationId xmlns:a16="http://schemas.microsoft.com/office/drawing/2014/main" id="{5375A11D-09E5-4399-95C5-A6FFE69A9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L10  /  HSI LEARNING</a:t>
            </a:r>
          </a:p>
        </p:txBody>
      </p:sp>
      <p:sp>
        <p:nvSpPr>
          <p:cNvPr id="2" name="07">
            <a:extLst xmlns:a="http://schemas.openxmlformats.org/drawingml/2006/main">
              <a:ext uri="{FF2B5EF4-FFF2-40B4-BE49-F238E27FC236}">
                <a16:creationId xmlns:a16="http://schemas.microsoft.com/office/drawing/2014/main" id="{42FF7E51-3DA3-4BF2-A984-000F7BE8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" name="把每一句结论绑到证据">
            <a:extLst xmlns:a="http://schemas.openxmlformats.org/drawingml/2006/main">
              <a:ext uri="{FF2B5EF4-FFF2-40B4-BE49-F238E27FC236}">
                <a16:creationId xmlns:a16="http://schemas.microsoft.com/office/drawing/2014/main" id="{770BE2C8-665E-408B-986B-3584BD87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把每一句结论绑到证据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E5F052-B05E-499C-9F7C-E76A0023A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52DCC4AA-D2DA-4326-A052-F486ED27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观察：这次得到了什么">
            <a:extLst xmlns:a="http://schemas.openxmlformats.org/drawingml/2006/main">
              <a:ext uri="{FF2B5EF4-FFF2-40B4-BE49-F238E27FC236}">
                <a16:creationId xmlns:a16="http://schemas.microsoft.com/office/drawing/2014/main" id="{64B59DDC-3DC0-4A05-A23D-CB266ED83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574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观察：这次得到了什么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64B95DA7-E3C1-4A64-A67E-5422877C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解释：需要验证的假设">
            <a:extLst xmlns:a="http://schemas.openxmlformats.org/drawingml/2006/main">
              <a:ext uri="{FF2B5EF4-FFF2-40B4-BE49-F238E27FC236}">
                <a16:creationId xmlns:a16="http://schemas.microsoft.com/office/drawing/2014/main" id="{D7D76A4C-5695-4A3D-9968-2E96F4E72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解释：需要验证的假设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0797B203-6959-4469-BB75-BCD877DAE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限制：哪些任务不能外推">
            <a:extLst xmlns:a="http://schemas.openxmlformats.org/drawingml/2006/main">
              <a:ext uri="{FF2B5EF4-FFF2-40B4-BE49-F238E27FC236}">
                <a16:creationId xmlns:a16="http://schemas.microsoft.com/office/drawing/2014/main" id="{7BBCCF4A-8C87-493B-8B91-F1E28FF2C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958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限制：哪些任务不能外推</a:t>
            </a:r>
          </a:p>
        </p:txBody>
      </p:sp>
    </p:spTree>
    <p:extLst>
      <p:ext uri="{BB962C8B-B14F-4D97-AF65-F5344CB8AC3E}">
        <p14:creationId xmlns:p14="http://schemas.microsoft.com/office/powerpoint/2010/main" val="165115497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L10  /  HSI LEARNING">
            <a:extLst xmlns:a="http://schemas.openxmlformats.org/drawingml/2006/main">
              <a:ext uri="{FF2B5EF4-FFF2-40B4-BE49-F238E27FC236}">
                <a16:creationId xmlns:a16="http://schemas.microsoft.com/office/drawing/2014/main" id="{6E6DAFD0-2BF7-405A-B65B-8B8797A62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L10  /  HSI LEARNING</a:t>
            </a:r>
          </a:p>
        </p:txBody>
      </p:sp>
      <p:sp>
        <p:nvSpPr>
          <p:cNvPr id="2" name="08">
            <a:extLst xmlns:a="http://schemas.openxmlformats.org/drawingml/2006/main">
              <a:ext uri="{FF2B5EF4-FFF2-40B4-BE49-F238E27FC236}">
                <a16:creationId xmlns:a16="http://schemas.microsoft.com/office/drawing/2014/main" id="{27274915-C333-418E-9E8B-FD361F0A3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3" name="论文骨架是证据的目录">
            <a:extLst xmlns:a="http://schemas.openxmlformats.org/drawingml/2006/main">
              <a:ext uri="{FF2B5EF4-FFF2-40B4-BE49-F238E27FC236}">
                <a16:creationId xmlns:a16="http://schemas.microsoft.com/office/drawing/2014/main" id="{531D3A09-AAE7-44DE-8FFB-333984DD9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论文骨架是证据的目录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E08E3C-95B9-456C-A93B-1FD236215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D29AE9B5-6986-4D99-843D-C9D3D2FA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Method：公式与实现">
            <a:extLst xmlns:a="http://schemas.openxmlformats.org/drawingml/2006/main">
              <a:ext uri="{FF2B5EF4-FFF2-40B4-BE49-F238E27FC236}">
                <a16:creationId xmlns:a16="http://schemas.microsoft.com/office/drawing/2014/main" id="{E934B81E-4D79-4BFD-B486-87EF7082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574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Method：公式与实现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8201DC7D-F9CC-47CA-A074-28ABC3DA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Experiments：协议与对照">
            <a:extLst xmlns:a="http://schemas.openxmlformats.org/drawingml/2006/main">
              <a:ext uri="{FF2B5EF4-FFF2-40B4-BE49-F238E27FC236}">
                <a16:creationId xmlns:a16="http://schemas.microsoft.com/office/drawing/2014/main" id="{174D6E38-43B4-4131-9E86-6A3CA25D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Experiments：协议与对照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264F4BBA-1B25-4863-86C6-C6551E1E5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Discussion：失败与局限">
            <a:extLst xmlns:a="http://schemas.openxmlformats.org/drawingml/2006/main">
              <a:ext uri="{FF2B5EF4-FFF2-40B4-BE49-F238E27FC236}">
                <a16:creationId xmlns:a16="http://schemas.microsoft.com/office/drawing/2014/main" id="{488673E9-6CA4-4166-8104-17A00D8D1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958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Discussion：失败与局限</a:t>
            </a:r>
          </a:p>
        </p:txBody>
      </p:sp>
    </p:spTree>
    <p:extLst>
      <p:ext uri="{BB962C8B-B14F-4D97-AF65-F5344CB8AC3E}">
        <p14:creationId xmlns:p14="http://schemas.microsoft.com/office/powerpoint/2010/main" val="7513671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L10  /  HSI LEARNING">
            <a:extLst xmlns:a="http://schemas.openxmlformats.org/drawingml/2006/main">
              <a:ext uri="{FF2B5EF4-FFF2-40B4-BE49-F238E27FC236}">
                <a16:creationId xmlns:a16="http://schemas.microsoft.com/office/drawing/2014/main" id="{1152CA91-E64F-4921-A267-8568E55B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L10  /  HSI LEARNING</a:t>
            </a:r>
          </a:p>
        </p:txBody>
      </p:sp>
      <p:sp>
        <p:nvSpPr>
          <p:cNvPr id="2" name="09">
            <a:extLst xmlns:a="http://schemas.openxmlformats.org/drawingml/2006/main">
              <a:ext uri="{FF2B5EF4-FFF2-40B4-BE49-F238E27FC236}">
                <a16:creationId xmlns:a16="http://schemas.microsoft.com/office/drawing/2014/main" id="{FB0145D8-D59A-4AA7-B96F-CDF2FCF4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证据表到结果段落">
            <a:extLst xmlns:a="http://schemas.openxmlformats.org/drawingml/2006/main">
              <a:ext uri="{FF2B5EF4-FFF2-40B4-BE49-F238E27FC236}">
                <a16:creationId xmlns:a16="http://schemas.microsoft.com/office/drawing/2014/main" id="{94D804D2-CBB6-47D4-B924-EFEE6D29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证据表到结果段落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01901B-96BC-45FC-9625-2F50577A7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观察：引用配置与指标行  ·  解释：候选机制，另提检验  ">
            <a:extLst xmlns:a="http://schemas.openxmlformats.org/drawingml/2006/main">
              <a:ext uri="{FF2B5EF4-FFF2-40B4-BE49-F238E27FC236}">
                <a16:creationId xmlns:a16="http://schemas.microsoft.com/office/drawing/2014/main" id="{0BF466C1-E7BF-4D00-82E6-D132C61B5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观察：引用配置与指标行  ·  解释：候选机制，另提检验  ·  限制：同场景、单seed与未对齐因素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D4D778-D7A8-4165-AEF3-BE723E65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E50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92AA9C-3E63-41B0-9A98-047D6970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句子角色">
            <a:extLst xmlns:a="http://schemas.openxmlformats.org/drawingml/2006/main">
              <a:ext uri="{FF2B5EF4-FFF2-40B4-BE49-F238E27FC236}">
                <a16:creationId xmlns:a16="http://schemas.microsoft.com/office/drawing/2014/main" id="{C28E4748-5569-40D0-9A59-F13505029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43275"/>
            <a:ext cx="5143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句子角色</a:t>
            </a:r>
          </a:p>
        </p:txBody>
      </p:sp>
      <p:sp>
        <p:nvSpPr>
          <p:cNvPr id="9" name="本课案例">
            <a:extLst xmlns:a="http://schemas.openxmlformats.org/drawingml/2006/main">
              <a:ext uri="{FF2B5EF4-FFF2-40B4-BE49-F238E27FC236}">
                <a16:creationId xmlns:a16="http://schemas.microsoft.com/office/drawing/2014/main" id="{541E0317-2600-4E6D-91B7-60C23217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343275"/>
            <a:ext cx="5143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本课案例</a:t>
            </a:r>
          </a:p>
        </p:txBody>
      </p:sp>
      <p:sp>
        <p:nvSpPr>
          <p:cNvPr id="10" name="观察">
            <a:extLst xmlns:a="http://schemas.openxmlformats.org/drawingml/2006/main">
              <a:ext uri="{FF2B5EF4-FFF2-40B4-BE49-F238E27FC236}">
                <a16:creationId xmlns:a16="http://schemas.microsoft.com/office/drawing/2014/main" id="{0DF342BA-25E1-4C42-BBC1-FDEB6C23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5143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11" name="加权后OA与AA变化见Notebook15">
            <a:extLst xmlns:a="http://schemas.openxmlformats.org/drawingml/2006/main">
              <a:ext uri="{FF2B5EF4-FFF2-40B4-BE49-F238E27FC236}">
                <a16:creationId xmlns:a16="http://schemas.microsoft.com/office/drawing/2014/main" id="{26A337B2-9DD5-4ED0-9728-9BE22B8A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57650"/>
            <a:ext cx="5143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加权后OA与AA变化见Notebook15</a:t>
            </a:r>
          </a:p>
        </p:txBody>
      </p:sp>
      <p:sp>
        <p:nvSpPr>
          <p:cNvPr id="12" name="候选解释">
            <a:extLst xmlns:a="http://schemas.openxmlformats.org/drawingml/2006/main">
              <a:ext uri="{FF2B5EF4-FFF2-40B4-BE49-F238E27FC236}">
                <a16:creationId xmlns:a16="http://schemas.microsoft.com/office/drawing/2014/main" id="{C3D1BB02-8DEC-4CFE-880D-B767B4DA1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72025"/>
            <a:ext cx="5143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候选解释</a:t>
            </a:r>
          </a:p>
        </p:txBody>
      </p:sp>
      <p:sp>
        <p:nvSpPr>
          <p:cNvPr id="13" name="类别权重改变梯度贡献">
            <a:extLst xmlns:a="http://schemas.openxmlformats.org/drawingml/2006/main">
              <a:ext uri="{FF2B5EF4-FFF2-40B4-BE49-F238E27FC236}">
                <a16:creationId xmlns:a16="http://schemas.microsoft.com/office/drawing/2014/main" id="{AB091D69-E5A0-4A83-A826-500155B8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772025"/>
            <a:ext cx="5143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类别权重改变梯度贡献</a:t>
            </a:r>
          </a:p>
        </p:txBody>
      </p:sp>
      <p:sp>
        <p:nvSpPr>
          <p:cNvPr id="14" name="限制">
            <a:extLst xmlns:a="http://schemas.openxmlformats.org/drawingml/2006/main">
              <a:ext uri="{FF2B5EF4-FFF2-40B4-BE49-F238E27FC236}">
                <a16:creationId xmlns:a16="http://schemas.microsoft.com/office/drawing/2014/main" id="{F4800468-D915-4237-A9E8-506714C9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86400"/>
            <a:ext cx="5143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限制</a:t>
            </a:r>
          </a:p>
        </p:txBody>
      </p:sp>
      <p:sp>
        <p:nvSpPr>
          <p:cNvPr id="15" name="同场景、一次seed；不是方法上限">
            <a:extLst xmlns:a="http://schemas.openxmlformats.org/drawingml/2006/main">
              <a:ext uri="{FF2B5EF4-FFF2-40B4-BE49-F238E27FC236}">
                <a16:creationId xmlns:a16="http://schemas.microsoft.com/office/drawing/2014/main" id="{324591EE-7BC2-4883-9B04-68563D51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486400"/>
            <a:ext cx="5143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同场景、一次seed；不是方法上限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C0D2CC-E334-49E7-83F7-C3215F0DA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E50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9206998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L10  /  HSI LEARNING">
            <a:extLst xmlns:a="http://schemas.openxmlformats.org/drawingml/2006/main">
              <a:ext uri="{FF2B5EF4-FFF2-40B4-BE49-F238E27FC236}">
                <a16:creationId xmlns:a16="http://schemas.microsoft.com/office/drawing/2014/main" id="{D5832839-0825-4E69-A433-27848C8A8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L10  /  HSI LEARNING</a:t>
            </a:r>
          </a:p>
        </p:txBody>
      </p:sp>
      <p:sp>
        <p:nvSpPr>
          <p:cNvPr id="2" name="10">
            <a:extLst xmlns:a="http://schemas.openxmlformats.org/drawingml/2006/main">
              <a:ext uri="{FF2B5EF4-FFF2-40B4-BE49-F238E27FC236}">
                <a16:creationId xmlns:a16="http://schemas.microsoft.com/office/drawing/2014/main" id="{B654E3E6-7996-4E89-8C2D-76A6F454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让代码验证你的判断">
            <a:extLst xmlns:a="http://schemas.openxmlformats.org/drawingml/2006/main">
              <a:ext uri="{FF2B5EF4-FFF2-40B4-BE49-F238E27FC236}">
                <a16:creationId xmlns:a16="http://schemas.microsoft.com/office/drawing/2014/main" id="{DEEB7ED2-F9DF-4FAA-A513-4F7A6CDE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让代码验证你的判断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76E313-F6DC-45D7-B9A0-C09A004F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AEFCE3-5CE9-4D57-9B59-24047CC8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08204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E3C"/>
          </a:solidFill>
          <a:ln xmlns:a="http://schemas.openxmlformats.org/drawingml/2006/main" w="0">
            <a:noFill/>
          </a:ln>
        </p:spPr>
      </p:sp>
      <p:sp>
        <p:nvSpPr>
          <p:cNvPr id="6" name="record = {&quot;split&quot;: ..., &quot;seed&quot;">
            <a:extLst xmlns:a="http://schemas.openxmlformats.org/drawingml/2006/main">
              <a:ext uri="{FF2B5EF4-FFF2-40B4-BE49-F238E27FC236}">
                <a16:creationId xmlns:a16="http://schemas.microsoft.com/office/drawing/2014/main" id="{ACAD856D-C8DA-4633-AAF7-2B54AFDE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1028700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record = {"split": ..., "seed": ..., "preprocess_fit": ...}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# Archive config + predictions + source revision.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# Write observation separately from explanation.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# Never tune on the final test results.</a:t>
            </a:r>
          </a:p>
        </p:txBody>
      </p:sp>
      <p:sp>
        <p:nvSpPr>
          <p:cNvPr id="7" name="先预测输出，再运行对应单元格。">
            <a:extLst xmlns:a="http://schemas.openxmlformats.org/drawingml/2006/main">
              <a:ext uri="{FF2B5EF4-FFF2-40B4-BE49-F238E27FC236}">
                <a16:creationId xmlns:a16="http://schemas.microsoft.com/office/drawing/2014/main" id="{F3DA61E6-226B-4459-BECD-1C2DD8B0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先预测输出，再运行对应单元格。</a:t>
            </a:r>
          </a:p>
        </p:txBody>
      </p:sp>
    </p:spTree>
    <p:extLst>
      <p:ext uri="{BB962C8B-B14F-4D97-AF65-F5344CB8AC3E}">
        <p14:creationId xmlns:p14="http://schemas.microsoft.com/office/powerpoint/2010/main" val="13670141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10  /  HSI LEARNING">
            <a:extLst xmlns:a="http://schemas.openxmlformats.org/drawingml/2006/main">
              <a:ext uri="{FF2B5EF4-FFF2-40B4-BE49-F238E27FC236}">
                <a16:creationId xmlns:a16="http://schemas.microsoft.com/office/drawing/2014/main" id="{B97737DA-1BCA-4828-838C-DB5E1AE7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L10  /  HSI LEARNING</a:t>
            </a:r>
          </a:p>
        </p:txBody>
      </p:sp>
      <p:sp>
        <p:nvSpPr>
          <p:cNvPr id="2" name="11">
            <a:extLst xmlns:a="http://schemas.openxmlformats.org/drawingml/2006/main">
              <a:ext uri="{FF2B5EF4-FFF2-40B4-BE49-F238E27FC236}">
                <a16:creationId xmlns:a16="http://schemas.microsoft.com/office/drawing/2014/main" id="{4B06B10A-E192-40EB-A2B4-310F8B9B2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停下来，做一次判断">
            <a:extLst xmlns:a="http://schemas.openxmlformats.org/drawingml/2006/main">
              <a:ext uri="{FF2B5EF4-FFF2-40B4-BE49-F238E27FC236}">
                <a16:creationId xmlns:a16="http://schemas.microsoft.com/office/drawing/2014/main" id="{C468B857-2732-4584-AB56-45C0D474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停下来，做一次判断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10EAEB-9230-4AFB-B141-AE707A933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课堂预测">
            <a:extLst xmlns:a="http://schemas.openxmlformats.org/drawingml/2006/main">
              <a:ext uri="{FF2B5EF4-FFF2-40B4-BE49-F238E27FC236}">
                <a16:creationId xmlns:a16="http://schemas.microsoft.com/office/drawing/2014/main" id="{27063CC9-93CC-4997-BD69-4A5D107B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课堂预测</a:t>
            </a:r>
          </a:p>
        </p:txBody>
      </p:sp>
      <p:sp>
        <p:nvSpPr>
          <p:cNvPr id="6" name="把一句过度结论改写为观察、解释假设、适用域三句话。">
            <a:extLst xmlns:a="http://schemas.openxmlformats.org/drawingml/2006/main">
              <a:ext uri="{FF2B5EF4-FFF2-40B4-BE49-F238E27FC236}">
                <a16:creationId xmlns:a16="http://schemas.microsoft.com/office/drawing/2014/main" id="{4A032286-5281-4F9C-8F81-6214828A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08204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7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把一句过度结论改写为观察、解释假设、适用域三句话。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264632-02DD-4BFF-90B1-C569FE2CE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退出题">
            <a:extLst xmlns:a="http://schemas.openxmlformats.org/drawingml/2006/main">
              <a:ext uri="{FF2B5EF4-FFF2-40B4-BE49-F238E27FC236}">
                <a16:creationId xmlns:a16="http://schemas.microsoft.com/office/drawing/2014/main" id="{7CF2CD3C-E49A-4AA2-8398-B4E81A41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退出题</a:t>
            </a:r>
          </a:p>
        </p:txBody>
      </p:sp>
      <p:sp>
        <p:nvSpPr>
          <p:cNvPr id="9" name="观察与候选解释各应写在哪里？">
            <a:extLst xmlns:a="http://schemas.openxmlformats.org/drawingml/2006/main">
              <a:ext uri="{FF2B5EF4-FFF2-40B4-BE49-F238E27FC236}">
                <a16:creationId xmlns:a16="http://schemas.microsoft.com/office/drawing/2014/main" id="{DC78C4DC-3984-4F7D-AE6D-8A262DF0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29225"/>
            <a:ext cx="108204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1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观察与候选解释各应写在哪里？</a:t>
            </a:r>
          </a:p>
        </p:txBody>
      </p:sp>
    </p:spTree>
    <p:extLst>
      <p:ext uri="{BB962C8B-B14F-4D97-AF65-F5344CB8AC3E}">
        <p14:creationId xmlns:p14="http://schemas.microsoft.com/office/powerpoint/2010/main" val="109500856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L10  /  HSI LEARNING">
            <a:extLst xmlns:a="http://schemas.openxmlformats.org/drawingml/2006/main">
              <a:ext uri="{FF2B5EF4-FFF2-40B4-BE49-F238E27FC236}">
                <a16:creationId xmlns:a16="http://schemas.microsoft.com/office/drawing/2014/main" id="{94DE4EAC-C317-420B-B1E1-0E427FA0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L10  /  HSI LEARNING</a:t>
            </a:r>
          </a:p>
        </p:txBody>
      </p:sp>
      <p:sp>
        <p:nvSpPr>
          <p:cNvPr id="2" name="12">
            <a:extLst xmlns:a="http://schemas.openxmlformats.org/drawingml/2006/main">
              <a:ext uri="{FF2B5EF4-FFF2-40B4-BE49-F238E27FC236}">
                <a16:creationId xmlns:a16="http://schemas.microsoft.com/office/drawing/2014/main" id="{E13BAF27-EDDB-4F6F-B3BD-F38E23895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结论要有边界">
            <a:extLst xmlns:a="http://schemas.openxmlformats.org/drawingml/2006/main">
              <a:ext uri="{FF2B5EF4-FFF2-40B4-BE49-F238E27FC236}">
                <a16:creationId xmlns:a16="http://schemas.microsoft.com/office/drawing/2014/main" id="{B1F3EAA0-FCDB-45FD-A85C-7539E55D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结论要有边界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9FF866-4E83-454A-BE87-ECF22185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已知">
            <a:extLst xmlns:a="http://schemas.openxmlformats.org/drawingml/2006/main">
              <a:ext uri="{FF2B5EF4-FFF2-40B4-BE49-F238E27FC236}">
                <a16:creationId xmlns:a16="http://schemas.microsoft.com/office/drawing/2014/main" id="{EE004B7A-0272-4F38-8F3C-95F8FBADC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90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已知</a:t>
            </a:r>
          </a:p>
        </p:txBody>
      </p:sp>
      <p:sp>
        <p:nvSpPr>
          <p:cNvPr id="6" name="没有增益不等于方法无效">
            <a:extLst xmlns:a="http://schemas.openxmlformats.org/drawingml/2006/main">
              <a:ext uri="{FF2B5EF4-FFF2-40B4-BE49-F238E27FC236}">
                <a16:creationId xmlns:a16="http://schemas.microsoft.com/office/drawing/2014/main" id="{1B5984B8-2A90-4339-9AAA-C75CF9C55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266950"/>
            <a:ext cx="9296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没有增益不等于方法无效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EDBF6F-06CC-4D8F-BB33-E6971B4EA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752850"/>
            <a:ext cx="929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边界">
            <a:extLst xmlns:a="http://schemas.openxmlformats.org/drawingml/2006/main">
              <a:ext uri="{FF2B5EF4-FFF2-40B4-BE49-F238E27FC236}">
                <a16:creationId xmlns:a16="http://schemas.microsoft.com/office/drawing/2014/main" id="{DF0CC452-1599-4EC2-B17E-D9FA52A8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90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9" name="完整课程不等于论文已完成">
            <a:extLst xmlns:a="http://schemas.openxmlformats.org/drawingml/2006/main">
              <a:ext uri="{FF2B5EF4-FFF2-40B4-BE49-F238E27FC236}">
                <a16:creationId xmlns:a16="http://schemas.microsoft.com/office/drawing/2014/main" id="{3305929A-1601-4721-9C14-32A36A499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10025"/>
            <a:ext cx="9296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完整课程不等于论文已完成</a:t>
            </a:r>
          </a:p>
        </p:txBody>
      </p:sp>
      <p:sp>
        <p:nvSpPr>
          <p:cNvPr id="10" name="来源、复现入口与辅助提示见讲者备注。">
            <a:extLst xmlns:a="http://schemas.openxmlformats.org/drawingml/2006/main">
              <a:ext uri="{FF2B5EF4-FFF2-40B4-BE49-F238E27FC236}">
                <a16:creationId xmlns:a16="http://schemas.microsoft.com/office/drawing/2014/main" id="{E18DD5B1-914E-46AA-8C49-767B57B77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来源、复现入口与辅助提示见讲者备注。</a:t>
            </a:r>
          </a:p>
        </p:txBody>
      </p:sp>
    </p:spTree>
    <p:extLst>
      <p:ext uri="{BB962C8B-B14F-4D97-AF65-F5344CB8AC3E}">
        <p14:creationId xmlns:p14="http://schemas.microsoft.com/office/powerpoint/2010/main" val="14481419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2026-10-09T03:34:55.3910000Z</dcterms:created>
  <dcterms:modified xsi:type="dcterms:W3CDTF">2026-10-09T03:34:55.3910000Z</dcterms:modified>
</coreProperties>
</file>