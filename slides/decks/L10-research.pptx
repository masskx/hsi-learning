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用真实问题开场，先让学生提出预测。不要从依赖列表开始读。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完成标准是能独立生成交付物，而不是只复述概念。右侧面板是本课的Notebook与cell入口。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用课程负结果教怎么审计，不拿不完整复现否定原论文。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>
            <a:r>
              <a:t>Keshav: How to Read a Paper</a:t>
            </a:r>
          </a:p>
          <a:p>
            <a:r>
              <a:t>https://web.stanford.edu/class/ee384m/Handouts/HowtoReadPaper.pdf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没有原文证据时停在待核验；不能给编造机制套“待核对”脚注。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>
            <a:r>
              <a:t>Keshav: How to Read a Paper</a:t>
            </a:r>
          </a:p>
          <a:p>
            <a:r>
              <a:t>https://web.stanford.edu/class/ee384m/Handouts/HowtoReadPaper.pdf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同epoch不一定同优化预算；记录更新次数和算力目标。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>
            <a:r>
              <a:t>Keshav: How to Read a Paper</a:t>
            </a:r>
          </a:p>
          <a:p>
            <a:r>
              <a:t>https://web.stanford.edu/class/ee384m/Handouts/HowtoReadPaper.pdf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 d=[-0.1,-0.2,-0.1]：均值-0.133、样本std 0.058。三次同号不等于显著——说显著要先定检验和功效。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>
            <a:r>
              <a:t>Keshav: How to Read a Paper</a:t>
            </a:r>
          </a:p>
          <a:p>
            <a:r>
              <a:t>https://web.stanford.edu/class/ee384m/Handouts/HowtoReadPaper.pdf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示范把“模块证明有效”改成限定条件的描述。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>
            <a:r>
              <a:t>Keshav: How to Read a Paper</a:t>
            </a:r>
          </a:p>
          <a:p>
            <a:r>
              <a:t>https://web.stanford.edu/class/ee384m/Handouts/HowtoReadPaper.pdf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先写确定的实验和方法，再写摘要引言；模板编译需实际验证。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>
            <a:r>
              <a:t>Keshav: How to Read a Paper</a:t>
            </a:r>
          </a:p>
          <a:p>
            <a:r>
              <a:t>https://web.stanford.edu/class/ee384m/Handouts/HowtoReadPaper.pdf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这是关键代码节选，完整上下文在Notebook中。现场只做最小例或载入模型推理；完整训练提前排队。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先让学生在右侧预测框写出预期，再运行一次受控改动。若与预期不同，保留记录而不是换种子直到符合故事。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复制提示词见内容源。数据边界：不上传未授权数据或未公开稿件；不让AI虚构引用、指标或执行记录。仅根据给定实验表润色英文结果段落。不得新增数字、引用或因果主张；每句话附证据行号，证据不足写[needs evidence]，保留负结果。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结束时请学生用一句话回答本课开头的问题，要求带证据类型。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每次发布应补源码版本与运行配置；网络资料可访问不等于可自由再分发。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None</a:t>
            </a:r>
          </a:p>
          <a:p>
            <a:r>
              <a:t>定位: run_config.json, metrics.json, source-audit.md</a:t>
            </a:r>
          </a:p>
          <a:p>
            <a:r>
              <a:t>Keshav: How to Read a Paper</a:t>
            </a:r>
          </a:p>
          <a:p>
            <a:r>
              <a:t>https://web.stanford.edu/class/ee384m/Handouts/HowtoReadPaper.pdf</a:t>
            </a:r>
          </a:p>
          <a:p>
            <a:r>
              <a:t>Pineau et al. Reproducibility, JMLR 2021</a:t>
            </a:r>
          </a:p>
          <a:p>
            <a:r>
              <a:t>https://jmlr.org/papers/v22/20-303.html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241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spc="300">
                <a:solidFill>
                  <a:srgbClr val="5C6B7A"/>
                </a:solidFill>
                <a:latin typeface="Microsoft YaHei"/>
                <a:ea typeface="Microsoft YaHei"/>
              </a:rPr>
              <a:t>HSI-LEARNING</a:t>
            </a:r>
            <a:r>
              <a:rPr sz="1250" b="0" spc="200">
                <a:solidFill>
                  <a:srgbClr val="5C6B7A"/>
                </a:solidFill>
                <a:latin typeface="Microsoft YaHei"/>
                <a:ea typeface="Microsoft YaHei"/>
              </a:rPr>
              <a:t>  ·  高光谱图像分类课程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1572768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600" b="1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615184"/>
            <a:ext cx="99669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700" b="1">
                <a:solidFill>
                  <a:srgbClr val="1C2B3A"/>
                </a:solidFill>
                <a:latin typeface="Microsoft YaHei"/>
                <a:ea typeface="Microsoft YaHei"/>
              </a:rPr>
              <a:t>一次实验怎样变成可信研究证据？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416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>
                <a:solidFill>
                  <a:srgbClr val="5C6B7A"/>
                </a:solidFill>
                <a:latin typeface="Microsoft YaHei"/>
                <a:ea typeface="Microsoft YaHei"/>
              </a:rPr>
              <a:t>阅读、假设、对照、写作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36592"/>
            <a:ext cx="996696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9262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>
                <a:solidFill>
                  <a:srgbClr val="1C2B3A"/>
                </a:solidFill>
                <a:latin typeface="Microsoft YaHei"/>
                <a:ea typeface="Microsoft YaHei"/>
              </a:rPr>
              <a:t>本课交付 · </a:t>
            </a: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</a:rPr>
              <a:t>半页研究登记  ·  来源差异表  ·  受限结果段落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7044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>
                <a:solidFill>
                  <a:srgbClr val="5C6B7A"/>
                </a:solidFill>
                <a:latin typeface="Microsoft YaHei"/>
                <a:ea typeface="Microsoft YaHei"/>
              </a:rPr>
              <a:t>先修 · </a:t>
            </a:r>
            <a:r>
              <a:rPr sz="1300" b="0">
                <a:solidFill>
                  <a:srgbClr val="5C6B7A"/>
                </a:solidFill>
                <a:latin typeface="Microsoft YaHei"/>
                <a:ea typeface="Microsoft YaHei"/>
              </a:rPr>
              <a:t>L02与至少一个模型实践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阅读、假设、对照、写作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本课交付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7510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C9571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2011679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半页研究登记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779776"/>
            <a:ext cx="594360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07238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C9571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31089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来源差异表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877056"/>
            <a:ext cx="594360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16966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C9571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42062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受限结果段落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011680"/>
            <a:ext cx="3886200" cy="320040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2860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课堂入口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614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17520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100" b="0">
                <a:solidFill>
                  <a:srgbClr val="1C2B3A"/>
                </a:solidFill>
                <a:latin typeface="Consolas"/>
                <a:ea typeface="Microsoft YaHei"/>
              </a:rPr>
              <a:t>run_config.json / 精读笔记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602736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CELLS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858768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100" b="0">
                <a:solidFill>
                  <a:srgbClr val="1C2B3A"/>
                </a:solidFill>
                <a:latin typeface="Consolas"/>
                <a:ea typeface="Microsoft YaHei"/>
              </a:rPr>
              <a:t>run_config.json, metrics.json, source-audit.md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443984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700016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1C2B3A"/>
                </a:solidFill>
                <a:latin typeface="Microsoft YaHei"/>
                <a:ea typeface="Microsoft YaHei"/>
              </a:rPr>
              <a:t>A06 · 交付：代码 + 配置 + 解释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阅读、假设、对照、写作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研究不是把模块加在一起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问题必须能被否证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baseline要对齐协议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失败也能形成可检查结论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6693408" y="2103120"/>
            <a:ext cx="14630" cy="4059935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50431" y="2052827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6016" y="1911095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Question</a:t>
            </a:r>
          </a:p>
        </p:txBody>
      </p:sp>
      <p:sp>
        <p:nvSpPr>
          <p:cNvPr id="10" name="Oval 9"/>
          <p:cNvSpPr/>
          <p:nvPr/>
        </p:nvSpPr>
        <p:spPr>
          <a:xfrm>
            <a:off x="6650431" y="407365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393192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Hypothesis</a:t>
            </a:r>
          </a:p>
        </p:txBody>
      </p:sp>
      <p:sp>
        <p:nvSpPr>
          <p:cNvPr id="12" name="Oval 11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阅读、假设、对照、写作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阅读先区分三个层次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原文贡献与设定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官方代码的实际实现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课程简化和自定义扩展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6693408" y="2103120"/>
            <a:ext cx="14630" cy="4059935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50431" y="2052827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6016" y="1911095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Paper</a:t>
            </a:r>
          </a:p>
        </p:txBody>
      </p:sp>
      <p:sp>
        <p:nvSpPr>
          <p:cNvPr id="10" name="Oval 9"/>
          <p:cNvSpPr/>
          <p:nvPr/>
        </p:nvSpPr>
        <p:spPr>
          <a:xfrm>
            <a:off x="6650431" y="407365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393192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Code</a:t>
            </a:r>
          </a:p>
        </p:txBody>
      </p:sp>
      <p:sp>
        <p:nvSpPr>
          <p:cNvPr id="12" name="Oval 11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Teaching variant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阅读、假设、对照、写作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一次只改一个有解释的变量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固定数据与选择规则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记录预算和环境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模型实现要支持消融开关</a:t>
            </a:r>
          </a:p>
        </p:txBody>
      </p:sp>
      <p:sp>
        <p:nvSpPr>
          <p:cNvPr id="7" name="Rectangle 6"/>
          <p:cNvSpPr/>
          <p:nvPr/>
        </p:nvSpPr>
        <p:spPr>
          <a:xfrm>
            <a:off x="6693408" y="2103120"/>
            <a:ext cx="14630" cy="4059935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50431" y="2052827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6016" y="1911095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Baseline</a:t>
            </a:r>
          </a:p>
        </p:txBody>
      </p:sp>
      <p:sp>
        <p:nvSpPr>
          <p:cNvPr id="10" name="Oval 9"/>
          <p:cNvSpPr/>
          <p:nvPr/>
        </p:nvSpPr>
        <p:spPr>
          <a:xfrm>
            <a:off x="6650431" y="407365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393192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One change</a:t>
            </a:r>
          </a:p>
        </p:txBody>
      </p:sp>
      <p:sp>
        <p:nvSpPr>
          <p:cNvPr id="12" name="Oval 11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Matched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阅读、假设、对照、写作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三颗种子不是统计魔法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先看每颗种子的配对差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说明重复单位和相关性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std不是显著性阈值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193792"/>
            <a:ext cx="4983480" cy="93268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5321808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&gt;&gt;&gt; </a:t>
            </a:r>
            <a:r>
              <a:rPr sz="1150" b="0">
                <a:solidFill>
                  <a:srgbClr val="1C2B3A"/>
                </a:solidFill>
                <a:latin typeface="Consolas"/>
                <a:ea typeface="Microsoft YaHei"/>
              </a:rPr>
              <a:t>np.mean(d), np.std(d, ddof=1)  # d=[-.1,-.2,-.1]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5705856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Consolas"/>
                <a:ea typeface="Microsoft YaHei"/>
              </a:rPr>
              <a:t>(-0.133, 0.058)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4956048" cy="219456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ormula-bb17ee7ad7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831767"/>
            <a:ext cx="4434840" cy="37150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93408" y="4434840"/>
            <a:ext cx="14630" cy="1728216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50431" y="4384548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4242816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Run pairs</a:t>
            </a:r>
          </a:p>
        </p:txBody>
      </p:sp>
      <p:sp>
        <p:nvSpPr>
          <p:cNvPr id="15" name="Oval 14"/>
          <p:cNvSpPr/>
          <p:nvPr/>
        </p:nvSpPr>
        <p:spPr>
          <a:xfrm>
            <a:off x="6650431" y="523951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509778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Delta distribution</a:t>
            </a:r>
          </a:p>
        </p:txBody>
      </p:sp>
      <p:sp>
        <p:nvSpPr>
          <p:cNvPr id="17" name="Oval 16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Scope of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阅读、假设、对照、写作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把每一句结论绑到证据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观察：这次得到了什么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解释：需要验证的假设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限制：哪些任务不能外推</a:t>
            </a:r>
          </a:p>
        </p:txBody>
      </p:sp>
      <p:sp>
        <p:nvSpPr>
          <p:cNvPr id="7" name="Rectangle 6"/>
          <p:cNvSpPr/>
          <p:nvPr/>
        </p:nvSpPr>
        <p:spPr>
          <a:xfrm>
            <a:off x="6693408" y="2103120"/>
            <a:ext cx="14630" cy="4059935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50431" y="2052827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6016" y="1911095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Observation</a:t>
            </a:r>
          </a:p>
        </p:txBody>
      </p:sp>
      <p:sp>
        <p:nvSpPr>
          <p:cNvPr id="10" name="Oval 9"/>
          <p:cNvSpPr/>
          <p:nvPr/>
        </p:nvSpPr>
        <p:spPr>
          <a:xfrm>
            <a:off x="6650431" y="407365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393192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Hypothesis</a:t>
            </a:r>
          </a:p>
        </p:txBody>
      </p:sp>
      <p:sp>
        <p:nvSpPr>
          <p:cNvPr id="12" name="Oval 11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Limitation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阅读、假设、对照、写作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论文骨架是证据的目录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Method：公式与实现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Experiments：协议与对照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Discussion：失败与局限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6693408" y="2103120"/>
            <a:ext cx="14630" cy="4059935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50431" y="2052827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6016" y="1911095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Method</a:t>
            </a:r>
          </a:p>
        </p:txBody>
      </p:sp>
      <p:sp>
        <p:nvSpPr>
          <p:cNvPr id="10" name="Oval 9"/>
          <p:cNvSpPr/>
          <p:nvPr/>
        </p:nvSpPr>
        <p:spPr>
          <a:xfrm>
            <a:off x="6650431" y="407365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393192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Experiments</a:t>
            </a:r>
          </a:p>
        </p:txBody>
      </p:sp>
      <p:sp>
        <p:nvSpPr>
          <p:cNvPr id="12" name="Oval 11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Discussion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阅读、假设、对照、写作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代码实操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76809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>
                <a:solidFill>
                  <a:srgbClr val="5C6B7A"/>
                </a:solidFill>
                <a:latin typeface="Microsoft YaHei"/>
                <a:ea typeface="Microsoft YaHei"/>
              </a:rPr>
              <a:t>打开  </a:t>
            </a:r>
            <a:r>
              <a:rPr sz="1300" b="0">
                <a:solidFill>
                  <a:srgbClr val="1C2B3A"/>
                </a:solidFill>
                <a:latin typeface="Consolas"/>
                <a:ea typeface="Microsoft YaHei"/>
              </a:rPr>
              <a:t>run_config.json / 精读笔记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87168"/>
            <a:ext cx="6858000" cy="1920239"/>
          </a:xfrm>
          <a:prstGeom prst="roundRect">
            <a:avLst>
              <a:gd name="adj" fmla="val 4500"/>
            </a:avLst>
          </a:prstGeom>
          <a:solidFill>
            <a:srgbClr val="20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798064"/>
            <a:ext cx="6172200" cy="1353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2000"/>
              </a:lnSpc>
            </a:pPr>
            <a:r>
              <a:rPr sz="1300" b="0">
                <a:solidFill>
                  <a:srgbClr val="DEE9F2"/>
                </a:solidFill>
                <a:latin typeface="Consolas"/>
                <a:ea typeface="Microsoft YaHei"/>
              </a:rPr>
              <a:t>record = {"split": ..., "seed": ..., "preprocess_fit": ...}</a:t>
            </a:r>
          </a:p>
          <a:p>
            <a:pPr>
              <a:lnSpc>
                <a:spcPct val="142000"/>
              </a:lnSpc>
            </a:pPr>
            <a:r>
              <a:rPr sz="1300" b="0">
                <a:solidFill>
                  <a:srgbClr val="DEE9F2"/>
                </a:solidFill>
                <a:latin typeface="Consolas"/>
                <a:ea typeface="Microsoft YaHei"/>
              </a:rPr>
              <a:t/>
            </a:r>
            <a:r>
              <a:rPr sz="1300" b="0">
                <a:solidFill>
                  <a:srgbClr val="7E99AD"/>
                </a:solidFill>
                <a:latin typeface="Consolas"/>
                <a:ea typeface="Microsoft YaHei"/>
              </a:rPr>
              <a:t># Archive config + predictions + source revision.</a:t>
            </a:r>
          </a:p>
          <a:p>
            <a:pPr>
              <a:lnSpc>
                <a:spcPct val="142000"/>
              </a:lnSpc>
            </a:pPr>
            <a:r>
              <a:rPr sz="1300" b="0">
                <a:solidFill>
                  <a:srgbClr val="DEE9F2"/>
                </a:solidFill>
                <a:latin typeface="Consolas"/>
                <a:ea typeface="Microsoft YaHei"/>
              </a:rPr>
              <a:t/>
            </a:r>
            <a:r>
              <a:rPr sz="1300" b="0">
                <a:solidFill>
                  <a:srgbClr val="7E99AD"/>
                </a:solidFill>
                <a:latin typeface="Consolas"/>
                <a:ea typeface="Microsoft YaHei"/>
              </a:rPr>
              <a:t># Write observation separately from explanation.</a:t>
            </a:r>
          </a:p>
          <a:p>
            <a:pPr>
              <a:lnSpc>
                <a:spcPct val="142000"/>
              </a:lnSpc>
            </a:pPr>
            <a:r>
              <a:rPr sz="1300" b="0">
                <a:solidFill>
                  <a:srgbClr val="DEE9F2"/>
                </a:solidFill>
                <a:latin typeface="Consolas"/>
                <a:ea typeface="Microsoft YaHei"/>
              </a:rPr>
              <a:t/>
            </a:r>
            <a:r>
              <a:rPr sz="1300" b="0">
                <a:solidFill>
                  <a:srgbClr val="7E99AD"/>
                </a:solidFill>
                <a:latin typeface="Consolas"/>
                <a:ea typeface="Microsoft YaHei"/>
              </a:rPr>
              <a:t># Never tune on the final test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66344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>
                <a:solidFill>
                  <a:srgbClr val="5C6B7A"/>
                </a:solidFill>
                <a:latin typeface="Microsoft YaHei"/>
                <a:ea typeface="Microsoft YaHei"/>
              </a:rPr>
              <a:t>定位 cell  </a:t>
            </a:r>
            <a:r>
              <a:rPr sz="1300" b="0">
                <a:solidFill>
                  <a:srgbClr val="1C2B3A"/>
                </a:solidFill>
                <a:latin typeface="Consolas"/>
                <a:ea typeface="Microsoft YaHei"/>
              </a:rPr>
              <a:t>run_config.json, metrics.json, source-audit.md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3852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研究入口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95728"/>
            <a:ext cx="324612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入口：run_config.json / metrics.json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对照 source-audit.md 逐条核验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产出：受限结果段落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阅读、假设、对照、写作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60350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2300" b="0">
                <a:solidFill>
                  <a:srgbClr val="1C2B3A"/>
                </a:solidFill>
                <a:latin typeface="Microsoft YaHei"/>
                <a:ea typeface="Microsoft YaHei"/>
              </a:rPr>
              <a:t>把一句过度结论改写为观察、解释假设、适用域三句话。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892040"/>
            <a:ext cx="5669280" cy="603504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C9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0566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>
                <a:solidFill>
                  <a:srgbClr val="C9571E"/>
                </a:solidFill>
                <a:latin typeface="Microsoft YaHei"/>
                <a:ea typeface="Microsoft YaHei"/>
              </a:rPr>
              <a:t>任务 A06</a:t>
            </a:r>
            <a:r>
              <a:rPr sz="1400" b="0">
                <a:solidFill>
                  <a:srgbClr val="1C2B3A"/>
                </a:solidFill>
                <a:latin typeface="Microsoft YaHei"/>
                <a:ea typeface="Microsoft YaHei"/>
              </a:rPr>
              <a:t>　交付：代码 + 配置 + 解释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2057400"/>
            <a:ext cx="3886200" cy="3438144"/>
          </a:xfrm>
          <a:prstGeom prst="rect">
            <a:avLst/>
          </a:prstGeom>
          <a:noFill/>
          <a:ln w="15240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350008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Microsoft YaHei"/>
                <a:ea typeface="Microsoft YaHei"/>
              </a:rPr>
              <a:t>先写预测，再运行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355848"/>
            <a:ext cx="324612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4069080"/>
            <a:ext cx="324612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4782312"/>
            <a:ext cx="324612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阅读、假设、对照、写作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AI 辅助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2651760"/>
            <a:ext cx="6903720" cy="265176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651760"/>
            <a:ext cx="50292" cy="2651760"/>
          </a:xfrm>
          <a:prstGeom prst="rect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898648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提示词（可直接复制）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319272"/>
            <a:ext cx="62636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50" b="0">
                <a:solidFill>
                  <a:srgbClr val="1C2B3A"/>
                </a:solidFill>
                <a:latin typeface="Microsoft YaHei"/>
                <a:ea typeface="Microsoft YaHei"/>
              </a:rPr>
              <a:t>仅根据给定实验表润色英文结果段落。不得新增数字、引用或因果主张；每句话附证据行号，证据不足写[needs evidence]，保留负结果。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7157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人工核验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136392"/>
            <a:ext cx="324612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450" b="0">
                <a:solidFill>
                  <a:srgbClr val="1C2B3A"/>
                </a:solidFill>
                <a:latin typeface="Microsoft YaHei"/>
                <a:ea typeface="Microsoft YaHei"/>
              </a:rPr>
              <a:t>逐句核对数值和来源；遵守投稿方AI披露政策，不上传未授权资料。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阅读、假设、对照、写作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小结与边界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5669280" cy="3291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没有增益不等于方法无效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完整课程不等于论文已完成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2103120"/>
            <a:ext cx="4114800" cy="274320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2103120"/>
            <a:ext cx="50292" cy="2743200"/>
          </a:xfrm>
          <a:prstGeom prst="rect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23957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回到本课开头的问题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2834640"/>
            <a:ext cx="35204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一次实验怎样变成可信研究证据？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L10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阅读、假设、对照、写作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来源、版本与复现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9339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>
                <a:solidFill>
                  <a:srgbClr val="1C2B3A"/>
                </a:solidFill>
                <a:latin typeface="Microsoft YaHei"/>
                <a:ea typeface="Microsoft YaHei"/>
              </a:rPr>
              <a:t>Keshav: How to Read a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02082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</a:rPr>
              <a:t>https://web.stanford.edu/class/ee384m/Handouts/HowtoReadPaper.pdf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487168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65176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>
                <a:solidFill>
                  <a:srgbClr val="1C2B3A"/>
                </a:solidFill>
                <a:latin typeface="Microsoft YaHei"/>
                <a:ea typeface="Microsoft YaHei"/>
              </a:rPr>
              <a:t>Pineau et al. Reproducibility, JMLR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7919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</a:rPr>
              <a:t>https://jmlr.org/papers/v22/20-303.html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145536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0">
                <a:solidFill>
                  <a:srgbClr val="5C6B7A"/>
                </a:solidFill>
                <a:latin typeface="Microsoft YaHei"/>
                <a:ea typeface="Microsoft YaHei"/>
              </a:rPr>
              <a:t>完整来源状态与许可边界见 docs/teaching/source-audit.md；图像取自当前 Notebook 输出。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一次实验怎样变成可信研究证据？</dc:title>
  <dc:subject>Theory + practice + verified AI research assistance</dc:subject>
  <dc:creator>HSI-Learning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