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73661f16c04bb9" /><Relationship Type="http://schemas.openxmlformats.org/officeDocument/2006/relationships/extended-properties" Target="/docProps/app.xml" Id="Rdc0a1e0d34de480d" /><Relationship Type="http://schemas.openxmlformats.org/officeDocument/2006/relationships/officeDocument" Target="/ppt/presentation.xml" Id="Rd4c97f76ffe947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c978af44014c1d"/>
  </p:sldMasterIdLst>
  <p:notesMasterIdLst>
    <p:notesMasterId xmlns:r="http://schemas.openxmlformats.org/officeDocument/2006/relationships" r:id="R1cd938105fe34740"/>
  </p:notesMasterIdLst>
  <p:sldIdLst>
    <p:sldId xmlns:r="http://schemas.openxmlformats.org/officeDocument/2006/relationships" id="256" r:id="Rd9d48d273b1241bc"/>
    <p:sldId xmlns:r="http://schemas.openxmlformats.org/officeDocument/2006/relationships" id="257" r:id="R31de07da1c3c477b"/>
    <p:sldId xmlns:r="http://schemas.openxmlformats.org/officeDocument/2006/relationships" id="258" r:id="R71c1db6d7fd14d70"/>
    <p:sldId xmlns:r="http://schemas.openxmlformats.org/officeDocument/2006/relationships" id="259" r:id="Rb9c9e9d7514147ca"/>
    <p:sldId xmlns:r="http://schemas.openxmlformats.org/officeDocument/2006/relationships" id="260" r:id="R08fe4498d1994b3c"/>
    <p:sldId xmlns:r="http://schemas.openxmlformats.org/officeDocument/2006/relationships" id="261" r:id="R42d350bc5c3c4ad7"/>
    <p:sldId xmlns:r="http://schemas.openxmlformats.org/officeDocument/2006/relationships" id="262" r:id="R35b097e6892f4b6a"/>
    <p:sldId xmlns:r="http://schemas.openxmlformats.org/officeDocument/2006/relationships" id="263" r:id="Rc1722ebcfb884f53"/>
    <p:sldId xmlns:r="http://schemas.openxmlformats.org/officeDocument/2006/relationships" id="264" r:id="R8bdd79e6e28c40f7"/>
    <p:sldId xmlns:r="http://schemas.openxmlformats.org/officeDocument/2006/relationships" id="265" r:id="R4e260bcac3784090"/>
    <p:sldId xmlns:r="http://schemas.openxmlformats.org/officeDocument/2006/relationships" id="266" r:id="R75b0f14fa61e49db"/>
    <p:sldId xmlns:r="http://schemas.openxmlformats.org/officeDocument/2006/relationships" id="267" r:id="R97be7fe44fc349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dab4e9eb6f4c40" /><Relationship Type="http://schemas.openxmlformats.org/officeDocument/2006/relationships/slideMaster" Target="/ppt/slideMasters/slideMaster1.xml" Id="R3ec978af44014c1d" /><Relationship Type="http://schemas.openxmlformats.org/officeDocument/2006/relationships/notesMaster" Target="/ppt/notesMasters/notesMaster1.xml" Id="R1cd938105fe34740" /><Relationship Type="http://schemas.openxmlformats.org/officeDocument/2006/relationships/presProps" Target="/ppt/presProps.xml" Id="Rfdd01308fe4f4749" /><Relationship Type="http://schemas.openxmlformats.org/officeDocument/2006/relationships/tableStyles" Target="/ppt/tableStyles.xml" Id="R00a0a8add5e54c20" /><Relationship Type="http://schemas.openxmlformats.org/officeDocument/2006/relationships/slide" Target="/ppt/slides/slide1.xml" Id="Rd9d48d273b1241bc" /><Relationship Type="http://schemas.openxmlformats.org/officeDocument/2006/relationships/slide" Target="/ppt/slides/slide2.xml" Id="R31de07da1c3c477b" /><Relationship Type="http://schemas.openxmlformats.org/officeDocument/2006/relationships/slide" Target="/ppt/slides/slide3.xml" Id="R71c1db6d7fd14d70" /><Relationship Type="http://schemas.openxmlformats.org/officeDocument/2006/relationships/slide" Target="/ppt/slides/slide4.xml" Id="Rb9c9e9d7514147ca" /><Relationship Type="http://schemas.openxmlformats.org/officeDocument/2006/relationships/slide" Target="/ppt/slides/slide5.xml" Id="R08fe4498d1994b3c" /><Relationship Type="http://schemas.openxmlformats.org/officeDocument/2006/relationships/slide" Target="/ppt/slides/slide6.xml" Id="R42d350bc5c3c4ad7" /><Relationship Type="http://schemas.openxmlformats.org/officeDocument/2006/relationships/slide" Target="/ppt/slides/slide7.xml" Id="R35b097e6892f4b6a" /><Relationship Type="http://schemas.openxmlformats.org/officeDocument/2006/relationships/slide" Target="/ppt/slides/slide8.xml" Id="Rc1722ebcfb884f53" /><Relationship Type="http://schemas.openxmlformats.org/officeDocument/2006/relationships/slide" Target="/ppt/slides/slide9.xml" Id="R8bdd79e6e28c40f7" /><Relationship Type="http://schemas.openxmlformats.org/officeDocument/2006/relationships/slide" Target="/ppt/slides/slide10.xml" Id="R4e260bcac3784090" /><Relationship Type="http://schemas.openxmlformats.org/officeDocument/2006/relationships/slide" Target="/ppt/slides/slide11.xml" Id="R75b0f14fa61e49db" /><Relationship Type="http://schemas.openxmlformats.org/officeDocument/2006/relationships/slide" Target="/ppt/slides/slide12.xml" Id="R97be7fe44fc349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02f3d1334149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60a259e2734f37" /><Relationship Type="http://schemas.openxmlformats.org/officeDocument/2006/relationships/notesMaster" Target="/ppt/notesMasters/notesMaster1.xml" Id="R666078aed61e43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101f2990f449c5" /><Relationship Type="http://schemas.openxmlformats.org/officeDocument/2006/relationships/notesMaster" Target="/ppt/notesMasters/notesMaster1.xml" Id="R0f9ab436062747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7c8eea10374f96" /><Relationship Type="http://schemas.openxmlformats.org/officeDocument/2006/relationships/notesMaster" Target="/ppt/notesMasters/notesMaster1.xml" Id="R644dc94253fd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cb9fe7dbc248fc" /><Relationship Type="http://schemas.openxmlformats.org/officeDocument/2006/relationships/notesMaster" Target="/ppt/notesMasters/notesMaster1.xml" Id="R1cd68f2021f044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cf5e378ce84fee" /><Relationship Type="http://schemas.openxmlformats.org/officeDocument/2006/relationships/notesMaster" Target="/ppt/notesMasters/notesMaster1.xml" Id="R34997e2e1bab4d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c76acf776c48fe" /><Relationship Type="http://schemas.openxmlformats.org/officeDocument/2006/relationships/notesMaster" Target="/ppt/notesMasters/notesMaster1.xml" Id="Re0d138e377a24d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c7654d516746a5" /><Relationship Type="http://schemas.openxmlformats.org/officeDocument/2006/relationships/notesMaster" Target="/ppt/notesMasters/notesMaster1.xml" Id="R5ab4d603f3cf49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52913115ac4ca7" /><Relationship Type="http://schemas.openxmlformats.org/officeDocument/2006/relationships/notesMaster" Target="/ppt/notesMasters/notesMaster1.xml" Id="R3e64d8e18d2c4c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feb9cbe33b47df" /><Relationship Type="http://schemas.openxmlformats.org/officeDocument/2006/relationships/notesMaster" Target="/ppt/notesMasters/notesMaster1.xml" Id="R298230ff90bd48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d91cdab1d24cb3" /><Relationship Type="http://schemas.openxmlformats.org/officeDocument/2006/relationships/notesMaster" Target="/ppt/notesMasters/notesMaster1.xml" Id="Rd7e8f49ecef549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538be4ce804a2e" /><Relationship Type="http://schemas.openxmlformats.org/officeDocument/2006/relationships/notesMaster" Target="/ppt/notesMasters/notesMaster1.xml" Id="Rbdb96b25fcef43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0e0b472a174878" /><Relationship Type="http://schemas.openxmlformats.org/officeDocument/2006/relationships/notesMaster" Target="/ppt/notesMasters/notesMaster1.xml" Id="Rf35d740fe68c40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开场问题：换kernel后，首先核对哪个路径？</a:t>
            </a:r>
          </a:p>
          <a:p xmlns:a="http://schemas.openxmlformats.org/drawingml/2006/main">
            <a:r>
              <a:t>原标题：先验证环境，再相信结果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封面图源：00_environment_check.ipynb / dataset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开场展示一个常见 import 错误。让学生现在就打印自己 kernel 的 sys.executable——这是本课程最常见的翻车点，输出因机器而异，关键是确认指向项目 .venv。</a:t>
            </a:r>
          </a:p>
          <a:p xmlns:a="http://schemas.openxmlformats.org/drawingml/2006/main">
            <a:r>
              <a:t>终端解释器 / Notebook kernel / 实际运行环境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逐项通过才能前进。键名 indian_pines_corrected/indian_pines_gt 写错时 loadmat 不报错而是 KeyError 或多一层列表——现场演示一次错误键名。</a:t>
            </a:r>
          </a:p>
          <a:p xmlns:a="http://schemas.openxmlformats.org/drawingml/2006/main">
            <a:r>
              <a:t>Python / ROOT / MAT keys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notebooks/ 子目录启动 kernel，预测 ROOT 是否变化。BOOT cell 的逻辑就是逐级向父母录检查 dataset 标志。</a:t>
            </a:r>
          </a:p>
          <a:p xmlns:a="http://schemas.openxmlformats.org/drawingml/2006/main">
            <a:r>
              <a:t>HSI-Learning / notebooks/ / dataset/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这张图来自已执行第0课，不是示意图。读出 shape、dtype、标签集合。</a:t>
            </a:r>
          </a:p>
          <a:p xmlns:a="http://schemas.openxmlformats.org/drawingml/2006/main">
            <a:r>
              <a:t>Cube / Ground truth / Data card</a:t>
            </a:r>
          </a:p>
          <a:p xmlns:a="http://schemas.openxmlformats.org/drawingml/2006/main">
            <a:r>
              <a:t>图源：00_environment_check.ipynb / dataset / 0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先用batch2手算，再改batch3；断言与输入共享BATCH_SIZE。</a:t>
            </a:r>
          </a:p>
          <a:p xmlns:a="http://schemas.openxmlformats.org/drawingml/2006/main">
            <a:r>
              <a:t>(2,12,9,9) / Classifier / (2,16)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强调训练包不仅是pth。让学生打开 results/teaching_ready 下的 run_config.json 核对这三个值——加载不兼容权重应当失败。</a:t>
            </a:r>
          </a:p>
          <a:p xmlns:a="http://schemas.openxmlformats.org/drawingml/2006/main">
            <a:r>
              <a:t>配置 + 权重 / 预处理 + split / 校验 + 推理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启动清单见classroom-guide。离线输出是执行记录，明确区分现场重新运行。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作业：A01；完整示例 / 填空 / 迁移；提交代码、配置、结果和限制。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退出题：换kernel后，首先核对哪个路径？</a:t>
            </a:r>
          </a:p>
          <a:p xmlns:a="http://schemas.openxmlformats.org/drawingml/2006/main">
            <a:r>
              <a:t>课堂入口: 00_environment_check.ipynb</a:t>
            </a:r>
          </a:p>
          <a:p xmlns:a="http://schemas.openxmlformats.org/drawingml/2006/main">
            <a:r>
              <a:t>定位: environment, dataset, forward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AI辅助：根据我提供的 sys.executable、异常堆栈和 requirements，列出可能原因及最小只读检查命令。不要安装、删除文件或猜测环境；证据不足标明待检查。</a:t>
            </a:r>
          </a:p>
          <a:p xmlns:a="http://schemas.openxmlformats.org/drawingml/2006/main">
            <a:r>
              <a:t>人工核验：逐条在当前kernel验证；不执行无法解释的安装/删除命令。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9a2653b75046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b78de2db145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59bbe4ecb48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1d5b0907d41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b3a5c96ee41a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de9b3e37d74c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D8DCBC-D85B-46CB-AE5B-2D6CDB3FCB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CAC8CB-FABF-4A80-B9F2-679BE21C3B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0E33350-0167-4727-B2A3-84C678613F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11B244-C4B9-4359-A8D0-E2ADAF25B7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1B4CB8E-77C6-4FDB-A276-B22E65777E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7EB7AC-AC8D-4DF4-9033-A2255DD52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8C494E-49E8-4CAC-8FFD-C446793219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9E664B5-CAC2-4B10-969A-9B0A4A435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DC0044-4F7C-4875-AD8E-4925E5DDE4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D2CE5E-1D9C-4A90-A2B6-518A9B1015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f5d5a559c24c57" /><Relationship Type="http://schemas.openxmlformats.org/officeDocument/2006/relationships/slideLayout" Target="/ppt/slideLayouts/slideLayout1.xml" Id="R65d88e0cef5546ff" /><Relationship Type="http://schemas.openxmlformats.org/officeDocument/2006/relationships/slideLayout" Target="/ppt/slideLayouts/slideLayout2.xml" Id="R0a23bd8652114fba" /><Relationship Type="http://schemas.openxmlformats.org/officeDocument/2006/relationships/slideLayout" Target="/ppt/slideLayouts/slideLayout3.xml" Id="R4a6af16f19a44ceb" /><Relationship Type="http://schemas.openxmlformats.org/officeDocument/2006/relationships/slideLayout" Target="/ppt/slideLayouts/slideLayout4.xml" Id="Re9813d5857b545a1" /><Relationship Type="http://schemas.openxmlformats.org/officeDocument/2006/relationships/slideLayout" Target="/ppt/slideLayouts/slideLayout5.xml" Id="R044bc2774a484594" /><Relationship Type="http://schemas.openxmlformats.org/officeDocument/2006/relationships/slideLayout" Target="/ppt/slideLayouts/slideLayout6.xml" Id="Rf17e5097903c45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d88e0cef5546ff"/>
    <p:sldLayoutId xmlns:r="http://schemas.openxmlformats.org/officeDocument/2006/relationships" id="2147483650" r:id="R0a23bd8652114fba"/>
    <p:sldLayoutId xmlns:r="http://schemas.openxmlformats.org/officeDocument/2006/relationships" id="2147483651" r:id="R4a6af16f19a44ceb"/>
    <p:sldLayoutId xmlns:r="http://schemas.openxmlformats.org/officeDocument/2006/relationships" id="2147483652" r:id="Re9813d5857b545a1"/>
    <p:sldLayoutId xmlns:r="http://schemas.openxmlformats.org/officeDocument/2006/relationships" id="2147483653" r:id="R044bc2774a484594"/>
    <p:sldLayoutId xmlns:r="http://schemas.openxmlformats.org/officeDocument/2006/relationships" id="2147483654" r:id="Rf17e5097903c45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348f9eca49424c" /><Relationship Type="http://schemas.openxmlformats.org/officeDocument/2006/relationships/image" Target="/ppt/media/image.png" Id="Rd0ab178a259749b4" /><Relationship Type="http://schemas.openxmlformats.org/officeDocument/2006/relationships/notesSlide" Target="/ppt/notesSlides/notesSlide1.xml" Id="R645d7da3d81440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19c63362b740ed" /><Relationship Type="http://schemas.openxmlformats.org/officeDocument/2006/relationships/notesSlide" Target="/ppt/notesSlides/notesSlide2.xml" Id="R16832e25fc3c44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8bc4b4da5646df" /><Relationship Type="http://schemas.openxmlformats.org/officeDocument/2006/relationships/notesSlide" Target="/ppt/notesSlides/notesSlide3.xml" Id="Ra3e29a43bdf1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57fe38750f489b" /><Relationship Type="http://schemas.openxmlformats.org/officeDocument/2006/relationships/notesSlide" Target="/ppt/notesSlides/notesSlide4.xml" Id="Rdaafcebda5c248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dff7b4997478e" /><Relationship Type="http://schemas.openxmlformats.org/officeDocument/2006/relationships/notesSlide" Target="/ppt/notesSlides/notesSlide5.xml" Id="Rb7533cc404904f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02808c253b4bed" /><Relationship Type="http://schemas.openxmlformats.org/officeDocument/2006/relationships/image" Target="/ppt/media/image2.png" Id="R10b780e56de14c69" /><Relationship Type="http://schemas.openxmlformats.org/officeDocument/2006/relationships/notesSlide" Target="/ppt/notesSlides/notesSlide6.xml" Id="R5e023a04596f42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a970fd287d46e3" /><Relationship Type="http://schemas.openxmlformats.org/officeDocument/2006/relationships/image" Target="/ppt/media/image3.png" Id="R9170ea7b598d4f6f" /><Relationship Type="http://schemas.openxmlformats.org/officeDocument/2006/relationships/notesSlide" Target="/ppt/notesSlides/notesSlide7.xml" Id="R9ed2780bd6bd47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29d7b05064924" /><Relationship Type="http://schemas.openxmlformats.org/officeDocument/2006/relationships/notesSlide" Target="/ppt/notesSlides/notesSlide8.xml" Id="R0f180bb0ada941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cc29de647143ff" /><Relationship Type="http://schemas.openxmlformats.org/officeDocument/2006/relationships/notesSlide" Target="/ppt/notesSlides/notesSlide9.xml" Id="R924b57312d0c41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bb2ca722254f27" /><Relationship Type="http://schemas.openxmlformats.org/officeDocument/2006/relationships/notesSlide" Target="/ppt/notesSlides/notesSlide10.xml" Id="R94de26fde6f54a4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8b529d73dd48a1" /><Relationship Type="http://schemas.openxmlformats.org/officeDocument/2006/relationships/notesSlide" Target="/ppt/notesSlides/notesSlide11.xml" Id="Ra37d949ee25143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1d139db76649a5" /><Relationship Type="http://schemas.openxmlformats.org/officeDocument/2006/relationships/notesSlide" Target="/ppt/notesSlides/notesSlide12.xml" Id="R634e20ad2bc347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97113AA2-AB44-42AA-B159-EAE8E3EF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CF5B9BF8-B733-4A99-B429-C3F8C7C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6C3A3-1AE1-4BDA-A8DA-9E0B571E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F2CE6-77FD-406D-A986-12EAD84E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环境与&#10;第一次前向">
            <a:extLst xmlns:a="http://schemas.openxmlformats.org/drawingml/2006/main">
              <a:ext uri="{FF2B5EF4-FFF2-40B4-BE49-F238E27FC236}">
                <a16:creationId xmlns:a16="http://schemas.microsoft.com/office/drawing/2014/main" id="{AE74FD28-DE2F-49B5-AD59-5602FA75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环境与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第一次前向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75F83-A7B6-4B24-8A16-C9DF0D9C9E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b178a259749b4"/>
          <a:stretch xmlns:a="http://schemas.openxmlformats.org/drawingml/2006/main"/>
        </p:blipFill>
        <p:spPr>
          <a:xfrm xmlns:a="http://schemas.openxmlformats.org/drawingml/2006/main">
            <a:off x="7913957" y="2076450"/>
            <a:ext cx="2269586" cy="2228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E96DF-3876-4754-823E-5EE5F973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Kernel / Path / Data / Forward">
            <a:extLst xmlns:a="http://schemas.openxmlformats.org/drawingml/2006/main">
              <a:ext uri="{FF2B5EF4-FFF2-40B4-BE49-F238E27FC236}">
                <a16:creationId xmlns:a16="http://schemas.microsoft.com/office/drawing/2014/main" id="{565B5C7F-3D6A-4B86-BBC5-BD5C04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Kernel / Path / Data / Forward</a:t>
            </a:r>
          </a:p>
        </p:txBody>
      </p:sp>
      <p:sp>
        <p:nvSpPr>
          <p:cNvPr id="9" name="先修  /  会运行 Python；不用先懂神经网络">
            <a:extLst xmlns:a="http://schemas.openxmlformats.org/drawingml/2006/main">
              <a:ext uri="{FF2B5EF4-FFF2-40B4-BE49-F238E27FC236}">
                <a16:creationId xmlns:a16="http://schemas.microsoft.com/office/drawing/2014/main" id="{69AF2B13-BF7E-40E7-972A-0C7D5B90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会运行 Python；不用先懂神经网络</a:t>
            </a:r>
          </a:p>
        </p:txBody>
      </p:sp>
    </p:spTree>
    <p:extLst>
      <p:ext uri="{BB962C8B-B14F-4D97-AF65-F5344CB8AC3E}">
        <p14:creationId xmlns:p14="http://schemas.microsoft.com/office/powerpoint/2010/main" val="7748793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96ADF4DC-8DDC-42DA-9AAE-CC34D090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93F0832E-00B3-4BF0-AADF-DCF83BBC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453F5EDE-8CE6-4169-B415-33FDD3C5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32E72-2A00-4657-933A-880B0551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3BCF63AD-74ED-4E35-9219-185599FB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环境版本报告">
            <a:extLst xmlns:a="http://schemas.openxmlformats.org/drawingml/2006/main">
              <a:ext uri="{FF2B5EF4-FFF2-40B4-BE49-F238E27FC236}">
                <a16:creationId xmlns:a16="http://schemas.microsoft.com/office/drawing/2014/main" id="{E617B56D-1C47-4C12-83E5-6189234D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环境版本报告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23535-03C3-49F6-AB64-3546728B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EC4F5233-E810-4020-A8AE-97709BBB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数据与标签检查">
            <a:extLst xmlns:a="http://schemas.openxmlformats.org/drawingml/2006/main">
              <a:ext uri="{FF2B5EF4-FFF2-40B4-BE49-F238E27FC236}">
                <a16:creationId xmlns:a16="http://schemas.microsoft.com/office/drawing/2014/main" id="{362A6F00-230E-4D47-8FB7-34B3A9A5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数据与标签检查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9EAF6-0B17-467E-B5D5-8C20BB50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720EB767-7C0E-44A0-A79B-A973D83A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一次前向 shape 断言">
            <a:extLst xmlns:a="http://schemas.openxmlformats.org/drawingml/2006/main">
              <a:ext uri="{FF2B5EF4-FFF2-40B4-BE49-F238E27FC236}">
                <a16:creationId xmlns:a16="http://schemas.microsoft.com/office/drawing/2014/main" id="{2CC2EC4D-8E92-4FBB-8CE5-216F5D78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一次前向 shape 断言</a:t>
            </a:r>
          </a:p>
        </p:txBody>
      </p:sp>
    </p:spTree>
    <p:extLst>
      <p:ext uri="{BB962C8B-B14F-4D97-AF65-F5344CB8AC3E}">
        <p14:creationId xmlns:p14="http://schemas.microsoft.com/office/powerpoint/2010/main" val="1920192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17B3CB93-4F5C-40EA-BB66-7B5B251E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269AFCA4-0F6E-48B5-AEFC-A3C55AE1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pip 安装成功，为什么仍然 import 失败？">
            <a:extLst xmlns:a="http://schemas.openxmlformats.org/drawingml/2006/main">
              <a:ext uri="{FF2B5EF4-FFF2-40B4-BE49-F238E27FC236}">
                <a16:creationId xmlns:a16="http://schemas.microsoft.com/office/drawing/2014/main" id="{C71872A7-8745-41F8-8B13-298FA1B4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pip 安装成功，为什么仍然 import 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51FC8-216A-4BFD-BC37-58AC4728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A6B056A9-4056-4A33-84BE-8E4B07DB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终端 python 与 notebook kernel 常不">
            <a:extLst xmlns:a="http://schemas.openxmlformats.org/drawingml/2006/main">
              <a:ext uri="{FF2B5EF4-FFF2-40B4-BE49-F238E27FC236}">
                <a16:creationId xmlns:a16="http://schemas.microsoft.com/office/drawing/2014/main" id="{AE675F2E-14F6-4764-A116-E88474B7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终端 python 与 notebook kernel 常不是同一个环境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2B37A504-F472-4C8C-ABC7-2E17F8E3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先打印 sys.executable，再谈依赖">
            <a:extLst xmlns:a="http://schemas.openxmlformats.org/drawingml/2006/main">
              <a:ext uri="{FF2B5EF4-FFF2-40B4-BE49-F238E27FC236}">
                <a16:creationId xmlns:a16="http://schemas.microsoft.com/office/drawing/2014/main" id="{5FFC8568-FF1F-4BED-A4FE-0B90E9A3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先打印 sys.executable，再谈依赖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F3B2AD34-DA2C-4C5C-BC65-CF8B0FB9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环境路径以当前kernel实际输出为准">
            <a:extLst xmlns:a="http://schemas.openxmlformats.org/drawingml/2006/main">
              <a:ext uri="{FF2B5EF4-FFF2-40B4-BE49-F238E27FC236}">
                <a16:creationId xmlns:a16="http://schemas.microsoft.com/office/drawing/2014/main" id="{B7FA6124-ECD9-49C0-8FE9-EF438EDF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环境路径以当前kernel实际输出为准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6E886-F46B-4B8B-864A-3CC6DA82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import sys; print(sys.exec">
            <a:extLst xmlns:a="http://schemas.openxmlformats.org/drawingml/2006/main">
              <a:ext uri="{FF2B5EF4-FFF2-40B4-BE49-F238E27FC236}">
                <a16:creationId xmlns:a16="http://schemas.microsoft.com/office/drawing/2014/main" id="{596140E8-6C28-470E-91BA-BAA8699C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import sys; print(sys.executable)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&lt;项目&gt;\.venv\Scripts\python.exe</a:t>
            </a:r>
          </a:p>
        </p:txBody>
      </p:sp>
    </p:spTree>
    <p:extLst>
      <p:ext uri="{BB962C8B-B14F-4D97-AF65-F5344CB8AC3E}">
        <p14:creationId xmlns:p14="http://schemas.microsoft.com/office/powerpoint/2010/main" val="3377358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3FA242BA-75E5-43FD-A6B4-0F189364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0BF57D73-7CFB-4445-AF80-0D63CD32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一次成功，分四层验证">
            <a:extLst xmlns:a="http://schemas.openxmlformats.org/drawingml/2006/main">
              <a:ext uri="{FF2B5EF4-FFF2-40B4-BE49-F238E27FC236}">
                <a16:creationId xmlns:a16="http://schemas.microsoft.com/office/drawing/2014/main" id="{4F963DC5-D724-41F0-8C5E-94525F56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一次成功，分四层验证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56753-9B0E-41E8-AA90-4B46F2E5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C3A1E2E3-09BD-4A13-A56A-F0B2241D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数据存在 ≠ 键名正确">
            <a:extLst xmlns:a="http://schemas.openxmlformats.org/drawingml/2006/main">
              <a:ext uri="{FF2B5EF4-FFF2-40B4-BE49-F238E27FC236}">
                <a16:creationId xmlns:a16="http://schemas.microsoft.com/office/drawing/2014/main" id="{9E09FCA6-7AC5-4C9D-8D36-28C0836E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数据存在 ≠ 键名正确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02C53A82-9A86-4E1B-8BB1-65AB5038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前向跑通 ≠ 模型有效">
            <a:extLst xmlns:a="http://schemas.openxmlformats.org/drawingml/2006/main">
              <a:ext uri="{FF2B5EF4-FFF2-40B4-BE49-F238E27FC236}">
                <a16:creationId xmlns:a16="http://schemas.microsoft.com/office/drawing/2014/main" id="{7E66D1C9-2794-4F50-8E67-BD56DB2F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前向跑通 ≠ 模型有效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84A3FABC-F129-42C4-B5E5-0D77F31D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四层各有断言，不靠感觉">
            <a:extLst xmlns:a="http://schemas.openxmlformats.org/drawingml/2006/main">
              <a:ext uri="{FF2B5EF4-FFF2-40B4-BE49-F238E27FC236}">
                <a16:creationId xmlns:a16="http://schemas.microsoft.com/office/drawing/2014/main" id="{D0850180-DB33-47BF-B1DC-7A00CB95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四层各有断言，不靠感觉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4807D-3E84-4C27-B2A0-286AF1EB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cube.shape, gt.shape&#10;((145">
            <a:extLst xmlns:a="http://schemas.openxmlformats.org/drawingml/2006/main">
              <a:ext uri="{FF2B5EF4-FFF2-40B4-BE49-F238E27FC236}">
                <a16:creationId xmlns:a16="http://schemas.microsoft.com/office/drawing/2014/main" id="{9FD1091E-9821-4180-A641-DC1B16ED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cube.shape, gt.shape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((145, 145, 200), (145, 145))</a:t>
            </a:r>
          </a:p>
        </p:txBody>
      </p:sp>
    </p:spTree>
    <p:extLst>
      <p:ext uri="{BB962C8B-B14F-4D97-AF65-F5344CB8AC3E}">
        <p14:creationId xmlns:p14="http://schemas.microsoft.com/office/powerpoint/2010/main" val="6785796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AE9EBB37-142C-474F-8FCD-F1E4AA9C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465358B7-22D8-4118-A7EF-6145C9AB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项目根目录不是个人绝对路径">
            <a:extLst xmlns:a="http://schemas.openxmlformats.org/drawingml/2006/main">
              <a:ext uri="{FF2B5EF4-FFF2-40B4-BE49-F238E27FC236}">
                <a16:creationId xmlns:a16="http://schemas.microsoft.com/office/drawing/2014/main" id="{AE429F2B-0F7D-4079-BF2A-67ABB694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项目根目录不是个人绝对路径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417AE-5905-4B3A-9602-2F4EAE0D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32933123-D529-4AD4-B56D-2E13CEE6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BOOT cell 从当前目录向父目录找 dataset/">
            <a:extLst xmlns:a="http://schemas.openxmlformats.org/drawingml/2006/main">
              <a:ext uri="{FF2B5EF4-FFF2-40B4-BE49-F238E27FC236}">
                <a16:creationId xmlns:a16="http://schemas.microsoft.com/office/drawing/2014/main" id="{F462C4FE-EE0A-4094-9E90-AE4EF853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BOOT cell 从当前目录向父目录找 dataset/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02E57E0A-F630-42AB-8519-BA04180E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从根目录或 notebooks/ 启动都应成功">
            <a:extLst xmlns:a="http://schemas.openxmlformats.org/drawingml/2006/main">
              <a:ext uri="{FF2B5EF4-FFF2-40B4-BE49-F238E27FC236}">
                <a16:creationId xmlns:a16="http://schemas.microsoft.com/office/drawing/2014/main" id="{5BA9F57D-85EC-4C67-90E9-CBB38610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从根目录或 notebooks/ 启动都应成功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ECC0E730-E489-4007-BE47-95998F0C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个人 D 盘路径不进教材">
            <a:extLst xmlns:a="http://schemas.openxmlformats.org/drawingml/2006/main">
              <a:ext uri="{FF2B5EF4-FFF2-40B4-BE49-F238E27FC236}">
                <a16:creationId xmlns:a16="http://schemas.microsoft.com/office/drawing/2014/main" id="{AF977FA1-B2A3-4788-8EDA-43A78EDD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个人 D 盘路径不进教材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EB78B-E58B-42E4-9FE7-D828F551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(Path.cwd() / &quot;dataset&quot;).e">
            <a:extLst xmlns:a="http://schemas.openxmlformats.org/drawingml/2006/main">
              <a:ext uri="{FF2B5EF4-FFF2-40B4-BE49-F238E27FC236}">
                <a16:creationId xmlns:a16="http://schemas.microsoft.com/office/drawing/2014/main" id="{72E2B36B-3756-4B53-9F4B-8B8B2506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(Path.cwd() / "dataset").exists()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False  # 从 notebooks/ 启动时</a:t>
            </a:r>
          </a:p>
        </p:txBody>
      </p:sp>
    </p:spTree>
    <p:extLst>
      <p:ext uri="{BB962C8B-B14F-4D97-AF65-F5344CB8AC3E}">
        <p14:creationId xmlns:p14="http://schemas.microsoft.com/office/powerpoint/2010/main" val="265608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5CC6F542-404B-4115-AF1F-DD157441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D4566E15-7085-4FE6-A967-B5C3DF4B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先检查数据，暂时不训练">
            <a:extLst xmlns:a="http://schemas.openxmlformats.org/drawingml/2006/main">
              <a:ext uri="{FF2B5EF4-FFF2-40B4-BE49-F238E27FC236}">
                <a16:creationId xmlns:a16="http://schemas.microsoft.com/office/drawing/2014/main" id="{3366A3D1-7B34-4D09-8D1C-5BC9058F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先检查数据，暂时不训练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FF7E2-8052-4EBF-BAEA-F4CDA955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AD662-BC82-48B0-ADBE-2522F2FEDB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b780e56de14c69"/>
          <a:stretch xmlns:a="http://schemas.openxmlformats.org/drawingml/2006/main"/>
        </p:blipFill>
        <p:spPr>
          <a:xfrm xmlns:a="http://schemas.openxmlformats.org/drawingml/2006/main">
            <a:off x="4107687" y="2019300"/>
            <a:ext cx="3976625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50BF0-C544-4962-8F43-8BAC2CD4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cube 与 GT 的空间尺寸相同">
            <a:extLst xmlns:a="http://schemas.openxmlformats.org/drawingml/2006/main">
              <a:ext uri="{FF2B5EF4-FFF2-40B4-BE49-F238E27FC236}">
                <a16:creationId xmlns:a16="http://schemas.microsoft.com/office/drawing/2014/main" id="{6DC61DDC-B529-4654-A042-BDD16447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cube 与 GT 的空间尺寸相同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EAE13-1050-4B94-87BB-6887EA12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0 表示未标注，不是无观测">
            <a:extLst xmlns:a="http://schemas.openxmlformats.org/drawingml/2006/main">
              <a:ext uri="{FF2B5EF4-FFF2-40B4-BE49-F238E27FC236}">
                <a16:creationId xmlns:a16="http://schemas.microsoft.com/office/drawing/2014/main" id="{1B17C8F2-A007-4480-9EFF-214AE110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0 表示未标注，不是无观测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3A13AD-A879-4EA9-8596-DC32FA8D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保存数据版本与核验记录">
            <a:extLst xmlns:a="http://schemas.openxmlformats.org/drawingml/2006/main">
              <a:ext uri="{FF2B5EF4-FFF2-40B4-BE49-F238E27FC236}">
                <a16:creationId xmlns:a16="http://schemas.microsoft.com/office/drawing/2014/main" id="{EC0DAA43-3FE7-40C2-A9B7-66B67B91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保存数据版本与核验记录</a:t>
            </a:r>
          </a:p>
        </p:txBody>
      </p:sp>
    </p:spTree>
    <p:extLst>
      <p:ext uri="{BB962C8B-B14F-4D97-AF65-F5344CB8AC3E}">
        <p14:creationId xmlns:p14="http://schemas.microsoft.com/office/powerpoint/2010/main" val="18392408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2D8D8A81-13F9-4C50-A123-49DEEBF6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8CAF5C9A-FC3B-4C64-8D92-4B9FF881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手算一个分类头输出">
            <a:extLst xmlns:a="http://schemas.openxmlformats.org/drawingml/2006/main">
              <a:ext uri="{FF2B5EF4-FFF2-40B4-BE49-F238E27FC236}">
                <a16:creationId xmlns:a16="http://schemas.microsoft.com/office/drawing/2014/main" id="{1EAA7AA8-8E88-4777-AB7B-1135A820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手算一个分类头输出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AD4F0-CBF8-45E3-9EF9-33317A9B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输入 batch 为 2">
            <a:extLst xmlns:a="http://schemas.openxmlformats.org/drawingml/2006/main">
              <a:ext uri="{FF2B5EF4-FFF2-40B4-BE49-F238E27FC236}">
                <a16:creationId xmlns:a16="http://schemas.microsoft.com/office/drawing/2014/main" id="{85C4924F-AF86-4C38-8112-0B924F50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输入 batch 为 2</a:t>
            </a:r>
          </a:p>
        </p:txBody>
      </p:sp>
      <p:sp>
        <p:nvSpPr>
          <p:cNvPr id="6" name="已知类别数为 16">
            <a:extLst xmlns:a="http://schemas.openxmlformats.org/drawingml/2006/main">
              <a:ext uri="{FF2B5EF4-FFF2-40B4-BE49-F238E27FC236}">
                <a16:creationId xmlns:a16="http://schemas.microsoft.com/office/drawing/2014/main" id="{73776FB1-A186-4E5E-94EB-1889CD72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已知类别数为 16</a:t>
            </a:r>
          </a:p>
        </p:txBody>
      </p:sp>
      <p:sp>
        <p:nvSpPr>
          <p:cNvPr id="7" name="输出包含 32 个 logits">
            <a:extLst xmlns:a="http://schemas.openxmlformats.org/drawingml/2006/main">
              <a:ext uri="{FF2B5EF4-FFF2-40B4-BE49-F238E27FC236}">
                <a16:creationId xmlns:a16="http://schemas.microsoft.com/office/drawing/2014/main" id="{4980877B-6B3B-4667-B4C4-E771F426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输出包含 32 个 logits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F549A-B3A2-4AEA-B06A-1BB3979644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0ea7b598d4f6f"/>
          <a:stretch xmlns:a="http://schemas.openxmlformats.org/drawingml/2006/main"/>
        </p:blipFill>
        <p:spPr>
          <a:xfrm xmlns:a="http://schemas.openxmlformats.org/drawingml/2006/main">
            <a:off x="6096000" y="3148953"/>
            <a:ext cx="5410200" cy="47436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2A7EA-836E-41FD-9341-9C0B1260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model(torch.zeros(2,12,9,9">
            <a:extLst xmlns:a="http://schemas.openxmlformats.org/drawingml/2006/main">
              <a:ext uri="{FF2B5EF4-FFF2-40B4-BE49-F238E27FC236}">
                <a16:creationId xmlns:a16="http://schemas.microsoft.com/office/drawing/2014/main" id="{37966F55-D946-457A-B2C6-CC219215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model(torch.zeros(2,12,9,9)).shape</a:t>
            </a:r>
          </a:p>
        </p:txBody>
      </p:sp>
      <p:sp>
        <p:nvSpPr>
          <p:cNvPr id="11" name="torch.Size([2,16])">
            <a:extLst xmlns:a="http://schemas.openxmlformats.org/drawingml/2006/main">
              <a:ext uri="{FF2B5EF4-FFF2-40B4-BE49-F238E27FC236}">
                <a16:creationId xmlns:a16="http://schemas.microsoft.com/office/drawing/2014/main" id="{0C51BA6E-3C8E-46DC-842F-A04D1643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torch.Size([2,16])</a:t>
            </a:r>
          </a:p>
        </p:txBody>
      </p:sp>
    </p:spTree>
    <p:extLst>
      <p:ext uri="{BB962C8B-B14F-4D97-AF65-F5344CB8AC3E}">
        <p14:creationId xmlns:p14="http://schemas.microsoft.com/office/powerpoint/2010/main" val="12431306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D7530AA3-B3A1-4C75-8A7A-3E40AC9A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F453283C-F613-472D-9CF8-FDC1182D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demo 与 train 是两种承诺">
            <a:extLst xmlns:a="http://schemas.openxmlformats.org/drawingml/2006/main">
              <a:ext uri="{FF2B5EF4-FFF2-40B4-BE49-F238E27FC236}">
                <a16:creationId xmlns:a16="http://schemas.microsoft.com/office/drawing/2014/main" id="{1C830214-CFE6-43C9-9D0B-9A162066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demo 与 train 是两种承诺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FF0A1-C7C7-4049-B707-2F77212D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7FBC93FB-CA5F-4422-BA23-6122CCBD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演示包不止权重：PCA/scaler/split/阈值">
            <a:extLst xmlns:a="http://schemas.openxmlformats.org/drawingml/2006/main">
              <a:ext uri="{FF2B5EF4-FFF2-40B4-BE49-F238E27FC236}">
                <a16:creationId xmlns:a16="http://schemas.microsoft.com/office/drawing/2014/main" id="{84EEF219-AB74-48DD-9F38-7F88AEA5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演示包不止权重：PCA/scaler/split/阈值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04A15CF9-055F-46DE-BE60-A87D09EA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加载时校验 SHA256 与配置匹配">
            <a:extLst xmlns:a="http://schemas.openxmlformats.org/drawingml/2006/main">
              <a:ext uri="{FF2B5EF4-FFF2-40B4-BE49-F238E27FC236}">
                <a16:creationId xmlns:a16="http://schemas.microsoft.com/office/drawing/2014/main" id="{55DC5CAC-8F2C-4E0D-A0B8-DA87B40D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加载时校验 SHA256 与配置匹配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A16E3C52-2791-4B0E-9A04-65B98161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缺资产就明示，不偷偷训练">
            <a:extLst xmlns:a="http://schemas.openxmlformats.org/drawingml/2006/main">
              <a:ext uri="{FF2B5EF4-FFF2-40B4-BE49-F238E27FC236}">
                <a16:creationId xmlns:a16="http://schemas.microsoft.com/office/drawing/2014/main" id="{C40B95B3-258D-4E05-92AB-F84D580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缺资产就明示，不偷偷训练</a:t>
            </a:r>
          </a:p>
        </p:txBody>
      </p:sp>
    </p:spTree>
    <p:extLst>
      <p:ext uri="{BB962C8B-B14F-4D97-AF65-F5344CB8AC3E}">
        <p14:creationId xmlns:p14="http://schemas.microsoft.com/office/powerpoint/2010/main" val="13420784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19CB226F-A4D4-463B-84F1-8B55E863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2D5EA74D-05AC-4E92-81D8-DDE3983F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课前资产与现场备用">
            <a:extLst xmlns:a="http://schemas.openxmlformats.org/drawingml/2006/main">
              <a:ext uri="{FF2B5EF4-FFF2-40B4-BE49-F238E27FC236}">
                <a16:creationId xmlns:a16="http://schemas.microsoft.com/office/drawing/2014/main" id="{DA7CD561-9440-48CA-BF44-3285383A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课前资产与现场备用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151C8-80B0-4352-8124-4FCE57AB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CE2EAD0B-2B78-4606-9A12-DBA29C9D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运行准备脚本，再验证四个模型包">
            <a:extLst xmlns:a="http://schemas.openxmlformats.org/drawingml/2006/main">
              <a:ext uri="{FF2B5EF4-FFF2-40B4-BE49-F238E27FC236}">
                <a16:creationId xmlns:a16="http://schemas.microsoft.com/office/drawing/2014/main" id="{12745DB5-A7F9-4E2A-BE33-F1771258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运行准备脚本，再验证四个模型包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7FCA9556-4883-4EE3-9B5B-7DEBE755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现场不启动完整训练">
            <a:extLst xmlns:a="http://schemas.openxmlformats.org/drawingml/2006/main">
              <a:ext uri="{FF2B5EF4-FFF2-40B4-BE49-F238E27FC236}">
                <a16:creationId xmlns:a16="http://schemas.microsoft.com/office/drawing/2014/main" id="{4580FA74-B043-4AAA-85CA-7ACACFD7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现场不启动完整训练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3F1CB935-7335-4309-AF5E-6D090E6B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网络断开时可读已执行Notebook输出">
            <a:extLst xmlns:a="http://schemas.openxmlformats.org/drawingml/2006/main">
              <a:ext uri="{FF2B5EF4-FFF2-40B4-BE49-F238E27FC236}">
                <a16:creationId xmlns:a16="http://schemas.microsoft.com/office/drawing/2014/main" id="{6E6E374A-54E9-44F2-A02C-65AA3196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网络断开时可读已执行Notebook输出</a:t>
            </a:r>
          </a:p>
        </p:txBody>
      </p:sp>
    </p:spTree>
    <p:extLst>
      <p:ext uri="{BB962C8B-B14F-4D97-AF65-F5344CB8AC3E}">
        <p14:creationId xmlns:p14="http://schemas.microsoft.com/office/powerpoint/2010/main" val="15556581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2C5BE4EE-9B28-49DF-A8A2-CFCE989E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531E6317-5B26-4326-9D1F-F58D6481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9259011B-4053-4482-804B-E548C8C9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A60CC-6C56-4DF2-A63B-C4420E68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E378C-729A-46F0-9E42-E3E50B38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print(sys.executable)&#10;cube, gt">
            <a:extLst xmlns:a="http://schemas.openxmlformats.org/drawingml/2006/main">
              <a:ext uri="{FF2B5EF4-FFF2-40B4-BE49-F238E27FC236}">
                <a16:creationId xmlns:a16="http://schemas.microsoft.com/office/drawing/2014/main" id="{3BAC5229-B852-4107-AFEF-D619E36B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print(sys.executable)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cube, gt, names = load_hsi_dataset("IP", ROOT/"dataset")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cube.shape[:2] == gt.shape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logits.shape == (2, len(names))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FBCB8DCD-3589-49F5-80D1-6A4F10DA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20564154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687C7ACA-7761-4741-8E4D-F40A18FA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36210640-A219-47B6-8A8C-CC73D6FD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DFF1C7ED-2CD9-462E-9D89-DE6D1D70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A81AF-4ACF-4188-85DA-B74BC980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621FB671-1D91-4B67-88C8-6EA6DF14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把 batch 从2改成3，先写出预期形状，再运行断言。">
            <a:extLst xmlns:a="http://schemas.openxmlformats.org/drawingml/2006/main">
              <a:ext uri="{FF2B5EF4-FFF2-40B4-BE49-F238E27FC236}">
                <a16:creationId xmlns:a16="http://schemas.microsoft.com/office/drawing/2014/main" id="{4C742B6C-5588-4B2C-A1FA-9A14757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把 batch 从2改成3，先写出预期形状，再运行断言。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44CA4-1CDD-4A1D-805A-689309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C4AED949-FBA9-4C1C-8A0C-84EDA64B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换kernel后，首先核对哪个路径？">
            <a:extLst xmlns:a="http://schemas.openxmlformats.org/drawingml/2006/main">
              <a:ext uri="{FF2B5EF4-FFF2-40B4-BE49-F238E27FC236}">
                <a16:creationId xmlns:a16="http://schemas.microsoft.com/office/drawing/2014/main" id="{313BD98F-5157-4E27-997A-84C3E57E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换kernel后，首先核对哪个路径？</a:t>
            </a:r>
          </a:p>
        </p:txBody>
      </p:sp>
    </p:spTree>
    <p:extLst>
      <p:ext uri="{BB962C8B-B14F-4D97-AF65-F5344CB8AC3E}">
        <p14:creationId xmlns:p14="http://schemas.microsoft.com/office/powerpoint/2010/main" val="10260851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0  /  HSI LEARNING">
            <a:extLst xmlns:a="http://schemas.openxmlformats.org/drawingml/2006/main">
              <a:ext uri="{FF2B5EF4-FFF2-40B4-BE49-F238E27FC236}">
                <a16:creationId xmlns:a16="http://schemas.microsoft.com/office/drawing/2014/main" id="{E97D5DDE-6F99-4FEF-8CFC-1D110C22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L00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696FF9F8-E556-437C-89D8-0FEAA9D1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C3F0CB1D-CFA0-4291-8660-F1A8F105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488B1-44EF-46DB-971E-61B98668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C13111B3-D9CB-4436-9965-55CEBFE2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前向成功 ≠ 训练有效">
            <a:extLst xmlns:a="http://schemas.openxmlformats.org/drawingml/2006/main">
              <a:ext uri="{FF2B5EF4-FFF2-40B4-BE49-F238E27FC236}">
                <a16:creationId xmlns:a16="http://schemas.microsoft.com/office/drawing/2014/main" id="{82F29587-4FD7-4D83-B2D3-092ACB87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前向成功 ≠ 训练有效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357B3-F4D2-4D51-AB39-ACF51966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5D4409F4-B995-4E12-95FB-3B628C44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本机验证 ≠ 所有平台保证">
            <a:extLst xmlns:a="http://schemas.openxmlformats.org/drawingml/2006/main">
              <a:ext uri="{FF2B5EF4-FFF2-40B4-BE49-F238E27FC236}">
                <a16:creationId xmlns:a16="http://schemas.microsoft.com/office/drawing/2014/main" id="{68507217-B068-4F0D-ACC9-A77DA689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本机验证 ≠ 所有平台保证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ED5090AB-D15F-4153-AA79-92A253AC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3819918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2026-10-09T03:34:04.4540000Z</dcterms:created>
  <dcterms:modified xsi:type="dcterms:W3CDTF">2026-10-09T03:34:04.4540000Z</dcterms:modified>
</coreProperties>
</file>