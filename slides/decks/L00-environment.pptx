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82688725-2ce1-b081-2ce0-27c74d399880}">
          <p14:sldIdLst>
            <p14:sldId id="256"/>
            <p14:sldId id="257"/>
          </p14:sldIdLst>
        </p14:section>
        <p14:section name="讲解" id="{03d4eb3c-bc56-cc8b-a236-cbf7f80717b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练习" id="{9f2b112b-40ed-8f15-8869-6803c2dfb396}">
          <p14:sldIdLst>
            <p14:sldId id="265"/>
            <p14:sldId id="266"/>
          </p14:sldIdLst>
        </p14:section>
        <p14:section name="收束" id="{50a9ca1b-1c46-49d3-792f-cc90c5179ba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开场问题：换kernel后，首先核对哪个路径？
原标题：先验证环境，再相信结果
参考节奏：5分钟回顾，10分钟手算，10分钟代码，12分钟练习，5分钟错误分析，3分钟退出题。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
封面图源：00_environment_check.ipynb / dataset /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交付物以代码、配置、输出和解释为准。先做完整示例，再做填空与迁移任务。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开场展示一个常见 import 错误。让学生现在就打印自己 kernel 的 sys.executable——这是本课程最常见的翻车点，输出因机器而异，关键是确认指向项目 .venv。
终端解释器 / Notebook kernel / 实际运行环境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逐项通过才能前进。键名 indian_pines_corrected/indian_pines_gt 写错时 loadmat 不报错而是 KeyError 或多一层列表——现场演示一次错误键名。
Python / ROOT / MAT keys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现场从 notebooks/ 子目录启动 kernel，预测 ROOT 是否变化。BOOT cell 的逻辑就是逐级向父母录检查 dataset 标志。
HSI-Learning / notebooks/ / dataset/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这张图来自已执行第0课，不是示意图。读出 shape、dtype、标签集合。
Cube / Ground truth / Data card
图源：00_environment_check.ipynb / dataset / 0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先用batch2手算，再改batch3；断言与输入共享BATCH_SIZE。
(2,12,9,9) / Classifier / (2,16)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强调训练包不仅是pth。让学生打开 results/teaching_ready 下的 run_config.json 核对这三个值——加载不兼容权重应当失败。
配置 + 权重 / 预处理 + split / 校验 + 推理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启动清单见classroom-guide。离线输出是执行记录，明确区分现场重新运行。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只运行指定短cell；完整训练已在课前完成。缺资产时使用已执行输出备用并说明。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停下来收集预测，发现错误后重新解释；不等到课后作业才知道学生没理解。
作业：A01；完整示例 / 填空 / 迁移；提交代码、配置、结果和限制。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区分已观察事实、候选解释与下一项检验。
退出题：换kernel后，首先核对哪个路径？
课堂入口: 00_environment_check.ipynb
定位: environment, dataset, forward
先预测，再运行；答错时回到手算例。
AI辅助：根据我提供的 sys.executable、异常堆栈和 requirements，列出可能原因及最小只读检查命令。不要安装、删除文件或猜测环境；证据不足标明待检查。
人工核验：逐条在当前kernel验证；不执行无法解释的安装/删除命令。
PyTorch documentation
https://docs.pytorch.org/docs/stable/index.html
EHU: Hyperspectral Remote Sensing Scenes
https://www.ehu.eus/ccwintco/index.php/Hyperspectral_Remote_Sensing_Scenes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5440680"/>
            <a:ext cx="12191695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2F5BB7"/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</a:t>
            </a:r>
            <a:endParaRPr lang="en-US" sz="5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第一次前向</a:t>
            </a:r>
            <a:endParaRPr lang="en-US" sz="5000" dirty="0"/>
          </a:p>
        </p:txBody>
      </p:sp>
      <p:sp>
        <p:nvSpPr>
          <p:cNvPr id="3" name="lesson id"/>
          <p:cNvSpPr/>
          <p:nvPr/>
        </p:nvSpPr>
        <p:spPr>
          <a:xfrm>
            <a:off x="685800" y="1243584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2F5B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4358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30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本课问题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先验证环境，再相信结果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/ Path / Data / Forward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45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  ·  会运行 Python；不用先懂神经网络</a:t>
            </a:r>
            <a:endParaRPr lang="en-US" sz="1300" dirty="0"/>
          </a:p>
        </p:txBody>
      </p:sp>
      <p:sp>
        <p:nvSpPr>
          <p:cNvPr id="8" name="hero frame"/>
          <p:cNvSpPr/>
          <p:nvPr/>
        </p:nvSpPr>
        <p:spPr>
          <a:xfrm>
            <a:off x="7409383" y="1188720"/>
            <a:ext cx="409651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ove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537" y="1389888"/>
            <a:ext cx="3268204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这节课，你将完成什么</a:t>
            </a:r>
            <a:endParaRPr lang="en-US" sz="3000" dirty="0"/>
          </a:p>
        </p:txBody>
      </p:sp>
      <p:sp>
        <p:nvSpPr>
          <p:cNvPr id="3" name="deliverable 1"/>
          <p:cNvSpPr/>
          <p:nvPr/>
        </p:nvSpPr>
        <p:spPr>
          <a:xfrm>
            <a:off x="685800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环境版本报告</a:t>
            </a:r>
            <a:endParaRPr lang="en-US" sz="2200" dirty="0"/>
          </a:p>
        </p:txBody>
      </p:sp>
      <p:sp>
        <p:nvSpPr>
          <p:cNvPr id="7" name="deliverable 2"/>
          <p:cNvSpPr/>
          <p:nvPr/>
        </p:nvSpPr>
        <p:spPr>
          <a:xfrm>
            <a:off x="4383938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数据与标签检查</a:t>
            </a:r>
            <a:endParaRPr lang="en-US" sz="2200" dirty="0"/>
          </a:p>
        </p:txBody>
      </p:sp>
      <p:sp>
        <p:nvSpPr>
          <p:cNvPr id="11" name="deliverable 3"/>
          <p:cNvSpPr/>
          <p:nvPr/>
        </p:nvSpPr>
        <p:spPr>
          <a:xfrm>
            <a:off x="8082077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一次前向 shape 断言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2009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00_environment_check.ipynb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environment · dataset · forward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82077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82077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A01 · 完整示例 / 填空 / 迁移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安装成功，为什么仍然 import 失败？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python 与 notebook kernel 常不是同一个环境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先打印 sys.executable，再谈依赖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环境路径以当前kernel实际输出为准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3154680"/>
          </a:xfrm>
          <a:prstGeom prst="roundRect">
            <a:avLst>
              <a:gd name="adj" fmla="val 2899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01752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92608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终端解释器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370332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 kernel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448056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实际运行环境</a:t>
            </a:r>
            <a:endParaRPr lang="en-US" sz="1600" dirty="0"/>
          </a:p>
        </p:txBody>
      </p:sp>
      <p:sp>
        <p:nvSpPr>
          <p:cNvPr id="21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import sys; print(sys.executable)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&lt;项目&gt;\.venv\Scripts\python.exe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一次成功，分四层验证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数据存在 ≠ 键名正确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前向跑通 ≠ 模型有效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四层各有断言，不靠感觉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3154680"/>
          </a:xfrm>
          <a:prstGeom prst="roundRect">
            <a:avLst>
              <a:gd name="adj" fmla="val 2899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01752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92608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370332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448056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 keys</a:t>
            </a:r>
            <a:endParaRPr lang="en-US" sz="1600" dirty="0"/>
          </a:p>
        </p:txBody>
      </p:sp>
      <p:sp>
        <p:nvSpPr>
          <p:cNvPr id="21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cube.shape, gt.shape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((145, 145, 200), (145, 145))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项目根目录不是个人绝对路径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 cell 从当前目录向父目录找 dataset/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从根目录或 notebooks/ 启动都应成功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D 盘路径不进教材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3154680"/>
          </a:xfrm>
          <a:prstGeom prst="roundRect">
            <a:avLst>
              <a:gd name="adj" fmla="val 2899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01752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92608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370332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notebooks/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448056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dataset/</a:t>
            </a:r>
            <a:endParaRPr lang="en-US" sz="1600" dirty="0"/>
          </a:p>
        </p:txBody>
      </p:sp>
      <p:sp>
        <p:nvSpPr>
          <p:cNvPr id="21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(Path.cwd() / "dataset").exists()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False  # 从 notebooks/ 启动时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先检查数据，暂时不训练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6720840" cy="4480560"/>
          </a:xfrm>
          <a:prstGeom prst="roundRect">
            <a:avLst>
              <a:gd name="adj" fmla="val 1633"/>
            </a:avLst>
          </a:prstGeom>
          <a:solidFill>
            <a:srgbClr val="F2F5F9"/>
          </a:solidFill>
          <a:ln/>
        </p:spPr>
      </p:sp>
      <p:pic>
        <p:nvPicPr>
          <p:cNvPr id="4" name="Image 0" descr="00_environment_check-dataset-0-c619d814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595" y="2039112"/>
            <a:ext cx="4227250" cy="4151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9202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怎么读这张图</a:t>
            </a:r>
            <a:endParaRPr lang="en-US" sz="1300" dirty="0"/>
          </a:p>
        </p:txBody>
      </p:sp>
      <p:sp>
        <p:nvSpPr>
          <p:cNvPr id="6" name="chip 01"/>
          <p:cNvSpPr/>
          <p:nvPr/>
        </p:nvSpPr>
        <p:spPr>
          <a:xfrm>
            <a:off x="7772400" y="2459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4231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cube 与 GT 的空间尺寸相同</a:t>
            </a:r>
            <a:endParaRPr lang="en-US" sz="1700" dirty="0"/>
          </a:p>
        </p:txBody>
      </p:sp>
      <p:sp>
        <p:nvSpPr>
          <p:cNvPr id="9" name="chip 02"/>
          <p:cNvSpPr/>
          <p:nvPr/>
        </p:nvSpPr>
        <p:spPr>
          <a:xfrm>
            <a:off x="7772400" y="35570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352044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表示未标注，不是无观测</a:t>
            </a:r>
            <a:endParaRPr lang="en-US" sz="1700" dirty="0"/>
          </a:p>
        </p:txBody>
      </p:sp>
      <p:sp>
        <p:nvSpPr>
          <p:cNvPr id="12" name="chip 03"/>
          <p:cNvSpPr/>
          <p:nvPr/>
        </p:nvSpPr>
        <p:spPr>
          <a:xfrm>
            <a:off x="7772400" y="46542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94192" y="46177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保存数据版本与核验记录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589788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00_environment_check.ipynb  ·  cell dataset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手算一个分类头输出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batch 为 2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已知类别数为 16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输出包含 32 个 logits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B=2,\ C=16 \;\Rightarrow\; \mathrm{logits} \in \mathbb{R}^{2 \times 16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166808"/>
            <a:ext cx="4937760" cy="432945"/>
          </a:xfrm>
          <a:prstGeom prst="rect">
            <a:avLst/>
          </a:prstGeom>
        </p:spPr>
      </p:pic>
      <p:sp>
        <p:nvSpPr>
          <p:cNvPr id="14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model(torch.zeros(2,12,9,9)).shape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torch.Size([2,16])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与 train 是两种承诺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演示包不止权重：PCA/scaler/split/阈值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加载时校验 SHA256 与配置匹配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缺资产就明示，不偷偷训练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68046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358902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975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+ 权重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436626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748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 + split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514350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520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+ 推理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课前资产与现场备用</a:t>
            </a:r>
            <a:endParaRPr lang="en-US" sz="3000" dirty="0"/>
          </a:p>
        </p:txBody>
      </p:sp>
      <p:sp>
        <p:nvSpPr>
          <p:cNvPr id="3" name="point 1"/>
          <p:cNvSpPr/>
          <p:nvPr/>
        </p:nvSpPr>
        <p:spPr>
          <a:xfrm>
            <a:off x="685800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运行准备脚本，再验证四个模型包</a:t>
            </a:r>
            <a:endParaRPr lang="en-US" sz="2000" dirty="0"/>
          </a:p>
        </p:txBody>
      </p:sp>
      <p:sp>
        <p:nvSpPr>
          <p:cNvPr id="7" name="point 2"/>
          <p:cNvSpPr/>
          <p:nvPr/>
        </p:nvSpPr>
        <p:spPr>
          <a:xfrm>
            <a:off x="4383938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现场不启动完整训练</a:t>
            </a:r>
            <a:endParaRPr lang="en-US" sz="2000" dirty="0"/>
          </a:p>
        </p:txBody>
      </p:sp>
      <p:sp>
        <p:nvSpPr>
          <p:cNvPr id="11" name="point 3"/>
          <p:cNvSpPr/>
          <p:nvPr/>
        </p:nvSpPr>
        <p:spPr>
          <a:xfrm>
            <a:off x="8082077" y="196596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86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017520"/>
            <a:ext cx="2783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网络断开时可读已执行Notebook输出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让代码验证你的判断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685800" y="1874520"/>
            <a:ext cx="7406640" cy="3749040"/>
          </a:xfrm>
          <a:prstGeom prst="roundRect">
            <a:avLst>
              <a:gd name="adj" fmla="val 2439"/>
            </a:avLst>
          </a:prstGeom>
          <a:solidFill>
            <a:srgbClr val="0D1B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75688"/>
            <a:ext cx="118872" cy="118872"/>
          </a:xfrm>
          <a:prstGeom prst="ellipse">
            <a:avLst/>
          </a:prstGeom>
          <a:solidFill>
            <a:srgbClr val="D33A2C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075688"/>
            <a:ext cx="118872" cy="118872"/>
          </a:xfrm>
          <a:prstGeom prst="ellipse">
            <a:avLst/>
          </a:prstGeom>
          <a:solidFill>
            <a:srgbClr val="F2C316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075688"/>
            <a:ext cx="118872" cy="118872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23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print(sys.executable)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cube, gt, names = load_hsi_dataset("IP", ROOT/"dataset")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cube.shape[:2] == gt.shape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logits.shape == (2, len(names))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202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4028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00_environment_check.ipynb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310896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1" name="cell environment"/>
          <p:cNvSpPr/>
          <p:nvPr/>
        </p:nvSpPr>
        <p:spPr>
          <a:xfrm>
            <a:off x="8458200" y="3474720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3" name="cell dataset"/>
          <p:cNvSpPr/>
          <p:nvPr/>
        </p:nvSpPr>
        <p:spPr>
          <a:xfrm>
            <a:off x="8458200" y="3950208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dataset</a:t>
            </a:r>
            <a:endParaRPr lang="en-US" sz="1200" dirty="0"/>
          </a:p>
        </p:txBody>
      </p:sp>
      <p:sp>
        <p:nvSpPr>
          <p:cNvPr id="15" name="cell forward"/>
          <p:cNvSpPr/>
          <p:nvPr/>
        </p:nvSpPr>
        <p:spPr>
          <a:xfrm>
            <a:off x="8458200" y="4425696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forward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先预测输出，再运行对应单元格。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停下来，做一次判断</a:t>
            </a:r>
            <a:endParaRPr lang="en-US" sz="3000" dirty="0"/>
          </a:p>
        </p:txBody>
      </p:sp>
      <p:sp>
        <p:nvSpPr>
          <p:cNvPr id="3" name="prediction card"/>
          <p:cNvSpPr/>
          <p:nvPr/>
        </p:nvSpPr>
        <p:spPr>
          <a:xfrm>
            <a:off x="685800" y="1874520"/>
            <a:ext cx="6355080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课堂预测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9748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batch 从2改成3，先写出预期形状，再运行断言。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5321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 A01  ·  完整示例 / 填空 / 迁移</a:t>
            </a:r>
            <a:endParaRPr lang="en-US" sz="1400" dirty="0"/>
          </a:p>
        </p:txBody>
      </p:sp>
      <p:sp>
        <p:nvSpPr>
          <p:cNvPr id="7" name="exit question card"/>
          <p:cNvSpPr/>
          <p:nvPr/>
        </p:nvSpPr>
        <p:spPr>
          <a:xfrm>
            <a:off x="7315200" y="1874520"/>
            <a:ext cx="4187952" cy="4343400"/>
          </a:xfrm>
          <a:prstGeom prst="roundRect">
            <a:avLst>
              <a:gd name="adj" fmla="val 2183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697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换kernel后，首先核对哪个路径？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结论要有边界</a:t>
            </a:r>
            <a:endParaRPr lang="en-US" sz="3000" dirty="0"/>
          </a:p>
        </p:txBody>
      </p:sp>
      <p:sp>
        <p:nvSpPr>
          <p:cNvPr id="3" name="known"/>
          <p:cNvSpPr/>
          <p:nvPr/>
        </p:nvSpPr>
        <p:spPr>
          <a:xfrm>
            <a:off x="685800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4" name="tag"/>
          <p:cNvSpPr/>
          <p:nvPr/>
        </p:nvSpPr>
        <p:spPr>
          <a:xfrm>
            <a:off x="1051560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1F8F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前向成功 ≠ 训练有效</a:t>
            </a:r>
            <a:endParaRPr lang="en-US" sz="2400" dirty="0"/>
          </a:p>
        </p:txBody>
      </p:sp>
      <p:sp>
        <p:nvSpPr>
          <p:cNvPr id="7" name="boundary"/>
          <p:cNvSpPr/>
          <p:nvPr/>
        </p:nvSpPr>
        <p:spPr>
          <a:xfrm>
            <a:off x="6233008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8" name="tag"/>
          <p:cNvSpPr/>
          <p:nvPr/>
        </p:nvSpPr>
        <p:spPr>
          <a:xfrm>
            <a:off x="6598768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E875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本机验证 ≠ 所有平台保证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3036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来源、复现入口与辅助提示见讲者备注。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SI-Learning Spectral">
      <a:dk1>
        <a:srgbClr val="14233A"/>
      </a:dk1>
      <a:lt1>
        <a:srgbClr val="FFFFFF"/>
      </a:lt1>
      <a:dk2>
        <a:srgbClr val="0D1B2E"/>
      </a:dk2>
      <a:lt2>
        <a:srgbClr val="F2F5F9"/>
      </a:lt2>
      <a:accent1>
        <a:srgbClr val="2F5BB7"/>
      </a:accent1>
      <a:accent2>
        <a:srgbClr val="1F8FB8"/>
      </a:accent2>
      <a:accent3>
        <a:srgbClr val="2E9E4F"/>
      </a:accent3>
      <a:accent4>
        <a:srgbClr val="E8752A"/>
      </a:accent4>
      <a:accent5>
        <a:srgbClr val="5B3FA0"/>
      </a:accent5>
      <a:accent6>
        <a:srgbClr val="D33A2C"/>
      </a:accent6>
      <a:hlink>
        <a:srgbClr val="2F5BB7"/>
      </a:hlink>
      <a:folHlink>
        <a:srgbClr val="5B3FA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L00 先验证环境，再相信结果</dc:title>
  <dc:subject>PptxGenJS Presentation</dc:subject>
  <dc:creator>HSI-Learning</dc:creator>
  <cp:lastModifiedBy>HSI-Learning</cp:lastModifiedBy>
  <cp:revision>1</cp:revision>
  <dcterms:created xsi:type="dcterms:W3CDTF">2026-10-10T13:42:17Z</dcterms:created>
  <dcterms:modified xsi:type="dcterms:W3CDTF">2026-10-10T13:42:17Z</dcterms:modified>
</cp:coreProperties>
</file>