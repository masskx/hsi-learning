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用真实问题开场，先让学生提出预测。不要从依赖列表开始读。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00_environment_check.ipynb</a:t>
            </a:r>
          </a:p>
          <a:p>
            <a:r>
              <a:t>定位: environment, dataset, forward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完成标准是能独立生成交付物，而不是只复述概念。右侧面板是本课的Notebook与cell入口。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00_environment_check.ipynb</a:t>
            </a:r>
          </a:p>
          <a:p>
            <a:r>
              <a:t>定位: environment, dataset, forward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开场展示一个常见 import 错误。让学生现在就打印自己 kernel 的 sys.executable——这是本课程最常见的翻车点，输出因机器而异，关键是确认指向项目 .venv。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00_environment_check.ipynb</a:t>
            </a:r>
          </a:p>
          <a:p>
            <a:r>
              <a:t>定位: environment, dataset, forward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逐项通过才能前进。键名 indian_pines_corrected/indian_pines_gt 写错时 loadmat 不报错而是 KeyError 或多一层列表——现场演示一次错误键名。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00_environment_check.ipynb</a:t>
            </a:r>
          </a:p>
          <a:p>
            <a:r>
              <a:t>定位: environment, dataset, forward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现场从 notebooks/ 子目录启动 kernel，预测 ROOT 是否变化。BOOT cell 的逻辑就是逐级向父母录检查 dataset 标志。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00_environment_check.ipynb</a:t>
            </a:r>
          </a:p>
          <a:p>
            <a:r>
              <a:t>定位: environment, dataset, forward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这张图来自已执行第0课，不是示意图。读出 shape、dtype、标签集合。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00_environment_check.ipynb</a:t>
            </a:r>
          </a:p>
          <a:p>
            <a:r>
              <a:t>定位: environment, dataset, forward</a:t>
            </a:r>
          </a:p>
          <a:p>
            <a:r>
              <a:t>EHU: Hyperspectral Remote Sensing Scenes</a:t>
            </a:r>
          </a:p>
          <a:p>
            <a:r>
              <a:t>https://www.ehu.eus/ccwintco/index.php/Hyperspectral_Remote_Sensing_Scenes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把batch改成3，先说答案再运行。随机初始化输出只能证明接口正确。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00_environment_check.ipynb</a:t>
            </a:r>
          </a:p>
          <a:p>
            <a:r>
              <a:t>定位: environment, dataset, forward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强调训练包不仅是pth。让学生打开 results/teaching_ready 下的 run_config.json 核对这三个值——加载不兼容权重应当失败。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00_environment_check.ipynb</a:t>
            </a:r>
          </a:p>
          <a:p>
            <a:r>
              <a:t>定位: environment, dataset, forward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这是关键代码节选，完整上下文在Notebook中。现场只做最小例或载入模型推理；完整训练提前排队。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00_environment_check.ipynb</a:t>
            </a:r>
          </a:p>
          <a:p>
            <a:r>
              <a:t>定位: environment, dataset, forward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先让学生在右侧预测框写出预期，再运行一次受控改动。若与预期不同，保留记录而不是换种子直到符合故事。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00_environment_check.ipynb</a:t>
            </a:r>
          </a:p>
          <a:p>
            <a:r>
              <a:t>定位: environment, dataset, forward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可复制提示词见内容源。数据边界：不上传未授权数据或未公开稿件；不让AI虚构引用、指标或执行记录。根据我提供的 sys.executable、异常堆栈和 requirements，列出可能原因及最小只读检查命令。不要安装、删除文件或猜测环境；证据不足标明待检查。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00_environment_check.ipynb</a:t>
            </a:r>
          </a:p>
          <a:p>
            <a:r>
              <a:t>定位: environment, dataset, forward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结束时请学生用一句话回答本课开头的问题，要求带证据类型。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00_environment_check.ipynb</a:t>
            </a:r>
          </a:p>
          <a:p>
            <a:r>
              <a:t>定位: environment, dataset, forward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每次发布应补源码版本与运行配置；网络资料可访问不等于可自由再分发。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00_environment_check.ipynb</a:t>
            </a:r>
          </a:p>
          <a:p>
            <a:r>
              <a:t>定位: environment, dataset, forward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>
            <a:r>
              <a:t>EHU: Hyperspectral Remote Sensing Scenes</a:t>
            </a:r>
          </a:p>
          <a:p>
            <a:r>
              <a:t>https://www.ehu.eus/ccwintco/index.php/Hyperspectral_Remote_Sensing_Scenes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024128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 spc="300">
                <a:solidFill>
                  <a:srgbClr val="5C6B7A"/>
                </a:solidFill>
                <a:latin typeface="Microsoft YaHei"/>
                <a:ea typeface="Microsoft YaHei"/>
              </a:rPr>
              <a:t>HSI-LEARNING</a:t>
            </a:r>
            <a:r>
              <a:rPr sz="1250" b="0" spc="200">
                <a:solidFill>
                  <a:srgbClr val="5C6B7A"/>
                </a:solidFill>
                <a:latin typeface="Microsoft YaHei"/>
                <a:ea typeface="Microsoft YaHei"/>
              </a:rPr>
              <a:t>  ·  高光谱图像分类课程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1572768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4600" b="1">
                <a:solidFill>
                  <a:srgbClr val="C9571E"/>
                </a:solidFill>
                <a:latin typeface="Microsoft YaHei"/>
                <a:ea typeface="Microsoft YaHei"/>
              </a:rPr>
              <a:t>L00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615184"/>
            <a:ext cx="99669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700" b="1">
                <a:solidFill>
                  <a:srgbClr val="1C2B3A"/>
                </a:solidFill>
                <a:latin typeface="Microsoft YaHei"/>
                <a:ea typeface="Microsoft YaHei"/>
              </a:rPr>
              <a:t>先验证环境，再相信结果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41648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>
                <a:solidFill>
                  <a:srgbClr val="5C6B7A"/>
                </a:solidFill>
                <a:latin typeface="Microsoft YaHei"/>
                <a:ea typeface="Microsoft YaHei"/>
              </a:rPr>
              <a:t>Kernel / Path / Data / Forward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736592"/>
            <a:ext cx="996696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99262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本课交付 · </a:t>
            </a: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</a:rPr>
              <a:t>环境版本报告  ·  数据与标签检查  ·  一次前向 shape 断言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87044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先修 · </a:t>
            </a:r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会运行 Python；不用先懂神经网络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L00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Kernel / Path / Data /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本课交付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7510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2011679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环境版本报告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779776"/>
            <a:ext cx="594360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07238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310896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数据与标签检查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877056"/>
            <a:ext cx="594360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16966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420624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一次前向 shape 断言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2011680"/>
            <a:ext cx="3886200" cy="320040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22860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课堂入口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761488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NOTEBOOK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017520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100" b="0">
                <a:solidFill>
                  <a:srgbClr val="1C2B3A"/>
                </a:solidFill>
                <a:latin typeface="Consolas"/>
                <a:ea typeface="Microsoft YaHei"/>
              </a:rPr>
              <a:t>00_environment_check.ipynb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602736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CELLS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858768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100" b="0">
                <a:solidFill>
                  <a:srgbClr val="1C2B3A"/>
                </a:solidFill>
                <a:latin typeface="Consolas"/>
                <a:ea typeface="Microsoft YaHei"/>
              </a:rPr>
              <a:t>environment, dataset, forward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443984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700016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1C2B3A"/>
                </a:solidFill>
                <a:latin typeface="Microsoft YaHei"/>
                <a:ea typeface="Microsoft YaHei"/>
              </a:rPr>
              <a:t>A01 · 交付：代码 + 配置 + 解释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L00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Kernel / Path / Data /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pip 安装成功，为什么仍然 import 失败？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终端 python 与 notebook kernel 常不是同一个环境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先打印 sys.executable，再谈依赖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本项目依赖在 .venv；kernel 指向错 = 装到别处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import sys; print(sys.executable)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&lt;项目&gt;\.venv\Scripts\python.exe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3408" y="2103120"/>
            <a:ext cx="14630" cy="4059935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50431" y="2052827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6016" y="1911095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终端解释器</a:t>
            </a:r>
          </a:p>
        </p:txBody>
      </p:sp>
      <p:sp>
        <p:nvSpPr>
          <p:cNvPr id="13" name="Oval 12"/>
          <p:cNvSpPr/>
          <p:nvPr/>
        </p:nvSpPr>
        <p:spPr>
          <a:xfrm>
            <a:off x="6650431" y="407365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393192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Notebook kernel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实际运行环境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L00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Kernel / Path / Data /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一次成功，分四层验证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数据存在 ≠ 键名正确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前向跑通 ≠ 模型有效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四层各有断言，不靠感觉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cube.shape, gt.shape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((145, 145, 200), (145, 145))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3408" y="2103120"/>
            <a:ext cx="14630" cy="4059935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50431" y="2052827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6016" y="1911095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Python</a:t>
            </a:r>
          </a:p>
        </p:txBody>
      </p:sp>
      <p:sp>
        <p:nvSpPr>
          <p:cNvPr id="13" name="Oval 12"/>
          <p:cNvSpPr/>
          <p:nvPr/>
        </p:nvSpPr>
        <p:spPr>
          <a:xfrm>
            <a:off x="6650431" y="407365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393192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ROOT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MAT keys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L00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Kernel / Path / Data /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项目根目录不是个人绝对路径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BOOT cell 从当前目录向父目录找 dataset/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从根目录或 notebooks/ 启动都应成功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个人 D 盘路径不进教材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(Path.cwd() / "dataset").exists()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False  # 从 notebooks/ 启动时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3408" y="2103120"/>
            <a:ext cx="14630" cy="4059935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50431" y="2052827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6016" y="1911095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HSI-Learning</a:t>
            </a:r>
          </a:p>
        </p:txBody>
      </p:sp>
      <p:sp>
        <p:nvSpPr>
          <p:cNvPr id="13" name="Oval 12"/>
          <p:cNvSpPr/>
          <p:nvPr/>
        </p:nvSpPr>
        <p:spPr>
          <a:xfrm>
            <a:off x="6650431" y="407365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393192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notebooks/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dataset/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L00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Kernel / Path / Data /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先检查数据，暂时不训练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environment_check-dataset-0-ce2f8ec3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8438" y="1874519"/>
            <a:ext cx="4469338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58438" y="1874519"/>
            <a:ext cx="4469338" cy="4389120"/>
          </a:xfrm>
          <a:prstGeom prst="rect">
            <a:avLst/>
          </a:prstGeom>
          <a:noFill/>
          <a:ln w="1270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怎么读这张图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395728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cube 与 GT 的空间尺寸相同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0 表示未标注，不是无观测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保存数据版本与核验记录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587044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00_environment_check.ipynb</a:t>
            </a:r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  ·  cell dataset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L00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Kernel / Path / Data /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手算一个分类头输出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输入 batch 为 2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已知类别数为 16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输出包含 32 个 logits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head(torch.randn(3, 12, 9, 9)).shape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torch.Size([3, 16])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4956048" cy="219456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ormula-eae49a741a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04" y="2823095"/>
            <a:ext cx="4434840" cy="38884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693408" y="4434840"/>
            <a:ext cx="14630" cy="1728216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50431" y="4384548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4242816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(2,12,9,9)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523951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09778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Classifier</a:t>
            </a:r>
          </a:p>
        </p:txBody>
      </p:sp>
      <p:sp>
        <p:nvSpPr>
          <p:cNvPr id="17" name="Oval 16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(2,16)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L00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Kernel / Path / Data /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demo 与 train 是两种承诺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演示包不止权重：PCA/scaler/split/阈值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加载时校验 SHA256 与配置匹配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缺资产就明示，不偷偷训练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150" b="0">
                <a:solidFill>
                  <a:srgbClr val="1C2B3A"/>
                </a:solidFill>
                <a:latin typeface="Consolas"/>
                <a:ea typeface="Microsoft YaHei"/>
              </a:rPr>
              <a:t>cfg['components'], cfg['patch_size'], cfg['seed']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Consolas"/>
                <a:ea typeface="Microsoft YaHei"/>
              </a:rPr>
              <a:t>(12, 9, 42)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3408" y="2103120"/>
            <a:ext cx="14630" cy="4059935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50431" y="2052827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6016" y="1911095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配置 + 权重</a:t>
            </a:r>
          </a:p>
        </p:txBody>
      </p:sp>
      <p:sp>
        <p:nvSpPr>
          <p:cNvPr id="13" name="Oval 12"/>
          <p:cNvSpPr/>
          <p:nvPr/>
        </p:nvSpPr>
        <p:spPr>
          <a:xfrm>
            <a:off x="6650431" y="407365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393192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预处理 + split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校验 + 推理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L00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Kernel / Path / Data /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代码实操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47088"/>
            <a:ext cx="76809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打开 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00_environment_check.ipynb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487168"/>
            <a:ext cx="6858000" cy="1920239"/>
          </a:xfrm>
          <a:prstGeom prst="roundRect">
            <a:avLst>
              <a:gd name="adj" fmla="val 4500"/>
            </a:avLst>
          </a:prstGeom>
          <a:solidFill>
            <a:srgbClr val="20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5296" y="2798064"/>
            <a:ext cx="6172200" cy="13533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print(sys.executable)</a:t>
            </a:r>
          </a:p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cube, gt, names = load_hsi_dataset("IP", ROOT/"dataset")</a:t>
            </a:r>
          </a:p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assert cube.shape[:2] == gt.shape</a:t>
            </a:r>
          </a:p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assert logits.shape == (2, len(names))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66344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定位 cell 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environment, dataset, forward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演示入口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395728"/>
            <a:ext cx="324612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演示资产：results/teaching_ready/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载入后只做推理与检查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训练与校准已在课前完成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L00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Kernel / Path / Data /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课堂练习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48840"/>
            <a:ext cx="603504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2300" b="0">
                <a:solidFill>
                  <a:srgbClr val="1C2B3A"/>
                </a:solidFill>
                <a:latin typeface="Microsoft YaHei"/>
                <a:ea typeface="Microsoft YaHei"/>
              </a:rPr>
              <a:t>把 batch 从2改成3，先写出预期形状，再运行断言。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4892040"/>
            <a:ext cx="5669280" cy="603504"/>
          </a:xfrm>
          <a:prstGeom prst="roundRect">
            <a:avLst>
              <a:gd name="adj" fmla="val 50000"/>
            </a:avLst>
          </a:prstGeom>
          <a:noFill/>
          <a:ln w="13970">
            <a:solidFill>
              <a:srgbClr val="C957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5056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1">
                <a:solidFill>
                  <a:srgbClr val="C9571E"/>
                </a:solidFill>
                <a:latin typeface="Microsoft YaHei"/>
                <a:ea typeface="Microsoft YaHei"/>
              </a:rPr>
              <a:t>任务 A01</a:t>
            </a:r>
            <a:r>
              <a:rPr sz="1400" b="0">
                <a:solidFill>
                  <a:srgbClr val="1C2B3A"/>
                </a:solidFill>
                <a:latin typeface="Microsoft YaHei"/>
                <a:ea typeface="Microsoft YaHei"/>
              </a:rPr>
              <a:t>　交付：代码 + 配置 + 解释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2057400"/>
            <a:ext cx="3886200" cy="3438144"/>
          </a:xfrm>
          <a:prstGeom prst="rect">
            <a:avLst/>
          </a:prstGeom>
          <a:noFill/>
          <a:ln w="1524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350008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先写预测，再运行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3355848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4069080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4782312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L00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Kernel / Path / Data /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AI 辅助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651760"/>
            <a:ext cx="6903720" cy="265176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651760"/>
            <a:ext cx="50292" cy="2651760"/>
          </a:xfrm>
          <a:prstGeom prst="rect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89864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提示词（可直接复制）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319272"/>
            <a:ext cx="62636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0000"/>
              </a:lnSpc>
            </a:pPr>
            <a:r>
              <a:rPr sz="1550" b="0">
                <a:solidFill>
                  <a:srgbClr val="1C2B3A"/>
                </a:solidFill>
                <a:latin typeface="Microsoft YaHei"/>
                <a:ea typeface="Microsoft YaHei"/>
              </a:rPr>
              <a:t>根据我提供的 sys.executable、异常堆栈和 requirements，列出可能原因及最小只读检查命令。不要安装、删除文件或猜测环境；证据不足标明待检查。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7157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人工核验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136392"/>
            <a:ext cx="3246120" cy="2194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450" b="0">
                <a:solidFill>
                  <a:srgbClr val="1C2B3A"/>
                </a:solidFill>
                <a:latin typeface="Microsoft YaHei"/>
                <a:ea typeface="Microsoft YaHei"/>
              </a:rPr>
              <a:t>逐条在当前kernel验证；不执行无法解释的安装/删除命令。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L00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Kernel / Path / Data /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小结与边界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48840"/>
            <a:ext cx="5669280" cy="3291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前向成功 ≠ 训练有效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本机验证 ≠ 所有平台保证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2103120"/>
            <a:ext cx="4114800" cy="274320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0" y="2103120"/>
            <a:ext cx="50292" cy="2743200"/>
          </a:xfrm>
          <a:prstGeom prst="rect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07808" y="23957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回到本课开头的问题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07808" y="2834640"/>
            <a:ext cx="35204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0000"/>
              </a:lnSpc>
            </a:pP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先验证环境，再相信结果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L00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Kernel / Path / Data /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来源、版本与复现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93392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PyTorch documentation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020824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https://docs.pytorch.org/docs/stable/index.html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487168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65176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EHU: Hyperspectral Remote Sensing Scenes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79192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https://www.ehu.eus/ccwintco/index.php/Hyperspectral_Remote_Sensing_Scenes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145536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5760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5C6B7A"/>
                </a:solidFill>
                <a:latin typeface="Microsoft YaHei"/>
                <a:ea typeface="Microsoft YaHei"/>
              </a:rPr>
              <a:t>完整来源状态与许可边界见 docs/teaching/source-audit.md；图像取自当前 Notebook 输出。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先验证环境，再相信结果</dc:title>
  <dc:subject>Theory + practice + verified AI research assistance</dc:subject>
  <dc:creator>HSI-Learning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