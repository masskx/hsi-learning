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dfec413591412c" /><Relationship Type="http://schemas.openxmlformats.org/officeDocument/2006/relationships/extended-properties" Target="/docProps/app.xml" Id="R1a0b9b2cb08b41d7" /><Relationship Type="http://schemas.openxmlformats.org/officeDocument/2006/relationships/officeDocument" Target="/ppt/presentation.xml" Id="R25f3b19f03f546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67a1787ca44348"/>
  </p:sldMasterIdLst>
  <p:notesMasterIdLst>
    <p:notesMasterId xmlns:r="http://schemas.openxmlformats.org/officeDocument/2006/relationships" r:id="R9ae82d8309c04163"/>
  </p:notesMasterIdLst>
  <p:sldIdLst>
    <p:sldId xmlns:r="http://schemas.openxmlformats.org/officeDocument/2006/relationships" id="256" r:id="R2d9a101238c6474e"/>
    <p:sldId xmlns:r="http://schemas.openxmlformats.org/officeDocument/2006/relationships" id="257" r:id="R74e145414c254822"/>
    <p:sldId xmlns:r="http://schemas.openxmlformats.org/officeDocument/2006/relationships" id="258" r:id="Rcbbd6c7063d745ca"/>
    <p:sldId xmlns:r="http://schemas.openxmlformats.org/officeDocument/2006/relationships" id="259" r:id="R5a1975ef5f0a4f4c"/>
    <p:sldId xmlns:r="http://schemas.openxmlformats.org/officeDocument/2006/relationships" id="260" r:id="R1cd114e6d2b846a6"/>
    <p:sldId xmlns:r="http://schemas.openxmlformats.org/officeDocument/2006/relationships" id="261" r:id="R72d4479e7e2b43ca"/>
    <p:sldId xmlns:r="http://schemas.openxmlformats.org/officeDocument/2006/relationships" id="262" r:id="Re54352b1059a431f"/>
    <p:sldId xmlns:r="http://schemas.openxmlformats.org/officeDocument/2006/relationships" id="263" r:id="Rea8f82b3291d4c4e"/>
    <p:sldId xmlns:r="http://schemas.openxmlformats.org/officeDocument/2006/relationships" id="264" r:id="R392d32770edd4cde"/>
    <p:sldId xmlns:r="http://schemas.openxmlformats.org/officeDocument/2006/relationships" id="265" r:id="R45d2a72a3082443f"/>
    <p:sldId xmlns:r="http://schemas.openxmlformats.org/officeDocument/2006/relationships" id="266" r:id="R031da896f0b14001"/>
    <p:sldId xmlns:r="http://schemas.openxmlformats.org/officeDocument/2006/relationships" id="267" r:id="R82766f982ecb49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29e9eb02754a1f" /><Relationship Type="http://schemas.openxmlformats.org/officeDocument/2006/relationships/slideMaster" Target="/ppt/slideMasters/slideMaster1.xml" Id="R8e67a1787ca44348" /><Relationship Type="http://schemas.openxmlformats.org/officeDocument/2006/relationships/notesMaster" Target="/ppt/notesMasters/notesMaster1.xml" Id="R9ae82d8309c04163" /><Relationship Type="http://schemas.openxmlformats.org/officeDocument/2006/relationships/presProps" Target="/ppt/presProps.xml" Id="R23504d22bb4a4176" /><Relationship Type="http://schemas.openxmlformats.org/officeDocument/2006/relationships/tableStyles" Target="/ppt/tableStyles.xml" Id="R420442b22fa94662" /><Relationship Type="http://schemas.openxmlformats.org/officeDocument/2006/relationships/slide" Target="/ppt/slides/slide1.xml" Id="R2d9a101238c6474e" /><Relationship Type="http://schemas.openxmlformats.org/officeDocument/2006/relationships/slide" Target="/ppt/slides/slide2.xml" Id="R74e145414c254822" /><Relationship Type="http://schemas.openxmlformats.org/officeDocument/2006/relationships/slide" Target="/ppt/slides/slide3.xml" Id="Rcbbd6c7063d745ca" /><Relationship Type="http://schemas.openxmlformats.org/officeDocument/2006/relationships/slide" Target="/ppt/slides/slide4.xml" Id="R5a1975ef5f0a4f4c" /><Relationship Type="http://schemas.openxmlformats.org/officeDocument/2006/relationships/slide" Target="/ppt/slides/slide5.xml" Id="R1cd114e6d2b846a6" /><Relationship Type="http://schemas.openxmlformats.org/officeDocument/2006/relationships/slide" Target="/ppt/slides/slide6.xml" Id="R72d4479e7e2b43ca" /><Relationship Type="http://schemas.openxmlformats.org/officeDocument/2006/relationships/slide" Target="/ppt/slides/slide7.xml" Id="Re54352b1059a431f" /><Relationship Type="http://schemas.openxmlformats.org/officeDocument/2006/relationships/slide" Target="/ppt/slides/slide8.xml" Id="Rea8f82b3291d4c4e" /><Relationship Type="http://schemas.openxmlformats.org/officeDocument/2006/relationships/slide" Target="/ppt/slides/slide9.xml" Id="R392d32770edd4cde" /><Relationship Type="http://schemas.openxmlformats.org/officeDocument/2006/relationships/slide" Target="/ppt/slides/slide10.xml" Id="R45d2a72a3082443f" /><Relationship Type="http://schemas.openxmlformats.org/officeDocument/2006/relationships/slide" Target="/ppt/slides/slide11.xml" Id="R031da896f0b14001" /><Relationship Type="http://schemas.openxmlformats.org/officeDocument/2006/relationships/slide" Target="/ppt/slides/slide12.xml" Id="R82766f982ecb49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24f74239c548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05d8601b8a4e15" /><Relationship Type="http://schemas.openxmlformats.org/officeDocument/2006/relationships/notesMaster" Target="/ppt/notesMasters/notesMaster1.xml" Id="R92dcbf756d1c45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cc509ab0694719" /><Relationship Type="http://schemas.openxmlformats.org/officeDocument/2006/relationships/notesMaster" Target="/ppt/notesMasters/notesMaster1.xml" Id="R433740db2d874a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bea7d7eb31485d" /><Relationship Type="http://schemas.openxmlformats.org/officeDocument/2006/relationships/notesMaster" Target="/ppt/notesMasters/notesMaster1.xml" Id="Rf815beb9602a4e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da16320dd54f50" /><Relationship Type="http://schemas.openxmlformats.org/officeDocument/2006/relationships/notesMaster" Target="/ppt/notesMasters/notesMaster1.xml" Id="R93cfc900c94d4e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b49ec34b8e4488" /><Relationship Type="http://schemas.openxmlformats.org/officeDocument/2006/relationships/notesMaster" Target="/ppt/notesMasters/notesMaster1.xml" Id="Rdd8cd3d9a2c948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2e167a58464def" /><Relationship Type="http://schemas.openxmlformats.org/officeDocument/2006/relationships/notesMaster" Target="/ppt/notesMasters/notesMaster1.xml" Id="Rd616549f945440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421a5b624948af" /><Relationship Type="http://schemas.openxmlformats.org/officeDocument/2006/relationships/notesMaster" Target="/ppt/notesMasters/notesMaster1.xml" Id="R49d68e069f2145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9bbb392df94a6c" /><Relationship Type="http://schemas.openxmlformats.org/officeDocument/2006/relationships/notesMaster" Target="/ppt/notesMasters/notesMaster1.xml" Id="R0e660f9bc18d46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a98ac561a74de0" /><Relationship Type="http://schemas.openxmlformats.org/officeDocument/2006/relationships/notesMaster" Target="/ppt/notesMasters/notesMaster1.xml" Id="Rb46ba736dfcc44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f72656928d4983" /><Relationship Type="http://schemas.openxmlformats.org/officeDocument/2006/relationships/notesMaster" Target="/ppt/notesMasters/notesMaster1.xml" Id="R0159826729eb47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cc03f4ac2e4f22" /><Relationship Type="http://schemas.openxmlformats.org/officeDocument/2006/relationships/notesMaster" Target="/ppt/notesMasters/notesMaster1.xml" Id="R39f87eb5ff2b4c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c665e6cf1cf4ea2" /><Relationship Type="http://schemas.openxmlformats.org/officeDocument/2006/relationships/notesMaster" Target="/ppt/notesMasters/notesMaster1.xml" Id="R5b69c544febc4a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开场问题：OA下降而AA上升是否表示实验失败？</a:t>
            </a:r>
          </a:p>
          <a:p xmlns:a="http://schemas.openxmlformats.org/drawingml/2006/main">
            <a:r>
              <a:t>原标题：OA 很高，小类为什么仍全错？</a:t>
            </a:r>
          </a:p>
          <a:p xmlns:a="http://schemas.openxmlformats.org/drawingml/2006/main">
            <a:r>
              <a:t>参考节奏：5分钟回顾，10分钟手算，10分钟代码，12分钟练习，5分钟错误分析，3分钟退出题。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  <a:p xmlns:a="http://schemas.openxmlformats.org/drawingml/2006/main">
            <a:r>
              <a:t>封面图源：15_imbalance_analysis_teaching.ipynb / loss-comparison / 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交付物以代码、配置、输出和解释为准。先做完整示例，再做填空与迁移任务。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引用本次Notebook输出，不沿用历史实验+8点作为承诺。</a:t>
            </a:r>
          </a:p>
          <a:p xmlns:a="http://schemas.openxmlformats.org/drawingml/2006/main">
            <a:r>
              <a:t>Class count / Per-class recall / Failure cases</a:t>
            </a:r>
          </a:p>
          <a:p xmlns:a="http://schemas.openxmlformats.org/drawingml/2006/main">
            <a:r>
              <a:t>图源：15_imbalance_analysis_teaching.ipynb / loss-comparison / 0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OA和AA取当前classroom-facts；固定划分的一次运行不证明普遍收益。</a:t>
            </a:r>
          </a:p>
          <a:p xmlns:a="http://schemas.openxmlformats.org/drawingml/2006/main">
            <a:r>
              <a:t>Class weights / Hard examples / OA / AA trade-off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全图显示包含训练像元，测试错误另画。</a:t>
            </a:r>
          </a:p>
          <a:p xmlns:a="http://schemas.openxmlformats.org/drawingml/2006/main">
            <a:r>
              <a:t>GT / CE / Weighted CE</a:t>
            </a:r>
          </a:p>
          <a:p xmlns:a="http://schemas.openxmlformats.org/drawingml/2006/main">
            <a:r>
              <a:t>图源：15_imbalance_analysis_teaching.ipynb / maps / 0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通道均值图不属于Grad-CAM，target换了图可能变化；不允许no_grad包住关键步骤。</a:t>
            </a:r>
          </a:p>
          <a:p xmlns:a="http://schemas.openxmlformats.org/drawingml/2006/main">
            <a:r>
              <a:t>Target logit / Gradient weights / Spatial response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本图按预先规则选样，不挑好看案例。</a:t>
            </a:r>
          </a:p>
          <a:p xmlns:a="http://schemas.openxmlformats.org/drawingml/2006/main">
            <a:r>
              <a:t>Correct / Misclassified / Rare class</a:t>
            </a:r>
          </a:p>
          <a:p xmlns:a="http://schemas.openxmlformats.org/drawingml/2006/main">
            <a:r>
              <a:t>图源：15_imbalance_analysis_teaching.ipynb / gradcam / 0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t-SNE、CAM各有条件，论文分析不能仅靠颜色叙事。</a:t>
            </a:r>
          </a:p>
          <a:p xmlns:a="http://schemas.openxmlformats.org/drawingml/2006/main">
            <a:r>
              <a:t>Attribution / Perturbation / Limitations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Notebook15 weighted-loss-toy展示与PyTorch输出核对；目标权重归一化不是简单乘后平均。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只运行指定短cell；完整训练已在课前完成。缺资产时使用已执行输出备用并说明。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停下来收集预测，发现错误后重新解释；不等到课后作业才知道学生没理解。</a:t>
            </a:r>
          </a:p>
          <a:p xmlns:a="http://schemas.openxmlformats.org/drawingml/2006/main">
            <a:r>
              <a:t>作业：A04；完整示例 / 填空 / 迁移；提交代码、配置、结果和限制。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区分已观察事实、候选解释与下一项检验。</a:t>
            </a:r>
          </a:p>
          <a:p xmlns:a="http://schemas.openxmlformats.org/drawingml/2006/main">
            <a:r>
              <a:t>退出题：OA下降而AA上升是否表示实验失败？</a:t>
            </a:r>
          </a:p>
          <a:p xmlns:a="http://schemas.openxmlformats.org/drawingml/2006/main">
            <a:r>
              <a:t>课堂入口: 15_imbalance_analysis_teaching.ipynb</a:t>
            </a:r>
          </a:p>
          <a:p xmlns:a="http://schemas.openxmlformats.org/drawingml/2006/main">
            <a:r>
              <a:t>定位: loss-comparison, gradcam, maps, weighted-loss-toy, target-comparison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AI辅助：依据给定recall表和错误图提出三种可检验假设，每条列控制变量和反例。不要把热力图高亮说成因果证据，不补造实验结果。</a:t>
            </a:r>
          </a:p>
          <a:p xmlns:a="http://schemas.openxmlformats.org/drawingml/2006/main">
            <a:r>
              <a:t>人工核验：核对目标梯度真实存在；假设另做实验；保留零响应与失败样本。</a:t>
            </a:r>
          </a:p>
          <a:p xmlns:a="http://schemas.openxmlformats.org/drawingml/2006/main">
            <a:r>
              <a:t>Lin et al. Focal Loss, 2017</a:t>
            </a:r>
          </a:p>
          <a:p xmlns:a="http://schemas.openxmlformats.org/drawingml/2006/main">
            <a:r>
              <a:t>https://arxiv.org/abs/1708.02002</a:t>
            </a:r>
          </a:p>
          <a:p xmlns:a="http://schemas.openxmlformats.org/drawingml/2006/main">
            <a:r>
              <a:t>Selvaraju et al. Grad-CAM, 2017</a:t>
            </a:r>
          </a:p>
          <a:p xmlns:a="http://schemas.openxmlformats.org/drawingml/2006/main">
            <a:r>
              <a:t>https://arxiv.org/abs/1610.02391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0f61f623ce4e8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144d4c7004a7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6bd74f2bb489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77924b217406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e00dec5f01489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d57019bbe849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8DCAE91-FD85-4EFE-9003-08AD392C91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42640C3-A72A-428B-A703-5597E2FFE1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8133055-5EF1-4FED-9AC7-2DB230B366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487909-22BA-4889-B346-C9A82B52BD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3B7E695-5D5A-484A-AFD3-5F96090215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12EE916-D65B-4BB6-8874-5E6F1114C0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825B471-BD75-4A12-8A3F-23EF877627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849A44B-421C-4ECD-9749-46092F90F7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29BB46F-29CC-4514-8B50-34489D50F7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6A21F26-2B92-4544-A813-E6EF69977D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bf073c875945d6" /><Relationship Type="http://schemas.openxmlformats.org/officeDocument/2006/relationships/slideLayout" Target="/ppt/slideLayouts/slideLayout1.xml" Id="R60af9a102e954136" /><Relationship Type="http://schemas.openxmlformats.org/officeDocument/2006/relationships/slideLayout" Target="/ppt/slideLayouts/slideLayout2.xml" Id="R24f6a4360f184c11" /><Relationship Type="http://schemas.openxmlformats.org/officeDocument/2006/relationships/slideLayout" Target="/ppt/slideLayouts/slideLayout3.xml" Id="R429a12db629c4fc8" /><Relationship Type="http://schemas.openxmlformats.org/officeDocument/2006/relationships/slideLayout" Target="/ppt/slideLayouts/slideLayout4.xml" Id="Recbb6c9cb8304768" /><Relationship Type="http://schemas.openxmlformats.org/officeDocument/2006/relationships/slideLayout" Target="/ppt/slideLayouts/slideLayout5.xml" Id="R57b4c14008e24e2d" /><Relationship Type="http://schemas.openxmlformats.org/officeDocument/2006/relationships/slideLayout" Target="/ppt/slideLayouts/slideLayout6.xml" Id="R5012db6df97142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af9a102e954136"/>
    <p:sldLayoutId xmlns:r="http://schemas.openxmlformats.org/officeDocument/2006/relationships" id="2147483650" r:id="R24f6a4360f184c11"/>
    <p:sldLayoutId xmlns:r="http://schemas.openxmlformats.org/officeDocument/2006/relationships" id="2147483651" r:id="R429a12db629c4fc8"/>
    <p:sldLayoutId xmlns:r="http://schemas.openxmlformats.org/officeDocument/2006/relationships" id="2147483652" r:id="Recbb6c9cb8304768"/>
    <p:sldLayoutId xmlns:r="http://schemas.openxmlformats.org/officeDocument/2006/relationships" id="2147483653" r:id="R57b4c14008e24e2d"/>
    <p:sldLayoutId xmlns:r="http://schemas.openxmlformats.org/officeDocument/2006/relationships" id="2147483654" r:id="R5012db6df97142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f89dda2f484821" /><Relationship Type="http://schemas.openxmlformats.org/officeDocument/2006/relationships/image" Target="/ppt/media/image.png" Id="R682b6afdb1e949bf" /><Relationship Type="http://schemas.openxmlformats.org/officeDocument/2006/relationships/notesSlide" Target="/ppt/notesSlides/notesSlide1.xml" Id="Ra58d5d03c96b48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ac84ad2fa34d37" /><Relationship Type="http://schemas.openxmlformats.org/officeDocument/2006/relationships/notesSlide" Target="/ppt/notesSlides/notesSlide2.xml" Id="R8f58e7de418b46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abe1ec37954eb2" /><Relationship Type="http://schemas.openxmlformats.org/officeDocument/2006/relationships/image" Target="/ppt/media/image2.png" Id="R048ab1ecc4234f2d" /><Relationship Type="http://schemas.openxmlformats.org/officeDocument/2006/relationships/notesSlide" Target="/ppt/notesSlides/notesSlide3.xml" Id="Rd13717839dea49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caa842769047a1" /><Relationship Type="http://schemas.openxmlformats.org/officeDocument/2006/relationships/image" Target="/ppt/media/image3.png" Id="Rab7af793f7fd40e1" /><Relationship Type="http://schemas.openxmlformats.org/officeDocument/2006/relationships/notesSlide" Target="/ppt/notesSlides/notesSlide4.xml" Id="Rc0aee79bc34e49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eecfa491344d0a" /><Relationship Type="http://schemas.openxmlformats.org/officeDocument/2006/relationships/image" Target="/ppt/media/image4.png" Id="Rbee1df5bd2094a7b" /><Relationship Type="http://schemas.openxmlformats.org/officeDocument/2006/relationships/notesSlide" Target="/ppt/notesSlides/notesSlide5.xml" Id="R15cca934232a4b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b93a8a0a504ea9" /><Relationship Type="http://schemas.openxmlformats.org/officeDocument/2006/relationships/image" Target="/ppt/media/image5.png" Id="Rdfc7bf68ef274f46" /><Relationship Type="http://schemas.openxmlformats.org/officeDocument/2006/relationships/notesSlide" Target="/ppt/notesSlides/notesSlide6.xml" Id="Raceec1c7967a47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bf068fb03b4b5b" /><Relationship Type="http://schemas.openxmlformats.org/officeDocument/2006/relationships/image" Target="/ppt/media/image6.png" Id="R61dd48a2f26e4896" /><Relationship Type="http://schemas.openxmlformats.org/officeDocument/2006/relationships/notesSlide" Target="/ppt/notesSlides/notesSlide7.xml" Id="R645324e3f5b443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f619c7fd7e4677" /><Relationship Type="http://schemas.openxmlformats.org/officeDocument/2006/relationships/notesSlide" Target="/ppt/notesSlides/notesSlide8.xml" Id="Rc72f8db5774a49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c6462f6f7c4b0e" /><Relationship Type="http://schemas.openxmlformats.org/officeDocument/2006/relationships/notesSlide" Target="/ppt/notesSlides/notesSlide9.xml" Id="Reed59c2b75fd46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dac58825b84495" /><Relationship Type="http://schemas.openxmlformats.org/officeDocument/2006/relationships/notesSlide" Target="/ppt/notesSlides/notesSlide10.xml" Id="Ra5361be65da0479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4465eee7c24355" /><Relationship Type="http://schemas.openxmlformats.org/officeDocument/2006/relationships/notesSlide" Target="/ppt/notesSlides/notesSlide11.xml" Id="R9a62f5ec5de74c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51e890d92746ab" /><Relationship Type="http://schemas.openxmlformats.org/officeDocument/2006/relationships/notesSlide" Target="/ppt/notesSlides/notesSlide12.xml" Id="R8aa6e8a5cfbb4b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B3D43FC2-D05F-4BC5-8AD7-F3225A3B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28D1F231-014D-4FA3-9338-0F752ED8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796F4-4D58-4E6E-8F23-1BA2EC61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B302DC-AA5B-4280-8F76-14FF508B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类别不均衡&#10;与错误分析">
            <a:extLst xmlns:a="http://schemas.openxmlformats.org/drawingml/2006/main">
              <a:ext uri="{FF2B5EF4-FFF2-40B4-BE49-F238E27FC236}">
                <a16:creationId xmlns:a16="http://schemas.microsoft.com/office/drawing/2014/main" id="{1F3FD872-BA45-4F7E-98C4-337F99F9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5245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类别不均衡</a:t>
            </a:r>
          </a:p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与错误分析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76F3A-4340-4E78-9A64-C70FE97F66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b6afdb1e949bf"/>
          <a:stretch xmlns:a="http://schemas.openxmlformats.org/drawingml/2006/main"/>
        </p:blipFill>
        <p:spPr>
          <a:xfrm xmlns:a="http://schemas.openxmlformats.org/drawingml/2006/main">
            <a:off x="6591300" y="2281039"/>
            <a:ext cx="4914900" cy="181967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B28A23-6174-4A07-89F8-887B8D24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损失、错误地图与真正的 Grad-CAM">
            <a:extLst xmlns:a="http://schemas.openxmlformats.org/drawingml/2006/main">
              <a:ext uri="{FF2B5EF4-FFF2-40B4-BE49-F238E27FC236}">
                <a16:creationId xmlns:a16="http://schemas.microsoft.com/office/drawing/2014/main" id="{414A8D22-B0BF-4C29-AF57-0372E327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损失、错误地图与真正的 Grad-CAM</a:t>
            </a:r>
          </a:p>
        </p:txBody>
      </p:sp>
      <p:sp>
        <p:nvSpPr>
          <p:cNvPr id="9" name="先修  /  L02/L05">
            <a:extLst xmlns:a="http://schemas.openxmlformats.org/drawingml/2006/main">
              <a:ext uri="{FF2B5EF4-FFF2-40B4-BE49-F238E27FC236}">
                <a16:creationId xmlns:a16="http://schemas.microsoft.com/office/drawing/2014/main" id="{4833B728-0BD1-486C-AD48-F5F73712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先修  /  L02/L05</a:t>
            </a:r>
          </a:p>
        </p:txBody>
      </p:sp>
    </p:spTree>
    <p:extLst>
      <p:ext uri="{BB962C8B-B14F-4D97-AF65-F5344CB8AC3E}">
        <p14:creationId xmlns:p14="http://schemas.microsoft.com/office/powerpoint/2010/main" val="8334771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FF84CCDE-064E-4343-AB7B-0478124B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6B2C1156-0D08-45C7-A0CF-AE72E701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这节课，你将完成什么">
            <a:extLst xmlns:a="http://schemas.openxmlformats.org/drawingml/2006/main">
              <a:ext uri="{FF2B5EF4-FFF2-40B4-BE49-F238E27FC236}">
                <a16:creationId xmlns:a16="http://schemas.microsoft.com/office/drawing/2014/main" id="{41C52859-5BE6-405F-8A60-A0B8D4EC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这节课，你将完成什么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473B0-42D4-4ABD-948B-4169ED79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4C27669C-CE1E-4ACE-9725-BF9A7988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同划分损失报告">
            <a:extLst xmlns:a="http://schemas.openxmlformats.org/drawingml/2006/main">
              <a:ext uri="{FF2B5EF4-FFF2-40B4-BE49-F238E27FC236}">
                <a16:creationId xmlns:a16="http://schemas.microsoft.com/office/drawing/2014/main" id="{43C25325-E812-456E-80B4-C41B310C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193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同划分损失报告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5FE98-D5F8-44A2-8D81-02A4D3A0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19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7916DF55-529E-4298-A506-3CB59751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逐类recall与错误map">
            <a:extLst xmlns:a="http://schemas.openxmlformats.org/drawingml/2006/main">
              <a:ext uri="{FF2B5EF4-FFF2-40B4-BE49-F238E27FC236}">
                <a16:creationId xmlns:a16="http://schemas.microsoft.com/office/drawing/2014/main" id="{779C3E1D-8485-44C3-91B5-9E2C088E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099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逐类recall与错误map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CFBB9-89DA-4B0A-A47F-5E6C9788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101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117ABDAB-363F-496F-B426-4BCBF3F8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类条件Grad-CAM">
            <a:extLst xmlns:a="http://schemas.openxmlformats.org/drawingml/2006/main">
              <a:ext uri="{FF2B5EF4-FFF2-40B4-BE49-F238E27FC236}">
                <a16:creationId xmlns:a16="http://schemas.microsoft.com/office/drawing/2014/main" id="{CA50ECEF-116B-402D-BDA1-9C842C6F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006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类条件Grad-CAM</a:t>
            </a:r>
          </a:p>
        </p:txBody>
      </p:sp>
    </p:spTree>
    <p:extLst>
      <p:ext uri="{BB962C8B-B14F-4D97-AF65-F5344CB8AC3E}">
        <p14:creationId xmlns:p14="http://schemas.microsoft.com/office/powerpoint/2010/main" val="7784890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2208EE30-F999-435C-AD90-9C530947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2A2EC964-6EA1-4A54-9C3E-DE80F5D1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先隐藏OA，读小类召回">
            <a:extLst xmlns:a="http://schemas.openxmlformats.org/drawingml/2006/main">
              <a:ext uri="{FF2B5EF4-FFF2-40B4-BE49-F238E27FC236}">
                <a16:creationId xmlns:a16="http://schemas.microsoft.com/office/drawing/2014/main" id="{0E0844E9-6DBE-442C-9073-205C36D9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先隐藏OA，读小类召回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2C80F-F019-40EE-BE7E-EAED5F00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87275-B22F-4C25-A43E-73DB8D93E4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ab1ecc4234f2d"/>
          <a:stretch xmlns:a="http://schemas.openxmlformats.org/drawingml/2006/main"/>
        </p:blipFill>
        <p:spPr>
          <a:xfrm xmlns:a="http://schemas.openxmlformats.org/drawingml/2006/main">
            <a:off x="821998" y="2019300"/>
            <a:ext cx="10548004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45216D-1767-4B0F-885F-317EB654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分类器可能优先满足大类">
            <a:extLst xmlns:a="http://schemas.openxmlformats.org/drawingml/2006/main">
              <a:ext uri="{FF2B5EF4-FFF2-40B4-BE49-F238E27FC236}">
                <a16:creationId xmlns:a16="http://schemas.microsoft.com/office/drawing/2014/main" id="{E789E15A-5FAD-461E-A616-1394F520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分类器可能优先满足大类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17422-D675-418D-971E-D4489FA1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support影响估计稳定性">
            <a:extLst xmlns:a="http://schemas.openxmlformats.org/drawingml/2006/main">
              <a:ext uri="{FF2B5EF4-FFF2-40B4-BE49-F238E27FC236}">
                <a16:creationId xmlns:a16="http://schemas.microsoft.com/office/drawing/2014/main" id="{FA49C11C-BD99-4152-916E-3D3D657C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support影响估计稳定性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30DAF-9A46-4276-9C45-C012FD61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报告每类错误而非一行总分">
            <a:extLst xmlns:a="http://schemas.openxmlformats.org/drawingml/2006/main">
              <a:ext uri="{FF2B5EF4-FFF2-40B4-BE49-F238E27FC236}">
                <a16:creationId xmlns:a16="http://schemas.microsoft.com/office/drawing/2014/main" id="{7E2F26F2-3400-49B2-BD0C-94D58C8C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报告每类错误而非一行总分</a:t>
            </a:r>
          </a:p>
        </p:txBody>
      </p:sp>
    </p:spTree>
    <p:extLst>
      <p:ext uri="{BB962C8B-B14F-4D97-AF65-F5344CB8AC3E}">
        <p14:creationId xmlns:p14="http://schemas.microsoft.com/office/powerpoint/2010/main" val="12133239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AF7D3C92-1C74-43E6-A649-8C4AEF4B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3B6AA4DE-0BB3-469D-860D-2EF64ADB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加权CE与Focal改变什么">
            <a:extLst xmlns:a="http://schemas.openxmlformats.org/drawingml/2006/main">
              <a:ext uri="{FF2B5EF4-FFF2-40B4-BE49-F238E27FC236}">
                <a16:creationId xmlns:a16="http://schemas.microsoft.com/office/drawing/2014/main" id="{9970AD91-5C7D-43D1-8DFE-83813FCE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加权CE与Focal改变什么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B4CEC-19D1-4E20-BC7E-C94676EB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当前CE/weighted OA：0.9507/0.9428">
            <a:extLst xmlns:a="http://schemas.openxmlformats.org/drawingml/2006/main">
              <a:ext uri="{FF2B5EF4-FFF2-40B4-BE49-F238E27FC236}">
                <a16:creationId xmlns:a16="http://schemas.microsoft.com/office/drawing/2014/main" id="{1A4029D9-6E62-4FF1-9A19-E08B3C2B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当前CE/weighted OA：0.9507/0.9428</a:t>
            </a:r>
          </a:p>
        </p:txBody>
      </p:sp>
      <p:sp>
        <p:nvSpPr>
          <p:cNvPr id="6" name="当前AA：0.8066/0.9339">
            <a:extLst xmlns:a="http://schemas.openxmlformats.org/drawingml/2006/main">
              <a:ext uri="{FF2B5EF4-FFF2-40B4-BE49-F238E27FC236}">
                <a16:creationId xmlns:a16="http://schemas.microsoft.com/office/drawing/2014/main" id="{64DE25C4-AFAC-4110-9720-800E7905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当前AA：0.8066/0.9339</a:t>
            </a:r>
          </a:p>
        </p:txBody>
      </p:sp>
      <p:sp>
        <p:nvSpPr>
          <p:cNvPr id="7" name="加权依据频率，Focal依据预测难度">
            <a:extLst xmlns:a="http://schemas.openxmlformats.org/drawingml/2006/main">
              <a:ext uri="{FF2B5EF4-FFF2-40B4-BE49-F238E27FC236}">
                <a16:creationId xmlns:a16="http://schemas.microsoft.com/office/drawing/2014/main" id="{4F373389-2941-4790-BD4B-776EDD93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加权依据频率，Focal依据预测难度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87A26B-2C70-4B83-A4CE-6912A8B167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af793f7fd40e1"/>
          <a:stretch xmlns:a="http://schemas.openxmlformats.org/drawingml/2006/main"/>
        </p:blipFill>
        <p:spPr>
          <a:xfrm xmlns:a="http://schemas.openxmlformats.org/drawingml/2006/main">
            <a:off x="6096000" y="3131996"/>
            <a:ext cx="5410200" cy="508283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B1C349-90FF-4EA7-BBEF-87863378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results['CE'][1].mean()">
            <a:extLst xmlns:a="http://schemas.openxmlformats.org/drawingml/2006/main">
              <a:ext uri="{FF2B5EF4-FFF2-40B4-BE49-F238E27FC236}">
                <a16:creationId xmlns:a16="http://schemas.microsoft.com/office/drawing/2014/main" id="{B8E89059-2AE7-4040-80F2-ADFD3D7F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results['CE'][1].mean()</a:t>
            </a:r>
          </a:p>
        </p:txBody>
      </p:sp>
      <p:sp>
        <p:nvSpPr>
          <p:cNvPr id="11" name="0.8066">
            <a:extLst xmlns:a="http://schemas.openxmlformats.org/drawingml/2006/main">
              <a:ext uri="{FF2B5EF4-FFF2-40B4-BE49-F238E27FC236}">
                <a16:creationId xmlns:a16="http://schemas.microsoft.com/office/drawing/2014/main" id="{6E12C669-91A9-4840-A7F3-2FC28A1C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0.8066</a:t>
            </a:r>
          </a:p>
        </p:txBody>
      </p:sp>
    </p:spTree>
    <p:extLst>
      <p:ext uri="{BB962C8B-B14F-4D97-AF65-F5344CB8AC3E}">
        <p14:creationId xmlns:p14="http://schemas.microsoft.com/office/powerpoint/2010/main" val="172919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9D2B2C3B-B804-47D3-886A-156831B4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3F26F395-270F-4138-AE7E-C1DC94AB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同一split，才能读这张图">
            <a:extLst xmlns:a="http://schemas.openxmlformats.org/drawingml/2006/main">
              <a:ext uri="{FF2B5EF4-FFF2-40B4-BE49-F238E27FC236}">
                <a16:creationId xmlns:a16="http://schemas.microsoft.com/office/drawing/2014/main" id="{356DCC62-9CF8-43AF-B95A-5112C38E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同一split，才能读这张图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7722A-FFDC-4A5A-B199-7BDED886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D7FCF-35E9-4225-87F8-FBA7EC3E07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1df5bd2094a7b"/>
          <a:stretch xmlns:a="http://schemas.openxmlformats.org/drawingml/2006/main"/>
        </p:blipFill>
        <p:spPr>
          <a:xfrm xmlns:a="http://schemas.openxmlformats.org/drawingml/2006/main">
            <a:off x="685800" y="2052952"/>
            <a:ext cx="10820400" cy="383794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A8461-2448-498F-AFE3-693B6A23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共享预处理与划分">
            <a:extLst xmlns:a="http://schemas.openxmlformats.org/drawingml/2006/main">
              <a:ext uri="{FF2B5EF4-FFF2-40B4-BE49-F238E27FC236}">
                <a16:creationId xmlns:a16="http://schemas.microsoft.com/office/drawing/2014/main" id="{CF16DFCE-0A60-49E8-9AAE-4F14599F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共享预处理与划分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B88D5-163C-4BEE-967D-9C44AADA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固定模型与选择规则">
            <a:extLst xmlns:a="http://schemas.openxmlformats.org/drawingml/2006/main">
              <a:ext uri="{FF2B5EF4-FFF2-40B4-BE49-F238E27FC236}">
                <a16:creationId xmlns:a16="http://schemas.microsoft.com/office/drawing/2014/main" id="{C41D9977-C8CD-4F76-825A-1E3389B5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固定模型与选择规则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3D195C-86F8-47B9-A6BE-65DD857F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预测图不是额外测试成绩">
            <a:extLst xmlns:a="http://schemas.openxmlformats.org/drawingml/2006/main">
              <a:ext uri="{FF2B5EF4-FFF2-40B4-BE49-F238E27FC236}">
                <a16:creationId xmlns:a16="http://schemas.microsoft.com/office/drawing/2014/main" id="{E0A0C0F2-C188-478C-8B09-75D820C2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预测图不是额外测试成绩</a:t>
            </a:r>
          </a:p>
        </p:txBody>
      </p:sp>
    </p:spTree>
    <p:extLst>
      <p:ext uri="{BB962C8B-B14F-4D97-AF65-F5344CB8AC3E}">
        <p14:creationId xmlns:p14="http://schemas.microsoft.com/office/powerpoint/2010/main" val="14825106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AD1E8296-5D6D-4F5B-80C9-51524D32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CD90FEAD-0E87-4614-8149-1FE6290F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Grad-CAM必须真的求梯度">
            <a:extLst xmlns:a="http://schemas.openxmlformats.org/drawingml/2006/main">
              <a:ext uri="{FF2B5EF4-FFF2-40B4-BE49-F238E27FC236}">
                <a16:creationId xmlns:a16="http://schemas.microsoft.com/office/drawing/2014/main" id="{5BFFE393-253F-4D4C-93ED-73F43143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Grad-CAM必须真的求梯度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139FFE-F7D5-49CC-B689-CDE5AED4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明确模型与目标类别">
            <a:extLst xmlns:a="http://schemas.openxmlformats.org/drawingml/2006/main">
              <a:ext uri="{FF2B5EF4-FFF2-40B4-BE49-F238E27FC236}">
                <a16:creationId xmlns:a16="http://schemas.microsoft.com/office/drawing/2014/main" id="{56C7669D-A961-4D21-96C4-0C7E8311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明确模型与目标类别</a:t>
            </a:r>
          </a:p>
        </p:txBody>
      </p:sp>
      <p:sp>
        <p:nvSpPr>
          <p:cNvPr id="6" name="梯度空间均值给通道权重">
            <a:extLst xmlns:a="http://schemas.openxmlformats.org/drawingml/2006/main">
              <a:ext uri="{FF2B5EF4-FFF2-40B4-BE49-F238E27FC236}">
                <a16:creationId xmlns:a16="http://schemas.microsoft.com/office/drawing/2014/main" id="{B22D5B57-9F2F-4CA4-B37B-EC35E663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梯度空间均值给通道权重</a:t>
            </a:r>
          </a:p>
        </p:txBody>
      </p:sp>
      <p:sp>
        <p:nvSpPr>
          <p:cNvPr id="7" name="加权、ReLU、插值回输入">
            <a:extLst xmlns:a="http://schemas.openxmlformats.org/drawingml/2006/main">
              <a:ext uri="{FF2B5EF4-FFF2-40B4-BE49-F238E27FC236}">
                <a16:creationId xmlns:a16="http://schemas.microsoft.com/office/drawing/2014/main" id="{134D96BE-F973-4D25-A152-D4C68639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加权、ReLU、插值回输入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A4EA4-C19F-4FA3-9071-086FED09D4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c7bf68ef274f46"/>
          <a:stretch xmlns:a="http://schemas.openxmlformats.org/drawingml/2006/main"/>
        </p:blipFill>
        <p:spPr>
          <a:xfrm xmlns:a="http://schemas.openxmlformats.org/drawingml/2006/main">
            <a:off x="6096000" y="3537908"/>
            <a:ext cx="5410200" cy="64895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8103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D67B3CC7-D7BC-4D2C-B75D-0DB46A72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BF398C30-2906-4DFE-81D5-22CBF92C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失败样本也要展示">
            <a:extLst xmlns:a="http://schemas.openxmlformats.org/drawingml/2006/main">
              <a:ext uri="{FF2B5EF4-FFF2-40B4-BE49-F238E27FC236}">
                <a16:creationId xmlns:a16="http://schemas.microsoft.com/office/drawing/2014/main" id="{E67D2B07-76D7-469D-BCAB-E24F8A19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失败样本也要展示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4F5FB-590C-4F26-8525-5AD0C37E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C8656-820B-4288-97C1-42BF5B27FA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d48a2f26e4896"/>
          <a:stretch xmlns:a="http://schemas.openxmlformats.org/drawingml/2006/main"/>
        </p:blipFill>
        <p:spPr>
          <a:xfrm xmlns:a="http://schemas.openxmlformats.org/drawingml/2006/main">
            <a:off x="2852445" y="2019300"/>
            <a:ext cx="6487110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64B3B-AB12-4544-90F7-864291EE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正确、错误、稀有类各一个">
            <a:extLst xmlns:a="http://schemas.openxmlformats.org/drawingml/2006/main">
              <a:ext uri="{FF2B5EF4-FFF2-40B4-BE49-F238E27FC236}">
                <a16:creationId xmlns:a16="http://schemas.microsoft.com/office/drawing/2014/main" id="{6F067679-4118-4B41-8CAA-5A84D829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正确、错误、稀有类各一个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D72EB-286B-44C9-9C59-7134E4E7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原始类ID与坐标明确">
            <a:extLst xmlns:a="http://schemas.openxmlformats.org/drawingml/2006/main">
              <a:ext uri="{FF2B5EF4-FFF2-40B4-BE49-F238E27FC236}">
                <a16:creationId xmlns:a16="http://schemas.microsoft.com/office/drawing/2014/main" id="{411B10F7-45B4-4EB3-9BCD-456A780D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原始类ID与坐标明确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544FC0-19DA-4FEB-B9C1-A4ECD1CB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零CAM不等于“模型没看输入”">
            <a:extLst xmlns:a="http://schemas.openxmlformats.org/drawingml/2006/main">
              <a:ext uri="{FF2B5EF4-FFF2-40B4-BE49-F238E27FC236}">
                <a16:creationId xmlns:a16="http://schemas.microsoft.com/office/drawing/2014/main" id="{034DDFCA-3B04-407C-B154-BB291E59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零CAM不等于“模型没看输入”</a:t>
            </a:r>
          </a:p>
        </p:txBody>
      </p:sp>
    </p:spTree>
    <p:extLst>
      <p:ext uri="{BB962C8B-B14F-4D97-AF65-F5344CB8AC3E}">
        <p14:creationId xmlns:p14="http://schemas.microsoft.com/office/powerpoint/2010/main" val="11930886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61152295-753D-42EC-8D86-C55B9868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195D2587-D32C-4D0F-A191-111FFCA2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解释图不是因果证明">
            <a:extLst xmlns:a="http://schemas.openxmlformats.org/drawingml/2006/main">
              <a:ext uri="{FF2B5EF4-FFF2-40B4-BE49-F238E27FC236}">
                <a16:creationId xmlns:a16="http://schemas.microsoft.com/office/drawing/2014/main" id="{676EB18F-08A3-4FB7-91AE-93C68AE8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解释图不是因果证明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36D75-2C65-4FA3-8211-2DA29A90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4C3AF6E3-D096-4BD8-94F0-154036BC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相关热区可以生成假设">
            <a:extLst xmlns:a="http://schemas.openxmlformats.org/drawingml/2006/main">
              <a:ext uri="{FF2B5EF4-FFF2-40B4-BE49-F238E27FC236}">
                <a16:creationId xmlns:a16="http://schemas.microsoft.com/office/drawing/2014/main" id="{29189165-5476-4753-B114-107D3623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相关热区可以生成假设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73D84E23-C32B-4BB4-BDE9-657F539E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遮挡也可能造成分布外输入">
            <a:extLst xmlns:a="http://schemas.openxmlformats.org/drawingml/2006/main">
              <a:ext uri="{FF2B5EF4-FFF2-40B4-BE49-F238E27FC236}">
                <a16:creationId xmlns:a16="http://schemas.microsoft.com/office/drawing/2014/main" id="{4B4EF0A0-E510-4EC0-BE84-5D215BD4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遮挡也可能造成分布外输入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FF1C6020-0B58-4DC3-B025-76711CDB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结合指标、错误图和受控实验">
            <a:extLst xmlns:a="http://schemas.openxmlformats.org/drawingml/2006/main">
              <a:ext uri="{FF2B5EF4-FFF2-40B4-BE49-F238E27FC236}">
                <a16:creationId xmlns:a16="http://schemas.microsoft.com/office/drawing/2014/main" id="{927064ED-56BD-4BE9-B3C7-D0B2721B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结合指标、错误图和受控实验</a:t>
            </a:r>
          </a:p>
        </p:txBody>
      </p:sp>
    </p:spTree>
    <p:extLst>
      <p:ext uri="{BB962C8B-B14F-4D97-AF65-F5344CB8AC3E}">
        <p14:creationId xmlns:p14="http://schemas.microsoft.com/office/powerpoint/2010/main" val="10034730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7C9ED2A5-C5D2-4562-B12C-92DDEA6E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FA79E703-2730-4344-8304-495FB973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手算一个batch的加权损失">
            <a:extLst xmlns:a="http://schemas.openxmlformats.org/drawingml/2006/main">
              <a:ext uri="{FF2B5EF4-FFF2-40B4-BE49-F238E27FC236}">
                <a16:creationId xmlns:a16="http://schemas.microsoft.com/office/drawing/2014/main" id="{46C11D16-8550-4902-AEF6-73C790D7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手算一个batch的加权损失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76B6B-0E46-4C98-B646-683E0648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普通CE平均每个样本的损失  ·  weighted CE按">
            <a:extLst xmlns:a="http://schemas.openxmlformats.org/drawingml/2006/main">
              <a:ext uri="{FF2B5EF4-FFF2-40B4-BE49-F238E27FC236}">
                <a16:creationId xmlns:a16="http://schemas.microsoft.com/office/drawing/2014/main" id="{F7A8B297-B3C2-4CE2-9A27-293B0731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普通CE平均每个样本的损失  ·  weighted CE按目标权重归一化  ·  少数类权重高，不保证所有指标改善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B8A73-7C15-4B94-9305-6607995B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E5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3C0F2D-FCA3-4AAB-B566-FB93FB71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样本">
            <a:extLst xmlns:a="http://schemas.openxmlformats.org/drawingml/2006/main">
              <a:ext uri="{FF2B5EF4-FFF2-40B4-BE49-F238E27FC236}">
                <a16:creationId xmlns:a16="http://schemas.microsoft.com/office/drawing/2014/main" id="{DAC23106-FCE5-4076-BB1D-6C63D278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4327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样本</a:t>
            </a:r>
          </a:p>
        </p:txBody>
      </p:sp>
      <p:sp>
        <p:nvSpPr>
          <p:cNvPr id="9" name="loss">
            <a:extLst xmlns:a="http://schemas.openxmlformats.org/drawingml/2006/main">
              <a:ext uri="{FF2B5EF4-FFF2-40B4-BE49-F238E27FC236}">
                <a16:creationId xmlns:a16="http://schemas.microsoft.com/office/drawing/2014/main" id="{F2EFB448-E39C-4D60-96C4-F568B5C9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334327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loss</a:t>
            </a:r>
          </a:p>
        </p:txBody>
      </p:sp>
      <p:sp>
        <p:nvSpPr>
          <p:cNvPr id="10" name="目标权重">
            <a:extLst xmlns:a="http://schemas.openxmlformats.org/drawingml/2006/main">
              <a:ext uri="{FF2B5EF4-FFF2-40B4-BE49-F238E27FC236}">
                <a16:creationId xmlns:a16="http://schemas.microsoft.com/office/drawing/2014/main" id="{29BE76FF-7F70-46D3-BEB0-54061D71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334327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目标权重</a:t>
            </a:r>
          </a:p>
        </p:txBody>
      </p:sp>
      <p:sp>
        <p:nvSpPr>
          <p:cNvPr id="11" name="大类">
            <a:extLst xmlns:a="http://schemas.openxmlformats.org/drawingml/2006/main">
              <a:ext uri="{FF2B5EF4-FFF2-40B4-BE49-F238E27FC236}">
                <a16:creationId xmlns:a16="http://schemas.microsoft.com/office/drawing/2014/main" id="{3666DCE3-CD68-4654-AA49-FCEEEEB1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大类</a:t>
            </a:r>
          </a:p>
        </p:txBody>
      </p:sp>
      <p:sp>
        <p:nvSpPr>
          <p:cNvPr id="12" name="0.2">
            <a:extLst xmlns:a="http://schemas.openxmlformats.org/drawingml/2006/main">
              <a:ext uri="{FF2B5EF4-FFF2-40B4-BE49-F238E27FC236}">
                <a16:creationId xmlns:a16="http://schemas.microsoft.com/office/drawing/2014/main" id="{89818433-0923-4763-86C2-980C89B5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405765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0.2</a:t>
            </a:r>
          </a:p>
        </p:txBody>
      </p:sp>
      <p:sp>
        <p:nvSpPr>
          <p:cNvPr id="13" name="1">
            <a:extLst xmlns:a="http://schemas.openxmlformats.org/drawingml/2006/main">
              <a:ext uri="{FF2B5EF4-FFF2-40B4-BE49-F238E27FC236}">
                <a16:creationId xmlns:a16="http://schemas.microsoft.com/office/drawing/2014/main" id="{D5E9AEE1-470E-46FA-8031-FAB5A12C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405765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小类">
            <a:extLst xmlns:a="http://schemas.openxmlformats.org/drawingml/2006/main">
              <a:ext uri="{FF2B5EF4-FFF2-40B4-BE49-F238E27FC236}">
                <a16:creationId xmlns:a16="http://schemas.microsoft.com/office/drawing/2014/main" id="{EC56CD68-D8F0-456D-847F-5843B8D2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7202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小类</a:t>
            </a:r>
          </a:p>
        </p:txBody>
      </p:sp>
      <p:sp>
        <p:nvSpPr>
          <p:cNvPr id="15" name="1.0">
            <a:extLst xmlns:a="http://schemas.openxmlformats.org/drawingml/2006/main">
              <a:ext uri="{FF2B5EF4-FFF2-40B4-BE49-F238E27FC236}">
                <a16:creationId xmlns:a16="http://schemas.microsoft.com/office/drawing/2014/main" id="{FC5A3BC7-C3AA-4C2D-B2DA-AAD6411F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477202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1.0</a:t>
            </a:r>
          </a:p>
        </p:txBody>
      </p:sp>
      <p:sp>
        <p:nvSpPr>
          <p:cNvPr id="16" name="4">
            <a:extLst xmlns:a="http://schemas.openxmlformats.org/drawingml/2006/main">
              <a:ext uri="{FF2B5EF4-FFF2-40B4-BE49-F238E27FC236}">
                <a16:creationId xmlns:a16="http://schemas.microsoft.com/office/drawing/2014/main" id="{D1D4858C-60DF-487B-8E72-4EFB1B51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477202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7" name="普通/加权">
            <a:extLst xmlns:a="http://schemas.openxmlformats.org/drawingml/2006/main">
              <a:ext uri="{FF2B5EF4-FFF2-40B4-BE49-F238E27FC236}">
                <a16:creationId xmlns:a16="http://schemas.microsoft.com/office/drawing/2014/main" id="{C6A23017-A04F-4C14-9CE4-5BA9D4AF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8640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普通/加权</a:t>
            </a:r>
          </a:p>
        </p:txBody>
      </p:sp>
      <p:sp>
        <p:nvSpPr>
          <p:cNvPr id="18" name="0.6 / 0.84">
            <a:extLst xmlns:a="http://schemas.openxmlformats.org/drawingml/2006/main">
              <a:ext uri="{FF2B5EF4-FFF2-40B4-BE49-F238E27FC236}">
                <a16:creationId xmlns:a16="http://schemas.microsoft.com/office/drawing/2014/main" id="{BE0E742F-B404-419A-AACC-FDF0E117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548640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0.6 / 0.84</a:t>
            </a:r>
          </a:p>
        </p:txBody>
      </p:sp>
      <p:sp>
        <p:nvSpPr>
          <p:cNvPr id="19" name="(0.2+4)/5">
            <a:extLst xmlns:a="http://schemas.openxmlformats.org/drawingml/2006/main">
              <a:ext uri="{FF2B5EF4-FFF2-40B4-BE49-F238E27FC236}">
                <a16:creationId xmlns:a16="http://schemas.microsoft.com/office/drawing/2014/main" id="{813BC79B-6418-4B7C-86BB-0589FBEE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548640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(0.2+4)/5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807AF0-C723-4618-9860-F6EAB211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E50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538696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C842AE5D-677D-4373-8778-0C30E4DA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C72FC4B5-139F-437F-8394-A8640225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让代码验证你的判断">
            <a:extLst xmlns:a="http://schemas.openxmlformats.org/drawingml/2006/main">
              <a:ext uri="{FF2B5EF4-FFF2-40B4-BE49-F238E27FC236}">
                <a16:creationId xmlns:a16="http://schemas.microsoft.com/office/drawing/2014/main" id="{2C15CAC2-38E8-4419-80E9-9CF22252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让代码验证你的判断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E003E-8099-4454-98DA-C2B6CB3C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23CB3-4F6F-46C6-9107-A639DB69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C"/>
          </a:solidFill>
          <a:ln xmlns:a="http://schemas.openxmlformats.org/drawingml/2006/main" w="0">
            <a:noFill/>
          </a:ln>
        </p:spPr>
      </p:sp>
      <p:sp>
        <p:nvSpPr>
          <p:cNvPr id="6" name="response, logits = grad_cam(&#10; ">
            <a:extLst xmlns:a="http://schemas.openxmlformats.org/drawingml/2006/main">
              <a:ext uri="{FF2B5EF4-FFF2-40B4-BE49-F238E27FC236}">
                <a16:creationId xmlns:a16="http://schemas.microsoft.com/office/drawing/2014/main" id="{88795950-CDC3-4A6F-A250-FC572624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02870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response, logits = grad_cam(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    ce, ce.encoder.features[7], inputs, torch.tensor([first]))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assert response.shape[-2:] == inputs.shape[-2:]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assert torch.isfinite(response).all()</a:t>
            </a:r>
          </a:p>
        </p:txBody>
      </p:sp>
      <p:sp>
        <p:nvSpPr>
          <p:cNvPr id="7" name="先预测输出，再运行对应单元格。">
            <a:extLst xmlns:a="http://schemas.openxmlformats.org/drawingml/2006/main">
              <a:ext uri="{FF2B5EF4-FFF2-40B4-BE49-F238E27FC236}">
                <a16:creationId xmlns:a16="http://schemas.microsoft.com/office/drawing/2014/main" id="{A29EE352-88E8-458C-A72D-5A207D0E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先预测输出，再运行对应单元格。</a:t>
            </a:r>
          </a:p>
        </p:txBody>
      </p:sp>
    </p:spTree>
    <p:extLst>
      <p:ext uri="{BB962C8B-B14F-4D97-AF65-F5344CB8AC3E}">
        <p14:creationId xmlns:p14="http://schemas.microsoft.com/office/powerpoint/2010/main" val="4311559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1C9B7D77-D77A-427F-A9A4-65E06A0C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5F75F356-EBDF-4C5C-BAC9-24A40D6C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停下来，做一次判断">
            <a:extLst xmlns:a="http://schemas.openxmlformats.org/drawingml/2006/main">
              <a:ext uri="{FF2B5EF4-FFF2-40B4-BE49-F238E27FC236}">
                <a16:creationId xmlns:a16="http://schemas.microsoft.com/office/drawing/2014/main" id="{6F8D8A91-394C-46ED-B0E2-8DF484E2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停下来，做一次判断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BFE87-10D2-4344-8510-3D43E1E0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课堂预测">
            <a:extLst xmlns:a="http://schemas.openxmlformats.org/drawingml/2006/main">
              <a:ext uri="{FF2B5EF4-FFF2-40B4-BE49-F238E27FC236}">
                <a16:creationId xmlns:a16="http://schemas.microsoft.com/office/drawing/2014/main" id="{A4262913-0687-47EF-AF8E-DBE4416D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课堂预测</a:t>
            </a:r>
          </a:p>
        </p:txBody>
      </p:sp>
      <p:sp>
        <p:nvSpPr>
          <p:cNvPr id="6" name="固定同一patch，只更换Grad-CAM目标类别，解释哪些">
            <a:extLst xmlns:a="http://schemas.openxmlformats.org/drawingml/2006/main">
              <a:ext uri="{FF2B5EF4-FFF2-40B4-BE49-F238E27FC236}">
                <a16:creationId xmlns:a16="http://schemas.microsoft.com/office/drawing/2014/main" id="{D5715183-ACE7-4BC3-890C-C602082D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固定同一patch，只更换Grad-CAM目标类别，解释哪些能推断、哪些不能。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577B0E-25CD-494A-9114-CA17A6E2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退出题">
            <a:extLst xmlns:a="http://schemas.openxmlformats.org/drawingml/2006/main">
              <a:ext uri="{FF2B5EF4-FFF2-40B4-BE49-F238E27FC236}">
                <a16:creationId xmlns:a16="http://schemas.microsoft.com/office/drawing/2014/main" id="{A3D39ED5-E9A0-4730-A165-1AE1A0B9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退出题</a:t>
            </a:r>
          </a:p>
        </p:txBody>
      </p:sp>
      <p:sp>
        <p:nvSpPr>
          <p:cNvPr id="9" name="OA下降而AA上升是否表示实验失败？">
            <a:extLst xmlns:a="http://schemas.openxmlformats.org/drawingml/2006/main">
              <a:ext uri="{FF2B5EF4-FFF2-40B4-BE49-F238E27FC236}">
                <a16:creationId xmlns:a16="http://schemas.microsoft.com/office/drawing/2014/main" id="{7FEFCAAD-D322-429B-A62A-A96F3CEB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204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OA下降而AA上升是否表示实验失败？</a:t>
            </a:r>
          </a:p>
        </p:txBody>
      </p:sp>
    </p:spTree>
    <p:extLst>
      <p:ext uri="{BB962C8B-B14F-4D97-AF65-F5344CB8AC3E}">
        <p14:creationId xmlns:p14="http://schemas.microsoft.com/office/powerpoint/2010/main" val="3968951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7  /  HSI LEARNING">
            <a:extLst xmlns:a="http://schemas.openxmlformats.org/drawingml/2006/main">
              <a:ext uri="{FF2B5EF4-FFF2-40B4-BE49-F238E27FC236}">
                <a16:creationId xmlns:a16="http://schemas.microsoft.com/office/drawing/2014/main" id="{92532E94-81F2-4223-B600-D595BAA7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L07  /  HSI LEARNING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A743DB2E-832A-4A97-8FBD-96FA67C8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结论要有边界">
            <a:extLst xmlns:a="http://schemas.openxmlformats.org/drawingml/2006/main">
              <a:ext uri="{FF2B5EF4-FFF2-40B4-BE49-F238E27FC236}">
                <a16:creationId xmlns:a16="http://schemas.microsoft.com/office/drawing/2014/main" id="{ACDA3CBE-4EFE-4F7D-ADA8-E5FC1A83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结论要有边界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DC396-A02D-455D-A735-10C3D21D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已知">
            <a:extLst xmlns:a="http://schemas.openxmlformats.org/drawingml/2006/main">
              <a:ext uri="{FF2B5EF4-FFF2-40B4-BE49-F238E27FC236}">
                <a16:creationId xmlns:a16="http://schemas.microsoft.com/office/drawing/2014/main" id="{70D945AC-3B7A-45A1-8330-E740AABE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6" name="降低大类权重可能损失OA">
            <a:extLst xmlns:a="http://schemas.openxmlformats.org/drawingml/2006/main">
              <a:ext uri="{FF2B5EF4-FFF2-40B4-BE49-F238E27FC236}">
                <a16:creationId xmlns:a16="http://schemas.microsoft.com/office/drawing/2014/main" id="{F3E3B04A-375D-492D-BE88-6DB45C7D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66950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降低大类权重可能损失OA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40E597-4AD0-4778-B97E-6F2FFDE6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528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边界">
            <a:extLst xmlns:a="http://schemas.openxmlformats.org/drawingml/2006/main">
              <a:ext uri="{FF2B5EF4-FFF2-40B4-BE49-F238E27FC236}">
                <a16:creationId xmlns:a16="http://schemas.microsoft.com/office/drawing/2014/main" id="{EC56D6DB-114A-46E2-B9FA-C66603D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9" name="热图插值不增加解释分辨率">
            <a:extLst xmlns:a="http://schemas.openxmlformats.org/drawingml/2006/main">
              <a:ext uri="{FF2B5EF4-FFF2-40B4-BE49-F238E27FC236}">
                <a16:creationId xmlns:a16="http://schemas.microsoft.com/office/drawing/2014/main" id="{C5AA21D0-C6F2-4A63-A1D5-49C8FEAD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10025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热图插值不增加解释分辨率</a:t>
            </a:r>
          </a:p>
        </p:txBody>
      </p:sp>
      <p:sp>
        <p:nvSpPr>
          <p:cNvPr id="10" name="来源、复现入口与辅助提示见讲者备注。">
            <a:extLst xmlns:a="http://schemas.openxmlformats.org/drawingml/2006/main">
              <a:ext uri="{FF2B5EF4-FFF2-40B4-BE49-F238E27FC236}">
                <a16:creationId xmlns:a16="http://schemas.microsoft.com/office/drawing/2014/main" id="{384533E8-49C4-4EFA-93C7-7FC84921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来源、复现入口与辅助提示见讲者备注。</a:t>
            </a:r>
          </a:p>
        </p:txBody>
      </p:sp>
    </p:spTree>
    <p:extLst>
      <p:ext uri="{BB962C8B-B14F-4D97-AF65-F5344CB8AC3E}">
        <p14:creationId xmlns:p14="http://schemas.microsoft.com/office/powerpoint/2010/main" val="19452899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2026-10-09T03:34:42.6510000Z</dcterms:created>
  <dcterms:modified xsi:type="dcterms:W3CDTF">2026-10-09T03:34:42.6510000Z</dcterms:modified>
</coreProperties>
</file>