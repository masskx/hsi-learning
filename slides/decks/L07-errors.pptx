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da767e22-72fb-ee20-e2fa-91332e571578}">
          <p14:sldIdLst>
            <p14:sldId id="256"/>
            <p14:sldId id="257"/>
          </p14:sldIdLst>
        </p14:section>
        <p14:section name="讲解" id="{aa8d37d1-8548-c1ba-f56f-6cb9fe7591d6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练习" id="{86b4bfaf-e5a5-e1e2-31cb-c6eafd0126cd}">
          <p14:sldIdLst>
            <p14:sldId id="265"/>
            <p14:sldId id="266"/>
          </p14:sldIdLst>
        </p14:section>
        <p14:section name="收束" id="{b57de59a-9b00-e89a-b4d8-35424e63d71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开场问题：OA下降而AA上升是否表示实验失败？
原标题：OA 很高，小类为什么仍全错？
参考节奏：5分钟回顾，10分钟手算，10分钟代码，12分钟练习，5分钟错误分析，3分钟退出题。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
封面图源：15_imbalance_analysis_teaching.ipynb / gradcam /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交付物以代码、配置、输出和解释为准。先做完整示例，再做填空与迁移任务。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引用本次Notebook输出，不沿用历史实验+8点作为承诺。
Class count / Per-class recall / Failure cases
图源：15_imbalance_analysis_teaching.ipynb / loss-comparison / 0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OA和AA取当前classroom-facts；固定划分的一次运行不证明普遍收益。
Class weights / Hard examples / OA / AA trade-off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全图显示包含训练像元，测试错误另画。
GT / CE / Weighted CE
图源：15_imbalance_analysis_teaching.ipynb / maps / 0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通道均值图不属于Grad-CAM，target换了图可能变化；不允许no_grad包住关键步骤。
Target logit / Gradient weights / Spatial response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本图按预先规则选样，不挑好看案例。
Correct / Misclassified / Rare class
图源：15_imbalance_analysis_teaching.ipynb / gradcam / 0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t-SNE、CAM各有条件，论文分析不能仅靠颜色叙事。
Attribution / Perturbation / Limitations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Notebook15 weighted-loss-toy展示与PyTorch输出核对；目标权重归一化不是简单乘后平均。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只运行指定短cell；完整训练已在课前完成。缺资产时使用已执行输出备用并说明。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停下来收集预测，发现错误后重新解释；不等到课后作业才知道学生没理解。
作业：A04；完整示例 / 填空 / 迁移；提交代码、配置、结果和限制。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区分已观察事实、候选解释与下一项检验。
退出题：OA下降而AA上升是否表示实验失败？
课堂入口: 15_imbalance_analysis_teaching.ipynb
定位: loss-comparison, gradcam, maps, weighted-loss-toy, target-comparison
先预测，再运行；答错时回到手算例。
AI辅助：依据给定recall表和错误图提出三种可检验假设，每条列控制变量和反例。不要把热力图高亮说成因果证据，不补造实验结果。
人工核验：核对目标梯度真实存在；假设另做实验；保留零响应与失败样本。
Lin et al. Focal Loss, 2017
https://arxiv.org/abs/1708.02002
Selvaraju et al. Grad-CAM, 2017
https://arxiv.org/abs/1610.02391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5440680"/>
            <a:ext cx="12191695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5897880"/>
            <a:ext cx="12191695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2F5BB7"/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类别不均衡</a:t>
            </a:r>
            <a:endParaRPr lang="en-US" sz="5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与错误分析</a:t>
            </a:r>
            <a:endParaRPr lang="en-US" sz="5000" dirty="0"/>
          </a:p>
        </p:txBody>
      </p:sp>
      <p:sp>
        <p:nvSpPr>
          <p:cNvPr id="3" name="lesson id"/>
          <p:cNvSpPr/>
          <p:nvPr/>
        </p:nvSpPr>
        <p:spPr>
          <a:xfrm>
            <a:off x="685800" y="1243584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2F5B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4358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L07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30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本课问题 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很高，小类为什么仍全错？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损失、错误地图与真正的 Grad-CAM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451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  ·  L02/L05</a:t>
            </a:r>
            <a:endParaRPr lang="en-US" sz="1300" dirty="0"/>
          </a:p>
        </p:txBody>
      </p:sp>
      <p:sp>
        <p:nvSpPr>
          <p:cNvPr id="8" name="hero frame"/>
          <p:cNvSpPr/>
          <p:nvPr/>
        </p:nvSpPr>
        <p:spPr>
          <a:xfrm>
            <a:off x="7409383" y="1681542"/>
            <a:ext cx="4096512" cy="2626236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ove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0551" y="1882710"/>
            <a:ext cx="3694176" cy="2223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这节课，你将完成什么</a:t>
            </a:r>
            <a:endParaRPr lang="en-US" sz="3000" dirty="0"/>
          </a:p>
        </p:txBody>
      </p:sp>
      <p:sp>
        <p:nvSpPr>
          <p:cNvPr id="3" name="deliverable 1"/>
          <p:cNvSpPr/>
          <p:nvPr/>
        </p:nvSpPr>
        <p:spPr>
          <a:xfrm>
            <a:off x="685800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4" name="chip 01"/>
          <p:cNvSpPr/>
          <p:nvPr/>
        </p:nvSpPr>
        <p:spPr>
          <a:xfrm>
            <a:off x="1005840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5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同划分损失报告</a:t>
            </a:r>
            <a:endParaRPr lang="en-US" sz="2200" dirty="0"/>
          </a:p>
        </p:txBody>
      </p:sp>
      <p:sp>
        <p:nvSpPr>
          <p:cNvPr id="7" name="deliverable 2"/>
          <p:cNvSpPr/>
          <p:nvPr/>
        </p:nvSpPr>
        <p:spPr>
          <a:xfrm>
            <a:off x="4383938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8" name="chip 02"/>
          <p:cNvSpPr/>
          <p:nvPr/>
        </p:nvSpPr>
        <p:spPr>
          <a:xfrm>
            <a:off x="4703978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E9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397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逐类recall与错误map</a:t>
            </a:r>
            <a:endParaRPr lang="en-US" sz="2200" dirty="0"/>
          </a:p>
        </p:txBody>
      </p:sp>
      <p:sp>
        <p:nvSpPr>
          <p:cNvPr id="11" name="deliverable 3"/>
          <p:cNvSpPr/>
          <p:nvPr/>
        </p:nvSpPr>
        <p:spPr>
          <a:xfrm>
            <a:off x="8082077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12" name="chip 03"/>
          <p:cNvSpPr/>
          <p:nvPr/>
        </p:nvSpPr>
        <p:spPr>
          <a:xfrm>
            <a:off x="8402117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D33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类条件Grad-CAM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" y="4846320"/>
            <a:ext cx="1082009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15_imbalance_analysis_teaching.ipynb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3938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loss-comparison · gradcam · maps · weighted-loss-toy · target-comparison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82077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82077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A04 · 完整示例 / 填空 / 迁移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先隐藏OA，读小类召回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10820095" cy="3246120"/>
          </a:xfrm>
          <a:prstGeom prst="roundRect">
            <a:avLst>
              <a:gd name="adj" fmla="val 2254"/>
            </a:avLst>
          </a:prstGeom>
          <a:solidFill>
            <a:srgbClr val="F2F5F9"/>
          </a:solidFill>
          <a:ln/>
        </p:spPr>
      </p:sp>
      <p:pic>
        <p:nvPicPr>
          <p:cNvPr id="4" name="Image 0" descr="15_imbalance_analysis_teaching-loss-comparison-0-14deb60a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554" y="2039112"/>
            <a:ext cx="7878587" cy="2916936"/>
          </a:xfrm>
          <a:prstGeom prst="rect">
            <a:avLst/>
          </a:prstGeom>
        </p:spPr>
      </p:pic>
      <p:sp>
        <p:nvSpPr>
          <p:cNvPr id="5" name="chip 01"/>
          <p:cNvSpPr/>
          <p:nvPr/>
        </p:nvSpPr>
        <p:spPr>
          <a:xfrm>
            <a:off x="685800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5B3FA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97864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分类器可能优先满足大类</a:t>
            </a:r>
            <a:endParaRPr lang="en-US" sz="1600" dirty="0"/>
          </a:p>
        </p:txBody>
      </p:sp>
      <p:sp>
        <p:nvSpPr>
          <p:cNvPr id="8" name="chip 02"/>
          <p:cNvSpPr/>
          <p:nvPr/>
        </p:nvSpPr>
        <p:spPr>
          <a:xfrm>
            <a:off x="4399178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E9E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9917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11242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support影响估计稳定性</a:t>
            </a:r>
            <a:endParaRPr lang="en-US" sz="1600" dirty="0"/>
          </a:p>
        </p:txBody>
      </p:sp>
      <p:sp>
        <p:nvSpPr>
          <p:cNvPr id="11" name="chip 03"/>
          <p:cNvSpPr/>
          <p:nvPr/>
        </p:nvSpPr>
        <p:spPr>
          <a:xfrm>
            <a:off x="8112557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D33A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12557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24621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报告每类错误而非一行总分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0080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15_imbalance_analysis_teaching.ipynb  ·  cell loss-comparison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加权CE与Focal改变什么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当前CE/weighted OA：0.9507/0.9428</a:t>
            </a:r>
            <a:endParaRPr lang="en-US" sz="19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当前AA：0.8066/0.9339</a:t>
            </a:r>
            <a:endParaRPr lang="en-US" sz="19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加权依据频率，Focal依据预测难度</a:t>
            </a:r>
            <a:endParaRPr lang="en-US" sz="1900" dirty="0"/>
          </a:p>
        </p:txBody>
      </p:sp>
      <p:sp>
        <p:nvSpPr>
          <p:cNvPr id="12" name="formula card"/>
          <p:cNvSpPr/>
          <p:nvPr/>
        </p:nvSpPr>
        <p:spPr>
          <a:xfrm>
            <a:off x="5989320" y="1874520"/>
            <a:ext cx="5513832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pic>
        <p:nvPicPr>
          <p:cNvPr id="13" name="Image 0" descr="formula: w_c = \frac{N}{C\, n_c} \qquad FL = -(1 - p_t)^{\gamma} \log p_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3151331"/>
            <a:ext cx="4937760" cy="463898"/>
          </a:xfrm>
          <a:prstGeom prst="rect">
            <a:avLst/>
          </a:prstGeom>
        </p:spPr>
      </p:pic>
      <p:sp>
        <p:nvSpPr>
          <p:cNvPr id="14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results['CE'][1].mean()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0.8066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同一split，才能读这张图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10820095" cy="3246120"/>
          </a:xfrm>
          <a:prstGeom prst="roundRect">
            <a:avLst>
              <a:gd name="adj" fmla="val 2254"/>
            </a:avLst>
          </a:prstGeom>
          <a:solidFill>
            <a:srgbClr val="F2F5F9"/>
          </a:solidFill>
          <a:ln/>
        </p:spPr>
      </p:sp>
      <p:pic>
        <p:nvPicPr>
          <p:cNvPr id="4" name="Image 0" descr="15_imbalance_analysis_teaching-maps-0-735d1d6a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3959" y="2039112"/>
            <a:ext cx="8223777" cy="2916936"/>
          </a:xfrm>
          <a:prstGeom prst="rect">
            <a:avLst/>
          </a:prstGeom>
        </p:spPr>
      </p:pic>
      <p:sp>
        <p:nvSpPr>
          <p:cNvPr id="5" name="chip 01"/>
          <p:cNvSpPr/>
          <p:nvPr/>
        </p:nvSpPr>
        <p:spPr>
          <a:xfrm>
            <a:off x="685800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5B3FA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97864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共享预处理与划分</a:t>
            </a:r>
            <a:endParaRPr lang="en-US" sz="1600" dirty="0"/>
          </a:p>
        </p:txBody>
      </p:sp>
      <p:sp>
        <p:nvSpPr>
          <p:cNvPr id="8" name="chip 02"/>
          <p:cNvSpPr/>
          <p:nvPr/>
        </p:nvSpPr>
        <p:spPr>
          <a:xfrm>
            <a:off x="4399178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E9E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9917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11242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固定模型与选择规则</a:t>
            </a:r>
            <a:endParaRPr lang="en-US" sz="1600" dirty="0"/>
          </a:p>
        </p:txBody>
      </p:sp>
      <p:sp>
        <p:nvSpPr>
          <p:cNvPr id="11" name="chip 03"/>
          <p:cNvSpPr/>
          <p:nvPr/>
        </p:nvSpPr>
        <p:spPr>
          <a:xfrm>
            <a:off x="8112557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D33A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12557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24621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预测图不是额外测试成绩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0080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15_imbalance_analysis_teaching.ipynb  ·  cell maps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Grad-CAM必须真的求梯度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27024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明确模型与目标类别</a:t>
            </a:r>
            <a:endParaRPr lang="en-US" sz="19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427024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梯度空间均值给通道权重</a:t>
            </a:r>
            <a:endParaRPr lang="en-US" sz="19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427024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加权、ReLU、插值回输入</a:t>
            </a:r>
            <a:endParaRPr lang="en-US" sz="1900" dirty="0"/>
          </a:p>
        </p:txBody>
      </p:sp>
      <p:sp>
        <p:nvSpPr>
          <p:cNvPr id="12" name="formula card"/>
          <p:cNvSpPr/>
          <p:nvPr/>
        </p:nvSpPr>
        <p:spPr>
          <a:xfrm>
            <a:off x="5989320" y="1874520"/>
            <a:ext cx="5513832" cy="4343400"/>
          </a:xfrm>
          <a:prstGeom prst="roundRect">
            <a:avLst>
              <a:gd name="adj" fmla="val 2105"/>
            </a:avLst>
          </a:prstGeom>
          <a:solidFill>
            <a:srgbClr val="F2F5F9"/>
          </a:solidFill>
          <a:ln/>
        </p:spPr>
      </p:sp>
      <p:pic>
        <p:nvPicPr>
          <p:cNvPr id="13" name="Image 0" descr="formula: \alpha_k = \frac{1}{HW} \sum_{i,j} \frac{\partial z_c}{\partial A_{ij}^{k}} \qquad \mathrm{CAM} = \mathrm{ReLU}\left(\sum_{k} \alpha_k A^{k}\righ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3750075"/>
            <a:ext cx="4937760" cy="59228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失败样本也要展示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6720840" cy="4480560"/>
          </a:xfrm>
          <a:prstGeom prst="roundRect">
            <a:avLst>
              <a:gd name="adj" fmla="val 1633"/>
            </a:avLst>
          </a:prstGeom>
          <a:solidFill>
            <a:srgbClr val="F2F5F9"/>
          </a:solidFill>
          <a:ln/>
        </p:spPr>
      </p:sp>
      <p:pic>
        <p:nvPicPr>
          <p:cNvPr id="4" name="Image 0" descr="15_imbalance_analysis_teaching-gradcam-0-9b587bc4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90907"/>
            <a:ext cx="6391656" cy="38477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92024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怎么读这张图</a:t>
            </a:r>
            <a:endParaRPr lang="en-US" sz="1300" dirty="0"/>
          </a:p>
        </p:txBody>
      </p:sp>
      <p:sp>
        <p:nvSpPr>
          <p:cNvPr id="6" name="chip 01"/>
          <p:cNvSpPr/>
          <p:nvPr/>
        </p:nvSpPr>
        <p:spPr>
          <a:xfrm>
            <a:off x="7772400" y="2459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42316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正确、错误、稀有类各一个</a:t>
            </a:r>
            <a:endParaRPr lang="en-US" sz="1700" dirty="0"/>
          </a:p>
        </p:txBody>
      </p:sp>
      <p:sp>
        <p:nvSpPr>
          <p:cNvPr id="9" name="chip 02"/>
          <p:cNvSpPr/>
          <p:nvPr/>
        </p:nvSpPr>
        <p:spPr>
          <a:xfrm>
            <a:off x="7772400" y="35570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352044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原始类ID与坐标明确</a:t>
            </a:r>
            <a:endParaRPr lang="en-US" sz="1700" dirty="0"/>
          </a:p>
        </p:txBody>
      </p:sp>
      <p:sp>
        <p:nvSpPr>
          <p:cNvPr id="12" name="chip 03"/>
          <p:cNvSpPr/>
          <p:nvPr/>
        </p:nvSpPr>
        <p:spPr>
          <a:xfrm>
            <a:off x="7772400" y="46542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94192" y="461772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零CAM不等于“模型没看输入”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589788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15_imbalance_analysis_teaching.ipynb  ·  cell gradcam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解释图不是因果证明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相关热区可以生成假设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遮挡也可能造成分布外输入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结合指标、错误图和受控实验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68046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358902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4975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436626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748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Perturbation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514350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50520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手算一个batch的加权损失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745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普通CE平均每个样本的损失   ·   weighted CE按目标权重归一化   ·   少数类权重高，不保证所有指标改善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3464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loss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目标权重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普通/加权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 / 0.84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(0.2+4)/5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让代码验证你的判断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685800" y="1874520"/>
            <a:ext cx="7406640" cy="3749040"/>
          </a:xfrm>
          <a:prstGeom prst="roundRect">
            <a:avLst>
              <a:gd name="adj" fmla="val 2439"/>
            </a:avLst>
          </a:prstGeom>
          <a:solidFill>
            <a:srgbClr val="0D1B2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75688"/>
            <a:ext cx="118872" cy="118872"/>
          </a:xfrm>
          <a:prstGeom prst="ellipse">
            <a:avLst/>
          </a:prstGeom>
          <a:solidFill>
            <a:srgbClr val="D33A2C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2075688"/>
            <a:ext cx="118872" cy="118872"/>
          </a:xfrm>
          <a:prstGeom prst="ellipse">
            <a:avLst/>
          </a:prstGeom>
          <a:solidFill>
            <a:srgbClr val="F2C316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2075688"/>
            <a:ext cx="118872" cy="118872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23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response, logits = grad_cam(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    ce, ce.encoder.features[7], inputs, torch.tensor([first]))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response.shape[-2:] == inputs.shape[-2:]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torch.isfinite(response).all()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9202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24028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15_imbalance_analysis_teaching.ipynb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310896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1" name="cell loss-comparison"/>
          <p:cNvSpPr/>
          <p:nvPr/>
        </p:nvSpPr>
        <p:spPr>
          <a:xfrm>
            <a:off x="8458200" y="3474720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loss-comparison</a:t>
            </a:r>
            <a:endParaRPr lang="en-US" sz="1200" dirty="0"/>
          </a:p>
        </p:txBody>
      </p:sp>
      <p:sp>
        <p:nvSpPr>
          <p:cNvPr id="13" name="cell gradcam"/>
          <p:cNvSpPr/>
          <p:nvPr/>
        </p:nvSpPr>
        <p:spPr>
          <a:xfrm>
            <a:off x="8458200" y="3950208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3950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gradcam</a:t>
            </a:r>
            <a:endParaRPr lang="en-US" sz="1200" dirty="0"/>
          </a:p>
        </p:txBody>
      </p:sp>
      <p:sp>
        <p:nvSpPr>
          <p:cNvPr id="15" name="cell maps"/>
          <p:cNvSpPr/>
          <p:nvPr/>
        </p:nvSpPr>
        <p:spPr>
          <a:xfrm>
            <a:off x="8458200" y="4425696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44256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maps</a:t>
            </a:r>
            <a:endParaRPr lang="en-US" sz="1200" dirty="0"/>
          </a:p>
        </p:txBody>
      </p:sp>
      <p:sp>
        <p:nvSpPr>
          <p:cNvPr id="17" name="cell weighted-loss-toy"/>
          <p:cNvSpPr/>
          <p:nvPr/>
        </p:nvSpPr>
        <p:spPr>
          <a:xfrm>
            <a:off x="8458200" y="4901184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4901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weighted-loss-toy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先预测输出，再运行对应单元格。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停下来，做一次判断</a:t>
            </a:r>
            <a:endParaRPr lang="en-US" sz="3000" dirty="0"/>
          </a:p>
        </p:txBody>
      </p:sp>
      <p:sp>
        <p:nvSpPr>
          <p:cNvPr id="3" name="prediction card"/>
          <p:cNvSpPr/>
          <p:nvPr/>
        </p:nvSpPr>
        <p:spPr>
          <a:xfrm>
            <a:off x="685800" y="1874520"/>
            <a:ext cx="6355080" cy="4343400"/>
          </a:xfrm>
          <a:prstGeom prst="roundRect">
            <a:avLst>
              <a:gd name="adj" fmla="val 2105"/>
            </a:avLst>
          </a:prstGeom>
          <a:solidFill>
            <a:srgbClr val="F2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课堂预测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97480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固定同一patch，只更换Grad-CAM目标类别，解释哪些能推断、哪些不能。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5321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 A04  ·  完整示例 / 填空 / 迁移</a:t>
            </a:r>
            <a:endParaRPr lang="en-US" sz="1400" dirty="0"/>
          </a:p>
        </p:txBody>
      </p:sp>
      <p:sp>
        <p:nvSpPr>
          <p:cNvPr id="7" name="exit question card"/>
          <p:cNvSpPr/>
          <p:nvPr/>
        </p:nvSpPr>
        <p:spPr>
          <a:xfrm>
            <a:off x="7315200" y="1874520"/>
            <a:ext cx="4187952" cy="4343400"/>
          </a:xfrm>
          <a:prstGeom prst="roundRect">
            <a:avLst>
              <a:gd name="adj" fmla="val 2183"/>
            </a:avLst>
          </a:prstGeom>
          <a:solidFill>
            <a:srgbClr val="0D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26680" y="2240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697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OA下降而AA上升是否表示实验失败？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结论要有边界</a:t>
            </a:r>
            <a:endParaRPr lang="en-US" sz="3000" dirty="0"/>
          </a:p>
        </p:txBody>
      </p:sp>
      <p:sp>
        <p:nvSpPr>
          <p:cNvPr id="3" name="known"/>
          <p:cNvSpPr/>
          <p:nvPr/>
        </p:nvSpPr>
        <p:spPr>
          <a:xfrm>
            <a:off x="685800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4" name="tag"/>
          <p:cNvSpPr/>
          <p:nvPr/>
        </p:nvSpPr>
        <p:spPr>
          <a:xfrm>
            <a:off x="1051560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1F8F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降低大类权重可能损失OA</a:t>
            </a:r>
            <a:endParaRPr lang="en-US" sz="2400" dirty="0"/>
          </a:p>
        </p:txBody>
      </p:sp>
      <p:sp>
        <p:nvSpPr>
          <p:cNvPr id="7" name="boundary"/>
          <p:cNvSpPr/>
          <p:nvPr/>
        </p:nvSpPr>
        <p:spPr>
          <a:xfrm>
            <a:off x="6233008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8" name="tag"/>
          <p:cNvSpPr/>
          <p:nvPr/>
        </p:nvSpPr>
        <p:spPr>
          <a:xfrm>
            <a:off x="6598768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E875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热图插值不增加解释分辨率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23036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来源、复现入口与辅助提示见讲者备注。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SI-Learning Spectral">
      <a:dk1>
        <a:srgbClr val="14233A"/>
      </a:dk1>
      <a:lt1>
        <a:srgbClr val="FFFFFF"/>
      </a:lt1>
      <a:dk2>
        <a:srgbClr val="0D1B2E"/>
      </a:dk2>
      <a:lt2>
        <a:srgbClr val="F2F5F9"/>
      </a:lt2>
      <a:accent1>
        <a:srgbClr val="2F5BB7"/>
      </a:accent1>
      <a:accent2>
        <a:srgbClr val="1F8FB8"/>
      </a:accent2>
      <a:accent3>
        <a:srgbClr val="2E9E4F"/>
      </a:accent3>
      <a:accent4>
        <a:srgbClr val="E8752A"/>
      </a:accent4>
      <a:accent5>
        <a:srgbClr val="5B3FA0"/>
      </a:accent5>
      <a:accent6>
        <a:srgbClr val="D33A2C"/>
      </a:accent6>
      <a:hlink>
        <a:srgbClr val="2F5BB7"/>
      </a:hlink>
      <a:folHlink>
        <a:srgbClr val="5B3FA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L07 OA 很高，小类为什么仍全错？</dc:title>
  <dc:subject>PptxGenJS Presentation</dc:subject>
  <dc:creator>HSI-Learning</dc:creator>
  <cp:lastModifiedBy>HSI-Learning</cp:lastModifiedBy>
  <cp:revision>1</cp:revision>
  <dcterms:created xsi:type="dcterms:W3CDTF">2026-10-10T13:42:18Z</dcterms:created>
  <dcterms:modified xsi:type="dcterms:W3CDTF">2026-10-10T13:42:18Z</dcterms:modified>
</cp:coreProperties>
</file>