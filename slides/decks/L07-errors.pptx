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开场" id="{e5eb9f60-40b4-c4e2-9560-063a49afaf9b}">
          <p14:sldIdLst>
            <p14:sldId id="256"/>
            <p14:sldId id="257"/>
          </p14:sldIdLst>
        </p14:section>
        <p14:section name="讲解" id="{1cf6eda3-2a4f-cd34-0d09-40b49355f91e}">
          <p14:sldIdLst>
            <p14:sldId id="258"/>
            <p14:sldId id="259"/>
            <p14:sldId id="260"/>
            <p14:sldId id="261"/>
            <p14:sldId id="262"/>
            <p14:sldId id="263"/>
            <p14:sldId id="264"/>
          </p14:sldIdLst>
        </p14:section>
        <p14:section name="练习" id="{c512977f-a193-c5a0-aa38-60e262d70407}">
          <p14:sldIdLst>
            <p14:sldId id="265"/>
            <p14:sldId id="266"/>
          </p14:sldIdLst>
        </p14:section>
        <p14:section name="收束" id="{79d57f48-4078-f339-ff0c-f18fbc2ac6b5}">
          <p14:sldIdLst>
            <p14:sldId id="26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开场问题：OA下降而AA上升是否表示实验失败？
原标题：OA 很高，小类为什么仍全错？
参考节奏：5分钟回顾，10分钟手算，10分钟代码，12分钟练习，5分钟错误分析，3分钟退出题。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
封面图源：15_imbalance_analysis_teaching.ipynb / gradcam / 0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交付物以代码、配置、输出和解释为准。先做完整示例，再做填空与迁移任务。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引用本次Notebook输出，不沿用历史实验+8点作为承诺。
Class count / Per-class recall / Failure cases
图源：15_imbalance_analysis_teaching.ipynb / loss-comparison / 0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OA和AA取当前classroom-facts；固定划分的一次运行不证明普遍收益。
Class weights / Hard examples / OA / AA trade-off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全图显示包含训练像元，测试错误另画。
GT / CE / Weighted CE
图源：15_imbalance_analysis_teaching.ipynb / maps / 0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通道均值图不属于Grad-CAM，target换了图可能变化；不允许no_grad包住关键步骤。
Target logit / Gradient weights / Spatial response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本图按预先规则选样，不挑好看案例。
Correct / Misclassified / Rare class
图源：15_imbalance_analysis_teaching.ipynb / gradcam / 0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t-SNE、CAM各有条件，论文分析不能仅靠颜色叙事。
Attribution / Perturbation / Limitations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Notebook15 weighted-loss-toy展示与PyTorch输出核对；目标权重归一化不是简单乘后平均。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只运行指定短cell；完整训练已在课前完成。缺资产时使用已执行输出备用并说明。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停下来收集预测，发现错误后重新解释；不等到课后作业才知道学生没理解。
作业：A04；完整示例 / 填空 / 迁移；提交代码、配置、结果和限制。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区分已观察事实、候选解释与下一项检验。
退出题：OA下降而AA上升是否表示实验失败？
课堂入口: 15_imbalance_analysis_teaching.ipynb
定位: loss-comparison, gradcam, maps, weighted-loss-toy, target-comparison
先预测，再运行；答错时回到手算例。
AI辅助：依据给定recall表和错误图提出三种可检验假设，每条列控制变量和反例。不要把热力图高亮说成因果证据，不补造实验结果。
人工核验：核对目标梯度真实存在；假设另做实验；保留零响应与失败样本。
Lin et al. Focal Loss, 2017
https://arxiv.org/abs/1708.02002
Selvaraju et al. Grad-CAM, 2017
https://arxiv.org/abs/1610.02391
运行配置、数据哈希和结果：artifacts/teaching/classroom-facts.json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pn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0" y="5440680"/>
            <a:ext cx="12191695" cy="141732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56692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200" dirty="0"/>
          </a:p>
        </p:txBody>
      </p:sp>
      <p:sp>
        <p:nvSpPr>
          <p:cNvPr id="4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endParaRPr lang="en-US" sz="5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0D1B2E"/>
          </a:solidFill>
          <a:ln/>
        </p:spPr>
      </p:sp>
      <p:sp>
        <p:nvSpPr>
          <p:cNvPr id="3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L07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5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0D1B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HSI-Learning/slides/assets/brand/spectrum-bars.png">    </p:cNvPr>
          <p:cNvPicPr>
            <a:picLocks noChangeAspect="1"/>
          </p:cNvPicPr>
          <p:nvPr/>
        </p:nvPicPr>
        <p:blipFill>
          <a:blip r:embed="rId1">
            <a:alphaModFix amt="55000"/>
          </a:blip>
          <a:stretch>
            <a:fillRect/>
          </a:stretch>
        </p:blipFill>
        <p:spPr>
          <a:xfrm>
            <a:off x="0" y="5897880"/>
            <a:ext cx="12191695" cy="96012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85800" y="384048"/>
            <a:ext cx="658368" cy="274320"/>
          </a:xfrm>
          <a:prstGeom prst="rect">
            <a:avLst>
              <a:gd name="adj" fmla="val 20000"/>
            </a:avLst>
          </a:prstGeom>
          <a:solidFill>
            <a:srgbClr val="2F5BB7"/>
          </a:solidFill>
          <a:ln/>
        </p:spPr>
      </p:sp>
      <p:sp>
        <p:nvSpPr>
          <p:cNvPr id="4" name="Text 1"/>
          <p:cNvSpPr/>
          <p:nvPr/>
        </p:nvSpPr>
        <p:spPr>
          <a:xfrm>
            <a:off x="685800" y="384048"/>
            <a:ext cx="6583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L07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1508760" y="384048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spc="150" kern="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HSI-LEARNING  ·  高光谱图像分类课程</a:t>
            </a:r>
            <a:endParaRPr lang="en-US" sz="1100" dirty="0"/>
          </a:p>
        </p:txBody>
      </p:sp>
      <p:sp>
        <p:nvSpPr>
          <p:cNvPr id="6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defRPr>
            </a:lvl1pPr>
          </a:lstStyle>
          <a:p>
            <a:pPr algn="l" indent="0" marL="0">
              <a:buNone/>
            </a:pPr>
            <a:endParaRPr 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685800" y="1828800"/>
            <a:ext cx="6309360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类别不均衡</a:t>
            </a:r>
            <a:endParaRPr lang="en-US" sz="50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en-US" sz="5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与错误分析</a:t>
            </a:r>
            <a:endParaRPr lang="en-US" sz="5000" dirty="0"/>
          </a:p>
        </p:txBody>
      </p:sp>
      <p:sp>
        <p:nvSpPr>
          <p:cNvPr id="3" name="lesson id"/>
          <p:cNvSpPr/>
          <p:nvPr/>
        </p:nvSpPr>
        <p:spPr>
          <a:xfrm>
            <a:off x="685800" y="1243584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2F5BB7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243584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L07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730752"/>
            <a:ext cx="6400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本课问题  </a:t>
            </a:r>
            <a:pPr indent="0" marL="0">
              <a:buNone/>
            </a:pPr>
            <a:r>
              <a:rPr lang="en-US" sz="1900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 很高，小类为什么仍全错？</a:t>
            </a:r>
            <a:endParaRPr 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206240"/>
            <a:ext cx="64008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损失、错误地图与真正的 Grad-CAM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4645152"/>
            <a:ext cx="64008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先修  ·  L02/L05</a:t>
            </a:r>
            <a:endParaRPr lang="en-US" sz="1300" dirty="0"/>
          </a:p>
        </p:txBody>
      </p:sp>
      <p:sp>
        <p:nvSpPr>
          <p:cNvPr id="8" name="hero frame"/>
          <p:cNvSpPr/>
          <p:nvPr/>
        </p:nvSpPr>
        <p:spPr>
          <a:xfrm>
            <a:off x="7409383" y="1681542"/>
            <a:ext cx="4096512" cy="2626236"/>
          </a:xfrm>
          <a:prstGeom prst="roundRect">
            <a:avLst>
              <a:gd name="adj" fmla="val 348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228600" dist="76200" dir="5400000">
              <a:srgbClr val="000000">
                <a:alpha val="35000"/>
              </a:srgbClr>
            </a:outerShdw>
          </a:effectLst>
        </p:spPr>
      </p:sp>
      <p:pic>
        <p:nvPicPr>
          <p:cNvPr id="9" name="Image 0" descr="cover figur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10551" y="1882710"/>
            <a:ext cx="3694176" cy="22239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这节课，你将完成什么</a:t>
            </a:r>
            <a:endParaRPr lang="en-US" sz="3000" dirty="0"/>
          </a:p>
        </p:txBody>
      </p:sp>
      <p:sp>
        <p:nvSpPr>
          <p:cNvPr id="3" name="deliverable 1"/>
          <p:cNvSpPr/>
          <p:nvPr/>
        </p:nvSpPr>
        <p:spPr>
          <a:xfrm>
            <a:off x="685800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4" name="chip 01"/>
          <p:cNvSpPr/>
          <p:nvPr/>
        </p:nvSpPr>
        <p:spPr>
          <a:xfrm>
            <a:off x="1005840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5B3FA0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05840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1005840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同划分损失报告</a:t>
            </a:r>
            <a:endParaRPr lang="en-US" sz="2200" dirty="0"/>
          </a:p>
        </p:txBody>
      </p:sp>
      <p:sp>
        <p:nvSpPr>
          <p:cNvPr id="7" name="deliverable 2"/>
          <p:cNvSpPr/>
          <p:nvPr/>
        </p:nvSpPr>
        <p:spPr>
          <a:xfrm>
            <a:off x="4383938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8" name="chip 02"/>
          <p:cNvSpPr/>
          <p:nvPr/>
        </p:nvSpPr>
        <p:spPr>
          <a:xfrm>
            <a:off x="4703978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2E9E4F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4703978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703978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逐类recall与错误map</a:t>
            </a:r>
            <a:endParaRPr lang="en-US" sz="2200" dirty="0"/>
          </a:p>
        </p:txBody>
      </p:sp>
      <p:sp>
        <p:nvSpPr>
          <p:cNvPr id="11" name="deliverable 3"/>
          <p:cNvSpPr/>
          <p:nvPr/>
        </p:nvSpPr>
        <p:spPr>
          <a:xfrm>
            <a:off x="8082077" y="1920240"/>
            <a:ext cx="3423818" cy="2240280"/>
          </a:xfrm>
          <a:prstGeom prst="roundRect">
            <a:avLst>
              <a:gd name="adj" fmla="val 4082"/>
            </a:avLst>
          </a:prstGeom>
          <a:solidFill>
            <a:srgbClr val="F2F5F9"/>
          </a:solidFill>
          <a:ln/>
        </p:spPr>
      </p:sp>
      <p:sp>
        <p:nvSpPr>
          <p:cNvPr id="12" name="chip 03"/>
          <p:cNvSpPr/>
          <p:nvPr/>
        </p:nvSpPr>
        <p:spPr>
          <a:xfrm>
            <a:off x="8402117" y="2240280"/>
            <a:ext cx="512064" cy="512064"/>
          </a:xfrm>
          <a:prstGeom prst="roundRect">
            <a:avLst>
              <a:gd name="adj" fmla="val 16071"/>
            </a:avLst>
          </a:prstGeom>
          <a:solidFill>
            <a:srgbClr val="D33A2C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8402117" y="2240280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402117" y="2971800"/>
            <a:ext cx="2783738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2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类条件Grad-CAM</a:t>
            </a:r>
            <a:endParaRPr lang="en-US" sz="2200" dirty="0"/>
          </a:p>
        </p:txBody>
      </p:sp>
      <p:sp>
        <p:nvSpPr>
          <p:cNvPr id="15" name="Shape 13"/>
          <p:cNvSpPr/>
          <p:nvPr/>
        </p:nvSpPr>
        <p:spPr>
          <a:xfrm>
            <a:off x="685800" y="4846320"/>
            <a:ext cx="10820095" cy="0"/>
          </a:xfrm>
          <a:prstGeom prst="line">
            <a:avLst/>
          </a:prstGeom>
          <a:noFill/>
          <a:ln w="12700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85800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NOTEBOOK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685800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15_imbalance_analysis_teaching.ipynb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383938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4383938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loss-comparison · gradcam · maps · weighted-loss-toy · target-comparison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8082077" y="5074920"/>
            <a:ext cx="342381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8082077" y="5440680"/>
            <a:ext cx="342381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A04 · 完整示例 / 填空 / 迁移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先隐藏OA，读小类召回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5_imbalance_analysis_teaching-loss-comparison-0-14deb60ac8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56554" y="2039112"/>
            <a:ext cx="7878587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分类器可能优先满足大类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support影响估计稳定性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报告每类错误而非一行总分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15_imbalance_analysis_teaching.ipynb  ·  cell loss-comparison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加权CE与Focal改变什么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当前CE/weighted OA：0.9507/0.9428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29931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29931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29565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当前AA：0.8066/0.9339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3983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3983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3947160"/>
            <a:ext cx="4270248" cy="8808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加权依据频率，Focal依据预测难度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3017520"/>
          </a:xfrm>
          <a:prstGeom prst="roundRect">
            <a:avLst>
              <a:gd name="adj" fmla="val 3030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w_c = \frac{N}{C\, n_c} \qquad FL = -(1 - p_t)^{\gamma} \log p_t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151331"/>
            <a:ext cx="4937760" cy="463898"/>
          </a:xfrm>
          <a:prstGeom prst="rect">
            <a:avLst/>
          </a:prstGeom>
        </p:spPr>
      </p:pic>
      <p:sp>
        <p:nvSpPr>
          <p:cNvPr id="14" name="run panel"/>
          <p:cNvSpPr/>
          <p:nvPr/>
        </p:nvSpPr>
        <p:spPr>
          <a:xfrm>
            <a:off x="685800" y="5285232"/>
            <a:ext cx="10820095" cy="987552"/>
          </a:xfrm>
          <a:prstGeom prst="roundRect">
            <a:avLst>
              <a:gd name="adj" fmla="val 9259"/>
            </a:avLst>
          </a:prstGeom>
          <a:solidFill>
            <a:srgbClr val="0D1B2E"/>
          </a:solidFill>
          <a:ln/>
        </p:spPr>
      </p:sp>
      <p:sp>
        <p:nvSpPr>
          <p:cNvPr id="15" name="Text 12"/>
          <p:cNvSpPr txBox="1"/>
          <p:nvPr/>
        </p:nvSpPr>
        <p:spPr>
          <a:xfrm>
            <a:off x="1005840" y="5440680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&gt;&gt;&gt; </a:t>
            </a:r>
            <a:pPr indent="0" marL="0">
              <a:buNone/>
            </a:pPr>
            <a:r>
              <a:rPr lang="en-US" sz="16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results['CE'][1].mean()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1005840" y="5815584"/>
            <a:ext cx="10180015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5B54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0.8066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同一split，才能读这张图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10820095" cy="3246120"/>
          </a:xfrm>
          <a:prstGeom prst="roundRect">
            <a:avLst>
              <a:gd name="adj" fmla="val 2254"/>
            </a:avLst>
          </a:prstGeom>
          <a:solidFill>
            <a:srgbClr val="F2F5F9"/>
          </a:solidFill>
          <a:ln/>
        </p:spPr>
      </p:sp>
      <p:pic>
        <p:nvPicPr>
          <p:cNvPr id="4" name="Image 0" descr="15_imbalance_analysis_teaching-maps-0-735d1d6a0b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83959" y="2039112"/>
            <a:ext cx="8223777" cy="2916936"/>
          </a:xfrm>
          <a:prstGeom prst="rect">
            <a:avLst/>
          </a:prstGeom>
        </p:spPr>
      </p:pic>
      <p:sp>
        <p:nvSpPr>
          <p:cNvPr id="5" name="chip 01"/>
          <p:cNvSpPr/>
          <p:nvPr/>
        </p:nvSpPr>
        <p:spPr>
          <a:xfrm>
            <a:off x="685800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5B3FA0"/>
          </a:solidFill>
          <a:ln/>
        </p:spPr>
      </p:sp>
      <p:sp>
        <p:nvSpPr>
          <p:cNvPr id="6" name="Text 3"/>
          <p:cNvSpPr txBox="1"/>
          <p:nvPr/>
        </p:nvSpPr>
        <p:spPr>
          <a:xfrm>
            <a:off x="685800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7" name="Text 4"/>
          <p:cNvSpPr txBox="1"/>
          <p:nvPr/>
        </p:nvSpPr>
        <p:spPr>
          <a:xfrm>
            <a:off x="1197864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共享预处理与划分</a:t>
            </a:r>
            <a:endParaRPr lang="en-US" sz="1600" dirty="0"/>
          </a:p>
        </p:txBody>
      </p:sp>
      <p:sp>
        <p:nvSpPr>
          <p:cNvPr id="8" name="chip 02"/>
          <p:cNvSpPr/>
          <p:nvPr/>
        </p:nvSpPr>
        <p:spPr>
          <a:xfrm>
            <a:off x="4399178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2E9E4F"/>
          </a:solidFill>
          <a:ln/>
        </p:spPr>
      </p:sp>
      <p:sp>
        <p:nvSpPr>
          <p:cNvPr id="9" name="Text 6"/>
          <p:cNvSpPr txBox="1"/>
          <p:nvPr/>
        </p:nvSpPr>
        <p:spPr>
          <a:xfrm>
            <a:off x="4399178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0" name="Text 7"/>
          <p:cNvSpPr txBox="1"/>
          <p:nvPr/>
        </p:nvSpPr>
        <p:spPr>
          <a:xfrm>
            <a:off x="4911242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固定模型与选择规则</a:t>
            </a:r>
            <a:endParaRPr lang="en-US" sz="1600" dirty="0"/>
          </a:p>
        </p:txBody>
      </p:sp>
      <p:sp>
        <p:nvSpPr>
          <p:cNvPr id="11" name="chip 03"/>
          <p:cNvSpPr/>
          <p:nvPr/>
        </p:nvSpPr>
        <p:spPr>
          <a:xfrm>
            <a:off x="8112557" y="5477256"/>
            <a:ext cx="365760" cy="365760"/>
          </a:xfrm>
          <a:prstGeom prst="roundRect">
            <a:avLst>
              <a:gd name="adj" fmla="val 22500"/>
            </a:avLst>
          </a:prstGeom>
          <a:solidFill>
            <a:srgbClr val="D33A2C"/>
          </a:solidFill>
          <a:ln/>
        </p:spPr>
      </p:sp>
      <p:sp>
        <p:nvSpPr>
          <p:cNvPr id="12" name="Text 9"/>
          <p:cNvSpPr txBox="1"/>
          <p:nvPr/>
        </p:nvSpPr>
        <p:spPr>
          <a:xfrm>
            <a:off x="8112557" y="5477256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624621" y="5440680"/>
            <a:ext cx="288127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6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预测图不是额外测试成绩</a:t>
            </a:r>
            <a:endParaRPr lang="en-US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85800" y="6400800"/>
            <a:ext cx="10820095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15_imbalance_analysis_teaching.ipynb  ·  cell maps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Grad-CAM必须真的求梯度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明确模型与目标类别</a:t>
            </a:r>
            <a:endParaRPr lang="en-US" sz="19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梯度空间均值给通道权重</a:t>
            </a:r>
            <a:endParaRPr lang="en-US" sz="19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427024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9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加权、ReLU、插值回输入</a:t>
            </a:r>
            <a:endParaRPr lang="en-US" sz="1900" dirty="0"/>
          </a:p>
        </p:txBody>
      </p:sp>
      <p:sp>
        <p:nvSpPr>
          <p:cNvPr id="12" name="formula card"/>
          <p:cNvSpPr/>
          <p:nvPr/>
        </p:nvSpPr>
        <p:spPr>
          <a:xfrm>
            <a:off x="5989320" y="1874520"/>
            <a:ext cx="5513832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pic>
        <p:nvPicPr>
          <p:cNvPr id="13" name="Image 0" descr="formula: \alpha_k = \frac{1}{HW} \sum_{i,j} \frac{\partial z_c}{\partial A_{ij}^{k}} \qquad \mathrm{CAM} = \mathrm{ReLU}\left(\sum_{k} \alpha_k A^{k}\right)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277356" y="3750075"/>
            <a:ext cx="4937760" cy="592289"/>
          </a:xfrm>
          <a:prstGeom prst="rect">
            <a:avLst/>
          </a:prstGeom>
        </p:spPr>
      </p:pic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失败样本也要展示</a:t>
            </a:r>
            <a:endParaRPr lang="en-US" sz="3000" dirty="0"/>
          </a:p>
        </p:txBody>
      </p:sp>
      <p:sp>
        <p:nvSpPr>
          <p:cNvPr id="3" name="figure frame"/>
          <p:cNvSpPr/>
          <p:nvPr/>
        </p:nvSpPr>
        <p:spPr>
          <a:xfrm>
            <a:off x="685800" y="1874520"/>
            <a:ext cx="6720840" cy="4480560"/>
          </a:xfrm>
          <a:prstGeom prst="roundRect">
            <a:avLst>
              <a:gd name="adj" fmla="val 1633"/>
            </a:avLst>
          </a:prstGeom>
          <a:solidFill>
            <a:srgbClr val="F2F5F9"/>
          </a:solidFill>
          <a:ln/>
        </p:spPr>
      </p:sp>
      <p:pic>
        <p:nvPicPr>
          <p:cNvPr id="4" name="Image 0" descr="15_imbalance_analysis_teaching-gradcam-0-9b587bc47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0392" y="2190907"/>
            <a:ext cx="6391656" cy="3847787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7772400" y="1920240"/>
            <a:ext cx="37307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怎么读这张图</a:t>
            </a:r>
            <a:endParaRPr lang="en-US" sz="1300" dirty="0"/>
          </a:p>
        </p:txBody>
      </p:sp>
      <p:sp>
        <p:nvSpPr>
          <p:cNvPr id="6" name="chip 01"/>
          <p:cNvSpPr/>
          <p:nvPr/>
        </p:nvSpPr>
        <p:spPr>
          <a:xfrm>
            <a:off x="7772400" y="24597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7" name="Text 4"/>
          <p:cNvSpPr txBox="1"/>
          <p:nvPr/>
        </p:nvSpPr>
        <p:spPr>
          <a:xfrm>
            <a:off x="7772400" y="24597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8" name="Text 5"/>
          <p:cNvSpPr txBox="1"/>
          <p:nvPr/>
        </p:nvSpPr>
        <p:spPr>
          <a:xfrm>
            <a:off x="8394192" y="242316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正确、错误、稀有类各一个</a:t>
            </a:r>
            <a:endParaRPr lang="en-US" sz="1700" dirty="0"/>
          </a:p>
        </p:txBody>
      </p:sp>
      <p:sp>
        <p:nvSpPr>
          <p:cNvPr id="9" name="chip 02"/>
          <p:cNvSpPr/>
          <p:nvPr/>
        </p:nvSpPr>
        <p:spPr>
          <a:xfrm>
            <a:off x="7772400" y="355701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10" name="Text 7"/>
          <p:cNvSpPr txBox="1"/>
          <p:nvPr/>
        </p:nvSpPr>
        <p:spPr>
          <a:xfrm>
            <a:off x="7772400" y="35570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8394192" y="352044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原始类ID与坐标明确</a:t>
            </a:r>
            <a:endParaRPr lang="en-US" sz="1700" dirty="0"/>
          </a:p>
        </p:txBody>
      </p:sp>
      <p:sp>
        <p:nvSpPr>
          <p:cNvPr id="12" name="chip 03"/>
          <p:cNvSpPr/>
          <p:nvPr/>
        </p:nvSpPr>
        <p:spPr>
          <a:xfrm>
            <a:off x="7772400" y="46542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3" name="Text 10"/>
          <p:cNvSpPr txBox="1"/>
          <p:nvPr/>
        </p:nvSpPr>
        <p:spPr>
          <a:xfrm>
            <a:off x="7772400" y="46542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394192" y="4617720"/>
            <a:ext cx="310896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7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零CAM不等于“模型没看输入”</a:t>
            </a:r>
            <a:endParaRPr lang="en-US" sz="1700" dirty="0"/>
          </a:p>
        </p:txBody>
      </p:sp>
      <p:sp>
        <p:nvSpPr>
          <p:cNvPr id="15" name="Text 12"/>
          <p:cNvSpPr txBox="1"/>
          <p:nvPr/>
        </p:nvSpPr>
        <p:spPr>
          <a:xfrm>
            <a:off x="7772400" y="5897880"/>
            <a:ext cx="373075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5F6E8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15_imbalance_analysis_teaching.ipynb  ·  cell gradcam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解释图不是因果证明</a:t>
            </a:r>
            <a:endParaRPr lang="en-US" sz="3000" dirty="0"/>
          </a:p>
        </p:txBody>
      </p:sp>
      <p:sp>
        <p:nvSpPr>
          <p:cNvPr id="3" name="chip 01"/>
          <p:cNvSpPr/>
          <p:nvPr/>
        </p:nvSpPr>
        <p:spPr>
          <a:xfrm>
            <a:off x="685800" y="200253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5B3FA0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20025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01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307592" y="196596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相关热区可以生成假设</a:t>
            </a:r>
            <a:endParaRPr lang="en-US" sz="2100" dirty="0"/>
          </a:p>
        </p:txBody>
      </p:sp>
      <p:sp>
        <p:nvSpPr>
          <p:cNvPr id="6" name="chip 02"/>
          <p:cNvSpPr/>
          <p:nvPr/>
        </p:nvSpPr>
        <p:spPr>
          <a:xfrm>
            <a:off x="685800" y="343509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685800" y="343509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02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1307592" y="339852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遮挡也可能造成分布外输入</a:t>
            </a:r>
            <a:endParaRPr lang="en-US" sz="2100" dirty="0"/>
          </a:p>
        </p:txBody>
      </p:sp>
      <p:sp>
        <p:nvSpPr>
          <p:cNvPr id="9" name="chip 03"/>
          <p:cNvSpPr/>
          <p:nvPr/>
        </p:nvSpPr>
        <p:spPr>
          <a:xfrm>
            <a:off x="685800" y="4867656"/>
            <a:ext cx="420624" cy="420624"/>
          </a:xfrm>
          <a:prstGeom prst="roundRect">
            <a:avLst>
              <a:gd name="adj" fmla="val 19565"/>
            </a:avLst>
          </a:prstGeom>
          <a:solidFill>
            <a:srgbClr val="D33A2C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85800" y="486765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03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1307592" y="4831080"/>
            <a:ext cx="5779008" cy="13228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21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结合指标、错误图和受控实验</a:t>
            </a:r>
            <a:endParaRPr lang="en-US" sz="2100" dirty="0"/>
          </a:p>
        </p:txBody>
      </p:sp>
      <p:sp>
        <p:nvSpPr>
          <p:cNvPr id="12" name="keywords"/>
          <p:cNvSpPr/>
          <p:nvPr/>
        </p:nvSpPr>
        <p:spPr>
          <a:xfrm>
            <a:off x="7635240" y="1874520"/>
            <a:ext cx="3867912" cy="4480560"/>
          </a:xfrm>
          <a:prstGeom prst="roundRect">
            <a:avLst>
              <a:gd name="adj" fmla="val 2364"/>
            </a:avLst>
          </a:prstGeom>
          <a:solidFill>
            <a:srgbClr val="F2F5F9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955280" y="21488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关键词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101584" y="3680460"/>
            <a:ext cx="0" cy="1554480"/>
          </a:xfrm>
          <a:prstGeom prst="line">
            <a:avLst/>
          </a:prstGeom>
          <a:noFill/>
          <a:ln w="19050">
            <a:solidFill>
              <a:srgbClr val="DCE3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010144" y="3589020"/>
            <a:ext cx="182880" cy="182880"/>
          </a:xfrm>
          <a:prstGeom prst="ellipse">
            <a:avLst/>
          </a:prstGeom>
          <a:solidFill>
            <a:srgbClr val="5B3FA0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0" y="34975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Attribution</a:t>
            </a:r>
            <a:endParaRPr lang="en-US" sz="1600" dirty="0"/>
          </a:p>
        </p:txBody>
      </p:sp>
      <p:sp>
        <p:nvSpPr>
          <p:cNvPr id="17" name="Shape 15"/>
          <p:cNvSpPr/>
          <p:nvPr/>
        </p:nvSpPr>
        <p:spPr>
          <a:xfrm>
            <a:off x="8010144" y="4366260"/>
            <a:ext cx="182880" cy="182880"/>
          </a:xfrm>
          <a:prstGeom prst="ellipse">
            <a:avLst/>
          </a:prstGeom>
          <a:solidFill>
            <a:srgbClr val="2E9E4F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412480" y="427482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Perturbation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010144" y="5143500"/>
            <a:ext cx="182880" cy="182880"/>
          </a:xfrm>
          <a:prstGeom prst="ellipse">
            <a:avLst/>
          </a:prstGeom>
          <a:solidFill>
            <a:srgbClr val="D33A2C"/>
          </a:solidFill>
          <a:ln w="25400">
            <a:solidFill>
              <a:srgbClr val="F2F5F9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8412480" y="505206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Limitations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手算一个batch的加权损失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874520"/>
            <a:ext cx="108200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普通CE平均每个样本的损失   ·   weighted CE按目标权重归一化   ·   少数类权重高，不保证所有指标改善</a:t>
            </a:r>
            <a:endParaRPr lang="en-US" sz="17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85800" y="2834640"/>
          <a:ext cx="10820095" cy="914400"/>
        </p:xfrm>
        <a:graphic>
          <a:graphicData uri="http://schemas.openxmlformats.org/drawingml/2006/table">
            <a:tbl>
              <a:tblPr/>
              <a:tblGrid>
                <a:gridCol w="3606698"/>
                <a:gridCol w="3606698"/>
                <a:gridCol w="3606698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样本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loss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目标权重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1B2E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大类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0.2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小类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1.0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4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5F9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普通/加权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0.6 / 0.84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800" dirty="0">
                          <a:solidFill>
                            <a:srgbClr val="14233A"/>
                          </a:solidFill>
                          <a:latin typeface="Microsoft YaHei" pitchFamily="34" charset="0"/>
                          <a:ea typeface="Microsoft YaHei" pitchFamily="34" charset="-122"/>
                          <a:cs typeface="Microsoft YaHei" pitchFamily="34" charset="-120"/>
                        </a:rPr>
                        <a:t>(0.2+4)/5</a:t>
                      </a:r>
                      <a:endParaRPr lang="en-US" sz="1800" dirty="0">
                        <a:latin typeface="Microsoft YaHei" charset="0"/>
                        <a:ea typeface="Microsoft YaHei" charset="0"/>
                        <a:cs typeface="Microsoft YaHei" charset="0"/>
                      </a:endParaRPr>
                    </a:p>
                  </a:txBody>
                  <a:tcPr marL="164592" marR="164592" marT="0" marB="0" anchor="ctr">
                    <a:lnL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3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让代码验证你的判断</a:t>
            </a:r>
            <a:endParaRPr lang="en-US" sz="3000" dirty="0"/>
          </a:p>
        </p:txBody>
      </p:sp>
      <p:sp>
        <p:nvSpPr>
          <p:cNvPr id="3" name="code panel"/>
          <p:cNvSpPr/>
          <p:nvPr/>
        </p:nvSpPr>
        <p:spPr>
          <a:xfrm>
            <a:off x="685800" y="1874520"/>
            <a:ext cx="7406640" cy="3749040"/>
          </a:xfrm>
          <a:prstGeom prst="roundRect">
            <a:avLst>
              <a:gd name="adj" fmla="val 2439"/>
            </a:avLst>
          </a:prstGeom>
          <a:solidFill>
            <a:srgbClr val="0D1B2E"/>
          </a:solidFill>
          <a:ln/>
        </p:spPr>
      </p:sp>
      <p:sp>
        <p:nvSpPr>
          <p:cNvPr id="4" name="Shape 2"/>
          <p:cNvSpPr/>
          <p:nvPr/>
        </p:nvSpPr>
        <p:spPr>
          <a:xfrm>
            <a:off x="960120" y="2075688"/>
            <a:ext cx="118872" cy="118872"/>
          </a:xfrm>
          <a:prstGeom prst="ellipse">
            <a:avLst/>
          </a:prstGeom>
          <a:solidFill>
            <a:srgbClr val="D33A2C"/>
          </a:solidFill>
          <a:ln/>
        </p:spPr>
      </p:sp>
      <p:sp>
        <p:nvSpPr>
          <p:cNvPr id="5" name="Shape 3"/>
          <p:cNvSpPr/>
          <p:nvPr/>
        </p:nvSpPr>
        <p:spPr>
          <a:xfrm>
            <a:off x="1179576" y="2075688"/>
            <a:ext cx="118872" cy="118872"/>
          </a:xfrm>
          <a:prstGeom prst="ellipse">
            <a:avLst/>
          </a:prstGeom>
          <a:solidFill>
            <a:srgbClr val="F2C316"/>
          </a:solidFill>
          <a:ln/>
        </p:spPr>
      </p:sp>
      <p:sp>
        <p:nvSpPr>
          <p:cNvPr id="6" name="Shape 4"/>
          <p:cNvSpPr/>
          <p:nvPr/>
        </p:nvSpPr>
        <p:spPr>
          <a:xfrm>
            <a:off x="1399032" y="2075688"/>
            <a:ext cx="118872" cy="118872"/>
          </a:xfrm>
          <a:prstGeom prst="ellipse">
            <a:avLst/>
          </a:prstGeom>
          <a:solidFill>
            <a:srgbClr val="2E9E4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051560" y="2423160"/>
            <a:ext cx="667512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response, logits = grad_cam(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    ce, ce.encoder.features[7], inputs, torch.tensor([first]))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response.shape[-2:] == inputs.shape[-2:]</a:t>
            </a:r>
            <a:endParaRPr lang="en-US" sz="1400" dirty="0"/>
          </a:p>
          <a:p>
            <a:pPr indent="0" marL="0">
              <a:lnSpc>
                <a:spcPct val="145000"/>
              </a:lnSpc>
              <a:buNone/>
            </a:pPr>
            <a:r>
              <a:rPr lang="en-US" sz="1400" dirty="0">
                <a:solidFill>
                  <a:srgbClr val="D7E3F0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assert torch.isfinite(response).all()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8458200" y="192024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打开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8458200" y="2240280"/>
            <a:ext cx="3044952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4233A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15_imbalance_analysis_teaching.ipynb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8458200" y="3108960"/>
            <a:ext cx="30449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定位 cell</a:t>
            </a:r>
            <a:endParaRPr lang="en-US" sz="1300" dirty="0"/>
          </a:p>
        </p:txBody>
      </p:sp>
      <p:sp>
        <p:nvSpPr>
          <p:cNvPr id="11" name="cell loss-comparison"/>
          <p:cNvSpPr/>
          <p:nvPr/>
        </p:nvSpPr>
        <p:spPr>
          <a:xfrm>
            <a:off x="8458200" y="3474720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595360" y="34747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loss-comparison</a:t>
            </a:r>
            <a:endParaRPr lang="en-US" sz="1200" dirty="0"/>
          </a:p>
        </p:txBody>
      </p:sp>
      <p:sp>
        <p:nvSpPr>
          <p:cNvPr id="13" name="cell gradcam"/>
          <p:cNvSpPr/>
          <p:nvPr/>
        </p:nvSpPr>
        <p:spPr>
          <a:xfrm>
            <a:off x="8458200" y="3950208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595360" y="395020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gradcam</a:t>
            </a:r>
            <a:endParaRPr lang="en-US" sz="1200" dirty="0"/>
          </a:p>
        </p:txBody>
      </p:sp>
      <p:sp>
        <p:nvSpPr>
          <p:cNvPr id="15" name="cell maps"/>
          <p:cNvSpPr/>
          <p:nvPr/>
        </p:nvSpPr>
        <p:spPr>
          <a:xfrm>
            <a:off x="8458200" y="4425696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595360" y="442569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maps</a:t>
            </a:r>
            <a:endParaRPr lang="en-US" sz="1200" dirty="0"/>
          </a:p>
        </p:txBody>
      </p:sp>
      <p:sp>
        <p:nvSpPr>
          <p:cNvPr id="17" name="cell weighted-loss-toy"/>
          <p:cNvSpPr/>
          <p:nvPr/>
        </p:nvSpPr>
        <p:spPr>
          <a:xfrm>
            <a:off x="8458200" y="4901184"/>
            <a:ext cx="3044952" cy="365760"/>
          </a:xfrm>
          <a:prstGeom prst="roundRect">
            <a:avLst>
              <a:gd name="adj" fmla="val 15000"/>
            </a:avLst>
          </a:prstGeom>
          <a:ln w="9525">
            <a:solidFill>
              <a:srgbClr val="DCE3EA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490118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F5BB7"/>
                </a:solidFill>
                <a:latin typeface="Consolas" pitchFamily="34" charset="0"/>
                <a:ea typeface="Microsoft YaHei" pitchFamily="34" charset="-122"/>
                <a:cs typeface="Consolas" pitchFamily="34" charset="-120"/>
              </a:rPr>
              <a:t>weighted-loss-toy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85800" y="5852160"/>
            <a:ext cx="1082009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先预测输出，再运行对应单元格。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3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停下来，做一次判断</a:t>
            </a:r>
            <a:endParaRPr lang="en-US" sz="3000" dirty="0"/>
          </a:p>
        </p:txBody>
      </p:sp>
      <p:sp>
        <p:nvSpPr>
          <p:cNvPr id="3" name="prediction card"/>
          <p:cNvSpPr/>
          <p:nvPr/>
        </p:nvSpPr>
        <p:spPr>
          <a:xfrm>
            <a:off x="685800" y="1874520"/>
            <a:ext cx="6355080" cy="4343400"/>
          </a:xfrm>
          <a:prstGeom prst="roundRect">
            <a:avLst>
              <a:gd name="adj" fmla="val 2105"/>
            </a:avLst>
          </a:prstGeom>
          <a:solidFill>
            <a:srgbClr val="F2F5F9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1097280" y="224028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2F5BB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课堂预测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1097280" y="2697480"/>
            <a:ext cx="553212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dirty="0">
                <a:solidFill>
                  <a:srgbClr val="14233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固定同一patch，只更换Grad-CAM目标类别，解释哪些能推断、哪些不能。</a:t>
            </a:r>
            <a:endParaRPr lang="en-US" sz="2400" dirty="0"/>
          </a:p>
        </p:txBody>
      </p:sp>
      <p:sp>
        <p:nvSpPr>
          <p:cNvPr id="6" name="Text 4"/>
          <p:cNvSpPr txBox="1"/>
          <p:nvPr/>
        </p:nvSpPr>
        <p:spPr>
          <a:xfrm>
            <a:off x="1097280" y="5532120"/>
            <a:ext cx="5532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F6E80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作业 A04  ·  完整示例 / 填空 / 迁移</a:t>
            </a:r>
            <a:endParaRPr lang="en-US" sz="1400" dirty="0"/>
          </a:p>
        </p:txBody>
      </p:sp>
      <p:sp>
        <p:nvSpPr>
          <p:cNvPr id="7" name="exit question card"/>
          <p:cNvSpPr/>
          <p:nvPr/>
        </p:nvSpPr>
        <p:spPr>
          <a:xfrm>
            <a:off x="7315200" y="1874520"/>
            <a:ext cx="4187952" cy="4343400"/>
          </a:xfrm>
          <a:prstGeom prst="roundRect">
            <a:avLst>
              <a:gd name="adj" fmla="val 2183"/>
            </a:avLst>
          </a:prstGeom>
          <a:solidFill>
            <a:srgbClr val="0D1B2E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7726680" y="2240280"/>
            <a:ext cx="3383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100" kern="0" dirty="0">
                <a:solidFill>
                  <a:srgbClr val="F5B5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退出题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7726680" y="2697480"/>
            <a:ext cx="338328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30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OA下降而AA上升是否表示实验失败？</a:t>
            </a:r>
            <a:endParaRPr lang="en-US" sz="2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5F6E80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3"/>
          <p:cNvSpPr/>
          <p:nvPr>
            <p:ph idx="104" type="title" hasCustomPrompt="1"/>
          </p:nvPr>
        </p:nvSpPr>
        <p:spPr>
          <a:xfrm>
            <a:off x="685800" y="868680"/>
            <a:ext cx="108200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结论要有边界</a:t>
            </a:r>
            <a:endParaRPr lang="en-US" sz="3000" dirty="0"/>
          </a:p>
        </p:txBody>
      </p:sp>
      <p:sp>
        <p:nvSpPr>
          <p:cNvPr id="3" name="known"/>
          <p:cNvSpPr/>
          <p:nvPr/>
        </p:nvSpPr>
        <p:spPr>
          <a:xfrm>
            <a:off x="685800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4" name="tag"/>
          <p:cNvSpPr/>
          <p:nvPr/>
        </p:nvSpPr>
        <p:spPr>
          <a:xfrm>
            <a:off x="1051560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1F8FB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051560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已知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1051560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降低大类权重可能损失OA</a:t>
            </a:r>
            <a:endParaRPr lang="en-US" sz="2400" dirty="0"/>
          </a:p>
        </p:txBody>
      </p:sp>
      <p:sp>
        <p:nvSpPr>
          <p:cNvPr id="7" name="boundary"/>
          <p:cNvSpPr/>
          <p:nvPr/>
        </p:nvSpPr>
        <p:spPr>
          <a:xfrm>
            <a:off x="6233008" y="1920240"/>
            <a:ext cx="5272888" cy="2743200"/>
          </a:xfrm>
          <a:prstGeom prst="roundRect">
            <a:avLst>
              <a:gd name="adj" fmla="val 3333"/>
            </a:avLst>
          </a:prstGeom>
          <a:solidFill>
            <a:srgbClr val="16294A"/>
          </a:solidFill>
          <a:ln/>
        </p:spPr>
      </p:sp>
      <p:sp>
        <p:nvSpPr>
          <p:cNvPr id="8" name="tag"/>
          <p:cNvSpPr/>
          <p:nvPr/>
        </p:nvSpPr>
        <p:spPr>
          <a:xfrm>
            <a:off x="6598768" y="2286000"/>
            <a:ext cx="786384" cy="347472"/>
          </a:xfrm>
          <a:prstGeom prst="roundRect">
            <a:avLst>
              <a:gd name="adj" fmla="val 18421"/>
            </a:avLst>
          </a:prstGeom>
          <a:solidFill>
            <a:srgbClr val="E8752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98768" y="2286000"/>
            <a:ext cx="78638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边界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6598768" y="2926080"/>
            <a:ext cx="4541368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2400" b="1" dirty="0">
                <a:solidFill>
                  <a:srgbClr val="FFFFFF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热图插值不增加解释分辨率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685800" y="5230368"/>
            <a:ext cx="10820095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A9BACD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来源、复现入口与辅助提示见讲者备注。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682935" y="384048"/>
            <a:ext cx="82296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 lIns="0" tIns="0" rIns="0" bIns="0" anchor="ctr"/>
          <a:lstStyle>
            <a:lvl1pPr>
              <a:defRPr sz="1100">
                <a:solidFill>
                  <a:srgbClr val="A9BACD"/>
                </a:solidFill>
                <a:latin typeface="Microsoft YaHei"/>
                <a:ea typeface="Microsoft YaHei"/>
                <a:cs typeface="Microsoft YaHe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HSI-Learning Spectral">
      <a:dk1>
        <a:srgbClr val="14233A"/>
      </a:dk1>
      <a:lt1>
        <a:srgbClr val="FFFFFF"/>
      </a:lt1>
      <a:dk2>
        <a:srgbClr val="0D1B2E"/>
      </a:dk2>
      <a:lt2>
        <a:srgbClr val="F2F5F9"/>
      </a:lt2>
      <a:accent1>
        <a:srgbClr val="2F5BB7"/>
      </a:accent1>
      <a:accent2>
        <a:srgbClr val="1F8FB8"/>
      </a:accent2>
      <a:accent3>
        <a:srgbClr val="2E9E4F"/>
      </a:accent3>
      <a:accent4>
        <a:srgbClr val="E8752A"/>
      </a:accent4>
      <a:accent5>
        <a:srgbClr val="5B3FA0"/>
      </a:accent5>
      <a:accent6>
        <a:srgbClr val="D33A2C"/>
      </a:accent6>
      <a:hlink>
        <a:srgbClr val="2F5BB7"/>
      </a:hlink>
      <a:folHlink>
        <a:srgbClr val="5B3FA0"/>
      </a:folHlink>
    </a:clrScheme>
    <a:fontScheme name="Office">
      <a:majorFont>
        <a:latin typeface="Microsoft YaHei"/>
        <a:ea typeface="Microsoft YaHei"/>
        <a:cs typeface=""/>
        <a:font script="Jpan" typeface="游ゴシック Light"/>
        <a:font script="Hang" typeface="맑은 고딕"/>
        <a:font script="Hans" typeface="Microsoft YaHei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Microsoft YaHei"/>
        <a:ea typeface="Microsoft YaHei"/>
        <a:cs typeface=""/>
        <a:font script="Jpan" typeface="游ゴシック"/>
        <a:font script="Hang" typeface="맑은 고딕"/>
        <a:font script="Hans" typeface="Microsoft YaHei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L07 OA 很高，小类为什么仍全错？</dc:title>
  <dc:subject>PptxGenJS Presentation</dc:subject>
  <dc:creator>HSI-Learning</dc:creator>
  <cp:lastModifiedBy>HSI-Learning</cp:lastModifiedBy>
  <cp:revision>1</cp:revision>
  <dcterms:created xsi:type="dcterms:W3CDTF">2026-10-10T13:41:29Z</dcterms:created>
  <dcterms:modified xsi:type="dcterms:W3CDTF">2026-10-10T13:41:29Z</dcterms:modified>
</cp:coreProperties>
</file>