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b719a1f4-9dcc-f814-1328-60419c1dd607}">
          <p14:sldIdLst>
            <p14:sldId id="256"/>
            <p14:sldId id="257"/>
          </p14:sldIdLst>
        </p14:section>
        <p14:section name="讲解" id="{a7cb4222-0321-57ee-9c50-80740f48933c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练习" id="{14df5985-b9bc-0d2a-6370-fde9bcc5bb27}">
          <p14:sldIdLst>
            <p14:sldId id="265"/>
            <p14:sldId id="266"/>
          </p14:sldIdLst>
        </p14:section>
        <p14:section name="收束" id="{957da830-3c3d-a8cd-bece-4fbf9ff17db7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开场问题：标准化后还应使用原始DN的gamma量级吗？
原标题：上神经网络之前，先做一个可信基线
参考节奏：5分钟回顾，10分钟手算，10分钟代码，12分钟练习，5分钟错误分析，3分钟退出题。
课堂入口: 02_svm_baseline.ipynb
定位: pipeline, kernel-scale, raw-confusion, pca-confusion
先预测，再运行；答错时回到手算例。
AI辅助：从给定仓库片段提取SVM实验参数表，每个值附文件/行或变量名。找不到的项写unknown，不推测默认设置等于论文设置。
人工核验：逐个对应入口参数，核对PCA/scaler的fit范围，不按test选择配置。
scikit-learn: SVC and preprocessing
https://scikit-learn.org/stable/modules/svm.html
scikit-learn: model evaluation
https://scikit-learn.org/stable/modules/model_evaluation.html
运行配置、数据哈希和结果：artifacts/teaching/classroom-facts.json
封面图源：02_svm_baseline.ipynb / pca-confusion / 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交付物以代码、配置、输出和解释为准。先做完整示例，再做填空与迁移任务。
课堂入口: 02_svm_baseline.ipynb
定位: pipeline, kernel-scale, raw-confusion, pca-confusion
先预测，再运行；答错时回到手算例。
AI辅助：从给定仓库片段提取SVM实验参数表，每个值附文件/行或变量名。找不到的项写unknown，不推测默认设置等于论文设置。
人工核验：逐个对应入口参数，核对PCA/scaler的fit范围，不按test选择配置。
scikit-learn: SVC and preprocessing
https://scikit-learn.org/stable/modules/svm.html
scikit-learn: model evaluation
https://scikit-learn.org/stable/modules/model_evaluation.html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协议E的SVM是本次重新执行，不能复用旧协议A的0.85作为同协议对照。
课堂入口: 02_svm_baseline.ipynb
定位: pipeline, kernel-scale, raw-confusion, pca-confusion
先预测，再运行；答错时回到手算例。
AI辅助：从给定仓库片段提取SVM实验参数表，每个值附文件/行或变量名。找不到的项写unknown，不推测默认设置等于论文设置。
人工核验：逐个对应入口参数，核对PCA/scaler的fit范围，不按test选择配置。
scikit-learn: SVC and preprocessing
https://scikit-learn.org/stable/modules/svm.html
scikit-learn: model evaluation
https://scikit-learn.org/stable/modules/model_evaluation.html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10249 行、200 列特征来自上一课的实测统计。CSV是存储选择，不是算法需求。
Cube / (samples,bands) / Labels + positions
课堂入口: 02_svm_baseline.ipynb
定位: pipeline, kernel-scale, raw-confusion, pca-confusion
先预测，再运行；答错时回到手算例。
AI辅助：从给定仓库片段提取SVM实验参数表，每个值附文件/行或变量名。找不到的项写unknown，不推测默认设置等于论文设置。
人工核验：逐个对应入口参数，核对PCA/scaler的fit范围，不按test选择配置。
scikit-learn: SVC and preprocessing
https://scikit-learn.org/stable/modules/svm.html
scikit-learn: model evaluation
https://scikit-learn.org/stable/modules/model_evaluation.html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算例两个相似度都非零；极小核值和数值下溢要区分。
x / Squared distance / Kernel similarity
课堂入口: 02_svm_baseline.ipynb
定位: pipeline, kernel-scale, raw-confusion, pca-confusion
先预测，再运行；答错时回到手算例。
AI辅助：从给定仓库片段提取SVM实验参数表，每个值附文件/行或变量名。找不到的项写unknown，不推测默认设置等于论文设置。
人工核验：逐个对应入口参数，核对PCA/scaler的fit范围，不按test选择配置。
scikit-learn: SVC and preprocessing
https://scikit-learn.org/stable/modules/svm.html
scikit-learn: model evaluation
https://scikit-learn.org/stable/modules/model_evaluation.html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核相似度极小与数值下溢分别解释。验证差不是核退化唯一原因。
课堂入口: 02_svm_baseline.ipynb
定位: pipeline, kernel-scale, raw-confusion, pca-confusion
先预测，再运行；答错时回到手算例。
AI辅助：从给定仓库片段提取SVM实验参数表，每个值附文件/行或变量名。找不到的项写unknown，不推测默认设置等于论文设置。
人工核验：逐个对应入口参数，核对PCA/scaler的fit范围，不按test选择配置。
scikit-learn: SVC and preprocessing
https://scikit-learn.org/stable/modules/svm.html
scikit-learn: model evaluation
https://scikit-learn.org/stable/modules/model_evaluation.html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网格边缘最佳提示范围可能不足，不证明下一格必然更好。
Train fit / Val compare / Frozen test
课堂入口: 02_svm_baseline.ipynb
定位: pipeline, kernel-scale, raw-confusion, pca-confusion
先预测，再运行；答错时回到手算例。
AI辅助：从给定仓库片段提取SVM实验参数表，每个值附文件/行或变量名。找不到的项写unknown，不推测默认设置等于论文设置。
人工核验：逐个对应入口参数，核对PCA/scaler的fit范围，不按test选择配置。
scikit-learn: SVC and preprocessing
https://scikit-learn.org/stable/modules/svm.html
scikit-learn: model evaluation
https://scikit-learn.org/stable/modules/model_evaluation.html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本图来自notebook 02的降维特征实验，与原始波段混淆矩阵同框对照。结论不是“PCA更好”，而是特征与预处理改变基线行为，报告必须写清用了哪种特征。
Raw DN features / PCA features / Per-class errors
图源：02_svm_baseline.ipynb / pca-confusion / 1
课堂入口: 02_svm_baseline.ipynb
定位: pipeline, kernel-scale, raw-confusion, pca-confusion
先预测，再运行；答错时回到手算例。
AI辅助：从给定仓库片段提取SVM实验参数表，每个值附文件/行或变量名。找不到的项写unknown，不推测默认设置等于论文设置。
人工核验：逐个对应入口参数，核对PCA/scaler的fit范围，不按test选择配置。
scikit-learn: SVC and preprocessing
https://scikit-learn.org/stable/modules/svm.html
scikit-learn: model evaluation
https://scikit-learn.org/stable/modules/model_evaluation.html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Notebook中的RUN_FIT明确开关；课前脚本用C=[1,10,100]，完整搜索记录写入metrics。
课堂入口: 02_svm_baseline.ipynb
定位: pipeline, kernel-scale, raw-confusion, pca-confusion
先预测，再运行；答错时回到手算例。
AI辅助：从给定仓库片段提取SVM实验参数表，每个值附文件/行或变量名。找不到的项写unknown，不推测默认设置等于论文设置。
人工核验：逐个对应入口参数，核对PCA/scaler的fit范围，不按test选择配置。
scikit-learn: SVC and preprocessing
https://scikit-learn.org/stable/modules/svm.html
scikit-learn: model evaluation
https://scikit-learn.org/stable/modules/model_evaluation.html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只运行指定短cell；完整训练已在课前完成。缺资产时使用已执行输出备用并说明。
课堂入口: 02_svm_baseline.ipynb
定位: pipeline, kernel-scale, raw-confusion, pca-confusion
先预测，再运行；答错时回到手算例。
AI辅助：从给定仓库片段提取SVM实验参数表，每个值附文件/行或变量名。找不到的项写unknown，不推测默认设置等于论文设置。
人工核验：逐个对应入口参数，核对PCA/scaler的fit范围，不按test选择配置。
scikit-learn: SVC and preprocessing
https://scikit-learn.org/stable/modules/svm.html
scikit-learn: model evaluation
https://scikit-learn.org/stable/modules/model_evaluation.html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停下来收集预测，发现错误后重新解释；不等到课后作业才知道学生没理解。
作业：A02；完整示例 / 填空 / 迁移；提交代码、配置、结果和限制。
课堂入口: 02_svm_baseline.ipynb
定位: pipeline, kernel-scale, raw-confusion, pca-confusion
先预测，再运行；答错时回到手算例。
AI辅助：从给定仓库片段提取SVM实验参数表，每个值附文件/行或变量名。找不到的项写unknown，不推测默认设置等于论文设置。
人工核验：逐个对应入口参数，核对PCA/scaler的fit范围，不按test选择配置。
scikit-learn: SVC and preprocessing
https://scikit-learn.org/stable/modules/svm.html
scikit-learn: model evaluation
https://scikit-learn.org/stable/modules/model_evaluation.html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区分已观察事实、候选解释与下一项检验。
退出题：标准化后还应使用原始DN的gamma量级吗？
课堂入口: 02_svm_baseline.ipynb
定位: pipeline, kernel-scale, raw-confusion, pca-confusion
先预测，再运行；答错时回到手算例。
AI辅助：从给定仓库片段提取SVM实验参数表，每个值附文件/行或变量名。找不到的项写unknown，不推测默认设置等于论文设置。
人工核验：逐个对应入口参数，核对PCA/scaler的fit范围，不按test选择配置。
scikit-learn: SVC and preprocessing
https://scikit-learn.org/stable/modules/svm.html
scikit-learn: model evaluation
https://scikit-learn.org/stable/modules/model_evaluation.html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SI-Learning/slides/assets/brand/spectrum-bars.png">    </p:cNvPr>
          <p:cNvPicPr>
            <a:picLocks noChangeAspect="1"/>
          </p:cNvPicPr>
          <p:nvPr/>
        </p:nvPicPr>
        <p:blipFill>
          <a:blip r:embed="rId1">
            <a:alphaModFix amt="85000"/>
          </a:blip>
          <a:stretch>
            <a:fillRect/>
          </a:stretch>
        </p:blipFill>
        <p:spPr>
          <a:xfrm>
            <a:off x="0" y="5440680"/>
            <a:ext cx="12191695" cy="1417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5669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HSI-LEARNING  ·  高光谱图像分类课程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85800" y="1828800"/>
            <a:ext cx="6309360" cy="1783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en-US" sz="5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endParaRPr lang="en-US" sz="5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658368" cy="274320"/>
          </a:xfrm>
          <a:prstGeom prst="rect">
            <a:avLst>
              <a:gd name="adj" fmla="val 20000"/>
            </a:avLst>
          </a:prstGeom>
          <a:solidFill>
            <a:srgbClr val="0D1B2E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8404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L03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50876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HSI-LEARNING  ·  高光谱图像分类课程</a:t>
            </a:r>
            <a:endParaRPr lang="en-US" sz="1100" dirty="0"/>
          </a:p>
        </p:txBody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0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SI-Learning/slides/assets/brand/spectrum-bars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0" y="5897880"/>
            <a:ext cx="12191695" cy="9601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384048"/>
            <a:ext cx="658368" cy="274320"/>
          </a:xfrm>
          <a:prstGeom prst="rect">
            <a:avLst>
              <a:gd name="adj" fmla="val 20000"/>
            </a:avLst>
          </a:prstGeom>
          <a:solidFill>
            <a:srgbClr val="2F5BB7"/>
          </a:solidFill>
          <a:ln/>
        </p:spPr>
      </p:sp>
      <p:sp>
        <p:nvSpPr>
          <p:cNvPr id="4" name="Text 1"/>
          <p:cNvSpPr/>
          <p:nvPr/>
        </p:nvSpPr>
        <p:spPr>
          <a:xfrm>
            <a:off x="685800" y="38404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L03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50876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HSI-LEARNING  ·  高光谱图像分类课程</a:t>
            </a:r>
            <a:endParaRPr lang="en-US" sz="1100" dirty="0"/>
          </a:p>
        </p:txBody>
      </p:sp>
      <p:sp>
        <p:nvSpPr>
          <p:cNvPr id="6" name="Text 3"/>
          <p:cNvSpPr/>
          <p:nvPr>
            <p:ph idx="104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A9BACD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85800" y="1828800"/>
            <a:ext cx="6309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建立可信的</a:t>
            </a:r>
            <a:endParaRPr lang="en-US" sz="50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SVM 基线</a:t>
            </a:r>
            <a:endParaRPr lang="en-US" sz="5000" dirty="0"/>
          </a:p>
        </p:txBody>
      </p:sp>
      <p:sp>
        <p:nvSpPr>
          <p:cNvPr id="3" name="lesson id"/>
          <p:cNvSpPr/>
          <p:nvPr/>
        </p:nvSpPr>
        <p:spPr>
          <a:xfrm>
            <a:off x="685800" y="1243584"/>
            <a:ext cx="786384" cy="347472"/>
          </a:xfrm>
          <a:prstGeom prst="roundRect">
            <a:avLst>
              <a:gd name="adj" fmla="val 18421"/>
            </a:avLst>
          </a:prstGeom>
          <a:solidFill>
            <a:srgbClr val="2F5BB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243584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L03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730752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5B5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本课问题  </a:t>
            </a:r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上神经网络之前，先做一个可信基线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420624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SVM、特征尺度与验证调参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4645152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先修  ·  L02：train/val/test与指标</a:t>
            </a:r>
            <a:endParaRPr lang="en-US" sz="1300" dirty="0"/>
          </a:p>
        </p:txBody>
      </p:sp>
      <p:sp>
        <p:nvSpPr>
          <p:cNvPr id="8" name="hero frame"/>
          <p:cNvSpPr/>
          <p:nvPr/>
        </p:nvSpPr>
        <p:spPr>
          <a:xfrm>
            <a:off x="7409383" y="1200112"/>
            <a:ext cx="4096512" cy="3589096"/>
          </a:xfrm>
          <a:prstGeom prst="roundRect">
            <a:avLst>
              <a:gd name="adj" fmla="val 25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0" descr="cover fig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0551" y="1401280"/>
            <a:ext cx="3694176" cy="3186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这节课，你将完成什么</a:t>
            </a:r>
            <a:endParaRPr lang="en-US" sz="3000" dirty="0"/>
          </a:p>
        </p:txBody>
      </p:sp>
      <p:sp>
        <p:nvSpPr>
          <p:cNvPr id="3" name="deliverable 1"/>
          <p:cNvSpPr/>
          <p:nvPr/>
        </p:nvSpPr>
        <p:spPr>
          <a:xfrm>
            <a:off x="685800" y="1920240"/>
            <a:ext cx="3423818" cy="2240280"/>
          </a:xfrm>
          <a:prstGeom prst="roundRect">
            <a:avLst>
              <a:gd name="adj" fmla="val 4082"/>
            </a:avLst>
          </a:prstGeom>
          <a:solidFill>
            <a:srgbClr val="F2F5F9"/>
          </a:solidFill>
          <a:ln/>
        </p:spPr>
      </p:sp>
      <p:sp>
        <p:nvSpPr>
          <p:cNvPr id="4" name="chip 01"/>
          <p:cNvSpPr/>
          <p:nvPr/>
        </p:nvSpPr>
        <p:spPr>
          <a:xfrm>
            <a:off x="1005840" y="224028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5B3FA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97180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基线配置</a:t>
            </a:r>
            <a:endParaRPr lang="en-US" sz="2200" dirty="0"/>
          </a:p>
        </p:txBody>
      </p:sp>
      <p:sp>
        <p:nvSpPr>
          <p:cNvPr id="7" name="deliverable 2"/>
          <p:cNvSpPr/>
          <p:nvPr/>
        </p:nvSpPr>
        <p:spPr>
          <a:xfrm>
            <a:off x="4383938" y="1920240"/>
            <a:ext cx="3423818" cy="2240280"/>
          </a:xfrm>
          <a:prstGeom prst="roundRect">
            <a:avLst>
              <a:gd name="adj" fmla="val 4082"/>
            </a:avLst>
          </a:prstGeom>
          <a:solidFill>
            <a:srgbClr val="F2F5F9"/>
          </a:solidFill>
          <a:ln/>
        </p:spPr>
      </p:sp>
      <p:sp>
        <p:nvSpPr>
          <p:cNvPr id="8" name="chip 02"/>
          <p:cNvSpPr/>
          <p:nvPr/>
        </p:nvSpPr>
        <p:spPr>
          <a:xfrm>
            <a:off x="4703978" y="224028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2E9E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703978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703978" y="297180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测试报告</a:t>
            </a:r>
            <a:endParaRPr lang="en-US" sz="2200" dirty="0"/>
          </a:p>
        </p:txBody>
      </p:sp>
      <p:sp>
        <p:nvSpPr>
          <p:cNvPr id="11" name="deliverable 3"/>
          <p:cNvSpPr/>
          <p:nvPr/>
        </p:nvSpPr>
        <p:spPr>
          <a:xfrm>
            <a:off x="8082077" y="1920240"/>
            <a:ext cx="3423818" cy="2240280"/>
          </a:xfrm>
          <a:prstGeom prst="roundRect">
            <a:avLst>
              <a:gd name="adj" fmla="val 4082"/>
            </a:avLst>
          </a:prstGeom>
          <a:solidFill>
            <a:srgbClr val="F2F5F9"/>
          </a:solidFill>
          <a:ln/>
        </p:spPr>
      </p:sp>
      <p:sp>
        <p:nvSpPr>
          <p:cNvPr id="12" name="chip 03"/>
          <p:cNvSpPr/>
          <p:nvPr/>
        </p:nvSpPr>
        <p:spPr>
          <a:xfrm>
            <a:off x="8402117" y="224028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D33A2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02117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97180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核参数尺度检查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85800" y="4846320"/>
            <a:ext cx="10820095" cy="0"/>
          </a:xfrm>
          <a:prstGeom prst="line">
            <a:avLst/>
          </a:prstGeom>
          <a:noFill/>
          <a:ln w="12700">
            <a:solidFill>
              <a:srgbClr val="DCE3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5074920"/>
            <a:ext cx="34238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NOTEBOOK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544068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02_svm_baseline.ipynb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383938" y="5074920"/>
            <a:ext cx="34238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 CELL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383938" y="544068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pipeline · kernel-scale · raw-confusion · pca-confusion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082077" y="5074920"/>
            <a:ext cx="34238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082077" y="544068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A02 · 完整示例 / 填空 / 迁移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先建立可重建的基线</a:t>
            </a:r>
            <a:endParaRPr lang="en-US" sz="3000" dirty="0"/>
          </a:p>
        </p:txBody>
      </p:sp>
      <p:sp>
        <p:nvSpPr>
          <p:cNvPr id="3" name="point 1"/>
          <p:cNvSpPr/>
          <p:nvPr/>
        </p:nvSpPr>
        <p:spPr>
          <a:xfrm>
            <a:off x="685800" y="1965960"/>
            <a:ext cx="3423818" cy="2834640"/>
          </a:xfrm>
          <a:prstGeom prst="roundRect">
            <a:avLst>
              <a:gd name="adj" fmla="val 3226"/>
            </a:avLst>
          </a:prstGeom>
          <a:solidFill>
            <a:srgbClr val="F2F5F9"/>
          </a:solidFill>
          <a:ln/>
        </p:spPr>
      </p:sp>
      <p:sp>
        <p:nvSpPr>
          <p:cNvPr id="4" name="chip 01"/>
          <p:cNvSpPr/>
          <p:nvPr/>
        </p:nvSpPr>
        <p:spPr>
          <a:xfrm>
            <a:off x="1005840" y="22860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5B3FA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3017520"/>
            <a:ext cx="278373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先检查标签是否混入特征</a:t>
            </a:r>
            <a:endParaRPr lang="en-US" sz="2000" dirty="0"/>
          </a:p>
        </p:txBody>
      </p:sp>
      <p:sp>
        <p:nvSpPr>
          <p:cNvPr id="7" name="point 2"/>
          <p:cNvSpPr/>
          <p:nvPr/>
        </p:nvSpPr>
        <p:spPr>
          <a:xfrm>
            <a:off x="4383938" y="1965960"/>
            <a:ext cx="3423818" cy="2834640"/>
          </a:xfrm>
          <a:prstGeom prst="roundRect">
            <a:avLst>
              <a:gd name="adj" fmla="val 3226"/>
            </a:avLst>
          </a:prstGeom>
          <a:solidFill>
            <a:srgbClr val="F2F5F9"/>
          </a:solidFill>
          <a:ln/>
        </p:spPr>
      </p:sp>
      <p:sp>
        <p:nvSpPr>
          <p:cNvPr id="8" name="chip 02"/>
          <p:cNvSpPr/>
          <p:nvPr/>
        </p:nvSpPr>
        <p:spPr>
          <a:xfrm>
            <a:off x="4703978" y="22860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2E9E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703978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703978" y="3017520"/>
            <a:ext cx="278373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记录划分、输入、选参规则</a:t>
            </a:r>
            <a:endParaRPr lang="en-US" sz="2000" dirty="0"/>
          </a:p>
        </p:txBody>
      </p:sp>
      <p:sp>
        <p:nvSpPr>
          <p:cNvPr id="11" name="point 3"/>
          <p:cNvSpPr/>
          <p:nvPr/>
        </p:nvSpPr>
        <p:spPr>
          <a:xfrm>
            <a:off x="8082077" y="1965960"/>
            <a:ext cx="3423818" cy="2834640"/>
          </a:xfrm>
          <a:prstGeom prst="roundRect">
            <a:avLst>
              <a:gd name="adj" fmla="val 3226"/>
            </a:avLst>
          </a:prstGeom>
          <a:solidFill>
            <a:srgbClr val="F2F5F9"/>
          </a:solidFill>
          <a:ln/>
        </p:spPr>
      </p:sp>
      <p:sp>
        <p:nvSpPr>
          <p:cNvPr id="12" name="chip 03"/>
          <p:cNvSpPr/>
          <p:nvPr/>
        </p:nvSpPr>
        <p:spPr>
          <a:xfrm>
            <a:off x="8402117" y="22860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D33A2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02117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3017520"/>
            <a:ext cx="278373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分数由当前测试输出读取</a:t>
            </a:r>
            <a:endParaRPr lang="en-US" sz="2000" dirty="0"/>
          </a:p>
        </p:txBody>
      </p:sp>
      <p:sp>
        <p:nvSpPr>
          <p:cNvPr id="15" name="run panel"/>
          <p:cNvSpPr/>
          <p:nvPr/>
        </p:nvSpPr>
        <p:spPr>
          <a:xfrm>
            <a:off x="685800" y="5285232"/>
            <a:ext cx="10820095" cy="987552"/>
          </a:xfrm>
          <a:prstGeom prst="roundRect">
            <a:avLst>
              <a:gd name="adj" fmla="val 9259"/>
            </a:avLst>
          </a:prstGeom>
          <a:solidFill>
            <a:srgbClr val="0D1B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05840" y="5440680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&gt;&gt;&gt; </a:t>
            </a:r>
            <a:pPr indent="0" marL="0"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raw_report['oa'], raw_report['aa']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5815584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(0.8070, 0.7773)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从cube到样本表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577900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每个有标注像元一行</a:t>
            </a:r>
            <a:endParaRPr lang="en-US" sz="2100" dirty="0"/>
          </a:p>
        </p:txBody>
      </p:sp>
      <p:sp>
        <p:nvSpPr>
          <p:cNvPr id="6" name="chip 02"/>
          <p:cNvSpPr/>
          <p:nvPr/>
        </p:nvSpPr>
        <p:spPr>
          <a:xfrm>
            <a:off x="685800" y="29931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993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2956560"/>
            <a:ext cx="577900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类别列不能留在特征中</a:t>
            </a:r>
            <a:endParaRPr lang="en-US" sz="2100" dirty="0"/>
          </a:p>
        </p:txBody>
      </p:sp>
      <p:sp>
        <p:nvSpPr>
          <p:cNvPr id="9" name="chip 03"/>
          <p:cNvSpPr/>
          <p:nvPr/>
        </p:nvSpPr>
        <p:spPr>
          <a:xfrm>
            <a:off x="685800" y="39837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3983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3947160"/>
            <a:ext cx="577900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保留坐标用于预测回贴</a:t>
            </a:r>
            <a:endParaRPr lang="en-US" sz="2100" dirty="0"/>
          </a:p>
        </p:txBody>
      </p:sp>
      <p:sp>
        <p:nvSpPr>
          <p:cNvPr id="12" name="keywords"/>
          <p:cNvSpPr/>
          <p:nvPr/>
        </p:nvSpPr>
        <p:spPr>
          <a:xfrm>
            <a:off x="7635240" y="1874520"/>
            <a:ext cx="3867912" cy="3154680"/>
          </a:xfrm>
          <a:prstGeom prst="roundRect">
            <a:avLst>
              <a:gd name="adj" fmla="val 2899"/>
            </a:avLst>
          </a:prstGeom>
          <a:solidFill>
            <a:srgbClr val="F2F5F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955280" y="21488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01584" y="3017520"/>
            <a:ext cx="0" cy="1554480"/>
          </a:xfrm>
          <a:prstGeom prst="line">
            <a:avLst/>
          </a:prstGeom>
          <a:noFill/>
          <a:ln w="19050">
            <a:solidFill>
              <a:srgbClr val="DCE3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10144" y="2926080"/>
            <a:ext cx="182880" cy="182880"/>
          </a:xfrm>
          <a:prstGeom prst="ellipse">
            <a:avLst/>
          </a:prstGeom>
          <a:solidFill>
            <a:srgbClr val="5B3FA0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0" y="2834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Cube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010144" y="3703320"/>
            <a:ext cx="182880" cy="182880"/>
          </a:xfrm>
          <a:prstGeom prst="ellipse">
            <a:avLst/>
          </a:prstGeom>
          <a:solidFill>
            <a:srgbClr val="2E9E4F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0" y="3611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(samples,bands)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010144" y="4480560"/>
            <a:ext cx="182880" cy="182880"/>
          </a:xfrm>
          <a:prstGeom prst="ellipse">
            <a:avLst/>
          </a:prstGeom>
          <a:solidFill>
            <a:srgbClr val="D33A2C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2480" y="4389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Labels + positions</a:t>
            </a:r>
            <a:endParaRPr lang="en-US" sz="1600" dirty="0"/>
          </a:p>
        </p:txBody>
      </p:sp>
      <p:sp>
        <p:nvSpPr>
          <p:cNvPr id="21" name="run panel"/>
          <p:cNvSpPr/>
          <p:nvPr/>
        </p:nvSpPr>
        <p:spPr>
          <a:xfrm>
            <a:off x="685800" y="5285232"/>
            <a:ext cx="10820095" cy="987552"/>
          </a:xfrm>
          <a:prstGeom prst="roundRect">
            <a:avLst>
              <a:gd name="adj" fmla="val 9259"/>
            </a:avLst>
          </a:prstGeom>
          <a:solidFill>
            <a:srgbClr val="0D1B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05840" y="5440680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&gt;&gt;&gt; </a:t>
            </a:r>
            <a:pPr indent="0" marL="0"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X[y &gt; 0].shape, y[y &gt; 0].shape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" y="5815584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((10249, 200), (10249,))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RBF把距离变成相似度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距离大：相似度趋零</a:t>
            </a:r>
            <a:endParaRPr lang="en-US" sz="1900" dirty="0"/>
          </a:p>
        </p:txBody>
      </p:sp>
      <p:sp>
        <p:nvSpPr>
          <p:cNvPr id="6" name="chip 02"/>
          <p:cNvSpPr/>
          <p:nvPr/>
        </p:nvSpPr>
        <p:spPr>
          <a:xfrm>
            <a:off x="685800" y="29931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993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29565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gamma大：局部影响范围窄</a:t>
            </a:r>
            <a:endParaRPr lang="en-US" sz="1900" dirty="0"/>
          </a:p>
        </p:txBody>
      </p:sp>
      <p:sp>
        <p:nvSpPr>
          <p:cNvPr id="9" name="chip 03"/>
          <p:cNvSpPr/>
          <p:nvPr/>
        </p:nvSpPr>
        <p:spPr>
          <a:xfrm>
            <a:off x="685800" y="39837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3983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39471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C控制拟合与正则的权衡</a:t>
            </a:r>
            <a:endParaRPr lang="en-US" sz="1900" dirty="0"/>
          </a:p>
        </p:txBody>
      </p:sp>
      <p:sp>
        <p:nvSpPr>
          <p:cNvPr id="12" name="formula card"/>
          <p:cNvSpPr/>
          <p:nvPr/>
        </p:nvSpPr>
        <p:spPr>
          <a:xfrm>
            <a:off x="5989320" y="1874520"/>
            <a:ext cx="5513832" cy="3017520"/>
          </a:xfrm>
          <a:prstGeom prst="roundRect">
            <a:avLst>
              <a:gd name="adj" fmla="val 3030"/>
            </a:avLst>
          </a:prstGeom>
          <a:solidFill>
            <a:srgbClr val="F2F5F9"/>
          </a:solidFill>
          <a:ln/>
        </p:spPr>
      </p:sp>
      <p:pic>
        <p:nvPicPr>
          <p:cNvPr id="13" name="Image 0" descr="formula: K(x, x\') = \exp(-\gamma \, \| x - x\' \|^2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7356" y="3043646"/>
            <a:ext cx="4937760" cy="679269"/>
          </a:xfrm>
          <a:prstGeom prst="rect">
            <a:avLst/>
          </a:prstGeom>
        </p:spPr>
      </p:pic>
      <p:sp>
        <p:nvSpPr>
          <p:cNvPr id="14" name="run panel"/>
          <p:cNvSpPr/>
          <p:nvPr/>
        </p:nvSpPr>
        <p:spPr>
          <a:xfrm>
            <a:off x="685800" y="5285232"/>
            <a:ext cx="10820095" cy="987552"/>
          </a:xfrm>
          <a:prstGeom prst="roundRect">
            <a:avLst>
              <a:gd name="adj" fmla="val 9259"/>
            </a:avLst>
          </a:prstGeom>
          <a:solidFill>
            <a:srgbClr val="0D1B2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05840" y="5440680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&gt;&gt;&gt; </a:t>
            </a:r>
            <a:pPr indent="0" marL="0"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np.exp(-0.01*100), np.exp(-1*100)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5815584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(0.368, 3.7e-44)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gamma取决于模型看到的特征</a:t>
            </a:r>
            <a:endParaRPr lang="en-US" sz="3000" dirty="0"/>
          </a:p>
        </p:txBody>
      </p:sp>
      <p:sp>
        <p:nvSpPr>
          <p:cNvPr id="3" name="point 1"/>
          <p:cNvSpPr/>
          <p:nvPr/>
        </p:nvSpPr>
        <p:spPr>
          <a:xfrm>
            <a:off x="685800" y="1965960"/>
            <a:ext cx="3423818" cy="2834640"/>
          </a:xfrm>
          <a:prstGeom prst="roundRect">
            <a:avLst>
              <a:gd name="adj" fmla="val 3226"/>
            </a:avLst>
          </a:prstGeom>
          <a:solidFill>
            <a:srgbClr val="F2F5F9"/>
          </a:solidFill>
          <a:ln/>
        </p:spPr>
      </p:sp>
      <p:sp>
        <p:nvSpPr>
          <p:cNvPr id="4" name="chip 01"/>
          <p:cNvSpPr/>
          <p:nvPr/>
        </p:nvSpPr>
        <p:spPr>
          <a:xfrm>
            <a:off x="1005840" y="22860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5B3FA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3017520"/>
            <a:ext cx="278373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float64 exp(-500)约7.12e-218，仍非零</a:t>
            </a:r>
            <a:endParaRPr lang="en-US" sz="2000" dirty="0"/>
          </a:p>
        </p:txBody>
      </p:sp>
      <p:sp>
        <p:nvSpPr>
          <p:cNvPr id="7" name="point 2"/>
          <p:cNvSpPr/>
          <p:nvPr/>
        </p:nvSpPr>
        <p:spPr>
          <a:xfrm>
            <a:off x="4383938" y="1965960"/>
            <a:ext cx="3423818" cy="2834640"/>
          </a:xfrm>
          <a:prstGeom prst="roundRect">
            <a:avLst>
              <a:gd name="adj" fmla="val 3226"/>
            </a:avLst>
          </a:prstGeom>
          <a:solidFill>
            <a:srgbClr val="F2F5F9"/>
          </a:solidFill>
          <a:ln/>
        </p:spPr>
      </p:sp>
      <p:sp>
        <p:nvSpPr>
          <p:cNvPr id="8" name="chip 02"/>
          <p:cNvSpPr/>
          <p:nvPr/>
        </p:nvSpPr>
        <p:spPr>
          <a:xfrm>
            <a:off x="4703978" y="22860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2E9E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703978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703978" y="3017520"/>
            <a:ext cx="278373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StandardScaler后重新理解距离尺度</a:t>
            </a:r>
            <a:endParaRPr lang="en-US" sz="2000" dirty="0"/>
          </a:p>
        </p:txBody>
      </p:sp>
      <p:sp>
        <p:nvSpPr>
          <p:cNvPr id="11" name="point 3"/>
          <p:cNvSpPr/>
          <p:nvPr/>
        </p:nvSpPr>
        <p:spPr>
          <a:xfrm>
            <a:off x="8082077" y="1965960"/>
            <a:ext cx="3423818" cy="2834640"/>
          </a:xfrm>
          <a:prstGeom prst="roundRect">
            <a:avLst>
              <a:gd name="adj" fmla="val 3226"/>
            </a:avLst>
          </a:prstGeom>
          <a:solidFill>
            <a:srgbClr val="F2F5F9"/>
          </a:solidFill>
          <a:ln/>
        </p:spPr>
      </p:sp>
      <p:sp>
        <p:nvSpPr>
          <p:cNvPr id="12" name="chip 03"/>
          <p:cNvSpPr/>
          <p:nvPr/>
        </p:nvSpPr>
        <p:spPr>
          <a:xfrm>
            <a:off x="8402117" y="22860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D33A2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02117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3017520"/>
            <a:ext cx="278373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原始DN网格不是标准化后的建议范围</a:t>
            </a:r>
            <a:endParaRPr lang="en-US" sz="2000" dirty="0"/>
          </a:p>
        </p:txBody>
      </p:sp>
      <p:sp>
        <p:nvSpPr>
          <p:cNvPr id="15" name="run panel"/>
          <p:cNvSpPr/>
          <p:nvPr/>
        </p:nvSpPr>
        <p:spPr>
          <a:xfrm>
            <a:off x="685800" y="5285232"/>
            <a:ext cx="10820095" cy="987552"/>
          </a:xfrm>
          <a:prstGeom prst="roundRect">
            <a:avLst>
              <a:gd name="adj" fmla="val 9259"/>
            </a:avLst>
          </a:prstGeom>
          <a:solidFill>
            <a:srgbClr val="0D1B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05840" y="5440680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&gt;&gt;&gt; </a:t>
            </a:r>
            <a:pPr indent="0" marL="0"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np.exp(-500.0) &gt; 0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5815584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True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调参只能看验证证据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577900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固定候选范围与预算</a:t>
            </a:r>
            <a:endParaRPr lang="en-US" sz="2100" dirty="0"/>
          </a:p>
        </p:txBody>
      </p:sp>
      <p:sp>
        <p:nvSpPr>
          <p:cNvPr id="6" name="chip 02"/>
          <p:cNvSpPr/>
          <p:nvPr/>
        </p:nvSpPr>
        <p:spPr>
          <a:xfrm>
            <a:off x="685800" y="343509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3435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3398520"/>
            <a:ext cx="577900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Pipeline内拟合变换</a:t>
            </a:r>
            <a:endParaRPr lang="en-US" sz="2100" dirty="0"/>
          </a:p>
        </p:txBody>
      </p:sp>
      <p:sp>
        <p:nvSpPr>
          <p:cNvPr id="9" name="chip 03"/>
          <p:cNvSpPr/>
          <p:nvPr/>
        </p:nvSpPr>
        <p:spPr>
          <a:xfrm>
            <a:off x="685800" y="486765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48676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4831080"/>
            <a:ext cx="577900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测试不参与选C/gamma</a:t>
            </a:r>
            <a:endParaRPr lang="en-US" sz="2100" dirty="0"/>
          </a:p>
        </p:txBody>
      </p:sp>
      <p:sp>
        <p:nvSpPr>
          <p:cNvPr id="12" name="keywords"/>
          <p:cNvSpPr/>
          <p:nvPr/>
        </p:nvSpPr>
        <p:spPr>
          <a:xfrm>
            <a:off x="7635240" y="1874520"/>
            <a:ext cx="3867912" cy="4480560"/>
          </a:xfrm>
          <a:prstGeom prst="roundRect">
            <a:avLst>
              <a:gd name="adj" fmla="val 2364"/>
            </a:avLst>
          </a:prstGeom>
          <a:solidFill>
            <a:srgbClr val="F2F5F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955280" y="21488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01584" y="3680460"/>
            <a:ext cx="0" cy="1554480"/>
          </a:xfrm>
          <a:prstGeom prst="line">
            <a:avLst/>
          </a:prstGeom>
          <a:noFill/>
          <a:ln w="19050">
            <a:solidFill>
              <a:srgbClr val="DCE3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10144" y="3589020"/>
            <a:ext cx="182880" cy="182880"/>
          </a:xfrm>
          <a:prstGeom prst="ellipse">
            <a:avLst/>
          </a:prstGeom>
          <a:solidFill>
            <a:srgbClr val="5B3FA0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0" y="34975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Train fit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010144" y="4366260"/>
            <a:ext cx="182880" cy="182880"/>
          </a:xfrm>
          <a:prstGeom prst="ellipse">
            <a:avLst/>
          </a:prstGeom>
          <a:solidFill>
            <a:srgbClr val="2E9E4F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0" y="42748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Val compare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010144" y="5143500"/>
            <a:ext cx="182880" cy="182880"/>
          </a:xfrm>
          <a:prstGeom prst="ellipse">
            <a:avLst/>
          </a:prstGeom>
          <a:solidFill>
            <a:srgbClr val="D33A2C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2480" y="50520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Frozen test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换个特征，混淆结构就变</a:t>
            </a:r>
            <a:endParaRPr lang="en-US" sz="3000" dirty="0"/>
          </a:p>
        </p:txBody>
      </p:sp>
      <p:sp>
        <p:nvSpPr>
          <p:cNvPr id="3" name="figure frame"/>
          <p:cNvSpPr/>
          <p:nvPr/>
        </p:nvSpPr>
        <p:spPr>
          <a:xfrm>
            <a:off x="685800" y="1874520"/>
            <a:ext cx="6720840" cy="4480560"/>
          </a:xfrm>
          <a:prstGeom prst="roundRect">
            <a:avLst>
              <a:gd name="adj" fmla="val 1633"/>
            </a:avLst>
          </a:prstGeom>
          <a:solidFill>
            <a:srgbClr val="F2F5F9"/>
          </a:solidFill>
          <a:ln/>
        </p:spPr>
      </p:sp>
      <p:pic>
        <p:nvPicPr>
          <p:cNvPr id="4" name="Image 0" descr="02_svm_baseline-pca-confusion-1-cb8c71859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0028" y="2039112"/>
            <a:ext cx="4812384" cy="41513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0" y="1920240"/>
            <a:ext cx="3730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怎么读这张图</a:t>
            </a:r>
            <a:endParaRPr lang="en-US" sz="1300" dirty="0"/>
          </a:p>
        </p:txBody>
      </p:sp>
      <p:sp>
        <p:nvSpPr>
          <p:cNvPr id="6" name="chip 01"/>
          <p:cNvSpPr/>
          <p:nvPr/>
        </p:nvSpPr>
        <p:spPr>
          <a:xfrm>
            <a:off x="7772400" y="24597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0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394192" y="2423160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相同候选规则，先用原始200波段</a:t>
            </a:r>
            <a:endParaRPr lang="en-US" sz="1700" dirty="0"/>
          </a:p>
        </p:txBody>
      </p:sp>
      <p:sp>
        <p:nvSpPr>
          <p:cNvPr id="9" name="chip 02"/>
          <p:cNvSpPr/>
          <p:nvPr/>
        </p:nvSpPr>
        <p:spPr>
          <a:xfrm>
            <a:off x="7772400" y="355701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772400" y="35570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394192" y="3520440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再用PCA特征重跑一次</a:t>
            </a:r>
            <a:endParaRPr lang="en-US" sz="1700" dirty="0"/>
          </a:p>
        </p:txBody>
      </p:sp>
      <p:sp>
        <p:nvSpPr>
          <p:cNvPr id="12" name="chip 03"/>
          <p:cNvSpPr/>
          <p:nvPr/>
        </p:nvSpPr>
        <p:spPr>
          <a:xfrm>
            <a:off x="7772400" y="465429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72400" y="46542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8394192" y="4617720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逐类错误分布明显不同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5897880"/>
            <a:ext cx="3730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E8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02_svm_baseline.ipynb  ·  cell pca-confusion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验证搜索与最终报告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449884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每个候选仅fit训练集</a:t>
            </a:r>
            <a:endParaRPr lang="en-US" sz="2000" dirty="0"/>
          </a:p>
        </p:txBody>
      </p:sp>
      <p:sp>
        <p:nvSpPr>
          <p:cNvPr id="6" name="chip 02"/>
          <p:cNvSpPr/>
          <p:nvPr/>
        </p:nvSpPr>
        <p:spPr>
          <a:xfrm>
            <a:off x="685800" y="343509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3435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3398520"/>
            <a:ext cx="449884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按validation OA选C；并列保留较早候选</a:t>
            </a:r>
            <a:endParaRPr lang="en-US" sz="2000" dirty="0"/>
          </a:p>
        </p:txBody>
      </p:sp>
      <p:sp>
        <p:nvSpPr>
          <p:cNvPr id="9" name="chip 03"/>
          <p:cNvSpPr/>
          <p:nvPr/>
        </p:nvSpPr>
        <p:spPr>
          <a:xfrm>
            <a:off x="685800" y="486765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48676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4831080"/>
            <a:ext cx="449884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选择冻结后输出测试报告</a:t>
            </a:r>
            <a:endParaRPr lang="en-US" sz="2000" dirty="0"/>
          </a:p>
        </p:txBody>
      </p:sp>
      <p:sp>
        <p:nvSpPr>
          <p:cNvPr id="12" name="step 1"/>
          <p:cNvSpPr/>
          <p:nvPr/>
        </p:nvSpPr>
        <p:spPr>
          <a:xfrm>
            <a:off x="6400800" y="2596896"/>
            <a:ext cx="5102352" cy="841248"/>
          </a:xfrm>
          <a:prstGeom prst="roundRect">
            <a:avLst>
              <a:gd name="adj" fmla="val 8696"/>
            </a:avLst>
          </a:prstGeom>
          <a:solidFill>
            <a:srgbClr val="F2F5F9"/>
          </a:solidFill>
          <a:ln/>
        </p:spPr>
      </p:sp>
      <p:sp>
        <p:nvSpPr>
          <p:cNvPr id="13" name="chip 01"/>
          <p:cNvSpPr/>
          <p:nvPr/>
        </p:nvSpPr>
        <p:spPr>
          <a:xfrm>
            <a:off x="6601968" y="2807208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01968" y="28072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205472" y="2596896"/>
            <a:ext cx="41422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Pipeline.fit(train)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812280" y="3438144"/>
            <a:ext cx="0" cy="256032"/>
          </a:xfrm>
          <a:prstGeom prst="line">
            <a:avLst/>
          </a:prstGeom>
          <a:noFill/>
          <a:ln w="15875">
            <a:solidFill>
              <a:srgbClr val="5F6E80"/>
            </a:solidFill>
            <a:prstDash val="solid"/>
            <a:tailEnd type="triangle"/>
          </a:ln>
        </p:spPr>
      </p:sp>
      <p:sp>
        <p:nvSpPr>
          <p:cNvPr id="17" name="step 2"/>
          <p:cNvSpPr/>
          <p:nvPr/>
        </p:nvSpPr>
        <p:spPr>
          <a:xfrm>
            <a:off x="6400800" y="3694176"/>
            <a:ext cx="5102352" cy="841248"/>
          </a:xfrm>
          <a:prstGeom prst="roundRect">
            <a:avLst>
              <a:gd name="adj" fmla="val 8696"/>
            </a:avLst>
          </a:prstGeom>
          <a:solidFill>
            <a:srgbClr val="F2F5F9"/>
          </a:solidFill>
          <a:ln/>
        </p:spPr>
      </p:sp>
      <p:sp>
        <p:nvSpPr>
          <p:cNvPr id="18" name="chip 02"/>
          <p:cNvSpPr/>
          <p:nvPr/>
        </p:nvSpPr>
        <p:spPr>
          <a:xfrm>
            <a:off x="6601968" y="3904488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1968" y="39044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205472" y="3694176"/>
            <a:ext cx="41422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比较val候选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812280" y="4535424"/>
            <a:ext cx="0" cy="256032"/>
          </a:xfrm>
          <a:prstGeom prst="line">
            <a:avLst/>
          </a:prstGeom>
          <a:noFill/>
          <a:ln w="15875">
            <a:solidFill>
              <a:srgbClr val="5F6E80"/>
            </a:solidFill>
            <a:prstDash val="solid"/>
            <a:tailEnd type="triangle"/>
          </a:ln>
        </p:spPr>
      </p:sp>
      <p:sp>
        <p:nvSpPr>
          <p:cNvPr id="22" name="step 3"/>
          <p:cNvSpPr/>
          <p:nvPr/>
        </p:nvSpPr>
        <p:spPr>
          <a:xfrm>
            <a:off x="6400800" y="4791456"/>
            <a:ext cx="5102352" cy="841248"/>
          </a:xfrm>
          <a:prstGeom prst="roundRect">
            <a:avLst>
              <a:gd name="adj" fmla="val 8696"/>
            </a:avLst>
          </a:prstGeom>
          <a:solidFill>
            <a:srgbClr val="F2F5F9"/>
          </a:solidFill>
          <a:ln/>
        </p:spPr>
      </p:sp>
      <p:sp>
        <p:nvSpPr>
          <p:cNvPr id="23" name="chip 03"/>
          <p:cNvSpPr/>
          <p:nvPr/>
        </p:nvSpPr>
        <p:spPr>
          <a:xfrm>
            <a:off x="6601968" y="5001768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01968" y="50017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205472" y="4791456"/>
            <a:ext cx="41422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冻结后predict(test)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让代码验证你的判断</a:t>
            </a:r>
            <a:endParaRPr lang="en-US" sz="3000" dirty="0"/>
          </a:p>
        </p:txBody>
      </p:sp>
      <p:sp>
        <p:nvSpPr>
          <p:cNvPr id="3" name="code panel"/>
          <p:cNvSpPr/>
          <p:nvPr/>
        </p:nvSpPr>
        <p:spPr>
          <a:xfrm>
            <a:off x="685800" y="1874520"/>
            <a:ext cx="7406640" cy="3749040"/>
          </a:xfrm>
          <a:prstGeom prst="roundRect">
            <a:avLst>
              <a:gd name="adj" fmla="val 2439"/>
            </a:avLst>
          </a:prstGeom>
          <a:solidFill>
            <a:srgbClr val="0D1B2E"/>
          </a:solidFill>
          <a:ln/>
        </p:spPr>
      </p:sp>
      <p:sp>
        <p:nvSpPr>
          <p:cNvPr id="4" name="Shape 2"/>
          <p:cNvSpPr/>
          <p:nvPr/>
        </p:nvSpPr>
        <p:spPr>
          <a:xfrm>
            <a:off x="960120" y="2075688"/>
            <a:ext cx="118872" cy="118872"/>
          </a:xfrm>
          <a:prstGeom prst="ellipse">
            <a:avLst/>
          </a:prstGeom>
          <a:solidFill>
            <a:srgbClr val="D33A2C"/>
          </a:solidFill>
          <a:ln/>
        </p:spPr>
      </p:sp>
      <p:sp>
        <p:nvSpPr>
          <p:cNvPr id="5" name="Shape 3"/>
          <p:cNvSpPr/>
          <p:nvPr/>
        </p:nvSpPr>
        <p:spPr>
          <a:xfrm>
            <a:off x="1179576" y="2075688"/>
            <a:ext cx="118872" cy="118872"/>
          </a:xfrm>
          <a:prstGeom prst="ellipse">
            <a:avLst/>
          </a:prstGeom>
          <a:solidFill>
            <a:srgbClr val="F2C316"/>
          </a:solidFill>
          <a:ln/>
        </p:spPr>
      </p:sp>
      <p:sp>
        <p:nvSpPr>
          <p:cNvPr id="6" name="Shape 4"/>
          <p:cNvSpPr/>
          <p:nvPr/>
        </p:nvSpPr>
        <p:spPr>
          <a:xfrm>
            <a:off x="1399032" y="2075688"/>
            <a:ext cx="118872" cy="118872"/>
          </a:xfrm>
          <a:prstGeom prst="ellipse">
            <a:avLst/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51560" y="2423160"/>
            <a:ext cx="66751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raw = joblib.load(ASSETS/'raw.joblib')</a:t>
            </a:r>
            <a:endParaRPr lang="en-US" sz="15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assert (</a:t>
            </a:r>
            <a:endParaRPr lang="en-US" sz="15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    raw.named_steps['standardscaler'].n_samples_seen_</a:t>
            </a:r>
            <a:endParaRPr lang="en-US" sz="15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    == len(split['train_ids'])</a:t>
            </a:r>
            <a:endParaRPr lang="en-US" sz="15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)</a:t>
            </a:r>
            <a:endParaRPr lang="en-US" sz="15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raw_pred = raw.predict(X[split['test_ids']])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458200" y="1920240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458200" y="2240280"/>
            <a:ext cx="30449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02_svm_baseline.ipynb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458200" y="3108960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 cell</a:t>
            </a:r>
            <a:endParaRPr lang="en-US" sz="1300" dirty="0"/>
          </a:p>
        </p:txBody>
      </p:sp>
      <p:sp>
        <p:nvSpPr>
          <p:cNvPr id="11" name="cell pipeline"/>
          <p:cNvSpPr/>
          <p:nvPr/>
        </p:nvSpPr>
        <p:spPr>
          <a:xfrm>
            <a:off x="8458200" y="3474720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95360" y="34747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pipeline</a:t>
            </a:r>
            <a:endParaRPr lang="en-US" sz="1200" dirty="0"/>
          </a:p>
        </p:txBody>
      </p:sp>
      <p:sp>
        <p:nvSpPr>
          <p:cNvPr id="13" name="cell kernel-scale"/>
          <p:cNvSpPr/>
          <p:nvPr/>
        </p:nvSpPr>
        <p:spPr>
          <a:xfrm>
            <a:off x="8458200" y="3950208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595360" y="395020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kernel-scale</a:t>
            </a:r>
            <a:endParaRPr lang="en-US" sz="1200" dirty="0"/>
          </a:p>
        </p:txBody>
      </p:sp>
      <p:sp>
        <p:nvSpPr>
          <p:cNvPr id="15" name="cell raw-confusion"/>
          <p:cNvSpPr/>
          <p:nvPr/>
        </p:nvSpPr>
        <p:spPr>
          <a:xfrm>
            <a:off x="8458200" y="4425696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595360" y="442569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raw-confusion</a:t>
            </a:r>
            <a:endParaRPr lang="en-US" sz="1200" dirty="0"/>
          </a:p>
        </p:txBody>
      </p:sp>
      <p:sp>
        <p:nvSpPr>
          <p:cNvPr id="17" name="cell pca-confusion"/>
          <p:cNvSpPr/>
          <p:nvPr/>
        </p:nvSpPr>
        <p:spPr>
          <a:xfrm>
            <a:off x="8458200" y="4901184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4901184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pca-confusion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585216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先预测输出，再运行对应单元格。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停下来，做一次判断</a:t>
            </a:r>
            <a:endParaRPr lang="en-US" sz="3000" dirty="0"/>
          </a:p>
        </p:txBody>
      </p:sp>
      <p:sp>
        <p:nvSpPr>
          <p:cNvPr id="3" name="prediction card"/>
          <p:cNvSpPr/>
          <p:nvPr/>
        </p:nvSpPr>
        <p:spPr>
          <a:xfrm>
            <a:off x="685800" y="1874520"/>
            <a:ext cx="6355080" cy="4343400"/>
          </a:xfrm>
          <a:prstGeom prst="roundRect">
            <a:avLst>
              <a:gd name="adj" fmla="val 2105"/>
            </a:avLst>
          </a:prstGeom>
          <a:solidFill>
            <a:srgbClr val="F2F5F9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97280" y="22402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课堂预测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2697480"/>
            <a:ext cx="5532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在原始核算例中把特征乘10，再将gamma除100；另解释StandardScaler重新fit会怎样。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5532120"/>
            <a:ext cx="5532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 A02  ·  完整示例 / 填空 / 迁移</a:t>
            </a:r>
            <a:endParaRPr lang="en-US" sz="1400" dirty="0"/>
          </a:p>
        </p:txBody>
      </p:sp>
      <p:sp>
        <p:nvSpPr>
          <p:cNvPr id="7" name="exit question card"/>
          <p:cNvSpPr/>
          <p:nvPr/>
        </p:nvSpPr>
        <p:spPr>
          <a:xfrm>
            <a:off x="7315200" y="1874520"/>
            <a:ext cx="4187952" cy="4343400"/>
          </a:xfrm>
          <a:prstGeom prst="roundRect">
            <a:avLst>
              <a:gd name="adj" fmla="val 2183"/>
            </a:avLst>
          </a:prstGeom>
          <a:solidFill>
            <a:srgbClr val="0D1B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26680" y="22402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5B5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退出题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726680" y="2697480"/>
            <a:ext cx="33832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标准化后还应使用原始DN的gamma量级吗？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结论要有边界</a:t>
            </a:r>
            <a:endParaRPr lang="en-US" sz="3000" dirty="0"/>
          </a:p>
        </p:txBody>
      </p:sp>
      <p:sp>
        <p:nvSpPr>
          <p:cNvPr id="3" name="known"/>
          <p:cNvSpPr/>
          <p:nvPr/>
        </p:nvSpPr>
        <p:spPr>
          <a:xfrm>
            <a:off x="685800" y="1920240"/>
            <a:ext cx="5272888" cy="2743200"/>
          </a:xfrm>
          <a:prstGeom prst="roundRect">
            <a:avLst>
              <a:gd name="adj" fmla="val 3333"/>
            </a:avLst>
          </a:prstGeom>
          <a:solidFill>
            <a:srgbClr val="16294A"/>
          </a:solidFill>
          <a:ln/>
        </p:spPr>
      </p:sp>
      <p:sp>
        <p:nvSpPr>
          <p:cNvPr id="4" name="tag"/>
          <p:cNvSpPr/>
          <p:nvPr/>
        </p:nvSpPr>
        <p:spPr>
          <a:xfrm>
            <a:off x="1051560" y="2286000"/>
            <a:ext cx="786384" cy="347472"/>
          </a:xfrm>
          <a:prstGeom prst="roundRect">
            <a:avLst>
              <a:gd name="adj" fmla="val 18421"/>
            </a:avLst>
          </a:prstGeom>
          <a:solidFill>
            <a:srgbClr val="1F8FB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2286000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926080"/>
            <a:ext cx="45413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默认超参排名不是方法上限</a:t>
            </a:r>
            <a:endParaRPr lang="en-US" sz="2400" dirty="0"/>
          </a:p>
        </p:txBody>
      </p:sp>
      <p:sp>
        <p:nvSpPr>
          <p:cNvPr id="7" name="boundary"/>
          <p:cNvSpPr/>
          <p:nvPr/>
        </p:nvSpPr>
        <p:spPr>
          <a:xfrm>
            <a:off x="6233008" y="1920240"/>
            <a:ext cx="5272888" cy="2743200"/>
          </a:xfrm>
          <a:prstGeom prst="roundRect">
            <a:avLst>
              <a:gd name="adj" fmla="val 3333"/>
            </a:avLst>
          </a:prstGeom>
          <a:solidFill>
            <a:srgbClr val="16294A"/>
          </a:solidFill>
          <a:ln/>
        </p:spPr>
      </p:sp>
      <p:sp>
        <p:nvSpPr>
          <p:cNvPr id="8" name="tag"/>
          <p:cNvSpPr/>
          <p:nvPr/>
        </p:nvSpPr>
        <p:spPr>
          <a:xfrm>
            <a:off x="6598768" y="2286000"/>
            <a:ext cx="786384" cy="347472"/>
          </a:xfrm>
          <a:prstGeom prst="roundRect">
            <a:avLst>
              <a:gd name="adj" fmla="val 18421"/>
            </a:avLst>
          </a:prstGeom>
          <a:solidFill>
            <a:srgbClr val="E8752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98768" y="2286000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98768" y="2926080"/>
            <a:ext cx="45413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一次最优成绩不能替代多次复现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523036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来源、复现入口与辅助提示见讲者备注。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A9BACD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HSI-Learning Spectral">
      <a:dk1>
        <a:srgbClr val="14233A"/>
      </a:dk1>
      <a:lt1>
        <a:srgbClr val="FFFFFF"/>
      </a:lt1>
      <a:dk2>
        <a:srgbClr val="0D1B2E"/>
      </a:dk2>
      <a:lt2>
        <a:srgbClr val="F2F5F9"/>
      </a:lt2>
      <a:accent1>
        <a:srgbClr val="2F5BB7"/>
      </a:accent1>
      <a:accent2>
        <a:srgbClr val="1F8FB8"/>
      </a:accent2>
      <a:accent3>
        <a:srgbClr val="2E9E4F"/>
      </a:accent3>
      <a:accent4>
        <a:srgbClr val="E8752A"/>
      </a:accent4>
      <a:accent5>
        <a:srgbClr val="5B3FA0"/>
      </a:accent5>
      <a:accent6>
        <a:srgbClr val="D33A2C"/>
      </a:accent6>
      <a:hlink>
        <a:srgbClr val="2F5BB7"/>
      </a:hlink>
      <a:folHlink>
        <a:srgbClr val="5B3FA0"/>
      </a:folHlink>
    </a:clrScheme>
    <a:fontScheme name="Office">
      <a:majorFont>
        <a:latin typeface="Microsoft YaHei"/>
        <a:ea typeface="Microsoft YaHei"/>
        <a:cs typeface=""/>
        <a:font script="Jpan" typeface="游ゴシック Light"/>
        <a:font script="Hang" typeface="맑은 고딕"/>
        <a:font script="Hans" typeface="Microsoft YaHei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Microsoft YaHei"/>
        <a:cs typeface=""/>
        <a:font script="Jpan" typeface="游ゴシック"/>
        <a:font script="Hang" typeface="맑은 고딕"/>
        <a:font script="Hans" typeface="Microsoft YaHei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L03 上神经网络之前，先做一个可信基线</dc:title>
  <dc:subject>PptxGenJS Presentation</dc:subject>
  <dc:creator>HSI-Learning</dc:creator>
  <cp:lastModifiedBy>HSI-Learning</cp:lastModifiedBy>
  <cp:revision>1</cp:revision>
  <dcterms:created xsi:type="dcterms:W3CDTF">2026-10-10T13:41:28Z</dcterms:created>
  <dcterms:modified xsi:type="dcterms:W3CDTF">2026-10-10T13:41:28Z</dcterms:modified>
</cp:coreProperties>
</file>