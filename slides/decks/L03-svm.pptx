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用真实问题开场，先让学生提出预测。不要从依赖列表开始读。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02_svm_baseline.ipynb</a:t>
            </a:r>
          </a:p>
          <a:p>
            <a:r>
              <a:t>定位: SVC, train_test_split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完成标准是能独立生成交付物，而不是只复述概念。右侧面板是本课的Notebook与cell入口。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02_svm_baseline.ipynb</a:t>
            </a:r>
          </a:p>
          <a:p>
            <a:r>
              <a:t>定位: SVC, train_test_split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基线不是用来踩的。0.85 是 notebook 02 在 2050 个测试像元上的实测值——后面任何模型先问一句：比基线同协议高多少？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02_svm_baseline.ipynb</a:t>
            </a:r>
          </a:p>
          <a:p>
            <a:r>
              <a:t>定位: SVC, train_test_split</a:t>
            </a:r>
          </a:p>
          <a:p>
            <a:r>
              <a:t>scikit-learn: SVC and preprocessing</a:t>
            </a:r>
          </a:p>
          <a:p>
            <a:r>
              <a:t>https://scikit-learn.org/stable/modules/svm.html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10249 行、200 列特征来自上一课的实测统计。CSV是存储选择，不是算法需求。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02_svm_baseline.ipynb</a:t>
            </a:r>
          </a:p>
          <a:p>
            <a:r>
              <a:t>定位: SVC, train_test_split</a:t>
            </a:r>
          </a:p>
          <a:p>
            <a:r>
              <a:t>scikit-learn: SVC and preprocessing</a:t>
            </a:r>
          </a:p>
          <a:p>
            <a:r>
              <a:t>https://scikit-learn.org/stable/modules/svm.html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先手算再上库：同样 d²=100，gamma 差 100 倍，相似度一个还能用、一个已经归零——这就是后面塌缩的伏笔。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02_svm_baseline.ipynb</a:t>
            </a:r>
          </a:p>
          <a:p>
            <a:r>
              <a:t>定位: SVC, train_test_split</a:t>
            </a:r>
          </a:p>
          <a:p>
            <a:r>
              <a:t>scikit-learn: SVC and preprocessing</a:t>
            </a:r>
          </a:p>
          <a:p>
            <a:r>
              <a:t>https://scikit-learn.org/stable/modules/svm.html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本项目真实踩过的坑：按教科书范围调参，16 格全是同一个数。原因不是模型，是 exp 下溢——重新定标 [1e-10, 1e-7] 才恢复。gamma=scale 的实算值与经验一致。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02_svm_baseline.ipynb</a:t>
            </a:r>
          </a:p>
          <a:p>
            <a:r>
              <a:t>定位: SVC, train_test_split</a:t>
            </a:r>
          </a:p>
          <a:p>
            <a:r>
              <a:t>scikit-learn: SVC and preprocessing</a:t>
            </a:r>
          </a:p>
          <a:p>
            <a:r>
              <a:t>https://scikit-learn.org/stable/modules/svm.html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网格边缘最佳提示范围可能不足，不证明下一格必然更好。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02_svm_baseline.ipynb</a:t>
            </a:r>
          </a:p>
          <a:p>
            <a:r>
              <a:t>定位: SVC, train_test_split</a:t>
            </a:r>
          </a:p>
          <a:p>
            <a:r>
              <a:t>scikit-learn: SVC and preprocessing</a:t>
            </a:r>
          </a:p>
          <a:p>
            <a:r>
              <a:t>https://scikit-learn.org/stable/modules/svm.html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本图来自notebook 02的降维特征实验，与原始波段混淆矩阵同框对照。结论不是“PCA更好”，而是特征与预处理改变基线行为，报告必须写清用了哪种特征。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02_svm_baseline.ipynb</a:t>
            </a:r>
          </a:p>
          <a:p>
            <a:r>
              <a:t>定位: SVC, train_test_split</a:t>
            </a:r>
          </a:p>
          <a:p>
            <a:r>
              <a:t>scikit-learn: SVC and preprocessing</a:t>
            </a:r>
          </a:p>
          <a:p>
            <a:r>
              <a:t>https://scikit-learn.org/stable/modules/svm.html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这是关键代码节选，完整上下文在Notebook中。现场只做最小例或载入模型推理；完整训练提前排队。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02_svm_baseline.ipynb</a:t>
            </a:r>
          </a:p>
          <a:p>
            <a:r>
              <a:t>定位: SVC, train_test_split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先让学生在右侧预测框写出预期，再运行一次受控改动。若与预期不同，保留记录而不是换种子直到符合故事。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02_svm_baseline.ipynb</a:t>
            </a:r>
          </a:p>
          <a:p>
            <a:r>
              <a:t>定位: SVC, train_test_split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复制提示词见内容源。数据边界：不上传未授权数据或未公开稿件；不让AI虚构引用、指标或执行记录。从给定仓库片段提取SVM实验参数表，每个值附文件/行或变量名。找不到的项写unknown，不推测默认设置等于论文设置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02_svm_baseline.ipynb</a:t>
            </a:r>
          </a:p>
          <a:p>
            <a:r>
              <a:t>定位: SVC, train_test_split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结束时请学生用一句话回答本课开头的问题，要求带证据类型。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02_svm_baseline.ipynb</a:t>
            </a:r>
          </a:p>
          <a:p>
            <a:r>
              <a:t>定位: SVC, train_test_split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每次发布应补源码版本与运行配置；网络资料可访问不等于可自由再分发。</a:t>
            </a:r>
          </a:p>
          <a:p/>
          <a:p>
            <a:r>
              <a:t>教学边界：本课不是榜单排名；历史结果不等同修正版实验。</a:t>
            </a:r>
          </a:p>
          <a:p>
            <a:r>
              <a:t>Notebook: 02_svm_baseline.ipynb</a:t>
            </a:r>
          </a:p>
          <a:p>
            <a:r>
              <a:t>定位: SVC, train_test_split</a:t>
            </a:r>
          </a:p>
          <a:p>
            <a:r>
              <a:t>scikit-learn: SVC and preprocessing</a:t>
            </a:r>
          </a:p>
          <a:p>
            <a:r>
              <a:t>https://scikit-learn.org/stable/modules/svm.html</a:t>
            </a:r>
          </a:p>
          <a:p>
            <a:r>
              <a:t>scikit-learn: model evaluation</a:t>
            </a:r>
          </a:p>
          <a:p>
            <a:r>
              <a:t>https://scikit-learn.org/stable/modules/model_evaluation.html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0241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50" b="1" spc="300">
                <a:solidFill>
                  <a:srgbClr val="5C6B7A"/>
                </a:solidFill>
                <a:latin typeface="Microsoft YaHei"/>
                <a:ea typeface="Microsoft YaHei"/>
              </a:rPr>
              <a:t>HSI-LEARNING</a:t>
            </a:r>
            <a:r>
              <a:rPr sz="1250" b="0" spc="200">
                <a:solidFill>
                  <a:srgbClr val="5C6B7A"/>
                </a:solidFill>
                <a:latin typeface="Microsoft YaHei"/>
                <a:ea typeface="Microsoft YaHei"/>
              </a:rPr>
              <a:t>  ·  高光谱图像分类课程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1572768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600" b="1">
                <a:solidFill>
                  <a:srgbClr val="C9571E"/>
                </a:solidFill>
                <a:latin typeface="Microsoft YaHei"/>
                <a:ea typeface="Microsoft YaHei"/>
              </a:rPr>
              <a:t>L03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615184"/>
            <a:ext cx="99669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700" b="1">
                <a:solidFill>
                  <a:srgbClr val="1C2B3A"/>
                </a:solidFill>
                <a:latin typeface="Microsoft YaHei"/>
                <a:ea typeface="Microsoft YaHei"/>
              </a:rPr>
              <a:t>上神经网络之前，先做一个可信基线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0416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0">
                <a:solidFill>
                  <a:srgbClr val="5C6B7A"/>
                </a:solidFill>
                <a:latin typeface="Microsoft YaHei"/>
                <a:ea typeface="Microsoft YaHei"/>
              </a:rPr>
              <a:t>SVM、特征尺度与验证调参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736592"/>
            <a:ext cx="9966960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92624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>
                <a:solidFill>
                  <a:srgbClr val="1C2B3A"/>
                </a:solidFill>
                <a:latin typeface="Microsoft YaHei"/>
                <a:ea typeface="Microsoft YaHei"/>
              </a:rPr>
              <a:t>本课交付 · </a:t>
            </a:r>
            <a:r>
              <a:rPr sz="1500" b="0">
                <a:solidFill>
                  <a:srgbClr val="5C6B7A"/>
                </a:solidFill>
                <a:latin typeface="Microsoft YaHei"/>
                <a:ea typeface="Microsoft YaHei"/>
              </a:rPr>
              <a:t>基线配置  ·  测试报告  ·  核参数尺度检查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870448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0">
                <a:solidFill>
                  <a:srgbClr val="5C6B7A"/>
                </a:solidFill>
                <a:latin typeface="Microsoft YaHei"/>
                <a:ea typeface="Microsoft YaHei"/>
              </a:rPr>
              <a:t>先修 · </a:t>
            </a:r>
            <a:r>
              <a:rPr sz="1300" b="0">
                <a:solidFill>
                  <a:srgbClr val="5C6B7A"/>
                </a:solidFill>
                <a:latin typeface="Microsoft YaHei"/>
                <a:ea typeface="Microsoft YaHei"/>
              </a:rPr>
              <a:t>L02：train/val/test与指标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L03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SVM、特征尺度与验证调参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本课交付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75104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1">
                <a:solidFill>
                  <a:srgbClr val="C9571E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2011679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000" b="0">
                <a:solidFill>
                  <a:srgbClr val="1C2B3A"/>
                </a:solidFill>
                <a:latin typeface="Microsoft YaHei"/>
                <a:ea typeface="Microsoft YaHei"/>
              </a:rPr>
              <a:t>基线配置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779776"/>
            <a:ext cx="5943600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072384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1">
                <a:solidFill>
                  <a:srgbClr val="C9571E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310896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000" b="0">
                <a:solidFill>
                  <a:srgbClr val="1C2B3A"/>
                </a:solidFill>
                <a:latin typeface="Microsoft YaHei"/>
                <a:ea typeface="Microsoft YaHei"/>
              </a:rPr>
              <a:t>测试报告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877056"/>
            <a:ext cx="5943600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169664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1">
                <a:solidFill>
                  <a:srgbClr val="C9571E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420624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000" b="0">
                <a:solidFill>
                  <a:srgbClr val="1C2B3A"/>
                </a:solidFill>
                <a:latin typeface="Microsoft YaHei"/>
                <a:ea typeface="Microsoft YaHei"/>
              </a:rPr>
              <a:t>核参数尺度检查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011680"/>
            <a:ext cx="3886200" cy="3200400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2860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>
                <a:solidFill>
                  <a:srgbClr val="C9571E"/>
                </a:solidFill>
                <a:latin typeface="Microsoft YaHei"/>
                <a:ea typeface="Microsoft YaHei"/>
              </a:rPr>
              <a:t>课堂入口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761488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NOTEBOOK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017520"/>
            <a:ext cx="32461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100" b="0">
                <a:solidFill>
                  <a:srgbClr val="1C2B3A"/>
                </a:solidFill>
                <a:latin typeface="Consolas"/>
                <a:ea typeface="Microsoft YaHei"/>
              </a:rPr>
              <a:t>02_svm_baseline.ipynb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602736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CELLS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858768"/>
            <a:ext cx="32461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100" b="0">
                <a:solidFill>
                  <a:srgbClr val="1C2B3A"/>
                </a:solidFill>
                <a:latin typeface="Consolas"/>
                <a:ea typeface="Microsoft YaHei"/>
              </a:rPr>
              <a:t>SVC, train_test_split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443984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5C6B7A"/>
                </a:solidFill>
                <a:latin typeface="Microsoft YaHei"/>
                <a:ea typeface="Microsoft YaHei"/>
              </a:rPr>
              <a:t>任务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700016"/>
            <a:ext cx="32461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1C2B3A"/>
                </a:solidFill>
                <a:latin typeface="Microsoft YaHei"/>
                <a:ea typeface="Microsoft YaHei"/>
              </a:rPr>
              <a:t>A02 · 交付：代码 + 配置 + 解释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L03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SVM、特征尺度与验证调参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Baseline是检查器，不是稻草人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57400"/>
            <a:ext cx="4983480" cy="3017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先确认光谱里有没有判别信息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与后续模型用同一份输入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基线成绩：协议A实测 0.85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193792"/>
            <a:ext cx="4983480" cy="93268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5" y="5321808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>
                <a:solidFill>
                  <a:srgbClr val="C9571E"/>
                </a:solidFill>
                <a:latin typeface="Microsoft YaHei"/>
                <a:ea typeface="Microsoft YaHei"/>
              </a:rPr>
              <a:t>&gt;&gt;&gt; </a:t>
            </a:r>
            <a:r>
              <a:rPr sz="1300" b="0">
                <a:solidFill>
                  <a:srgbClr val="1C2B3A"/>
                </a:solidFill>
                <a:latin typeface="Consolas"/>
                <a:ea typeface="Microsoft YaHei"/>
              </a:rPr>
              <a:t>pipe.score(X_test, y_test)  # 协议A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5705856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>
                <a:solidFill>
                  <a:srgbClr val="C9571E"/>
                </a:solidFill>
                <a:latin typeface="Consolas"/>
                <a:ea typeface="Microsoft YaHei"/>
              </a:rPr>
              <a:t>0.85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2103120"/>
            <a:ext cx="14630" cy="4059935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50431" y="2052827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6016" y="1911095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Data sanity</a:t>
            </a:r>
          </a:p>
        </p:txBody>
      </p:sp>
      <p:sp>
        <p:nvSpPr>
          <p:cNvPr id="13" name="Oval 12"/>
          <p:cNvSpPr/>
          <p:nvPr/>
        </p:nvSpPr>
        <p:spPr>
          <a:xfrm>
            <a:off x="6650431" y="4073652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3931920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Same input</a:t>
            </a:r>
          </a:p>
        </p:txBody>
      </p:sp>
      <p:sp>
        <p:nvSpPr>
          <p:cNvPr id="15" name="Oval 14"/>
          <p:cNvSpPr/>
          <p:nvPr/>
        </p:nvSpPr>
        <p:spPr>
          <a:xfrm>
            <a:off x="6650431" y="6094476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5952744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0.85 @ 2050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L03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SVM、特征尺度与验证调参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从cube到样本表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57400"/>
            <a:ext cx="4983480" cy="3017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每个有标注像元一行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类别列不能留在特征中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保留坐标用于预测回贴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193792"/>
            <a:ext cx="4983480" cy="93268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5" y="5321808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>
                <a:solidFill>
                  <a:srgbClr val="C9571E"/>
                </a:solidFill>
                <a:latin typeface="Microsoft YaHei"/>
                <a:ea typeface="Microsoft YaHei"/>
              </a:rPr>
              <a:t>&gt;&gt;&gt; </a:t>
            </a:r>
            <a:r>
              <a:rPr sz="1300" b="0">
                <a:solidFill>
                  <a:srgbClr val="1C2B3A"/>
                </a:solidFill>
                <a:latin typeface="Consolas"/>
                <a:ea typeface="Microsoft YaHei"/>
              </a:rPr>
              <a:t>X.shape, y.shape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5705856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>
                <a:solidFill>
                  <a:srgbClr val="C9571E"/>
                </a:solidFill>
                <a:latin typeface="Consolas"/>
                <a:ea typeface="Microsoft YaHei"/>
              </a:rPr>
              <a:t>((10249, 200), (10249,))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2103120"/>
            <a:ext cx="14630" cy="4059935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50431" y="2052827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6016" y="1911095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Cube</a:t>
            </a:r>
          </a:p>
        </p:txBody>
      </p:sp>
      <p:sp>
        <p:nvSpPr>
          <p:cNvPr id="13" name="Oval 12"/>
          <p:cNvSpPr/>
          <p:nvPr/>
        </p:nvSpPr>
        <p:spPr>
          <a:xfrm>
            <a:off x="6650431" y="4073652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3931920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(samples,bands)</a:t>
            </a:r>
          </a:p>
        </p:txBody>
      </p:sp>
      <p:sp>
        <p:nvSpPr>
          <p:cNvPr id="15" name="Oval 14"/>
          <p:cNvSpPr/>
          <p:nvPr/>
        </p:nvSpPr>
        <p:spPr>
          <a:xfrm>
            <a:off x="6650431" y="6094476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5952744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Labels + positions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L03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SVM、特征尺度与验证调参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RBF把距离变成相似度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57400"/>
            <a:ext cx="4983480" cy="3017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距离大：相似度趋零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gamma大：局部影响范围窄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C控制拟合与正则的权衡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193792"/>
            <a:ext cx="4983480" cy="93268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5" y="5321808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>
                <a:solidFill>
                  <a:srgbClr val="C9571E"/>
                </a:solidFill>
                <a:latin typeface="Microsoft YaHei"/>
                <a:ea typeface="Microsoft YaHei"/>
              </a:rPr>
              <a:t>&gt;&gt;&gt; </a:t>
            </a:r>
            <a:r>
              <a:rPr sz="1300" b="0">
                <a:solidFill>
                  <a:srgbClr val="1C2B3A"/>
                </a:solidFill>
                <a:latin typeface="Consolas"/>
                <a:ea typeface="Microsoft YaHei"/>
              </a:rPr>
              <a:t>np.exp(-0.01*100), np.exp(-1*100)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5705856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>
                <a:solidFill>
                  <a:srgbClr val="C9571E"/>
                </a:solidFill>
                <a:latin typeface="Consolas"/>
                <a:ea typeface="Microsoft YaHei"/>
              </a:rPr>
              <a:t>(0.368, 3.7e-44)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20240"/>
            <a:ext cx="4956048" cy="2194560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ormula-c16b8fe857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404" y="2712478"/>
            <a:ext cx="4434840" cy="61008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693408" y="4434840"/>
            <a:ext cx="14630" cy="1728216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50431" y="4384548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4242816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x</a:t>
            </a:r>
          </a:p>
        </p:txBody>
      </p:sp>
      <p:sp>
        <p:nvSpPr>
          <p:cNvPr id="15" name="Oval 14"/>
          <p:cNvSpPr/>
          <p:nvPr/>
        </p:nvSpPr>
        <p:spPr>
          <a:xfrm>
            <a:off x="6650431" y="5239512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5097780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Squared distance</a:t>
            </a:r>
          </a:p>
        </p:txBody>
      </p:sp>
      <p:sp>
        <p:nvSpPr>
          <p:cNvPr id="17" name="Oval 16"/>
          <p:cNvSpPr/>
          <p:nvPr/>
        </p:nvSpPr>
        <p:spPr>
          <a:xfrm>
            <a:off x="6650431" y="6094476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6016" y="5952744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Kernel similarity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L03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SVM、特征尺度与验证调参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尺度塌缩：教科书网格全灭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57400"/>
            <a:ext cx="4983480" cy="3017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原始DN方差≈2.5e6，d²百万级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gamma=1e-4 时 exp(-5e2) 下溢为 0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16 格网格全部塌缩到 24.0%(多数类)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193792"/>
            <a:ext cx="4983480" cy="932688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5" y="5321808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>
                <a:solidFill>
                  <a:srgbClr val="C9571E"/>
                </a:solidFill>
                <a:latin typeface="Microsoft YaHei"/>
                <a:ea typeface="Microsoft YaHei"/>
              </a:rPr>
              <a:t>&gt;&gt;&gt; </a:t>
            </a:r>
            <a:r>
              <a:rPr sz="1300" b="0">
                <a:solidFill>
                  <a:srgbClr val="1C2B3A"/>
                </a:solidFill>
                <a:latin typeface="Consolas"/>
                <a:ea typeface="Microsoft YaHei"/>
              </a:rPr>
              <a:t>1/(200*X.var())  # gamma='scale'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5705856"/>
            <a:ext cx="46177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>
                <a:solidFill>
                  <a:srgbClr val="C9571E"/>
                </a:solidFill>
                <a:latin typeface="Consolas"/>
                <a:ea typeface="Microsoft YaHei"/>
              </a:rPr>
              <a:t>2.0e-09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2103120"/>
            <a:ext cx="14630" cy="4059935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50431" y="2052827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6016" y="1911095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网格 1e-4…1e-1</a:t>
            </a:r>
          </a:p>
        </p:txBody>
      </p:sp>
      <p:sp>
        <p:nvSpPr>
          <p:cNvPr id="13" name="Oval 12"/>
          <p:cNvSpPr/>
          <p:nvPr/>
        </p:nvSpPr>
        <p:spPr>
          <a:xfrm>
            <a:off x="6650431" y="4073652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3931920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全部 24.0%</a:t>
            </a:r>
          </a:p>
        </p:txBody>
      </p:sp>
      <p:sp>
        <p:nvSpPr>
          <p:cNvPr id="15" name="Oval 14"/>
          <p:cNvSpPr/>
          <p:nvPr/>
        </p:nvSpPr>
        <p:spPr>
          <a:xfrm>
            <a:off x="6650431" y="6094476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5952744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scale ≈ 2e-9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L03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SVM、特征尺度与验证调参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调参只能看验证证据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57400"/>
            <a:ext cx="4983480" cy="3017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固定候选范围与预算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Pipeline内拟合变换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9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测试不参与选C/gamma</a:t>
            </a:r>
          </a:p>
        </p:txBody>
      </p:sp>
      <p:sp>
        <p:nvSpPr>
          <p:cNvPr id="7" name="Rectangle 6"/>
          <p:cNvSpPr/>
          <p:nvPr/>
        </p:nvSpPr>
        <p:spPr>
          <a:xfrm>
            <a:off x="6693408" y="2103120"/>
            <a:ext cx="14630" cy="4059935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50431" y="2052827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86016" y="1911095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Train fit</a:t>
            </a:r>
          </a:p>
        </p:txBody>
      </p:sp>
      <p:sp>
        <p:nvSpPr>
          <p:cNvPr id="10" name="Oval 9"/>
          <p:cNvSpPr/>
          <p:nvPr/>
        </p:nvSpPr>
        <p:spPr>
          <a:xfrm>
            <a:off x="6650431" y="4073652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3931920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Val compare</a:t>
            </a:r>
          </a:p>
        </p:txBody>
      </p:sp>
      <p:sp>
        <p:nvSpPr>
          <p:cNvPr id="12" name="Oval 11"/>
          <p:cNvSpPr/>
          <p:nvPr/>
        </p:nvSpPr>
        <p:spPr>
          <a:xfrm>
            <a:off x="6650431" y="6094476"/>
            <a:ext cx="100584" cy="100584"/>
          </a:xfrm>
          <a:prstGeom prst="ellipse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86016" y="5952744"/>
            <a:ext cx="448056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650" b="0">
                <a:solidFill>
                  <a:srgbClr val="1C2B3A"/>
                </a:solidFill>
                <a:latin typeface="Microsoft YaHei"/>
                <a:ea typeface="Microsoft YaHei"/>
              </a:rPr>
              <a:t>Frozen 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L03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SVM、特征尺度与验证调参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换个特征，混淆结构就变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svm_baseline-ff083796-156f-45dd-8d43-c6eefa8ae068-0-495c0df2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410" y="1874519"/>
            <a:ext cx="4957395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814410" y="1874519"/>
            <a:ext cx="4957395" cy="4389120"/>
          </a:xfrm>
          <a:prstGeom prst="rect">
            <a:avLst/>
          </a:prstGeom>
          <a:noFill/>
          <a:ln w="12700">
            <a:solidFill>
              <a:srgbClr val="D9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93852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>
                <a:solidFill>
                  <a:srgbClr val="C9571E"/>
                </a:solidFill>
                <a:latin typeface="Microsoft YaHei"/>
                <a:ea typeface="Microsoft YaHei"/>
              </a:rPr>
              <a:t>怎么读这张图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395728"/>
            <a:ext cx="3246120" cy="3108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2000"/>
              </a:lnSpc>
              <a:spcAft>
                <a:spcPts val="1100"/>
              </a:spcAft>
            </a:pPr>
            <a:r>
              <a:rPr sz="1500" b="0">
                <a:solidFill>
                  <a:srgbClr val="1C2B3A"/>
                </a:solidFill>
                <a:latin typeface="Microsoft YaHei"/>
                <a:ea typeface="Microsoft YaHei"/>
              </a:rPr>
              <a:t>同一SVC，先跑原始200波段</a:t>
            </a:r>
          </a:p>
          <a:p>
            <a:pPr>
              <a:lnSpc>
                <a:spcPct val="132000"/>
              </a:lnSpc>
              <a:spcAft>
                <a:spcPts val="1100"/>
              </a:spcAft>
            </a:pPr>
            <a:r>
              <a:rPr sz="1500" b="0">
                <a:solidFill>
                  <a:srgbClr val="1C2B3A"/>
                </a:solidFill>
                <a:latin typeface="Microsoft YaHei"/>
                <a:ea typeface="Microsoft YaHei"/>
              </a:rPr>
              <a:t>再用PCA特征重跑一次</a:t>
            </a:r>
          </a:p>
          <a:p>
            <a:pPr>
              <a:lnSpc>
                <a:spcPct val="132000"/>
              </a:lnSpc>
              <a:spcAft>
                <a:spcPts val="1100"/>
              </a:spcAft>
            </a:pPr>
            <a:r>
              <a:rPr sz="1500" b="0">
                <a:solidFill>
                  <a:srgbClr val="1C2B3A"/>
                </a:solidFill>
                <a:latin typeface="Microsoft YaHei"/>
                <a:ea typeface="Microsoft YaHei"/>
              </a:rPr>
              <a:t>逐类错误分布明显不同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587044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50" b="0">
                <a:solidFill>
                  <a:srgbClr val="5C6B7A"/>
                </a:solidFill>
                <a:latin typeface="Consolas"/>
                <a:ea typeface="Microsoft YaHei"/>
              </a:rPr>
              <a:t>02_svm_baseline.ipynb</a:t>
            </a:r>
            <a:r>
              <a:rPr sz="1050" b="0">
                <a:solidFill>
                  <a:srgbClr val="5C6B7A"/>
                </a:solidFill>
                <a:latin typeface="Consolas"/>
                <a:ea typeface="Microsoft YaHei"/>
              </a:rPr>
              <a:t>  ·  cell ff083796...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L03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SVM、特征尺度与验证调参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代码实操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47088"/>
            <a:ext cx="76809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0">
                <a:solidFill>
                  <a:srgbClr val="5C6B7A"/>
                </a:solidFill>
                <a:latin typeface="Microsoft YaHei"/>
                <a:ea typeface="Microsoft YaHei"/>
              </a:rPr>
              <a:t>打开  </a:t>
            </a:r>
            <a:r>
              <a:rPr sz="1300" b="0">
                <a:solidFill>
                  <a:srgbClr val="1C2B3A"/>
                </a:solidFill>
                <a:latin typeface="Consolas"/>
                <a:ea typeface="Microsoft YaHei"/>
              </a:rPr>
              <a:t>02_svm_baseline.ipynb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487168"/>
            <a:ext cx="6858000" cy="1920239"/>
          </a:xfrm>
          <a:prstGeom prst="roundRect">
            <a:avLst>
              <a:gd name="adj" fmla="val 4500"/>
            </a:avLst>
          </a:prstGeom>
          <a:solidFill>
            <a:srgbClr val="20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5296" y="2798064"/>
            <a:ext cx="6172200" cy="1353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2000"/>
              </a:lnSpc>
            </a:pPr>
            <a:r>
              <a:rPr sz="1500" b="0">
                <a:solidFill>
                  <a:srgbClr val="DEE9F2"/>
                </a:solidFill>
                <a:latin typeface="Consolas"/>
                <a:ea typeface="Microsoft YaHei"/>
              </a:rPr>
              <a:t>pipe = make_pipeline(StandardScaler(), SVC(C=10))</a:t>
            </a:r>
          </a:p>
          <a:p>
            <a:pPr>
              <a:lnSpc>
                <a:spcPct val="142000"/>
              </a:lnSpc>
            </a:pPr>
            <a:r>
              <a:rPr sz="1500" b="0">
                <a:solidFill>
                  <a:srgbClr val="DEE9F2"/>
                </a:solidFill>
                <a:latin typeface="Consolas"/>
                <a:ea typeface="Microsoft YaHei"/>
              </a:rPr>
              <a:t>pipe.fit(X_train, y_train)</a:t>
            </a:r>
          </a:p>
          <a:p>
            <a:pPr>
              <a:lnSpc>
                <a:spcPct val="142000"/>
              </a:lnSpc>
            </a:pPr>
            <a:r>
              <a:rPr sz="1500" b="0">
                <a:solidFill>
                  <a:srgbClr val="DEE9F2"/>
                </a:solidFill>
                <a:latin typeface="Consolas"/>
                <a:ea typeface="Microsoft YaHei"/>
              </a:rPr>
              <a:t>val_pred = pipe.predict(X_val)</a:t>
            </a:r>
          </a:p>
          <a:p>
            <a:pPr>
              <a:lnSpc>
                <a:spcPct val="142000"/>
              </a:lnSpc>
            </a:pPr>
            <a:r>
              <a:rPr sz="1500" b="0">
                <a:solidFill>
                  <a:srgbClr val="DEE9F2"/>
                </a:solidFill>
                <a:latin typeface="Consolas"/>
                <a:ea typeface="Microsoft YaHei"/>
              </a:rPr>
              <a:t/>
            </a:r>
            <a:r>
              <a:rPr sz="1500" b="0">
                <a:solidFill>
                  <a:srgbClr val="7E99AD"/>
                </a:solidFill>
                <a:latin typeface="Consolas"/>
                <a:ea typeface="Microsoft YaHei"/>
              </a:rPr>
              <a:t># Freeze choices before predicting X_test.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66344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0">
                <a:solidFill>
                  <a:srgbClr val="5C6B7A"/>
                </a:solidFill>
                <a:latin typeface="Microsoft YaHei"/>
                <a:ea typeface="Microsoft YaHei"/>
              </a:rPr>
              <a:t>定位 cell  </a:t>
            </a:r>
            <a:r>
              <a:rPr sz="1300" b="0">
                <a:solidFill>
                  <a:srgbClr val="1C2B3A"/>
                </a:solidFill>
                <a:latin typeface="Consolas"/>
                <a:ea typeface="Microsoft YaHei"/>
              </a:rPr>
              <a:t>SVC, train_test_split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3852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>
                <a:solidFill>
                  <a:srgbClr val="C9571E"/>
                </a:solidFill>
                <a:latin typeface="Microsoft YaHei"/>
                <a:ea typeface="Microsoft YaHei"/>
              </a:rPr>
              <a:t>现场安排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395728"/>
            <a:ext cx="324612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500" b="0">
                <a:solidFill>
                  <a:srgbClr val="1C2B3A"/>
                </a:solidFill>
                <a:latin typeface="Microsoft YaHei"/>
                <a:ea typeface="Microsoft YaHei"/>
              </a:rPr>
              <a:t>现场：逐个运行本页 cell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500" b="0">
                <a:solidFill>
                  <a:srgbClr val="1C2B3A"/>
                </a:solidFill>
                <a:latin typeface="Microsoft YaHei"/>
                <a:ea typeface="Microsoft YaHei"/>
              </a:rPr>
              <a:t>完整训练：课前排队完成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5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1500" b="0">
                <a:solidFill>
                  <a:srgbClr val="1C2B3A"/>
                </a:solidFill>
                <a:latin typeface="Microsoft YaHei"/>
                <a:ea typeface="Microsoft YaHei"/>
              </a:rPr>
              <a:t>结果解读：以当前输出为准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L03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SVM、特征尺度与验证调参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课堂练习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48840"/>
            <a:ext cx="60350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5000"/>
              </a:lnSpc>
            </a:pPr>
            <a:r>
              <a:rPr sz="2300" b="0">
                <a:solidFill>
                  <a:srgbClr val="1C2B3A"/>
                </a:solidFill>
                <a:latin typeface="Microsoft YaHei"/>
                <a:ea typeface="Microsoft YaHei"/>
              </a:rPr>
              <a:t>固定gamma，特征乘10；再用gamma/100核对相似度是否恢复。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4892040"/>
            <a:ext cx="5669280" cy="603504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C95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50566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1">
                <a:solidFill>
                  <a:srgbClr val="C9571E"/>
                </a:solidFill>
                <a:latin typeface="Microsoft YaHei"/>
                <a:ea typeface="Microsoft YaHei"/>
              </a:rPr>
              <a:t>任务 A02</a:t>
            </a:r>
            <a:r>
              <a:rPr sz="1400" b="0">
                <a:solidFill>
                  <a:srgbClr val="1C2B3A"/>
                </a:solidFill>
                <a:latin typeface="Microsoft YaHei"/>
                <a:ea typeface="Microsoft YaHei"/>
              </a:rPr>
              <a:t>　交付：代码 + 配置 + 解释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2057400"/>
            <a:ext cx="3886200" cy="3438144"/>
          </a:xfrm>
          <a:prstGeom prst="rect">
            <a:avLst/>
          </a:prstGeom>
          <a:noFill/>
          <a:ln w="15240">
            <a:solidFill>
              <a:srgbClr val="D9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350008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>
                <a:solidFill>
                  <a:srgbClr val="C9571E"/>
                </a:solidFill>
                <a:latin typeface="Microsoft YaHei"/>
                <a:ea typeface="Microsoft YaHei"/>
              </a:rPr>
              <a:t>先写预测，再运行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355848"/>
            <a:ext cx="3246120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0" y="4069080"/>
            <a:ext cx="3246120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4782312"/>
            <a:ext cx="3246120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L03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SVM、特征尺度与验证调参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AI 辅助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2651760"/>
            <a:ext cx="6903720" cy="2651760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651760"/>
            <a:ext cx="50292" cy="2651760"/>
          </a:xfrm>
          <a:prstGeom prst="rect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898648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>
                <a:solidFill>
                  <a:srgbClr val="C9571E"/>
                </a:solidFill>
                <a:latin typeface="Microsoft YaHei"/>
                <a:ea typeface="Microsoft YaHei"/>
              </a:rPr>
              <a:t>提示词（可直接复制）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319272"/>
            <a:ext cx="626364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0000"/>
              </a:lnSpc>
            </a:pPr>
            <a:r>
              <a:rPr sz="1550" b="0">
                <a:solidFill>
                  <a:srgbClr val="1C2B3A"/>
                </a:solidFill>
                <a:latin typeface="Microsoft YaHei"/>
                <a:ea typeface="Microsoft YaHei"/>
              </a:rPr>
              <a:t>从给定仓库片段提取SVM实验参数表，每个值附文件/行或变量名。找不到的项写unknown，不推测默认设置等于论文设置。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71576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>
                <a:solidFill>
                  <a:srgbClr val="C9571E"/>
                </a:solidFill>
                <a:latin typeface="Microsoft YaHei"/>
                <a:ea typeface="Microsoft YaHei"/>
              </a:rPr>
              <a:t>人工核验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136392"/>
            <a:ext cx="324612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5000"/>
              </a:lnSpc>
            </a:pPr>
            <a:r>
              <a:rPr sz="1450" b="0">
                <a:solidFill>
                  <a:srgbClr val="1C2B3A"/>
                </a:solidFill>
                <a:latin typeface="Microsoft YaHei"/>
                <a:ea typeface="Microsoft YaHei"/>
              </a:rPr>
              <a:t>逐个对应入口参数，核对PCA/scaler的fit范围，不按test选择配置。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L03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SVM、特征尺度与验证调参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小结与边界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48840"/>
            <a:ext cx="5669280" cy="3291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20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2000" b="0">
                <a:solidFill>
                  <a:srgbClr val="1C2B3A"/>
                </a:solidFill>
                <a:latin typeface="Microsoft YaHei"/>
                <a:ea typeface="Microsoft YaHei"/>
              </a:rPr>
              <a:t>默认超参排名不是方法上限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2000" b="1">
                <a:solidFill>
                  <a:srgbClr val="C9571E"/>
                </a:solidFill>
                <a:latin typeface="Microsoft YaHei"/>
                <a:ea typeface="Microsoft YaHei"/>
              </a:rPr>
              <a:t>—  </a:t>
            </a:r>
            <a:r>
              <a:rPr sz="2000" b="0">
                <a:solidFill>
                  <a:srgbClr val="1C2B3A"/>
                </a:solidFill>
                <a:latin typeface="Microsoft YaHei"/>
                <a:ea typeface="Microsoft YaHei"/>
              </a:rPr>
              <a:t>一次最优成绩不能替代多次复现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2103120"/>
            <a:ext cx="4114800" cy="2743200"/>
          </a:xfrm>
          <a:prstGeom prst="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2103120"/>
            <a:ext cx="50292" cy="2743200"/>
          </a:xfrm>
          <a:prstGeom prst="rect">
            <a:avLst/>
          </a:prstGeom>
          <a:solidFill>
            <a:srgbClr val="C9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07808" y="23957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>
                <a:solidFill>
                  <a:srgbClr val="C9571E"/>
                </a:solidFill>
                <a:latin typeface="Microsoft YaHei"/>
                <a:ea typeface="Microsoft YaHei"/>
              </a:rPr>
              <a:t>回到本课开头的问题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2834640"/>
            <a:ext cx="352044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0000"/>
              </a:lnSpc>
            </a:pPr>
            <a:r>
              <a:rPr sz="1900" b="0">
                <a:solidFill>
                  <a:srgbClr val="1C2B3A"/>
                </a:solidFill>
                <a:latin typeface="Microsoft YaHei"/>
                <a:ea typeface="Microsoft YaHei"/>
              </a:rPr>
              <a:t>上神经网络之前，先做一个可信基线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gradFill rotWithShape="1">
            <a:gsLst>
              <a:gs pos="0">
                <a:srgbClr val="472A8A"/>
              </a:gs>
              <a:gs pos="16667">
                <a:srgbClr val="2C5FB0"/>
              </a:gs>
              <a:gs pos="33333">
                <a:srgbClr val="1F8FB8"/>
              </a:gs>
              <a:gs pos="50000">
                <a:srgbClr val="2E9E4F"/>
              </a:gs>
              <a:gs pos="66667">
                <a:srgbClr val="F2C316"/>
              </a:gs>
              <a:gs pos="83333">
                <a:srgbClr val="E8752A"/>
              </a:gs>
              <a:gs pos="100000">
                <a:srgbClr val="D33A2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spc="140">
                <a:solidFill>
                  <a:srgbClr val="C9571E"/>
                </a:solidFill>
                <a:latin typeface="Microsoft YaHei"/>
                <a:ea typeface="Microsoft YaHei"/>
              </a:rPr>
              <a:t>L03</a:t>
            </a:r>
            <a:r>
              <a:rPr sz="1150" b="0" spc="140">
                <a:solidFill>
                  <a:srgbClr val="5C6B7A"/>
                </a:solidFill>
                <a:latin typeface="Microsoft YaHei"/>
                <a:ea typeface="Microsoft YaHei"/>
              </a:rPr>
              <a:t>  ·  SVM、特征尺度与验证调参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0467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1C2B3A"/>
                </a:solidFill>
                <a:latin typeface="Microsoft YaHei"/>
                <a:ea typeface="Microsoft YaHei"/>
              </a:rPr>
              <a:t>来源、版本与复现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45920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93392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>
                <a:solidFill>
                  <a:srgbClr val="1C2B3A"/>
                </a:solidFill>
                <a:latin typeface="Microsoft YaHei"/>
                <a:ea typeface="Microsoft YaHei"/>
              </a:rPr>
              <a:t>scikit-learn: SVC and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02082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</a:rPr>
              <a:t>https://scikit-learn.org/stable/modules/svm.html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487168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65176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>
                <a:solidFill>
                  <a:srgbClr val="1C2B3A"/>
                </a:solidFill>
                <a:latin typeface="Microsoft YaHei"/>
                <a:ea typeface="Microsoft YaHei"/>
              </a:rPr>
              <a:t>scikit-learn: model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679192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</a:rPr>
              <a:t>https://scikit-learn.org/stable/modules/model_evaluation.html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145536"/>
            <a:ext cx="10506456" cy="11887"/>
          </a:xfrm>
          <a:prstGeom prst="rect">
            <a:avLst/>
          </a:prstGeom>
          <a:solidFill>
            <a:srgbClr val="D9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5760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50" b="0">
                <a:solidFill>
                  <a:srgbClr val="5C6B7A"/>
                </a:solidFill>
                <a:latin typeface="Microsoft YaHei"/>
                <a:ea typeface="Microsoft YaHei"/>
              </a:rPr>
              <a:t>完整来源状态与许可边界见 docs/teaching/source-audit.md；图像取自当前 Notebook 输出。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上神经网络之前，先做一个可信基线</dc:title>
  <dc:subject>Theory + practice + verified AI research assistance</dc:subject>
  <dc:creator>HSI-Learning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