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85d3ff2e-d1f6-c0e1-ce6e-d3a20199b9af}">
          <p14:sldIdLst>
            <p14:sldId id="256"/>
            <p14:sldId id="257"/>
          </p14:sldIdLst>
        </p14:section>
        <p14:section name="讲解" id="{a86eced0-9fe7-0016-b38b-e1bfb8b9bec2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练习" id="{bc006e5d-5605-4c38-3986-83df2b1ec35d}">
          <p14:sldIdLst>
            <p14:sldId id="265"/>
            <p14:sldId id="266"/>
          </p14:sldIdLst>
        </p14:section>
        <p14:section name="收束" id="{611684ca-f692-f5f0-d368-15f801e06a55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开场问题：标准化后还应使用原始DN的gamma量级吗？
原标题：上神经网络之前，先做一个可信基线
参考节奏：5分钟回顾，10分钟手算，10分钟代码，12分钟练习，5分钟错误分析，3分钟退出题。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
封面图源：02_svm_baseline.ipynb / pca-confusion /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协议E的SVM是本次重新执行，不能复用旧协议A的0.85作为同协议对照。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10249 行、200 列特征来自上一课的实测统计。CSV是存储选择，不是算法需求。
Cube / (samples,bands) / Labels + positions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算例两个相似度都非零；极小核值和数值下溢要区分。
x / Squared distance / Kernel similarity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核相似度极小与数值下溢分别解释。验证差不是核退化唯一原因。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网格边缘最佳提示范围可能不足，不证明下一格必然更好。
Train fit / Val compare / Frozen test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本图来自notebook 02的降维特征实验，与原始波段混淆矩阵同框对照。结论不是“PCA更好”，而是特征与预处理改变基线行为，报告必须写清用了哪种特征。
Raw DN features / PCA features / Per-class errors
图源：02_svm_baseline.ipynb / pca-confusion / 1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Notebook中的RUN_FIT明确开关；课前脚本用C=[1,10,100]，完整搜索记录写入metrics。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作业：A02；完整示例 / 填空 / 迁移；提交代码、配置、结果和限制。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退出题：标准化后还应使用原始DN的gamma量级吗？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建立可信的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SVM 基线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上神经网络之前，先做一个可信基线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SVM、特征尺度与验证调参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L02：train/val/test与指标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7409383" y="1200112"/>
            <a:ext cx="4096512" cy="3589096"/>
          </a:xfrm>
          <a:prstGeom prst="roundRect">
            <a:avLst>
              <a:gd name="adj" fmla="val 25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0551" y="1401280"/>
            <a:ext cx="3694176" cy="3186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基线配置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测试报告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核参数尺度检查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02_svm_baseline.ipynb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pipeline · kernel-scale · raw-confusion · pca-confusion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A02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先建立可重建的基线</a:t>
            </a:r>
            <a:endParaRPr lang="en-US" sz="3000" dirty="0"/>
          </a:p>
        </p:txBody>
      </p:sp>
      <p:sp>
        <p:nvSpPr>
          <p:cNvPr id="3" name="point 1"/>
          <p:cNvSpPr/>
          <p:nvPr/>
        </p:nvSpPr>
        <p:spPr>
          <a:xfrm>
            <a:off x="685800" y="1965960"/>
            <a:ext cx="3423818" cy="2834640"/>
          </a:xfrm>
          <a:prstGeom prst="roundRect">
            <a:avLst>
              <a:gd name="adj" fmla="val 3226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017520"/>
            <a:ext cx="27837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先检查标签是否混入特征</a:t>
            </a:r>
            <a:endParaRPr lang="en-US" sz="2000" dirty="0"/>
          </a:p>
        </p:txBody>
      </p:sp>
      <p:sp>
        <p:nvSpPr>
          <p:cNvPr id="7" name="point 2"/>
          <p:cNvSpPr/>
          <p:nvPr/>
        </p:nvSpPr>
        <p:spPr>
          <a:xfrm>
            <a:off x="4383938" y="1965960"/>
            <a:ext cx="3423818" cy="2834640"/>
          </a:xfrm>
          <a:prstGeom prst="roundRect">
            <a:avLst>
              <a:gd name="adj" fmla="val 3226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3017520"/>
            <a:ext cx="27837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记录划分、输入、选参规则</a:t>
            </a:r>
            <a:endParaRPr lang="en-US" sz="2000" dirty="0"/>
          </a:p>
        </p:txBody>
      </p:sp>
      <p:sp>
        <p:nvSpPr>
          <p:cNvPr id="11" name="point 3"/>
          <p:cNvSpPr/>
          <p:nvPr/>
        </p:nvSpPr>
        <p:spPr>
          <a:xfrm>
            <a:off x="8082077" y="1965960"/>
            <a:ext cx="3423818" cy="2834640"/>
          </a:xfrm>
          <a:prstGeom prst="roundRect">
            <a:avLst>
              <a:gd name="adj" fmla="val 3226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017520"/>
            <a:ext cx="27837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分数由当前测试输出读取</a:t>
            </a:r>
            <a:endParaRPr lang="en-US" sz="2000" dirty="0"/>
          </a:p>
        </p:txBody>
      </p:sp>
      <p:sp>
        <p:nvSpPr>
          <p:cNvPr id="15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raw_report['oa'], raw_report['aa']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(0.8070, 0.7773)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从cube到样本表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每个有标注像元一行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类别列不能留在特征中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保留坐标用于预测回贴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3154680"/>
          </a:xfrm>
          <a:prstGeom prst="roundRect">
            <a:avLst>
              <a:gd name="adj" fmla="val 2899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01752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292608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Cube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370332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(samples,bands)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448056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389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Labels + positions</a:t>
            </a:r>
            <a:endParaRPr lang="en-US" sz="1600" dirty="0"/>
          </a:p>
        </p:txBody>
      </p:sp>
      <p:sp>
        <p:nvSpPr>
          <p:cNvPr id="21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X[y &gt; 0].shape, y[y &gt; 0].shape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((10249, 200), (10249,))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RBF把距离变成相似度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距离大：相似度趋零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gamma大：局部影响范围窄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C控制拟合与正则的权衡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K(x, x\') = \exp(-\gamma \, \| x - x\' \|^2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043646"/>
            <a:ext cx="4937760" cy="679269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np.exp(-0.01*100), np.exp(-1*100)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(0.368, 3.7e-44)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gamma取决于模型看到的特征</a:t>
            </a:r>
            <a:endParaRPr lang="en-US" sz="3000" dirty="0"/>
          </a:p>
        </p:txBody>
      </p:sp>
      <p:sp>
        <p:nvSpPr>
          <p:cNvPr id="3" name="point 1"/>
          <p:cNvSpPr/>
          <p:nvPr/>
        </p:nvSpPr>
        <p:spPr>
          <a:xfrm>
            <a:off x="685800" y="1965960"/>
            <a:ext cx="3423818" cy="2834640"/>
          </a:xfrm>
          <a:prstGeom prst="roundRect">
            <a:avLst>
              <a:gd name="adj" fmla="val 3226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017520"/>
            <a:ext cx="27837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float64 exp(-500)约7.12e-218，仍非零</a:t>
            </a:r>
            <a:endParaRPr lang="en-US" sz="2000" dirty="0"/>
          </a:p>
        </p:txBody>
      </p:sp>
      <p:sp>
        <p:nvSpPr>
          <p:cNvPr id="7" name="point 2"/>
          <p:cNvSpPr/>
          <p:nvPr/>
        </p:nvSpPr>
        <p:spPr>
          <a:xfrm>
            <a:off x="4383938" y="1965960"/>
            <a:ext cx="3423818" cy="2834640"/>
          </a:xfrm>
          <a:prstGeom prst="roundRect">
            <a:avLst>
              <a:gd name="adj" fmla="val 3226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3017520"/>
            <a:ext cx="27837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StandardScaler后重新理解距离尺度</a:t>
            </a:r>
            <a:endParaRPr lang="en-US" sz="2000" dirty="0"/>
          </a:p>
        </p:txBody>
      </p:sp>
      <p:sp>
        <p:nvSpPr>
          <p:cNvPr id="11" name="point 3"/>
          <p:cNvSpPr/>
          <p:nvPr/>
        </p:nvSpPr>
        <p:spPr>
          <a:xfrm>
            <a:off x="8082077" y="1965960"/>
            <a:ext cx="3423818" cy="2834640"/>
          </a:xfrm>
          <a:prstGeom prst="roundRect">
            <a:avLst>
              <a:gd name="adj" fmla="val 3226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017520"/>
            <a:ext cx="27837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原始DN网格不是标准化后的建议范围</a:t>
            </a:r>
            <a:endParaRPr lang="en-US" sz="2000" dirty="0"/>
          </a:p>
        </p:txBody>
      </p:sp>
      <p:sp>
        <p:nvSpPr>
          <p:cNvPr id="15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np.exp(-500.0) &gt; 0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True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调参只能看验证证据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固定候选范围与预算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Pipeline内拟合变换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测试不参与选C/gamma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4480560"/>
          </a:xfrm>
          <a:prstGeom prst="roundRect">
            <a:avLst>
              <a:gd name="adj" fmla="val 2364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68046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358902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975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 fit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436626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42748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 compare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514350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50520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Frozen test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换个特征，混淆结构就变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6720840" cy="4480560"/>
          </a:xfrm>
          <a:prstGeom prst="roundRect">
            <a:avLst>
              <a:gd name="adj" fmla="val 1633"/>
            </a:avLst>
          </a:prstGeom>
          <a:solidFill>
            <a:srgbClr val="F2F5F9"/>
          </a:solidFill>
          <a:ln/>
        </p:spPr>
      </p:sp>
      <p:pic>
        <p:nvPicPr>
          <p:cNvPr id="4" name="Image 0" descr="02_svm_baseline-pca-confusion-1-cb8c7185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0028" y="2039112"/>
            <a:ext cx="4812384" cy="4151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0" y="1920240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怎么读这张图</a:t>
            </a:r>
            <a:endParaRPr lang="en-US" sz="1300" dirty="0"/>
          </a:p>
        </p:txBody>
      </p:sp>
      <p:sp>
        <p:nvSpPr>
          <p:cNvPr id="6" name="chip 01"/>
          <p:cNvSpPr/>
          <p:nvPr/>
        </p:nvSpPr>
        <p:spPr>
          <a:xfrm>
            <a:off x="7772400" y="2459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0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42316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相同候选规则，先用原始200波段</a:t>
            </a:r>
            <a:endParaRPr lang="en-US" sz="1700" dirty="0"/>
          </a:p>
        </p:txBody>
      </p:sp>
      <p:sp>
        <p:nvSpPr>
          <p:cNvPr id="9" name="chip 02"/>
          <p:cNvSpPr/>
          <p:nvPr/>
        </p:nvSpPr>
        <p:spPr>
          <a:xfrm>
            <a:off x="7772400" y="355701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0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352044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再用PCA特征重跑一次</a:t>
            </a:r>
            <a:endParaRPr lang="en-US" sz="1700" dirty="0"/>
          </a:p>
        </p:txBody>
      </p:sp>
      <p:sp>
        <p:nvSpPr>
          <p:cNvPr id="12" name="chip 03"/>
          <p:cNvSpPr/>
          <p:nvPr/>
        </p:nvSpPr>
        <p:spPr>
          <a:xfrm>
            <a:off x="7772400" y="46542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394192" y="461772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逐类错误分布明显不同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589788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02_svm_baseline.ipynb  ·  cell pca-confusion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验证搜索与最终报告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每个候选仅fit训练集</a:t>
            </a:r>
            <a:endParaRPr lang="en-US" sz="20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按validation OA选C；并列保留较早候选</a:t>
            </a:r>
            <a:endParaRPr lang="en-US" sz="20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选择冻结后输出测试报告</a:t>
            </a:r>
            <a:endParaRPr lang="en-US" sz="2000" dirty="0"/>
          </a:p>
        </p:txBody>
      </p:sp>
      <p:sp>
        <p:nvSpPr>
          <p:cNvPr id="12" name="step 1"/>
          <p:cNvSpPr/>
          <p:nvPr/>
        </p:nvSpPr>
        <p:spPr>
          <a:xfrm>
            <a:off x="6400800" y="259689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3" name="chip 01"/>
          <p:cNvSpPr/>
          <p:nvPr/>
        </p:nvSpPr>
        <p:spPr>
          <a:xfrm>
            <a:off x="6601968" y="280720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01968" y="2807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05472" y="259689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Pipeline.fit(train)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812280" y="343814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17" name="step 2"/>
          <p:cNvSpPr/>
          <p:nvPr/>
        </p:nvSpPr>
        <p:spPr>
          <a:xfrm>
            <a:off x="6400800" y="369417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8" name="chip 02"/>
          <p:cNvSpPr/>
          <p:nvPr/>
        </p:nvSpPr>
        <p:spPr>
          <a:xfrm>
            <a:off x="6601968" y="390448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05472" y="369417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比较val候选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453542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22" name="step 3"/>
          <p:cNvSpPr/>
          <p:nvPr/>
        </p:nvSpPr>
        <p:spPr>
          <a:xfrm>
            <a:off x="6400800" y="479145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23" name="chip 03"/>
          <p:cNvSpPr/>
          <p:nvPr/>
        </p:nvSpPr>
        <p:spPr>
          <a:xfrm>
            <a:off x="6601968" y="500176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01968" y="5001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205472" y="479145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冻结后predict(test)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raw = joblib.load(ASSETS/'raw.joblib')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assert (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    raw.named_steps['standardscaler'].n_samples_seen_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    == len(split['train_ids'])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raw_pred = raw.predict(X[split['test_ids']])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02_svm_baseline.ipynb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pipeline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pipeline</a:t>
            </a:r>
            <a:endParaRPr lang="en-US" sz="1200" dirty="0"/>
          </a:p>
        </p:txBody>
      </p:sp>
      <p:sp>
        <p:nvSpPr>
          <p:cNvPr id="13" name="cell kernel-scale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kernel-scale</a:t>
            </a:r>
            <a:endParaRPr lang="en-US" sz="1200" dirty="0"/>
          </a:p>
        </p:txBody>
      </p:sp>
      <p:sp>
        <p:nvSpPr>
          <p:cNvPr id="15" name="cell raw-confusion"/>
          <p:cNvSpPr/>
          <p:nvPr/>
        </p:nvSpPr>
        <p:spPr>
          <a:xfrm>
            <a:off x="8458200" y="4425696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44256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raw-confusion</a:t>
            </a:r>
            <a:endParaRPr lang="en-US" sz="1200" dirty="0"/>
          </a:p>
        </p:txBody>
      </p:sp>
      <p:sp>
        <p:nvSpPr>
          <p:cNvPr id="17" name="cell pca-confusion"/>
          <p:cNvSpPr/>
          <p:nvPr/>
        </p:nvSpPr>
        <p:spPr>
          <a:xfrm>
            <a:off x="8458200" y="4901184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490118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pca-confusion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在原始核算例中把特征乘10，再将gamma除100；另解释StandardScaler重新fit会怎样。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A02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标准化后还应使用原始DN的gamma量级吗？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默认超参排名不是方法上限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一次最优成绩不能替代多次复现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L03 上神经网络之前，先做一个可信基线</dc:title>
  <dc:subject>PptxGenJS Presentation</dc:subject>
  <dc:creator>HSI-Learning</dc:creator>
  <cp:lastModifiedBy>HSI-Learning</cp:lastModifiedBy>
  <cp:revision>1</cp:revision>
  <dcterms:created xsi:type="dcterms:W3CDTF">2026-10-10T13:42:18Z</dcterms:created>
  <dcterms:modified xsi:type="dcterms:W3CDTF">2026-10-10T13:42:18Z</dcterms:modified>
</cp:coreProperties>
</file>