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629f9918654d9b" /><Relationship Type="http://schemas.openxmlformats.org/officeDocument/2006/relationships/extended-properties" Target="/docProps/app.xml" Id="Ra933b4a588c84ead" /><Relationship Type="http://schemas.openxmlformats.org/officeDocument/2006/relationships/officeDocument" Target="/ppt/presentation.xml" Id="Rf80cfe7133f64c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cc0099df904a19"/>
  </p:sldMasterIdLst>
  <p:notesMasterIdLst>
    <p:notesMasterId xmlns:r="http://schemas.openxmlformats.org/officeDocument/2006/relationships" r:id="Rc64e2d210da24bd4"/>
  </p:notesMasterIdLst>
  <p:sldIdLst>
    <p:sldId xmlns:r="http://schemas.openxmlformats.org/officeDocument/2006/relationships" id="256" r:id="Readcdf07a3934678"/>
    <p:sldId xmlns:r="http://schemas.openxmlformats.org/officeDocument/2006/relationships" id="257" r:id="R08f5fc3067dd4a93"/>
    <p:sldId xmlns:r="http://schemas.openxmlformats.org/officeDocument/2006/relationships" id="258" r:id="Rf5fe0067e6cc4538"/>
    <p:sldId xmlns:r="http://schemas.openxmlformats.org/officeDocument/2006/relationships" id="259" r:id="Rbf60a2bd3e5c4f3e"/>
    <p:sldId xmlns:r="http://schemas.openxmlformats.org/officeDocument/2006/relationships" id="260" r:id="R110f592f58a148ec"/>
    <p:sldId xmlns:r="http://schemas.openxmlformats.org/officeDocument/2006/relationships" id="261" r:id="R3e085deae1424103"/>
    <p:sldId xmlns:r="http://schemas.openxmlformats.org/officeDocument/2006/relationships" id="262" r:id="R12e42f6dc2af4483"/>
    <p:sldId xmlns:r="http://schemas.openxmlformats.org/officeDocument/2006/relationships" id="263" r:id="R72cc5b77f66b4ef6"/>
    <p:sldId xmlns:r="http://schemas.openxmlformats.org/officeDocument/2006/relationships" id="264" r:id="Ra4e72e5034414bd5"/>
    <p:sldId xmlns:r="http://schemas.openxmlformats.org/officeDocument/2006/relationships" id="265" r:id="Rf5ebf611f547451c"/>
    <p:sldId xmlns:r="http://schemas.openxmlformats.org/officeDocument/2006/relationships" id="266" r:id="R45e7091822eb4e9c"/>
    <p:sldId xmlns:r="http://schemas.openxmlformats.org/officeDocument/2006/relationships" id="267" r:id="Re9b5ce6066244f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35590c13ea46e7" /><Relationship Type="http://schemas.openxmlformats.org/officeDocument/2006/relationships/slideMaster" Target="/ppt/slideMasters/slideMaster1.xml" Id="Rc2cc0099df904a19" /><Relationship Type="http://schemas.openxmlformats.org/officeDocument/2006/relationships/notesMaster" Target="/ppt/notesMasters/notesMaster1.xml" Id="Rc64e2d210da24bd4" /><Relationship Type="http://schemas.openxmlformats.org/officeDocument/2006/relationships/presProps" Target="/ppt/presProps.xml" Id="Rd8063459dfdf4064" /><Relationship Type="http://schemas.openxmlformats.org/officeDocument/2006/relationships/tableStyles" Target="/ppt/tableStyles.xml" Id="Re81af582e03c4d48" /><Relationship Type="http://schemas.openxmlformats.org/officeDocument/2006/relationships/slide" Target="/ppt/slides/slide1.xml" Id="Readcdf07a3934678" /><Relationship Type="http://schemas.openxmlformats.org/officeDocument/2006/relationships/slide" Target="/ppt/slides/slide2.xml" Id="R08f5fc3067dd4a93" /><Relationship Type="http://schemas.openxmlformats.org/officeDocument/2006/relationships/slide" Target="/ppt/slides/slide3.xml" Id="Rf5fe0067e6cc4538" /><Relationship Type="http://schemas.openxmlformats.org/officeDocument/2006/relationships/slide" Target="/ppt/slides/slide4.xml" Id="Rbf60a2bd3e5c4f3e" /><Relationship Type="http://schemas.openxmlformats.org/officeDocument/2006/relationships/slide" Target="/ppt/slides/slide5.xml" Id="R110f592f58a148ec" /><Relationship Type="http://schemas.openxmlformats.org/officeDocument/2006/relationships/slide" Target="/ppt/slides/slide6.xml" Id="R3e085deae1424103" /><Relationship Type="http://schemas.openxmlformats.org/officeDocument/2006/relationships/slide" Target="/ppt/slides/slide7.xml" Id="R12e42f6dc2af4483" /><Relationship Type="http://schemas.openxmlformats.org/officeDocument/2006/relationships/slide" Target="/ppt/slides/slide8.xml" Id="R72cc5b77f66b4ef6" /><Relationship Type="http://schemas.openxmlformats.org/officeDocument/2006/relationships/slide" Target="/ppt/slides/slide9.xml" Id="Ra4e72e5034414bd5" /><Relationship Type="http://schemas.openxmlformats.org/officeDocument/2006/relationships/slide" Target="/ppt/slides/slide10.xml" Id="Rf5ebf611f547451c" /><Relationship Type="http://schemas.openxmlformats.org/officeDocument/2006/relationships/slide" Target="/ppt/slides/slide11.xml" Id="R45e7091822eb4e9c" /><Relationship Type="http://schemas.openxmlformats.org/officeDocument/2006/relationships/slide" Target="/ppt/slides/slide12.xml" Id="Re9b5ce6066244f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f97050492d46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c33eb8d3e94620" /><Relationship Type="http://schemas.openxmlformats.org/officeDocument/2006/relationships/notesMaster" Target="/ppt/notesMasters/notesMaster1.xml" Id="R1118cd636f7742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7cc6a9013541b5" /><Relationship Type="http://schemas.openxmlformats.org/officeDocument/2006/relationships/notesMaster" Target="/ppt/notesMasters/notesMaster1.xml" Id="Rfb9f8a67cf8641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fe27167e2c4530" /><Relationship Type="http://schemas.openxmlformats.org/officeDocument/2006/relationships/notesMaster" Target="/ppt/notesMasters/notesMaster1.xml" Id="R03c020377c0f49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c4f66c89ce4432" /><Relationship Type="http://schemas.openxmlformats.org/officeDocument/2006/relationships/notesMaster" Target="/ppt/notesMasters/notesMaster1.xml" Id="R0767a4c447c54d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087dbafb344c12" /><Relationship Type="http://schemas.openxmlformats.org/officeDocument/2006/relationships/notesMaster" Target="/ppt/notesMasters/notesMaster1.xml" Id="R2938523315124a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640f1056e6477d" /><Relationship Type="http://schemas.openxmlformats.org/officeDocument/2006/relationships/notesMaster" Target="/ppt/notesMasters/notesMaster1.xml" Id="Rf0af2bf6c1d448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9ca3c0424b4745" /><Relationship Type="http://schemas.openxmlformats.org/officeDocument/2006/relationships/notesMaster" Target="/ppt/notesMasters/notesMaster1.xml" Id="Rdcabbb7711bf49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5d29afda574401" /><Relationship Type="http://schemas.openxmlformats.org/officeDocument/2006/relationships/notesMaster" Target="/ppt/notesMasters/notesMaster1.xml" Id="R2358ea49d1aa43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5e748cc5b640d8" /><Relationship Type="http://schemas.openxmlformats.org/officeDocument/2006/relationships/notesMaster" Target="/ppt/notesMasters/notesMaster1.xml" Id="R8cda49038ea448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8ad837ea064bd5" /><Relationship Type="http://schemas.openxmlformats.org/officeDocument/2006/relationships/notesMaster" Target="/ppt/notesMasters/notesMaster1.xml" Id="Rff31d0e3912749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9aedc7203c46b9" /><Relationship Type="http://schemas.openxmlformats.org/officeDocument/2006/relationships/notesMaster" Target="/ppt/notesMasters/notesMaster1.xml" Id="R2b699bd6e13e47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729a96b08a43a6" /><Relationship Type="http://schemas.openxmlformats.org/officeDocument/2006/relationships/notesMaster" Target="/ppt/notesMasters/notesMaster1.xml" Id="R4fdffb2550034c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开场问题：标准化后还应使用原始DN的gamma量级吗？</a:t>
            </a:r>
          </a:p>
          <a:p xmlns:a="http://schemas.openxmlformats.org/drawingml/2006/main">
            <a:r>
              <a:t>原标题：上神经网络之前，先做一个可信基线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封面图源：02_svm_baseline.ipynb / pca-confusion / 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协议E的SVM是本次重新执行，不能复用旧协议A的0.85作为同协议对照。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10249 行、200 列特征来自上一课的实测统计。CSV是存储选择，不是算法需求。</a:t>
            </a:r>
          </a:p>
          <a:p xmlns:a="http://schemas.openxmlformats.org/drawingml/2006/main">
            <a:r>
              <a:t>Cube / (samples,bands) / Labels + positions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算例两个相似度都非零；极小核值和数值下溢要区分。</a:t>
            </a:r>
          </a:p>
          <a:p xmlns:a="http://schemas.openxmlformats.org/drawingml/2006/main">
            <a:r>
              <a:t>x / Squared distance / Kernel similarity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核相似度极小与数值下溢分别解释。验证差不是核退化唯一原因。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网格边缘最佳提示范围可能不足，不证明下一格必然更好。</a:t>
            </a:r>
          </a:p>
          <a:p xmlns:a="http://schemas.openxmlformats.org/drawingml/2006/main">
            <a:r>
              <a:t>Train fit / Val compare / Frozen test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本图来自notebook 02的降维特征实验，与原始波段混淆矩阵同框对照。结论不是“PCA更好”，而是特征与预处理改变基线行为，报告必须写清用了哪种特征。</a:t>
            </a:r>
          </a:p>
          <a:p xmlns:a="http://schemas.openxmlformats.org/drawingml/2006/main">
            <a:r>
              <a:t>Raw DN features / PCA features / Per-class errors</a:t>
            </a:r>
          </a:p>
          <a:p xmlns:a="http://schemas.openxmlformats.org/drawingml/2006/main">
            <a:r>
              <a:t>图源：02_svm_baseline.ipynb / pca-confusion / 1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Notebook中的RUN_FIT明确开关；课前脚本用C=[1,10,100]，完整搜索记录写入metrics。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作业：A02；完整示例 / 填空 / 迁移；提交代码、配置、结果和限制。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退出题：标准化后还应使用原始DN的gamma量级吗？</a:t>
            </a:r>
          </a:p>
          <a:p xmlns:a="http://schemas.openxmlformats.org/drawingml/2006/main">
            <a:r>
              <a:t>课堂入口: 02_svm_baseline.ipynb</a:t>
            </a:r>
          </a:p>
          <a:p xmlns:a="http://schemas.openxmlformats.org/drawingml/2006/main">
            <a:r>
              <a:t>定位: pipeline, kernel-scale, raw-confusion, pca-confusion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AI辅助：从给定仓库片段提取SVM实验参数表，每个值附文件/行或变量名。找不到的项写unknown，不推测默认设置等于论文设置。</a:t>
            </a:r>
          </a:p>
          <a:p xmlns:a="http://schemas.openxmlformats.org/drawingml/2006/main">
            <a:r>
              <a:t>人工核验：逐个对应入口参数，核对PCA/scaler的fit范围，不按test选择配置。</a:t>
            </a:r>
          </a:p>
          <a:p xmlns:a="http://schemas.openxmlformats.org/drawingml/2006/main">
            <a:r>
              <a:t>scikit-learn: SVC and preprocessing</a:t>
            </a:r>
          </a:p>
          <a:p xmlns:a="http://schemas.openxmlformats.org/drawingml/2006/main">
            <a:r>
              <a:t>https://scikit-learn.org/stable/modules/svm.html</a:t>
            </a:r>
          </a:p>
          <a:p xmlns:a="http://schemas.openxmlformats.org/drawingml/2006/main">
            <a:r>
              <a:t>scikit-learn: model evaluation</a:t>
            </a:r>
          </a:p>
          <a:p xmlns:a="http://schemas.openxmlformats.org/drawingml/2006/main">
            <a:r>
              <a:t>https://scikit-learn.org/stable/modules/model_evaluation.html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cf69a96bf24b9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1f972227fa49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c07568d3894fd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1ce2820e34c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f5bcb09dc748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77987ed1564a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4F938BD-50AE-4B8A-8750-CBC55EA099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777638-831B-4A45-94FA-B2EC794285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A71D40E-B0C0-4527-AA41-0036090021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0E4267-C640-4E96-896B-E8F2CF03A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EE192E-4690-4A1F-B121-EC7D0C0494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C5445AF-9DB6-44C0-8A58-0E1B7359B8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34ADB4-8062-4D4F-8A5C-CDD0FB3F98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D2AF231-AC37-4016-86E4-28829F6D1FD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D59196-4E00-4346-B495-0BE0FEC5C5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6EE300F-0624-48E6-8162-B4075A35DD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52c46ddb25471a" /><Relationship Type="http://schemas.openxmlformats.org/officeDocument/2006/relationships/slideLayout" Target="/ppt/slideLayouts/slideLayout1.xml" Id="Rf780310b7eb546fa" /><Relationship Type="http://schemas.openxmlformats.org/officeDocument/2006/relationships/slideLayout" Target="/ppt/slideLayouts/slideLayout2.xml" Id="R2f845c849c28420d" /><Relationship Type="http://schemas.openxmlformats.org/officeDocument/2006/relationships/slideLayout" Target="/ppt/slideLayouts/slideLayout3.xml" Id="R14b8629e52d84a6b" /><Relationship Type="http://schemas.openxmlformats.org/officeDocument/2006/relationships/slideLayout" Target="/ppt/slideLayouts/slideLayout4.xml" Id="R97422719c4514190" /><Relationship Type="http://schemas.openxmlformats.org/officeDocument/2006/relationships/slideLayout" Target="/ppt/slideLayouts/slideLayout5.xml" Id="R6302bc4ae66d4704" /><Relationship Type="http://schemas.openxmlformats.org/officeDocument/2006/relationships/slideLayout" Target="/ppt/slideLayouts/slideLayout6.xml" Id="Rd2ed62c552c54e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80310b7eb546fa"/>
    <p:sldLayoutId xmlns:r="http://schemas.openxmlformats.org/officeDocument/2006/relationships" id="2147483650" r:id="R2f845c849c28420d"/>
    <p:sldLayoutId xmlns:r="http://schemas.openxmlformats.org/officeDocument/2006/relationships" id="2147483651" r:id="R14b8629e52d84a6b"/>
    <p:sldLayoutId xmlns:r="http://schemas.openxmlformats.org/officeDocument/2006/relationships" id="2147483652" r:id="R97422719c4514190"/>
    <p:sldLayoutId xmlns:r="http://schemas.openxmlformats.org/officeDocument/2006/relationships" id="2147483653" r:id="R6302bc4ae66d4704"/>
    <p:sldLayoutId xmlns:r="http://schemas.openxmlformats.org/officeDocument/2006/relationships" id="2147483654" r:id="Rd2ed62c552c54e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2bb8e9d9204bc6" /><Relationship Type="http://schemas.openxmlformats.org/officeDocument/2006/relationships/image" Target="/ppt/media/image.png" Id="R7556636d3e014388" /><Relationship Type="http://schemas.openxmlformats.org/officeDocument/2006/relationships/notesSlide" Target="/ppt/notesSlides/notesSlide1.xml" Id="R0ad017c0783848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7b6d30ff834ff7" /><Relationship Type="http://schemas.openxmlformats.org/officeDocument/2006/relationships/notesSlide" Target="/ppt/notesSlides/notesSlide2.xml" Id="R068d4150d5764a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5fc8fca366479b" /><Relationship Type="http://schemas.openxmlformats.org/officeDocument/2006/relationships/notesSlide" Target="/ppt/notesSlides/notesSlide3.xml" Id="Ra375bf89fe8d45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dd64d794534f0f" /><Relationship Type="http://schemas.openxmlformats.org/officeDocument/2006/relationships/notesSlide" Target="/ppt/notesSlides/notesSlide4.xml" Id="R197d53bb644c4a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3ea567b63d40cd" /><Relationship Type="http://schemas.openxmlformats.org/officeDocument/2006/relationships/image" Target="/ppt/media/image2.png" Id="Rbd5da6af92c54702" /><Relationship Type="http://schemas.openxmlformats.org/officeDocument/2006/relationships/notesSlide" Target="/ppt/notesSlides/notesSlide5.xml" Id="R5a2f1cb46e8b43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04c475cc7d400a" /><Relationship Type="http://schemas.openxmlformats.org/officeDocument/2006/relationships/notesSlide" Target="/ppt/notesSlides/notesSlide6.xml" Id="R2a4a4c82443347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309e883b924f6f" /><Relationship Type="http://schemas.openxmlformats.org/officeDocument/2006/relationships/notesSlide" Target="/ppt/notesSlides/notesSlide7.xml" Id="R42003c33c2c448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ad1ddbb04d4c33" /><Relationship Type="http://schemas.openxmlformats.org/officeDocument/2006/relationships/image" Target="/ppt/media/image3.png" Id="Rea67e8303b964551" /><Relationship Type="http://schemas.openxmlformats.org/officeDocument/2006/relationships/notesSlide" Target="/ppt/notesSlides/notesSlide8.xml" Id="Rf5b4564ef5ec4b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3d51bce6394b39" /><Relationship Type="http://schemas.openxmlformats.org/officeDocument/2006/relationships/notesSlide" Target="/ppt/notesSlides/notesSlide9.xml" Id="Rc1bb069a902b47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29801333b74049" /><Relationship Type="http://schemas.openxmlformats.org/officeDocument/2006/relationships/notesSlide" Target="/ppt/notesSlides/notesSlide10.xml" Id="R7d8ffa5e8cd547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b676044fb84567" /><Relationship Type="http://schemas.openxmlformats.org/officeDocument/2006/relationships/notesSlide" Target="/ppt/notesSlides/notesSlide11.xml" Id="Rd9e1c837dd4e42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c4860c0f1e4617" /><Relationship Type="http://schemas.openxmlformats.org/officeDocument/2006/relationships/notesSlide" Target="/ppt/notesSlides/notesSlide12.xml" Id="R319d99f069b243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BCDCE2B2-4C24-4BB0-81FA-E55E241F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62580432-8F6A-4ACF-BE67-38556DAC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8C6403-EF8A-408A-BF89-31DE2CF8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3781B-1E26-4AAC-A9E1-BCCE351F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建立可信的&#10;SVM 基线">
            <a:extLst xmlns:a="http://schemas.openxmlformats.org/drawingml/2006/main">
              <a:ext uri="{FF2B5EF4-FFF2-40B4-BE49-F238E27FC236}">
                <a16:creationId xmlns:a16="http://schemas.microsoft.com/office/drawing/2014/main" id="{FA313A25-4FC5-47EB-AF86-413E1E47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建立可信的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SVM 基线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BB6D0A-48B9-4C25-8856-4FB00B10FB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6636d3e014388"/>
          <a:stretch xmlns:a="http://schemas.openxmlformats.org/drawingml/2006/main"/>
        </p:blipFill>
        <p:spPr>
          <a:xfrm xmlns:a="http://schemas.openxmlformats.org/drawingml/2006/main">
            <a:off x="7756879" y="2076450"/>
            <a:ext cx="2583741" cy="22288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435D0-FE1A-4B32-88D0-21B9F898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SVM、特征尺度与验证调参">
            <a:extLst xmlns:a="http://schemas.openxmlformats.org/drawingml/2006/main">
              <a:ext uri="{FF2B5EF4-FFF2-40B4-BE49-F238E27FC236}">
                <a16:creationId xmlns:a16="http://schemas.microsoft.com/office/drawing/2014/main" id="{206771EC-F590-421C-ACD5-181CB260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SVM、特征尺度与验证调参</a:t>
            </a:r>
          </a:p>
        </p:txBody>
      </p:sp>
      <p:sp>
        <p:nvSpPr>
          <p:cNvPr id="9" name="先修  /  L02：train/val/test与指标">
            <a:extLst xmlns:a="http://schemas.openxmlformats.org/drawingml/2006/main">
              <a:ext uri="{FF2B5EF4-FFF2-40B4-BE49-F238E27FC236}">
                <a16:creationId xmlns:a16="http://schemas.microsoft.com/office/drawing/2014/main" id="{1DDD5229-645E-4B28-AA5D-8DC5CEE8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L02：train/val/test与指标</a:t>
            </a:r>
          </a:p>
        </p:txBody>
      </p:sp>
    </p:spTree>
    <p:extLst>
      <p:ext uri="{BB962C8B-B14F-4D97-AF65-F5344CB8AC3E}">
        <p14:creationId xmlns:p14="http://schemas.microsoft.com/office/powerpoint/2010/main" val="142941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8931C8EE-12D7-4E6E-97EF-AE7BDF12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96E4DF09-C4AE-48EB-83A0-9A0E5582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8920D387-2E3E-40F4-A371-FCF1A9BD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24BDE-0831-4FF3-9175-5C864707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A69B272C-0CEE-4C5E-8B25-E8C3BA41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基线配置">
            <a:extLst xmlns:a="http://schemas.openxmlformats.org/drawingml/2006/main">
              <a:ext uri="{FF2B5EF4-FFF2-40B4-BE49-F238E27FC236}">
                <a16:creationId xmlns:a16="http://schemas.microsoft.com/office/drawing/2014/main" id="{54E9E8B8-590F-4199-BC00-504337E3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基线配置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8EE40-27EE-448A-A6F4-26656A64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D6F47BD1-4240-4A06-96F8-F3FC3243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测试报告">
            <a:extLst xmlns:a="http://schemas.openxmlformats.org/drawingml/2006/main">
              <a:ext uri="{FF2B5EF4-FFF2-40B4-BE49-F238E27FC236}">
                <a16:creationId xmlns:a16="http://schemas.microsoft.com/office/drawing/2014/main" id="{78882223-A051-4CC5-A111-D03445ED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测试报告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AB7C9-941A-4FE2-8F0A-98B6007E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7332860F-D0F9-4454-97F9-5951056F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核参数尺度检查">
            <a:extLst xmlns:a="http://schemas.openxmlformats.org/drawingml/2006/main">
              <a:ext uri="{FF2B5EF4-FFF2-40B4-BE49-F238E27FC236}">
                <a16:creationId xmlns:a16="http://schemas.microsoft.com/office/drawing/2014/main" id="{6C99A9F1-C965-44B3-8787-5365F734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核参数尺度检查</a:t>
            </a:r>
          </a:p>
        </p:txBody>
      </p:sp>
    </p:spTree>
    <p:extLst>
      <p:ext uri="{BB962C8B-B14F-4D97-AF65-F5344CB8AC3E}">
        <p14:creationId xmlns:p14="http://schemas.microsoft.com/office/powerpoint/2010/main" val="14838777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8ACBFD43-5D1A-4E2E-B65B-7483A388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CD4E80FA-CB69-4945-8770-30949E4E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先建立可重建的基线">
            <a:extLst xmlns:a="http://schemas.openxmlformats.org/drawingml/2006/main">
              <a:ext uri="{FF2B5EF4-FFF2-40B4-BE49-F238E27FC236}">
                <a16:creationId xmlns:a16="http://schemas.microsoft.com/office/drawing/2014/main" id="{3A242027-51B8-4CF9-9EA7-FA9FC5B1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先建立可重建的基线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4A457-F10B-4A02-A5BF-43C21B04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87063F61-6AD4-4D09-9A8D-4017D27C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先检查标签是否混入特征">
            <a:extLst xmlns:a="http://schemas.openxmlformats.org/drawingml/2006/main">
              <a:ext uri="{FF2B5EF4-FFF2-40B4-BE49-F238E27FC236}">
                <a16:creationId xmlns:a16="http://schemas.microsoft.com/office/drawing/2014/main" id="{DB2F75D8-0111-4B62-8478-5D1DC7F3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先检查标签是否混入特征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C9C807DC-393B-4BBD-B6FE-B9AFA57D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记录划分、输入、选参规则">
            <a:extLst xmlns:a="http://schemas.openxmlformats.org/drawingml/2006/main">
              <a:ext uri="{FF2B5EF4-FFF2-40B4-BE49-F238E27FC236}">
                <a16:creationId xmlns:a16="http://schemas.microsoft.com/office/drawing/2014/main" id="{517ECE3E-1C4C-4DC0-B840-785EF859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记录划分、输入、选参规则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081B1AED-2227-4C0C-85BE-F2E6C89F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分数由当前测试输出读取">
            <a:extLst xmlns:a="http://schemas.openxmlformats.org/drawingml/2006/main">
              <a:ext uri="{FF2B5EF4-FFF2-40B4-BE49-F238E27FC236}">
                <a16:creationId xmlns:a16="http://schemas.microsoft.com/office/drawing/2014/main" id="{43CB436A-6069-419F-901C-29B5F3F0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分数由当前测试输出读取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A388CE-2191-42FC-A416-AF7E71C6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raw_report['oa'], raw_repo">
            <a:extLst xmlns:a="http://schemas.openxmlformats.org/drawingml/2006/main">
              <a:ext uri="{FF2B5EF4-FFF2-40B4-BE49-F238E27FC236}">
                <a16:creationId xmlns:a16="http://schemas.microsoft.com/office/drawing/2014/main" id="{3134014F-1174-4EED-8920-C0C392E5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raw_report['oa'], raw_report['aa']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(0.8070, 0.7773)</a:t>
            </a:r>
          </a:p>
        </p:txBody>
      </p:sp>
    </p:spTree>
    <p:extLst>
      <p:ext uri="{BB962C8B-B14F-4D97-AF65-F5344CB8AC3E}">
        <p14:creationId xmlns:p14="http://schemas.microsoft.com/office/powerpoint/2010/main" val="1881423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043E3E5D-3AF7-4549-A6F5-20DD6D1B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0B8316D8-0424-409B-9A5D-45752A9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从cube到样本表">
            <a:extLst xmlns:a="http://schemas.openxmlformats.org/drawingml/2006/main">
              <a:ext uri="{FF2B5EF4-FFF2-40B4-BE49-F238E27FC236}">
                <a16:creationId xmlns:a16="http://schemas.microsoft.com/office/drawing/2014/main" id="{E98F5689-49F6-4B07-97FB-0088F4D9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从cube到样本表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D22E2-A95A-417F-98E1-BD529DC6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03CA8C99-15E8-40FC-877C-BFBE6650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每个有标注像元一行">
            <a:extLst xmlns:a="http://schemas.openxmlformats.org/drawingml/2006/main">
              <a:ext uri="{FF2B5EF4-FFF2-40B4-BE49-F238E27FC236}">
                <a16:creationId xmlns:a16="http://schemas.microsoft.com/office/drawing/2014/main" id="{55B0D5AC-2B49-44AE-A407-56620AE8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每个有标注像元一行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F2C3B984-73F5-4745-BC0B-682C6877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类别列不能留在特征中">
            <a:extLst xmlns:a="http://schemas.openxmlformats.org/drawingml/2006/main">
              <a:ext uri="{FF2B5EF4-FFF2-40B4-BE49-F238E27FC236}">
                <a16:creationId xmlns:a16="http://schemas.microsoft.com/office/drawing/2014/main" id="{113B2BDB-200C-4A78-A443-448DC769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类别列不能留在特征中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143FD59D-B723-44B9-85FF-FDBAE42A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保留坐标用于预测回贴">
            <a:extLst xmlns:a="http://schemas.openxmlformats.org/drawingml/2006/main">
              <a:ext uri="{FF2B5EF4-FFF2-40B4-BE49-F238E27FC236}">
                <a16:creationId xmlns:a16="http://schemas.microsoft.com/office/drawing/2014/main" id="{61BC0ECF-45E9-4588-A91F-694FE9B7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保留坐标用于预测回贴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A61A98-DC95-4657-8CD9-4870FAB8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X[y &gt; 0].shape, y[y &gt; 0].s">
            <a:extLst xmlns:a="http://schemas.openxmlformats.org/drawingml/2006/main">
              <a:ext uri="{FF2B5EF4-FFF2-40B4-BE49-F238E27FC236}">
                <a16:creationId xmlns:a16="http://schemas.microsoft.com/office/drawing/2014/main" id="{3525AE7C-691A-4C64-848A-D2B802AA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X[y &gt; 0].shape, y[y &gt; 0].shape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((10249, 200), (10249,))</a:t>
            </a:r>
          </a:p>
        </p:txBody>
      </p:sp>
    </p:spTree>
    <p:extLst>
      <p:ext uri="{BB962C8B-B14F-4D97-AF65-F5344CB8AC3E}">
        <p14:creationId xmlns:p14="http://schemas.microsoft.com/office/powerpoint/2010/main" val="17719952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7FAF5085-98D2-4563-BF03-9AB8FA52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31F8B29F-F5F9-43F3-8B63-EBA41A46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RBF把距离变成相似度">
            <a:extLst xmlns:a="http://schemas.openxmlformats.org/drawingml/2006/main">
              <a:ext uri="{FF2B5EF4-FFF2-40B4-BE49-F238E27FC236}">
                <a16:creationId xmlns:a16="http://schemas.microsoft.com/office/drawing/2014/main" id="{ACBC6903-7DFA-452C-8EAD-2F1E2171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RBF把距离变成相似度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BA85F-A96F-40A7-A235-287C1A36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距离大：相似度趋零">
            <a:extLst xmlns:a="http://schemas.openxmlformats.org/drawingml/2006/main">
              <a:ext uri="{FF2B5EF4-FFF2-40B4-BE49-F238E27FC236}">
                <a16:creationId xmlns:a16="http://schemas.microsoft.com/office/drawing/2014/main" id="{3B1ECAB2-46F2-4CD9-AC7B-E47E2F7B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距离大：相似度趋零</a:t>
            </a:r>
          </a:p>
        </p:txBody>
      </p:sp>
      <p:sp>
        <p:nvSpPr>
          <p:cNvPr id="6" name="gamma大：局部影响范围窄">
            <a:extLst xmlns:a="http://schemas.openxmlformats.org/drawingml/2006/main">
              <a:ext uri="{FF2B5EF4-FFF2-40B4-BE49-F238E27FC236}">
                <a16:creationId xmlns:a16="http://schemas.microsoft.com/office/drawing/2014/main" id="{721D523C-A870-4688-80BF-C632D7C3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gamma大：局部影响范围窄</a:t>
            </a:r>
          </a:p>
        </p:txBody>
      </p:sp>
      <p:sp>
        <p:nvSpPr>
          <p:cNvPr id="7" name="C控制拟合与正则的权衡">
            <a:extLst xmlns:a="http://schemas.openxmlformats.org/drawingml/2006/main">
              <a:ext uri="{FF2B5EF4-FFF2-40B4-BE49-F238E27FC236}">
                <a16:creationId xmlns:a16="http://schemas.microsoft.com/office/drawing/2014/main" id="{C77E0A6D-A755-4AE6-9738-CDFD1AEE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C控制拟合与正则的权衡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59E7A-D7C4-48E7-9F1C-99C3C5E45B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5da6af92c54702"/>
          <a:stretch xmlns:a="http://schemas.openxmlformats.org/drawingml/2006/main"/>
        </p:blipFill>
        <p:spPr>
          <a:xfrm xmlns:a="http://schemas.openxmlformats.org/drawingml/2006/main">
            <a:off x="6096000" y="3014007"/>
            <a:ext cx="5410200" cy="74426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F7BAA-644E-439B-BB1F-10E2DFA4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np.exp(-0.01*100), np.exp(">
            <a:extLst xmlns:a="http://schemas.openxmlformats.org/drawingml/2006/main">
              <a:ext uri="{FF2B5EF4-FFF2-40B4-BE49-F238E27FC236}">
                <a16:creationId xmlns:a16="http://schemas.microsoft.com/office/drawing/2014/main" id="{AE994127-B271-4E7F-8703-00FA99F8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np.exp(-0.01*100), np.exp(-1*100)</a:t>
            </a:r>
          </a:p>
        </p:txBody>
      </p:sp>
      <p:sp>
        <p:nvSpPr>
          <p:cNvPr id="11" name="(0.368, 3.7e-44)">
            <a:extLst xmlns:a="http://schemas.openxmlformats.org/drawingml/2006/main">
              <a:ext uri="{FF2B5EF4-FFF2-40B4-BE49-F238E27FC236}">
                <a16:creationId xmlns:a16="http://schemas.microsoft.com/office/drawing/2014/main" id="{35654733-4BF9-45A0-AFA8-570800A7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(0.368, 3.7e-44)</a:t>
            </a:r>
          </a:p>
        </p:txBody>
      </p:sp>
    </p:spTree>
    <p:extLst>
      <p:ext uri="{BB962C8B-B14F-4D97-AF65-F5344CB8AC3E}">
        <p14:creationId xmlns:p14="http://schemas.microsoft.com/office/powerpoint/2010/main" val="19198775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E298CF04-CA8D-421E-AFF2-8B1C55C5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8F9AD1FC-58BC-4D56-A5FB-6EAC563A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gamma取决于模型看到的特征">
            <a:extLst xmlns:a="http://schemas.openxmlformats.org/drawingml/2006/main">
              <a:ext uri="{FF2B5EF4-FFF2-40B4-BE49-F238E27FC236}">
                <a16:creationId xmlns:a16="http://schemas.microsoft.com/office/drawing/2014/main" id="{8DEAB88E-64D2-419D-9779-6B07FADA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gamma取决于模型看到的特征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2CF4F-AB4D-4762-BAB1-1C6AC6B3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08026B7B-39D2-4B8E-995B-55E0B09E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float64 exp(-500)约7.12e-218，仍非">
            <a:extLst xmlns:a="http://schemas.openxmlformats.org/drawingml/2006/main">
              <a:ext uri="{FF2B5EF4-FFF2-40B4-BE49-F238E27FC236}">
                <a16:creationId xmlns:a16="http://schemas.microsoft.com/office/drawing/2014/main" id="{CC944466-AC29-4FF0-8E2A-324BCB0A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float64 exp(-500)约7.12e-218，仍非零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2F816A04-AFC7-484F-A4E4-8D9B58B1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StandardScaler后重新理解距离尺度">
            <a:extLst xmlns:a="http://schemas.openxmlformats.org/drawingml/2006/main">
              <a:ext uri="{FF2B5EF4-FFF2-40B4-BE49-F238E27FC236}">
                <a16:creationId xmlns:a16="http://schemas.microsoft.com/office/drawing/2014/main" id="{4A97E7BA-5949-45FC-8862-C092FD86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StandardScaler后重新理解距离尺度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7EB3446F-3627-4B0C-8B65-B0C8FA35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原始DN网格不是标准化后的建议范围">
            <a:extLst xmlns:a="http://schemas.openxmlformats.org/drawingml/2006/main">
              <a:ext uri="{FF2B5EF4-FFF2-40B4-BE49-F238E27FC236}">
                <a16:creationId xmlns:a16="http://schemas.microsoft.com/office/drawing/2014/main" id="{8B74EE86-3C4B-4064-8738-6546E051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原始DN网格不是标准化后的建议范围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F784F1-8032-48E8-9BB0-DD9AF506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np.exp(-500.0) &gt; 0&#10;True">
            <a:extLst xmlns:a="http://schemas.openxmlformats.org/drawingml/2006/main">
              <a:ext uri="{FF2B5EF4-FFF2-40B4-BE49-F238E27FC236}">
                <a16:creationId xmlns:a16="http://schemas.microsoft.com/office/drawing/2014/main" id="{EEBDC8C6-1A2E-487C-8655-DB99D1EF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np.exp(-500.0) &gt; 0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17828384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DC4DE305-E79E-4DA1-88FC-8A4732D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783BFE88-D966-4CAA-8546-4D76D10D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调参只能看验证证据">
            <a:extLst xmlns:a="http://schemas.openxmlformats.org/drawingml/2006/main">
              <a:ext uri="{FF2B5EF4-FFF2-40B4-BE49-F238E27FC236}">
                <a16:creationId xmlns:a16="http://schemas.microsoft.com/office/drawing/2014/main" id="{2EA1DCEC-DF35-4473-9FE9-D97CA588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调参只能看验证证据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4AAE2-728F-45BA-BE83-9736F7D0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B79AA812-F699-446A-93C9-E49F3A17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固定候选范围与预算">
            <a:extLst xmlns:a="http://schemas.openxmlformats.org/drawingml/2006/main">
              <a:ext uri="{FF2B5EF4-FFF2-40B4-BE49-F238E27FC236}">
                <a16:creationId xmlns:a16="http://schemas.microsoft.com/office/drawing/2014/main" id="{E091E689-F05A-4F14-857F-C86825F0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固定候选范围与预算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B4B08455-805E-4879-A39C-D5C3FC4F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Pipeline内拟合变换">
            <a:extLst xmlns:a="http://schemas.openxmlformats.org/drawingml/2006/main">
              <a:ext uri="{FF2B5EF4-FFF2-40B4-BE49-F238E27FC236}">
                <a16:creationId xmlns:a16="http://schemas.microsoft.com/office/drawing/2014/main" id="{1670DDB7-FF2B-4EB4-87ED-F4408FA9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Pipeline内拟合变换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676430FC-2F00-4EB0-9DE1-4DC0CA58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测试不参与选C/gamma">
            <a:extLst xmlns:a="http://schemas.openxmlformats.org/drawingml/2006/main">
              <a:ext uri="{FF2B5EF4-FFF2-40B4-BE49-F238E27FC236}">
                <a16:creationId xmlns:a16="http://schemas.microsoft.com/office/drawing/2014/main" id="{542877D6-668C-4435-A42C-0F1E3521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测试不参与选C/gamma</a:t>
            </a:r>
          </a:p>
        </p:txBody>
      </p:sp>
    </p:spTree>
    <p:extLst>
      <p:ext uri="{BB962C8B-B14F-4D97-AF65-F5344CB8AC3E}">
        <p14:creationId xmlns:p14="http://schemas.microsoft.com/office/powerpoint/2010/main" val="2457111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0639FCBF-4BF8-40CF-ABB4-359AE705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1E80BB30-EE55-4557-98E7-A2FE9C1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换个特征，混淆结构就变">
            <a:extLst xmlns:a="http://schemas.openxmlformats.org/drawingml/2006/main">
              <a:ext uri="{FF2B5EF4-FFF2-40B4-BE49-F238E27FC236}">
                <a16:creationId xmlns:a16="http://schemas.microsoft.com/office/drawing/2014/main" id="{7DA95478-13AA-46D9-9E7A-A4BA10A9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换个特征，混淆结构就变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3036E-284D-4745-9FD2-61E047DC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37940-F9B1-4126-A498-04A97FE776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7e8303b964551"/>
          <a:stretch xmlns:a="http://schemas.openxmlformats.org/drawingml/2006/main"/>
        </p:blipFill>
        <p:spPr>
          <a:xfrm xmlns:a="http://schemas.openxmlformats.org/drawingml/2006/main">
            <a:off x="3832466" y="2019300"/>
            <a:ext cx="4527068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43455-89A8-4520-904A-2CBC93D6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相同候选规则，先用原始200波段">
            <a:extLst xmlns:a="http://schemas.openxmlformats.org/drawingml/2006/main">
              <a:ext uri="{FF2B5EF4-FFF2-40B4-BE49-F238E27FC236}">
                <a16:creationId xmlns:a16="http://schemas.microsoft.com/office/drawing/2014/main" id="{A1A79725-2EEF-4BF6-8135-08617223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相同候选规则，先用原始200波段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733529-41DC-4F44-9832-52161E3F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再用PCA特征重跑一次">
            <a:extLst xmlns:a="http://schemas.openxmlformats.org/drawingml/2006/main">
              <a:ext uri="{FF2B5EF4-FFF2-40B4-BE49-F238E27FC236}">
                <a16:creationId xmlns:a16="http://schemas.microsoft.com/office/drawing/2014/main" id="{6FD1A1F1-2CB4-453D-ACDC-E00E18F5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再用PCA特征重跑一次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B8795D-1E4C-49B5-9571-0468F8BD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逐类错误分布明显不同">
            <a:extLst xmlns:a="http://schemas.openxmlformats.org/drawingml/2006/main">
              <a:ext uri="{FF2B5EF4-FFF2-40B4-BE49-F238E27FC236}">
                <a16:creationId xmlns:a16="http://schemas.microsoft.com/office/drawing/2014/main" id="{A3141EA0-035F-4910-ABBE-37E3F60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逐类错误分布明显不同</a:t>
            </a:r>
          </a:p>
        </p:txBody>
      </p:sp>
    </p:spTree>
    <p:extLst>
      <p:ext uri="{BB962C8B-B14F-4D97-AF65-F5344CB8AC3E}">
        <p14:creationId xmlns:p14="http://schemas.microsoft.com/office/powerpoint/2010/main" val="15058207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7C52C942-CD83-469A-B46B-F5501D59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E3EE8ACB-4CAC-4D9B-A8CF-A3B69D1C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验证搜索与最终报告">
            <a:extLst xmlns:a="http://schemas.openxmlformats.org/drawingml/2006/main">
              <a:ext uri="{FF2B5EF4-FFF2-40B4-BE49-F238E27FC236}">
                <a16:creationId xmlns:a16="http://schemas.microsoft.com/office/drawing/2014/main" id="{B0811A94-E825-4522-B593-9EF31968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验证搜索与最终报告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2B7C8A-8DB5-4769-B483-E6C34128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每个候选仅fit训练集">
            <a:extLst xmlns:a="http://schemas.openxmlformats.org/drawingml/2006/main">
              <a:ext uri="{FF2B5EF4-FFF2-40B4-BE49-F238E27FC236}">
                <a16:creationId xmlns:a16="http://schemas.microsoft.com/office/drawing/2014/main" id="{5E3AFF6E-E6E0-4FDB-AAEF-85F11BC2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每个候选仅fit训练集</a:t>
            </a:r>
          </a:p>
        </p:txBody>
      </p:sp>
      <p:sp>
        <p:nvSpPr>
          <p:cNvPr id="6" name="按validation OA选C；并列保留较早候选">
            <a:extLst xmlns:a="http://schemas.openxmlformats.org/drawingml/2006/main">
              <a:ext uri="{FF2B5EF4-FFF2-40B4-BE49-F238E27FC236}">
                <a16:creationId xmlns:a16="http://schemas.microsoft.com/office/drawing/2014/main" id="{1B161D17-CB1C-4288-9129-E6563312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按validation OA选C；并列保留较早候选</a:t>
            </a:r>
          </a:p>
        </p:txBody>
      </p:sp>
      <p:sp>
        <p:nvSpPr>
          <p:cNvPr id="7" name="选择冻结后输出测试报告">
            <a:extLst xmlns:a="http://schemas.openxmlformats.org/drawingml/2006/main">
              <a:ext uri="{FF2B5EF4-FFF2-40B4-BE49-F238E27FC236}">
                <a16:creationId xmlns:a16="http://schemas.microsoft.com/office/drawing/2014/main" id="{94F72370-BD40-45B0-95A1-721E0411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选择冻结后输出测试报告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B9E4FBD5-7D36-4B0C-9EB8-B1173FAA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5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Pipeline.fit(train)">
            <a:extLst xmlns:a="http://schemas.openxmlformats.org/drawingml/2006/main">
              <a:ext uri="{FF2B5EF4-FFF2-40B4-BE49-F238E27FC236}">
                <a16:creationId xmlns:a16="http://schemas.microsoft.com/office/drawing/2014/main" id="{CD191DF3-8858-484E-94AC-3C9E1E8B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05050"/>
            <a:ext cx="4476750" cy="114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Pipeline.fit(train)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7F6790-49CC-47C8-8C9E-241D4779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90825"/>
            <a:ext cx="9525" cy="74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A71D0100-A66D-4363-BCE9-CEF4A8F9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06800"/>
            <a:ext cx="5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比较val候选">
            <a:extLst xmlns:a="http://schemas.openxmlformats.org/drawingml/2006/main">
              <a:ext uri="{FF2B5EF4-FFF2-40B4-BE49-F238E27FC236}">
                <a16:creationId xmlns:a16="http://schemas.microsoft.com/office/drawing/2014/main" id="{088D5AEE-2259-446B-B812-900BAD59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06800"/>
            <a:ext cx="4476750" cy="114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比较val候选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E66BA3-16DE-4BCF-868F-EEA58368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2575"/>
            <a:ext cx="9525" cy="74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B8B9CA26-3DC2-44ED-86CE-CD2FA93E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08550"/>
            <a:ext cx="5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冻结后predict(test)">
            <a:extLst xmlns:a="http://schemas.openxmlformats.org/drawingml/2006/main">
              <a:ext uri="{FF2B5EF4-FFF2-40B4-BE49-F238E27FC236}">
                <a16:creationId xmlns:a16="http://schemas.microsoft.com/office/drawing/2014/main" id="{973B965E-998D-4D7F-92EE-7EF6A354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08550"/>
            <a:ext cx="4476750" cy="114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冻结后predict(test)</a:t>
            </a:r>
          </a:p>
        </p:txBody>
      </p:sp>
    </p:spTree>
    <p:extLst>
      <p:ext uri="{BB962C8B-B14F-4D97-AF65-F5344CB8AC3E}">
        <p14:creationId xmlns:p14="http://schemas.microsoft.com/office/powerpoint/2010/main" val="5802337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0AC96D26-C741-424E-BC43-8562C17C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7B4D842D-F0A5-4C52-8775-FE2C2490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2B02DCE9-82EC-4CAD-BD09-6DFB816B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AEB2F-B3B2-4B8B-9C1F-D16F027C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35523-6812-4250-9C6C-9F050ABE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raw = joblib.load(ASSETS/'raw.">
            <a:extLst xmlns:a="http://schemas.openxmlformats.org/drawingml/2006/main">
              <a:ext uri="{FF2B5EF4-FFF2-40B4-BE49-F238E27FC236}">
                <a16:creationId xmlns:a16="http://schemas.microsoft.com/office/drawing/2014/main" id="{5FD031B0-5FFA-40C7-919A-563EAAE3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raw = joblib.load(ASSETS/'raw.joblib')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(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    raw.named_steps['standardscaler'].n_samples_seen_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    == len(split['train_ids'])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raw_pred = raw.predict(X[split['test_ids']])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53D34F12-4810-49AB-97E1-27842515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20489443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E0B8EC05-17E6-449E-9A18-6DC74DA6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32E726C1-CA47-46F8-9E21-3E37B63E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A09D2B5D-E2EA-4D9E-ADC3-F36A820E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8149A-247A-444C-9646-C401B8D5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C787DA4C-4111-47E3-B760-BBC34D8D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在原始核算例中把特征乘10，再将gamma除100；另解释S">
            <a:extLst xmlns:a="http://schemas.openxmlformats.org/drawingml/2006/main">
              <a:ext uri="{FF2B5EF4-FFF2-40B4-BE49-F238E27FC236}">
                <a16:creationId xmlns:a16="http://schemas.microsoft.com/office/drawing/2014/main" id="{5A3A4E62-6D3A-47EE-A5EC-B21FF6B9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在原始核算例中把特征乘10，再将gamma除100；另解释StandardScaler重新fit会怎样。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C66D75-A61D-44B1-9F16-6F1CE63E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0F52AF21-01CF-4637-9C30-60DAC33F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标准化后还应使用原始DN的gamma量级吗？">
            <a:extLst xmlns:a="http://schemas.openxmlformats.org/drawingml/2006/main">
              <a:ext uri="{FF2B5EF4-FFF2-40B4-BE49-F238E27FC236}">
                <a16:creationId xmlns:a16="http://schemas.microsoft.com/office/drawing/2014/main" id="{AB5880B5-0E6C-4A6E-8372-43B0CE29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标准化后还应使用原始DN的gamma量级吗？</a:t>
            </a:r>
          </a:p>
        </p:txBody>
      </p:sp>
    </p:spTree>
    <p:extLst>
      <p:ext uri="{BB962C8B-B14F-4D97-AF65-F5344CB8AC3E}">
        <p14:creationId xmlns:p14="http://schemas.microsoft.com/office/powerpoint/2010/main" val="6049681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3  /  HSI LEARNING">
            <a:extLst xmlns:a="http://schemas.openxmlformats.org/drawingml/2006/main">
              <a:ext uri="{FF2B5EF4-FFF2-40B4-BE49-F238E27FC236}">
                <a16:creationId xmlns:a16="http://schemas.microsoft.com/office/drawing/2014/main" id="{D35E28B3-3CF8-49D8-A1DB-7560F55D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L03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1D66FF98-8519-4F00-8575-BD9AC249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D2100589-AA96-4D17-8BFF-5205A681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95ADD-9459-47D9-802F-BD9F33C2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1DE5B554-CAD4-44A5-8E47-1BC2DC6D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默认超参排名不是方法上限">
            <a:extLst xmlns:a="http://schemas.openxmlformats.org/drawingml/2006/main">
              <a:ext uri="{FF2B5EF4-FFF2-40B4-BE49-F238E27FC236}">
                <a16:creationId xmlns:a16="http://schemas.microsoft.com/office/drawing/2014/main" id="{605BE73C-6673-48F8-B5E9-8A64C639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默认超参排名不是方法上限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E543E0-00D2-420A-BD31-9F927423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D1AD9669-A28D-4BF4-95BC-C3632E11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一次最优成绩不能替代多次复现">
            <a:extLst xmlns:a="http://schemas.openxmlformats.org/drawingml/2006/main">
              <a:ext uri="{FF2B5EF4-FFF2-40B4-BE49-F238E27FC236}">
                <a16:creationId xmlns:a16="http://schemas.microsoft.com/office/drawing/2014/main" id="{86921A6D-0158-48CA-A8BF-0E1EDB10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一次最优成绩不能替代多次复现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06B8E87B-4387-4998-BF72-55AC54A7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1998654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2026-10-09T03:43:44.5210000Z</dcterms:created>
  <dcterms:modified xsi:type="dcterms:W3CDTF">2026-10-09T03:43:44.5210000Z</dcterms:modified>
</coreProperties>
</file>