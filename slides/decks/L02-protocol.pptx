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ef57effa4b4b90" /><Relationship Type="http://schemas.openxmlformats.org/officeDocument/2006/relationships/extended-properties" Target="/docProps/app.xml" Id="R1ba8dc982ccf4db6" /><Relationship Type="http://schemas.openxmlformats.org/officeDocument/2006/relationships/officeDocument" Target="/ppt/presentation.xml" Id="Rb020cf722ab14a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e3cc9768e84600"/>
  </p:sldMasterIdLst>
  <p:notesMasterIdLst>
    <p:notesMasterId xmlns:r="http://schemas.openxmlformats.org/officeDocument/2006/relationships" r:id="Rd5af5ad20b1e437d"/>
  </p:notesMasterIdLst>
  <p:sldIdLst>
    <p:sldId xmlns:r="http://schemas.openxmlformats.org/officeDocument/2006/relationships" id="256" r:id="R7fe37c0708e84f5b"/>
    <p:sldId xmlns:r="http://schemas.openxmlformats.org/officeDocument/2006/relationships" id="257" r:id="R6c6734ef86044576"/>
    <p:sldId xmlns:r="http://schemas.openxmlformats.org/officeDocument/2006/relationships" id="258" r:id="Re0037f845bab4614"/>
    <p:sldId xmlns:r="http://schemas.openxmlformats.org/officeDocument/2006/relationships" id="259" r:id="Rba7beb179b424282"/>
    <p:sldId xmlns:r="http://schemas.openxmlformats.org/officeDocument/2006/relationships" id="260" r:id="Rbba30b9fbd2e4432"/>
    <p:sldId xmlns:r="http://schemas.openxmlformats.org/officeDocument/2006/relationships" id="261" r:id="R951919bca2d247ea"/>
    <p:sldId xmlns:r="http://schemas.openxmlformats.org/officeDocument/2006/relationships" id="262" r:id="R5e90b2dec8fc4f98"/>
    <p:sldId xmlns:r="http://schemas.openxmlformats.org/officeDocument/2006/relationships" id="263" r:id="R65df609b026a4749"/>
    <p:sldId xmlns:r="http://schemas.openxmlformats.org/officeDocument/2006/relationships" id="264" r:id="R64c62aa0e788468a"/>
    <p:sldId xmlns:r="http://schemas.openxmlformats.org/officeDocument/2006/relationships" id="265" r:id="R1b1f9b59265e4d00"/>
    <p:sldId xmlns:r="http://schemas.openxmlformats.org/officeDocument/2006/relationships" id="266" r:id="R1b104b5eb2bc45c8"/>
    <p:sldId xmlns:r="http://schemas.openxmlformats.org/officeDocument/2006/relationships" id="267" r:id="R4a83316f97b140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1c7c6a5a894a18" /><Relationship Type="http://schemas.openxmlformats.org/officeDocument/2006/relationships/slideMaster" Target="/ppt/slideMasters/slideMaster1.xml" Id="Reae3cc9768e84600" /><Relationship Type="http://schemas.openxmlformats.org/officeDocument/2006/relationships/notesMaster" Target="/ppt/notesMasters/notesMaster1.xml" Id="Rd5af5ad20b1e437d" /><Relationship Type="http://schemas.openxmlformats.org/officeDocument/2006/relationships/presProps" Target="/ppt/presProps.xml" Id="R53a42aef085a424d" /><Relationship Type="http://schemas.openxmlformats.org/officeDocument/2006/relationships/tableStyles" Target="/ppt/tableStyles.xml" Id="R5783f13958424acd" /><Relationship Type="http://schemas.openxmlformats.org/officeDocument/2006/relationships/slide" Target="/ppt/slides/slide1.xml" Id="R7fe37c0708e84f5b" /><Relationship Type="http://schemas.openxmlformats.org/officeDocument/2006/relationships/slide" Target="/ppt/slides/slide2.xml" Id="R6c6734ef86044576" /><Relationship Type="http://schemas.openxmlformats.org/officeDocument/2006/relationships/slide" Target="/ppt/slides/slide3.xml" Id="Re0037f845bab4614" /><Relationship Type="http://schemas.openxmlformats.org/officeDocument/2006/relationships/slide" Target="/ppt/slides/slide4.xml" Id="Rba7beb179b424282" /><Relationship Type="http://schemas.openxmlformats.org/officeDocument/2006/relationships/slide" Target="/ppt/slides/slide5.xml" Id="Rbba30b9fbd2e4432" /><Relationship Type="http://schemas.openxmlformats.org/officeDocument/2006/relationships/slide" Target="/ppt/slides/slide6.xml" Id="R951919bca2d247ea" /><Relationship Type="http://schemas.openxmlformats.org/officeDocument/2006/relationships/slide" Target="/ppt/slides/slide7.xml" Id="R5e90b2dec8fc4f98" /><Relationship Type="http://schemas.openxmlformats.org/officeDocument/2006/relationships/slide" Target="/ppt/slides/slide8.xml" Id="R65df609b026a4749" /><Relationship Type="http://schemas.openxmlformats.org/officeDocument/2006/relationships/slide" Target="/ppt/slides/slide9.xml" Id="R64c62aa0e788468a" /><Relationship Type="http://schemas.openxmlformats.org/officeDocument/2006/relationships/slide" Target="/ppt/slides/slide10.xml" Id="R1b1f9b59265e4d00" /><Relationship Type="http://schemas.openxmlformats.org/officeDocument/2006/relationships/slide" Target="/ppt/slides/slide11.xml" Id="R1b104b5eb2bc45c8" /><Relationship Type="http://schemas.openxmlformats.org/officeDocument/2006/relationships/slide" Target="/ppt/slides/slide12.xml" Id="R4a83316f97b140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f67bc0ecb94e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d6989dff2e4194" /><Relationship Type="http://schemas.openxmlformats.org/officeDocument/2006/relationships/notesMaster" Target="/ppt/notesMasters/notesMaster1.xml" Id="R1a2471ae380d4b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30fe0bc6744a92" /><Relationship Type="http://schemas.openxmlformats.org/officeDocument/2006/relationships/notesMaster" Target="/ppt/notesMasters/notesMaster1.xml" Id="Rc0f53427f3c549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83706d0d584831" /><Relationship Type="http://schemas.openxmlformats.org/officeDocument/2006/relationships/notesMaster" Target="/ppt/notesMasters/notesMaster1.xml" Id="Rd05cb13de8334e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3ad48dfd1b4a22" /><Relationship Type="http://schemas.openxmlformats.org/officeDocument/2006/relationships/notesMaster" Target="/ppt/notesMasters/notesMaster1.xml" Id="R3a39f5f9d97f4b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b276eb90d04bb8" /><Relationship Type="http://schemas.openxmlformats.org/officeDocument/2006/relationships/notesMaster" Target="/ppt/notesMasters/notesMaster1.xml" Id="R65b8f4c236344e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d1ffba9af74f34" /><Relationship Type="http://schemas.openxmlformats.org/officeDocument/2006/relationships/notesMaster" Target="/ppt/notesMasters/notesMaster1.xml" Id="R9ab9808f967441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7ad7d30dd841a6" /><Relationship Type="http://schemas.openxmlformats.org/officeDocument/2006/relationships/notesMaster" Target="/ppt/notesMasters/notesMaster1.xml" Id="R80265de072084c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4eb0d09f84480b" /><Relationship Type="http://schemas.openxmlformats.org/officeDocument/2006/relationships/notesMaster" Target="/ppt/notesMasters/notesMaster1.xml" Id="R3d8832611a2f4b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07b02a3fde4293" /><Relationship Type="http://schemas.openxmlformats.org/officeDocument/2006/relationships/notesMaster" Target="/ppt/notesMasters/notesMaster1.xml" Id="Rdb6cd68f22734b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4e9aab3f884638" /><Relationship Type="http://schemas.openxmlformats.org/officeDocument/2006/relationships/notesMaster" Target="/ppt/notesMasters/notesMaster1.xml" Id="R3036a58ec5af46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60ac8d1ad344bb" /><Relationship Type="http://schemas.openxmlformats.org/officeDocument/2006/relationships/notesMaster" Target="/ppt/notesMasters/notesMaster1.xml" Id="Rb2fe54c8b9784d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7056a2691c4c8c" /><Relationship Type="http://schemas.openxmlformats.org/officeDocument/2006/relationships/notesMaster" Target="/ppt/notesMasters/notesMaster1.xml" Id="Rda23645323054b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开场问题：OA高、AA低时，应检查混淆矩阵哪里？</a:t>
            </a:r>
          </a:p>
          <a:p xmlns:a="http://schemas.openxmlformats.org/drawingml/2006/main">
            <a:r>
              <a:t>原标题：99% 准确率，为什么可能没有意义？</a:t>
            </a:r>
          </a:p>
          <a:p xmlns:a="http://schemas.openxmlformats.org/drawingml/2006/main">
            <a:r>
              <a:t>参考节奏：5分钟回顾，10分钟手算，10分钟代码，12分钟练习，5分钟错误分析，3分钟退出题。</a:t>
            </a:r>
          </a:p>
          <a:p xmlns:a="http://schemas.openxmlformats.org/drawingml/2006/main">
            <a:r>
              <a:t>课堂入口: 02_svm_baseline.ipynb</a:t>
            </a:r>
          </a:p>
          <a:p xmlns:a="http://schemas.openxmlformats.org/drawingml/2006/main">
            <a:r>
              <a:t>定位: protocol, metrics-toy, raw-confusion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AI辅助：给出这份实验协议的三个反例：哪些信息可能提前来自测试集？每条指出具体变量与检查断言，不要仅回答“存在数据泄漏”。</a:t>
            </a:r>
          </a:p>
          <a:p xmlns:a="http://schemas.openxmlformats.org/drawingml/2006/main">
            <a:r>
              <a:t>人工核验：逐项追踪fit/transform与model selection，手算toy指标并用库核对。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Pineau et al. Reproducibility, JMLR 2021</a:t>
            </a:r>
          </a:p>
          <a:p xmlns:a="http://schemas.openxmlformats.org/drawingml/2006/main">
            <a:r>
              <a:t>https://jmlr.org/papers/v22/20-303.html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  <a:p xmlns:a="http://schemas.openxmlformats.org/drawingml/2006/main">
            <a:r>
              <a:t>封面图源：02_svm_baseline.ipynb / raw-confusion /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交付物以代码、配置、输出和解释为准。先做完整示例，再做填空与迁移任务。</a:t>
            </a:r>
          </a:p>
          <a:p xmlns:a="http://schemas.openxmlformats.org/drawingml/2006/main">
            <a:r>
              <a:t>课堂入口: 02_svm_baseline.ipynb</a:t>
            </a:r>
          </a:p>
          <a:p xmlns:a="http://schemas.openxmlformats.org/drawingml/2006/main">
            <a:r>
              <a:t>定位: protocol, metrics-toy, raw-confusion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AI辅助：给出这份实验协议的三个反例：哪些信息可能提前来自测试集？每条指出具体变量与检查断言，不要仅回答“存在数据泄漏”。</a:t>
            </a:r>
          </a:p>
          <a:p xmlns:a="http://schemas.openxmlformats.org/drawingml/2006/main">
            <a:r>
              <a:t>人工核验：逐项追踪fit/transform与model selection，手算toy指标并用库核对。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Pineau et al. Reproducibility, JMLR 2021</a:t>
            </a:r>
          </a:p>
          <a:p xmlns:a="http://schemas.openxmlformats.org/drawingml/2006/main">
            <a:r>
              <a:t>https://jmlr.org/papers/v22/20-303.html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展示一个分数但不展示协议，让学生提出必须追问的信息。</a:t>
            </a:r>
          </a:p>
          <a:p xmlns:a="http://schemas.openxmlformats.org/drawingml/2006/main">
            <a:r>
              <a:t>样本集合 / 指标分母 / 可声称结论</a:t>
            </a:r>
          </a:p>
          <a:p xmlns:a="http://schemas.openxmlformats.org/drawingml/2006/main">
            <a:r>
              <a:t>课堂入口: 02_svm_baseline.ipynb</a:t>
            </a:r>
          </a:p>
          <a:p xmlns:a="http://schemas.openxmlformats.org/drawingml/2006/main">
            <a:r>
              <a:t>定位: protocol, metrics-toy, raw-confusion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AI辅助：给出这份实验协议的三个反例：哪些信息可能提前来自测试集？每条指出具体变量与检查断言，不要仅回答“存在数据泄漏”。</a:t>
            </a:r>
          </a:p>
          <a:p xmlns:a="http://schemas.openxmlformats.org/drawingml/2006/main">
            <a:r>
              <a:t>人工核验：逐项追踪fit/transform与model selection，手算toy指标并用库核对。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Pineau et al. Reproducibility, JMLR 2021</a:t>
            </a:r>
          </a:p>
          <a:p xmlns:a="http://schemas.openxmlformats.org/drawingml/2006/main">
            <a:r>
              <a:t>https://jmlr.org/papers/v22/20-303.html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PCA/scaler不要先fit整图。开放集的模型选择与校准目前共享val，明确披露。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02_svm_baseline.ipynb</a:t>
            </a:r>
          </a:p>
          <a:p xmlns:a="http://schemas.openxmlformats.org/drawingml/2006/main">
            <a:r>
              <a:t>定位: protocol, metrics-toy, raw-confusion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AI辅助：给出这份实验协议的三个反例：哪些信息可能提前来自测试集？每条指出具体变量与检查断言，不要仅回答“存在数据泄漏”。</a:t>
            </a:r>
          </a:p>
          <a:p xmlns:a="http://schemas.openxmlformats.org/drawingml/2006/main">
            <a:r>
              <a:t>人工核验：逐项追踪fit/transform与model selection，手算toy指标并用库核对。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Pineau et al. Reproducibility, JMLR 2021</a:t>
            </a:r>
          </a:p>
          <a:p xmlns:a="http://schemas.openxmlformats.org/drawingml/2006/main">
            <a:r>
              <a:t>https://jmlr.org/papers/v22/20-303.html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明确这是人工构造算例，不是Indian Pines实测。手算OA和AA。</a:t>
            </a:r>
          </a:p>
          <a:p xmlns:a="http://schemas.openxmlformats.org/drawingml/2006/main">
            <a:r>
              <a:t>A:900 → A / B:90 → A / C:10 → A</a:t>
            </a:r>
          </a:p>
          <a:p xmlns:a="http://schemas.openxmlformats.org/drawingml/2006/main">
            <a:r>
              <a:t>课堂入口: 02_svm_baseline.ipynb</a:t>
            </a:r>
          </a:p>
          <a:p xmlns:a="http://schemas.openxmlformats.org/drawingml/2006/main">
            <a:r>
              <a:t>定位: protocol, metrics-toy, raw-confusion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AI辅助：给出这份实验协议的三个反例：哪些信息可能提前来自测试集？每条指出具体变量与检查断言，不要仅回答“存在数据泄漏”。</a:t>
            </a:r>
          </a:p>
          <a:p xmlns:a="http://schemas.openxmlformats.org/drawingml/2006/main">
            <a:r>
              <a:t>人工核验：逐项追踪fit/transform与model selection，手算toy指标并用库核对。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Pineau et al. Reproducibility, JMLR 2021</a:t>
            </a:r>
          </a:p>
          <a:p xmlns:a="http://schemas.openxmlformats.org/drawingml/2006/main">
            <a:r>
              <a:t>https://jmlr.org/papers/v22/20-303.html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这是本项目自己纠过的错：正确做法是手算+库函数双验证，不许只信一次推导。</a:t>
            </a:r>
          </a:p>
          <a:p xmlns:a="http://schemas.openxmlformats.org/drawingml/2006/main">
            <a:r>
              <a:t>Observed .90 / Expected .90 / Kappa 0</a:t>
            </a:r>
          </a:p>
          <a:p xmlns:a="http://schemas.openxmlformats.org/drawingml/2006/main">
            <a:r>
              <a:t>课堂入口: 02_svm_baseline.ipynb</a:t>
            </a:r>
          </a:p>
          <a:p xmlns:a="http://schemas.openxmlformats.org/drawingml/2006/main">
            <a:r>
              <a:t>定位: protocol, metrics-toy, raw-confusion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AI辅助：给出这份实验协议的三个反例：哪些信息可能提前来自测试集？每条指出具体变量与检查断言，不要仅回答“存在数据泄漏”。</a:t>
            </a:r>
          </a:p>
          <a:p xmlns:a="http://schemas.openxmlformats.org/drawingml/2006/main">
            <a:r>
              <a:t>人工核验：逐项追踪fit/transform与model selection，手算toy指标并用库核对。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Pineau et al. Reproducibility, JMLR 2021</a:t>
            </a:r>
          </a:p>
          <a:p xmlns:a="http://schemas.openxmlformats.org/drawingml/2006/main">
            <a:r>
              <a:t>https://jmlr.org/papers/v22/20-303.html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讲课图按GT类别ID标轴，名字/support表在同一Notebook cell输出；第一张完整名称图供课后阅读。颜色是行归一化recall，不能说对角线是原始数量。</a:t>
            </a:r>
          </a:p>
          <a:p xmlns:a="http://schemas.openxmlformats.org/drawingml/2006/main">
            <a:r>
              <a:t>Rows = truth / Diagonal / Per-class recall</a:t>
            </a:r>
          </a:p>
          <a:p xmlns:a="http://schemas.openxmlformats.org/drawingml/2006/main">
            <a:r>
              <a:t>图源：02_svm_baseline.ipynb / raw-confusion / 1</a:t>
            </a:r>
          </a:p>
          <a:p xmlns:a="http://schemas.openxmlformats.org/drawingml/2006/main">
            <a:r>
              <a:t>课堂入口: 02_svm_baseline.ipynb</a:t>
            </a:r>
          </a:p>
          <a:p xmlns:a="http://schemas.openxmlformats.org/drawingml/2006/main">
            <a:r>
              <a:t>定位: protocol, metrics-toy, raw-confusion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AI辅助：给出这份实验协议的三个反例：哪些信息可能提前来自测试集？每条指出具体变量与检查断言，不要仅回答“存在数据泄漏”。</a:t>
            </a:r>
          </a:p>
          <a:p xmlns:a="http://schemas.openxmlformats.org/drawingml/2006/main">
            <a:r>
              <a:t>人工核验：逐项追踪fit/transform与model selection，手算toy指标并用库核对。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Pineau et al. Reproducibility, JMLR 2021</a:t>
            </a:r>
          </a:p>
          <a:p xmlns:a="http://schemas.openxmlformats.org/drawingml/2006/main">
            <a:r>
              <a:t>https://jmlr.org/papers/v22/20-303.html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共享split仍不等于共享输入：SVM为光谱，CNN还看空间邻域。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02_svm_baseline.ipynb</a:t>
            </a:r>
          </a:p>
          <a:p xmlns:a="http://schemas.openxmlformats.org/drawingml/2006/main">
            <a:r>
              <a:t>定位: protocol, metrics-toy, raw-confusion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AI辅助：给出这份实验协议的三个反例：哪些信息可能提前来自测试集？每条指出具体变量与检查断言，不要仅回答“存在数据泄漏”。</a:t>
            </a:r>
          </a:p>
          <a:p xmlns:a="http://schemas.openxmlformats.org/drawingml/2006/main">
            <a:r>
              <a:t>人工核验：逐项追踪fit/transform与model selection，手算toy指标并用库核对。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Pineau et al. Reproducibility, JMLR 2021</a:t>
            </a:r>
          </a:p>
          <a:p xmlns:a="http://schemas.openxmlformats.org/drawingml/2006/main">
            <a:r>
              <a:t>https://jmlr.org/papers/v22/20-303.html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没有测试样本的类标为NA并报告覆盖，不把0/0静默算成0。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02_svm_baseline.ipynb</a:t>
            </a:r>
          </a:p>
          <a:p xmlns:a="http://schemas.openxmlformats.org/drawingml/2006/main">
            <a:r>
              <a:t>定位: protocol, metrics-toy, raw-confusion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AI辅助：给出这份实验协议的三个反例：哪些信息可能提前来自测试集？每条指出具体变量与检查断言，不要仅回答“存在数据泄漏”。</a:t>
            </a:r>
          </a:p>
          <a:p xmlns:a="http://schemas.openxmlformats.org/drawingml/2006/main">
            <a:r>
              <a:t>人工核验：逐项追踪fit/transform与model selection，手算toy指标并用库核对。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Pineau et al. Reproducibility, JMLR 2021</a:t>
            </a:r>
          </a:p>
          <a:p xmlns:a="http://schemas.openxmlformats.org/drawingml/2006/main">
            <a:r>
              <a:t>https://jmlr.org/papers/v22/20-303.html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只运行指定短cell；完整训练已在课前完成。缺资产时使用已执行输出备用并说明。</a:t>
            </a:r>
          </a:p>
          <a:p xmlns:a="http://schemas.openxmlformats.org/drawingml/2006/main">
            <a:r>
              <a:t>课堂入口: 02_svm_baseline.ipynb</a:t>
            </a:r>
          </a:p>
          <a:p xmlns:a="http://schemas.openxmlformats.org/drawingml/2006/main">
            <a:r>
              <a:t>定位: protocol, metrics-toy, raw-confusion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AI辅助：给出这份实验协议的三个反例：哪些信息可能提前来自测试集？每条指出具体变量与检查断言，不要仅回答“存在数据泄漏”。</a:t>
            </a:r>
          </a:p>
          <a:p xmlns:a="http://schemas.openxmlformats.org/drawingml/2006/main">
            <a:r>
              <a:t>人工核验：逐项追踪fit/transform与model selection，手算toy指标并用库核对。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Pineau et al. Reproducibility, JMLR 2021</a:t>
            </a:r>
          </a:p>
          <a:p xmlns:a="http://schemas.openxmlformats.org/drawingml/2006/main">
            <a:r>
              <a:t>https://jmlr.org/papers/v22/20-303.html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停下来收集预测，发现错误后重新解释；不等到课后作业才知道学生没理解。</a:t>
            </a:r>
          </a:p>
          <a:p xmlns:a="http://schemas.openxmlformats.org/drawingml/2006/main">
            <a:r>
              <a:t>作业：A02；完整示例 / 填空 / 迁移；提交代码、配置、结果和限制。</a:t>
            </a:r>
          </a:p>
          <a:p xmlns:a="http://schemas.openxmlformats.org/drawingml/2006/main">
            <a:r>
              <a:t>课堂入口: 02_svm_baseline.ipynb</a:t>
            </a:r>
          </a:p>
          <a:p xmlns:a="http://schemas.openxmlformats.org/drawingml/2006/main">
            <a:r>
              <a:t>定位: protocol, metrics-toy, raw-confusion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AI辅助：给出这份实验协议的三个反例：哪些信息可能提前来自测试集？每条指出具体变量与检查断言，不要仅回答“存在数据泄漏”。</a:t>
            </a:r>
          </a:p>
          <a:p xmlns:a="http://schemas.openxmlformats.org/drawingml/2006/main">
            <a:r>
              <a:t>人工核验：逐项追踪fit/transform与model selection，手算toy指标并用库核对。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Pineau et al. Reproducibility, JMLR 2021</a:t>
            </a:r>
          </a:p>
          <a:p xmlns:a="http://schemas.openxmlformats.org/drawingml/2006/main">
            <a:r>
              <a:t>https://jmlr.org/papers/v22/20-303.html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区分已观察事实、候选解释与下一项检验。</a:t>
            </a:r>
          </a:p>
          <a:p xmlns:a="http://schemas.openxmlformats.org/drawingml/2006/main">
            <a:r>
              <a:t>退出题：OA高、AA低时，应检查混淆矩阵哪里？</a:t>
            </a:r>
          </a:p>
          <a:p xmlns:a="http://schemas.openxmlformats.org/drawingml/2006/main">
            <a:r>
              <a:t>课堂入口: 02_svm_baseline.ipynb</a:t>
            </a:r>
          </a:p>
          <a:p xmlns:a="http://schemas.openxmlformats.org/drawingml/2006/main">
            <a:r>
              <a:t>定位: protocol, metrics-toy, raw-confusion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AI辅助：给出这份实验协议的三个反例：哪些信息可能提前来自测试集？每条指出具体变量与检查断言，不要仅回答“存在数据泄漏”。</a:t>
            </a:r>
          </a:p>
          <a:p xmlns:a="http://schemas.openxmlformats.org/drawingml/2006/main">
            <a:r>
              <a:t>人工核验：逐项追踪fit/transform与model selection，手算toy指标并用库核对。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Pineau et al. Reproducibility, JMLR 2021</a:t>
            </a:r>
          </a:p>
          <a:p xmlns:a="http://schemas.openxmlformats.org/drawingml/2006/main">
            <a:r>
              <a:t>https://jmlr.org/papers/v22/20-303.html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6f30a4f4740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be6e0f94947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2936c88764c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d4593809a64d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f1905a5d44a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19bf4240242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05F92E-2561-41DE-AFDD-C5A193782D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8399AC-6C5B-4AD2-A40D-8CA1EC126D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055607-AC3E-4BD5-895C-BD61E9D5C0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3A977C-F981-4226-8B13-76C36C37B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218935-953A-40B2-9251-E8BEE3F924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A29920-88C4-42BA-ABB7-0EF0F9F66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097DDB-D434-4049-B1B3-9634623F5C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DCB5A6-BD77-45AF-B467-5210741272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3030E0-9BF8-43AE-B19E-9731E393E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811ACB-0B40-43A5-B324-1ED6BFFF12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1812ecc0d04812" /><Relationship Type="http://schemas.openxmlformats.org/officeDocument/2006/relationships/slideLayout" Target="/ppt/slideLayouts/slideLayout1.xml" Id="Redfb6bba20794c74" /><Relationship Type="http://schemas.openxmlformats.org/officeDocument/2006/relationships/slideLayout" Target="/ppt/slideLayouts/slideLayout2.xml" Id="R72f2cd27374549d0" /><Relationship Type="http://schemas.openxmlformats.org/officeDocument/2006/relationships/slideLayout" Target="/ppt/slideLayouts/slideLayout3.xml" Id="Rcde3d8b12a9c47f5" /><Relationship Type="http://schemas.openxmlformats.org/officeDocument/2006/relationships/slideLayout" Target="/ppt/slideLayouts/slideLayout4.xml" Id="Rc53f081f8cb745ce" /><Relationship Type="http://schemas.openxmlformats.org/officeDocument/2006/relationships/slideLayout" Target="/ppt/slideLayouts/slideLayout5.xml" Id="R52b3db0d76df4bd7" /><Relationship Type="http://schemas.openxmlformats.org/officeDocument/2006/relationships/slideLayout" Target="/ppt/slideLayouts/slideLayout6.xml" Id="R01e08822234944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fb6bba20794c74"/>
    <p:sldLayoutId xmlns:r="http://schemas.openxmlformats.org/officeDocument/2006/relationships" id="2147483650" r:id="R72f2cd27374549d0"/>
    <p:sldLayoutId xmlns:r="http://schemas.openxmlformats.org/officeDocument/2006/relationships" id="2147483651" r:id="Rcde3d8b12a9c47f5"/>
    <p:sldLayoutId xmlns:r="http://schemas.openxmlformats.org/officeDocument/2006/relationships" id="2147483652" r:id="Rc53f081f8cb745ce"/>
    <p:sldLayoutId xmlns:r="http://schemas.openxmlformats.org/officeDocument/2006/relationships" id="2147483653" r:id="R52b3db0d76df4bd7"/>
    <p:sldLayoutId xmlns:r="http://schemas.openxmlformats.org/officeDocument/2006/relationships" id="2147483654" r:id="R01e08822234944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a8a2426244927" /><Relationship Type="http://schemas.openxmlformats.org/officeDocument/2006/relationships/image" Target="/ppt/media/image.png" Id="R5f2112c26fde4b39" /><Relationship Type="http://schemas.openxmlformats.org/officeDocument/2006/relationships/notesSlide" Target="/ppt/notesSlides/notesSlide1.xml" Id="R586b867c06bb42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a9332fb654dea" /><Relationship Type="http://schemas.openxmlformats.org/officeDocument/2006/relationships/notesSlide" Target="/ppt/notesSlides/notesSlide2.xml" Id="R5acbc1dedbc74f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f396a4c404d13" /><Relationship Type="http://schemas.openxmlformats.org/officeDocument/2006/relationships/notesSlide" Target="/ppt/notesSlides/notesSlide3.xml" Id="R1e20198624ad4b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221637cc64e96" /><Relationship Type="http://schemas.openxmlformats.org/officeDocument/2006/relationships/notesSlide" Target="/ppt/notesSlides/notesSlide4.xml" Id="Rcdc1ac95b2cf4f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c543e68314846" /><Relationship Type="http://schemas.openxmlformats.org/officeDocument/2006/relationships/image" Target="/ppt/media/image2.png" Id="R9142db58c5144097" /><Relationship Type="http://schemas.openxmlformats.org/officeDocument/2006/relationships/notesSlide" Target="/ppt/notesSlides/notesSlide5.xml" Id="Rcd94bdb8869047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a17e87277b444b" /><Relationship Type="http://schemas.openxmlformats.org/officeDocument/2006/relationships/image" Target="/ppt/media/image3.png" Id="R9da79df889fc4f9a" /><Relationship Type="http://schemas.openxmlformats.org/officeDocument/2006/relationships/notesSlide" Target="/ppt/notesSlides/notesSlide6.xml" Id="Rc8ddab2ce4044e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5e7554db49496b" /><Relationship Type="http://schemas.openxmlformats.org/officeDocument/2006/relationships/image" Target="/ppt/media/image4.png" Id="Rf96c50a81bec4f69" /><Relationship Type="http://schemas.openxmlformats.org/officeDocument/2006/relationships/notesSlide" Target="/ppt/notesSlides/notesSlide7.xml" Id="R7bf960a8de424d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f4e496a7844411" /><Relationship Type="http://schemas.openxmlformats.org/officeDocument/2006/relationships/notesSlide" Target="/ppt/notesSlides/notesSlide8.xml" Id="R71bcc915e5714b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84e6db4fa441a1" /><Relationship Type="http://schemas.openxmlformats.org/officeDocument/2006/relationships/notesSlide" Target="/ppt/notesSlides/notesSlide9.xml" Id="Rb4281f03375448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63870ba36497a" /><Relationship Type="http://schemas.openxmlformats.org/officeDocument/2006/relationships/notesSlide" Target="/ppt/notesSlides/notesSlide10.xml" Id="R6fa78522f1c944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7a37e4fe34546" /><Relationship Type="http://schemas.openxmlformats.org/officeDocument/2006/relationships/notesSlide" Target="/ppt/notesSlides/notesSlide11.xml" Id="R109411416edf43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a41b7e1314f04" /><Relationship Type="http://schemas.openxmlformats.org/officeDocument/2006/relationships/notesSlide" Target="/ppt/notesSlides/notesSlide12.xml" Id="R709e85c0370544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02  /  HSI LEARNING">
            <a:extLst xmlns:a="http://schemas.openxmlformats.org/drawingml/2006/main">
              <a:ext uri="{FF2B5EF4-FFF2-40B4-BE49-F238E27FC236}">
                <a16:creationId xmlns:a16="http://schemas.microsoft.com/office/drawing/2014/main" id="{DE93C7B2-5806-41BB-A584-823038F4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L02  /  HSI LEARNING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5D1B40AE-F492-4ED3-9F28-E86805D7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EE93E-24F6-404C-88F2-954545F4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702CE-C681-4F11-855E-531FE556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划分与&#10;评价指标">
            <a:extLst xmlns:a="http://schemas.openxmlformats.org/drawingml/2006/main">
              <a:ext uri="{FF2B5EF4-FFF2-40B4-BE49-F238E27FC236}">
                <a16:creationId xmlns:a16="http://schemas.microsoft.com/office/drawing/2014/main" id="{08978743-E69C-42AC-9632-B5F3F523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524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划分与</a:t>
            </a:r>
          </a:p>
          <a:p xmlns:a="http://schemas.openxmlformats.org/drawingml/2006/main">
            <a: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81220-ECB8-4DBB-BB37-0589D855F9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112c26fde4b39"/>
          <a:stretch xmlns:a="http://schemas.openxmlformats.org/drawingml/2006/main"/>
        </p:blipFill>
        <p:spPr>
          <a:xfrm xmlns:a="http://schemas.openxmlformats.org/drawingml/2006/main">
            <a:off x="7756879" y="2076450"/>
            <a:ext cx="2583741" cy="2228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04C79-4F4D-4ADD-B911-471DF873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划分、指标与信息边界">
            <a:extLst xmlns:a="http://schemas.openxmlformats.org/drawingml/2006/main">
              <a:ext uri="{FF2B5EF4-FFF2-40B4-BE49-F238E27FC236}">
                <a16:creationId xmlns:a16="http://schemas.microsoft.com/office/drawing/2014/main" id="{82EDD46E-CF4E-4A0E-942D-D9322BA2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划分、指标与信息边界</a:t>
            </a:r>
          </a:p>
        </p:txBody>
      </p:sp>
      <p:sp>
        <p:nvSpPr>
          <p:cNvPr id="9" name="先修  /  L01：观测/标签已区分">
            <a:extLst xmlns:a="http://schemas.openxmlformats.org/drawingml/2006/main">
              <a:ext uri="{FF2B5EF4-FFF2-40B4-BE49-F238E27FC236}">
                <a16:creationId xmlns:a16="http://schemas.microsoft.com/office/drawing/2014/main" id="{3C2CA4C7-432F-4DD3-AB4D-A679D026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先修  /  L01：观测/标签已区分</a:t>
            </a:r>
          </a:p>
        </p:txBody>
      </p:sp>
    </p:spTree>
    <p:extLst>
      <p:ext uri="{BB962C8B-B14F-4D97-AF65-F5344CB8AC3E}">
        <p14:creationId xmlns:p14="http://schemas.microsoft.com/office/powerpoint/2010/main" val="1808487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02  /  HSI LEARNING">
            <a:extLst xmlns:a="http://schemas.openxmlformats.org/drawingml/2006/main">
              <a:ext uri="{FF2B5EF4-FFF2-40B4-BE49-F238E27FC236}">
                <a16:creationId xmlns:a16="http://schemas.microsoft.com/office/drawing/2014/main" id="{CA0084EF-2F81-4D6E-B0FB-DFC8282C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L02  /  HSI LEARNING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775761F1-5D4B-4F89-9BF1-6F78CBB2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这节课，你将完成什么">
            <a:extLst xmlns:a="http://schemas.openxmlformats.org/drawingml/2006/main">
              <a:ext uri="{FF2B5EF4-FFF2-40B4-BE49-F238E27FC236}">
                <a16:creationId xmlns:a16="http://schemas.microsoft.com/office/drawing/2014/main" id="{4B4A5FB2-A167-482E-B3F3-353885CB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这节课，你将完成什么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A4656-0432-4A10-96C3-EDF48129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44836079-B620-4D3C-87E2-8AF5904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协议检查表">
            <a:extLst xmlns:a="http://schemas.openxmlformats.org/drawingml/2006/main">
              <a:ext uri="{FF2B5EF4-FFF2-40B4-BE49-F238E27FC236}">
                <a16:creationId xmlns:a16="http://schemas.microsoft.com/office/drawing/2014/main" id="{AC0E2B8D-1B74-44AC-A2D8-669858C4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协议检查表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53D23-7BB7-469B-8AE0-ED52A999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194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0B161E83-1364-4E07-83AD-D8AA8CCA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手算混淆矩阵">
            <a:extLst xmlns:a="http://schemas.openxmlformats.org/drawingml/2006/main">
              <a:ext uri="{FF2B5EF4-FFF2-40B4-BE49-F238E27FC236}">
                <a16:creationId xmlns:a16="http://schemas.microsoft.com/office/drawing/2014/main" id="{4DAF5077-53ED-459E-B885-412A864D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09975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手算混淆矩阵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BD971-B581-492D-B594-17999D89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F757A532-4D13-42B8-A592-ABFE156A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带边界的结果描述">
            <a:extLst xmlns:a="http://schemas.openxmlformats.org/drawingml/2006/main">
              <a:ext uri="{FF2B5EF4-FFF2-40B4-BE49-F238E27FC236}">
                <a16:creationId xmlns:a16="http://schemas.microsoft.com/office/drawing/2014/main" id="{6AD27490-788D-499E-8A28-4BB543F5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006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带边界的结果描述</a:t>
            </a:r>
          </a:p>
        </p:txBody>
      </p:sp>
    </p:spTree>
    <p:extLst>
      <p:ext uri="{BB962C8B-B14F-4D97-AF65-F5344CB8AC3E}">
        <p14:creationId xmlns:p14="http://schemas.microsoft.com/office/powerpoint/2010/main" val="1252995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02  /  HSI LEARNING">
            <a:extLst xmlns:a="http://schemas.openxmlformats.org/drawingml/2006/main">
              <a:ext uri="{FF2B5EF4-FFF2-40B4-BE49-F238E27FC236}">
                <a16:creationId xmlns:a16="http://schemas.microsoft.com/office/drawing/2014/main" id="{3A65819B-544B-4895-9F93-ADEB0B36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L02  /  HSI LEARNING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955659BD-C935-421D-AAC3-CCE73D47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先问分母，再问高分">
            <a:extLst xmlns:a="http://schemas.openxmlformats.org/drawingml/2006/main">
              <a:ext uri="{FF2B5EF4-FFF2-40B4-BE49-F238E27FC236}">
                <a16:creationId xmlns:a16="http://schemas.microsoft.com/office/drawing/2014/main" id="{F6F8F66C-B57D-4700-A19F-6494AEBF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先问分母，再问高分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FE315-99AD-44B6-9776-1501D570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D7B76E86-F66E-4369-8149-1408C26C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先问分数算在哪些像元上">
            <a:extLst xmlns:a="http://schemas.openxmlformats.org/drawingml/2006/main">
              <a:ext uri="{FF2B5EF4-FFF2-40B4-BE49-F238E27FC236}">
                <a16:creationId xmlns:a16="http://schemas.microsoft.com/office/drawing/2014/main" id="{A0171B36-D9AC-4891-8AD4-22D5B20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先问分数算在哪些像元上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9A76F01-7FD5-42AA-894C-3217AAF1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是否混入背景 0？">
            <a:extLst xmlns:a="http://schemas.openxmlformats.org/drawingml/2006/main">
              <a:ext uri="{FF2B5EF4-FFF2-40B4-BE49-F238E27FC236}">
                <a16:creationId xmlns:a16="http://schemas.microsoft.com/office/drawing/2014/main" id="{01E3EDE4-808B-43D3-A2F4-18F97651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是否混入背景 0？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75AB73E4-FD37-4207-BA10-A1CFFBAD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模型何时看过这些信息？">
            <a:extLst xmlns:a="http://schemas.openxmlformats.org/drawingml/2006/main">
              <a:ext uri="{FF2B5EF4-FFF2-40B4-BE49-F238E27FC236}">
                <a16:creationId xmlns:a16="http://schemas.microsoft.com/office/drawing/2014/main" id="{EEE51CF3-6E7C-41A7-B773-002E7455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模型何时看过这些信息？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CDF94-CA7C-4831-98E1-B5AA6959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2" name="&gt;&gt;&gt; len(split['test_ids'])  # ">
            <a:extLst xmlns:a="http://schemas.openxmlformats.org/drawingml/2006/main">
              <a:ext uri="{FF2B5EF4-FFF2-40B4-BE49-F238E27FC236}">
                <a16:creationId xmlns:a16="http://schemas.microsoft.com/office/drawing/2014/main" id="{CA2AB05C-5C04-426E-B8FD-9C27E944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040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&gt;&gt;&gt; len(split['test_ids'])  # 协议E</a:t>
            </a:r>
          </a:p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8200</a:t>
            </a:r>
          </a:p>
        </p:txBody>
      </p:sp>
    </p:spTree>
    <p:extLst>
      <p:ext uri="{BB962C8B-B14F-4D97-AF65-F5344CB8AC3E}">
        <p14:creationId xmlns:p14="http://schemas.microsoft.com/office/powerpoint/2010/main" val="508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02  /  HSI LEARNING">
            <a:extLst xmlns:a="http://schemas.openxmlformats.org/drawingml/2006/main">
              <a:ext uri="{FF2B5EF4-FFF2-40B4-BE49-F238E27FC236}">
                <a16:creationId xmlns:a16="http://schemas.microsoft.com/office/drawing/2014/main" id="{B0660BAB-0A7D-45E6-920C-3787B6A5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L02  /  HSI LEARNING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B68E1033-2716-4DD0-B95C-82EE63D8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信息流的方向">
            <a:extLst xmlns:a="http://schemas.openxmlformats.org/drawingml/2006/main">
              <a:ext uri="{FF2B5EF4-FFF2-40B4-BE49-F238E27FC236}">
                <a16:creationId xmlns:a16="http://schemas.microsoft.com/office/drawing/2014/main" id="{7EF7770E-6597-4C2B-BA9D-12499B8E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信息流的方向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7C01D-F4BF-4FEF-A14A-F20850BD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训练拟合预处理与参数">
            <a:extLst xmlns:a="http://schemas.openxmlformats.org/drawingml/2006/main">
              <a:ext uri="{FF2B5EF4-FFF2-40B4-BE49-F238E27FC236}">
                <a16:creationId xmlns:a16="http://schemas.microsoft.com/office/drawing/2014/main" id="{26A246A6-6DF2-4ACD-9763-BAD062F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训练拟合预处理与参数</a:t>
            </a:r>
          </a:p>
        </p:txBody>
      </p:sp>
      <p:sp>
        <p:nvSpPr>
          <p:cNvPr id="6" name="验证选择超参数或checkpoint">
            <a:extLst xmlns:a="http://schemas.openxmlformats.org/drawingml/2006/main">
              <a:ext uri="{FF2B5EF4-FFF2-40B4-BE49-F238E27FC236}">
                <a16:creationId xmlns:a16="http://schemas.microsoft.com/office/drawing/2014/main" id="{A0CB76D6-6DB9-4116-A090-126B3A25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验证选择超参数或checkpoint</a:t>
            </a:r>
          </a:p>
        </p:txBody>
      </p:sp>
      <p:sp>
        <p:nvSpPr>
          <p:cNvPr id="7" name="测试只用于冻结后的报告">
            <a:extLst xmlns:a="http://schemas.openxmlformats.org/drawingml/2006/main">
              <a:ext uri="{FF2B5EF4-FFF2-40B4-BE49-F238E27FC236}">
                <a16:creationId xmlns:a16="http://schemas.microsoft.com/office/drawing/2014/main" id="{90B70E1F-0A2F-4809-B6BC-59E417EC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测试只用于冻结后的报告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BE912FFE-7E70-429F-A143-37782FAD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rain: fit">
            <a:extLst xmlns:a="http://schemas.openxmlformats.org/drawingml/2006/main">
              <a:ext uri="{FF2B5EF4-FFF2-40B4-BE49-F238E27FC236}">
                <a16:creationId xmlns:a16="http://schemas.microsoft.com/office/drawing/2014/main" id="{7F6F76DE-B5F5-4D43-BEA5-94AB9677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4767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Train: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90434-B94E-42B2-B4B2-3C912324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90825"/>
            <a:ext cx="9525" cy="74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AB66A244-6B53-42F3-A5EA-652781DA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680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Val: select">
            <a:extLst xmlns:a="http://schemas.openxmlformats.org/drawingml/2006/main">
              <a:ext uri="{FF2B5EF4-FFF2-40B4-BE49-F238E27FC236}">
                <a16:creationId xmlns:a16="http://schemas.microsoft.com/office/drawing/2014/main" id="{A8474F9A-3E7A-4C8D-A120-AE47BF70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6800"/>
            <a:ext cx="44767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Val: 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C3919-68D4-4577-9A53-6B6A48BE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2575"/>
            <a:ext cx="9525" cy="74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77C3FE86-EC1E-44F2-88BD-5B342EA2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085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st: report">
            <a:extLst xmlns:a="http://schemas.openxmlformats.org/drawingml/2006/main">
              <a:ext uri="{FF2B5EF4-FFF2-40B4-BE49-F238E27FC236}">
                <a16:creationId xmlns:a16="http://schemas.microsoft.com/office/drawing/2014/main" id="{9D25ADD8-2AEF-4C07-8EBC-7D1DF9D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08550"/>
            <a:ext cx="44767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Test: report</a:t>
            </a:r>
          </a:p>
        </p:txBody>
      </p:sp>
    </p:spTree>
    <p:extLst>
      <p:ext uri="{BB962C8B-B14F-4D97-AF65-F5344CB8AC3E}">
        <p14:creationId xmlns:p14="http://schemas.microsoft.com/office/powerpoint/2010/main" val="96005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2  /  HSI LEARNING">
            <a:extLst xmlns:a="http://schemas.openxmlformats.org/drawingml/2006/main">
              <a:ext uri="{FF2B5EF4-FFF2-40B4-BE49-F238E27FC236}">
                <a16:creationId xmlns:a16="http://schemas.microsoft.com/office/drawing/2014/main" id="{01963765-AC92-4B69-87DC-0BB2E797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L02  /  HSI LEARNING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8FDDAC88-05A1-4B15-B92A-AE9CFA2E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总报大类，也能得到90% OA">
            <a:extLst xmlns:a="http://schemas.openxmlformats.org/drawingml/2006/main">
              <a:ext uri="{FF2B5EF4-FFF2-40B4-BE49-F238E27FC236}">
                <a16:creationId xmlns:a16="http://schemas.microsoft.com/office/drawing/2014/main" id="{C7D9F828-212A-4F0E-B3CF-C030DD10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总报大类，也能得到90% OA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4A441-FC26-4556-8571-9E166B79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A/B/C 样本数900/90/10">
            <a:extLst xmlns:a="http://schemas.openxmlformats.org/drawingml/2006/main">
              <a:ext uri="{FF2B5EF4-FFF2-40B4-BE49-F238E27FC236}">
                <a16:creationId xmlns:a16="http://schemas.microsoft.com/office/drawing/2014/main" id="{52381517-0ACA-4B98-B787-A8E0F684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A/B/C 样本数900/90/10</a:t>
            </a:r>
          </a:p>
        </p:txBody>
      </p:sp>
      <p:sp>
        <p:nvSpPr>
          <p:cNvPr id="6" name="全部预测A">
            <a:extLst xmlns:a="http://schemas.openxmlformats.org/drawingml/2006/main">
              <a:ext uri="{FF2B5EF4-FFF2-40B4-BE49-F238E27FC236}">
                <a16:creationId xmlns:a16="http://schemas.microsoft.com/office/drawing/2014/main" id="{7A1FB15B-6B30-4310-BFBF-F10EABD2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全部预测A</a:t>
            </a:r>
          </a:p>
        </p:txBody>
      </p:sp>
      <p:sp>
        <p:nvSpPr>
          <p:cNvPr id="7" name="小类识别能力为零">
            <a:extLst xmlns:a="http://schemas.openxmlformats.org/drawingml/2006/main">
              <a:ext uri="{FF2B5EF4-FFF2-40B4-BE49-F238E27FC236}">
                <a16:creationId xmlns:a16="http://schemas.microsoft.com/office/drawing/2014/main" id="{4E5B9A47-53A3-44C1-BA6B-174C32E2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小类识别能力为零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050C6-6F0A-401A-8EF2-E13548393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2db58c5144097"/>
          <a:stretch xmlns:a="http://schemas.openxmlformats.org/drawingml/2006/main"/>
        </p:blipFill>
        <p:spPr>
          <a:xfrm xmlns:a="http://schemas.openxmlformats.org/drawingml/2006/main">
            <a:off x="6096000" y="3165313"/>
            <a:ext cx="5410200" cy="4416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47751-1A72-4567-AE2D-76AA235D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0" name="&gt;&gt;&gt; toy['oa'], toy['aa']">
            <a:extLst xmlns:a="http://schemas.openxmlformats.org/drawingml/2006/main">
              <a:ext uri="{FF2B5EF4-FFF2-40B4-BE49-F238E27FC236}">
                <a16:creationId xmlns:a16="http://schemas.microsoft.com/office/drawing/2014/main" id="{F2997C4E-9AB6-464B-BACA-45625EC8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52E50"/>
                </a:solidFill>
                <a:latin typeface="Consolas"/>
                <a:ea typeface="Consolas"/>
                <a:cs typeface="Consolas"/>
              </a:rPr>
              <a:t>&gt;&gt;&gt; toy['oa'], toy['aa']</a:t>
            </a:r>
          </a:p>
        </p:txBody>
      </p:sp>
      <p:sp>
        <p:nvSpPr>
          <p:cNvPr id="11" name="(0.9, 0.3333)">
            <a:extLst xmlns:a="http://schemas.openxmlformats.org/drawingml/2006/main">
              <a:ext uri="{FF2B5EF4-FFF2-40B4-BE49-F238E27FC236}">
                <a16:creationId xmlns:a16="http://schemas.microsoft.com/office/drawing/2014/main" id="{B6652115-15AF-426D-B10D-89C2021E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05525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(0.9, 0.3333)</a:t>
            </a:r>
          </a:p>
        </p:txBody>
      </p:sp>
    </p:spTree>
    <p:extLst>
      <p:ext uri="{BB962C8B-B14F-4D97-AF65-F5344CB8AC3E}">
        <p14:creationId xmlns:p14="http://schemas.microsoft.com/office/powerpoint/2010/main" val="827891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2  /  HSI LEARNING">
            <a:extLst xmlns:a="http://schemas.openxmlformats.org/drawingml/2006/main">
              <a:ext uri="{FF2B5EF4-FFF2-40B4-BE49-F238E27FC236}">
                <a16:creationId xmlns:a16="http://schemas.microsoft.com/office/drawing/2014/main" id="{39D67B64-D6CF-4C3A-9550-854EC276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L02  /  HSI LEARNING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2EC9EE91-13B6-4982-AA32-645951B2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Kappa不是“再算一次准确率”">
            <a:extLst xmlns:a="http://schemas.openxmlformats.org/drawingml/2006/main">
              <a:ext uri="{FF2B5EF4-FFF2-40B4-BE49-F238E27FC236}">
                <a16:creationId xmlns:a16="http://schemas.microsoft.com/office/drawing/2014/main" id="{7EACF335-E5B2-4108-A9DD-F08BF6F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Kappa不是“再算一次准确率”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85228-74C1-4F9F-845F-39041A9D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p_o与p_e都为0.9">
            <a:extLst xmlns:a="http://schemas.openxmlformats.org/drawingml/2006/main">
              <a:ext uri="{FF2B5EF4-FFF2-40B4-BE49-F238E27FC236}">
                <a16:creationId xmlns:a16="http://schemas.microsoft.com/office/drawing/2014/main" id="{35C9D319-EFC1-4DFB-A849-1129FAE7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p_o与p_e都为0.9</a:t>
            </a:r>
          </a:p>
        </p:txBody>
      </p:sp>
      <p:sp>
        <p:nvSpPr>
          <p:cNvPr id="6" name="按真实与预测边缘频率计算p_e">
            <a:extLst xmlns:a="http://schemas.openxmlformats.org/drawingml/2006/main">
              <a:ext uri="{FF2B5EF4-FFF2-40B4-BE49-F238E27FC236}">
                <a16:creationId xmlns:a16="http://schemas.microsoft.com/office/drawing/2014/main" id="{B9D229D6-4AFF-4420-ADE2-CC60D747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按真实与预测边缘频率计算p_e</a:t>
            </a:r>
          </a:p>
        </p:txBody>
      </p:sp>
      <p:sp>
        <p:nvSpPr>
          <p:cNvPr id="7" name="该构造例Kappa为0">
            <a:extLst xmlns:a="http://schemas.openxmlformats.org/drawingml/2006/main">
              <a:ext uri="{FF2B5EF4-FFF2-40B4-BE49-F238E27FC236}">
                <a16:creationId xmlns:a16="http://schemas.microsoft.com/office/drawing/2014/main" id="{6504F866-C130-40AE-B04E-9812F317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该构造例Kappa为0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055B3-3DB4-40BC-8CDA-A7957A46CF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79df889fc4f9a"/>
          <a:stretch xmlns:a="http://schemas.openxmlformats.org/drawingml/2006/main"/>
        </p:blipFill>
        <p:spPr>
          <a:xfrm xmlns:a="http://schemas.openxmlformats.org/drawingml/2006/main">
            <a:off x="6096000" y="3015462"/>
            <a:ext cx="5410200" cy="74135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407E8-41D5-47F7-BF79-DF2655CD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0" name="&gt;&gt;&gt; toy['kappa']">
            <a:extLst xmlns:a="http://schemas.openxmlformats.org/drawingml/2006/main">
              <a:ext uri="{FF2B5EF4-FFF2-40B4-BE49-F238E27FC236}">
                <a16:creationId xmlns:a16="http://schemas.microsoft.com/office/drawing/2014/main" id="{E196FEFF-1DC9-4753-B336-DECB503E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52E50"/>
                </a:solidFill>
                <a:latin typeface="Consolas"/>
                <a:ea typeface="Consolas"/>
                <a:cs typeface="Consolas"/>
              </a:rPr>
              <a:t>&gt;&gt;&gt; toy['kappa']</a:t>
            </a:r>
          </a:p>
        </p:txBody>
      </p:sp>
      <p:sp>
        <p:nvSpPr>
          <p:cNvPr id="11" name="0.0">
            <a:extLst xmlns:a="http://schemas.openxmlformats.org/drawingml/2006/main">
              <a:ext uri="{FF2B5EF4-FFF2-40B4-BE49-F238E27FC236}">
                <a16:creationId xmlns:a16="http://schemas.microsoft.com/office/drawing/2014/main" id="{B9A05510-EF9E-41BC-AB1C-09A1902F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05525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3133730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2  /  HSI LEARNING">
            <a:extLst xmlns:a="http://schemas.openxmlformats.org/drawingml/2006/main">
              <a:ext uri="{FF2B5EF4-FFF2-40B4-BE49-F238E27FC236}">
                <a16:creationId xmlns:a16="http://schemas.microsoft.com/office/drawing/2014/main" id="{820AB678-22E2-449A-91B9-CB3188C8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L02  /  HSI LEARNING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49D38B3A-EDFE-492B-850E-A9F05927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混淆矩阵是指标的原图">
            <a:extLst xmlns:a="http://schemas.openxmlformats.org/drawingml/2006/main">
              <a:ext uri="{FF2B5EF4-FFF2-40B4-BE49-F238E27FC236}">
                <a16:creationId xmlns:a16="http://schemas.microsoft.com/office/drawing/2014/main" id="{84F7B8DA-B235-4342-9EC9-4D0A348A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混淆矩阵是指标的原图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E07B5-36B6-4241-B01E-9CA978B0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857FB-72ED-4B7A-9F16-47C7590400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c50a81bec4f69"/>
          <a:stretch xmlns:a="http://schemas.openxmlformats.org/drawingml/2006/main"/>
        </p:blipFill>
        <p:spPr>
          <a:xfrm xmlns:a="http://schemas.openxmlformats.org/drawingml/2006/main">
            <a:off x="3832466" y="2019300"/>
            <a:ext cx="4527068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954C3-9A12-4F8F-9432-68970BBD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7" name="颜色=每行比例，不是原始数量">
            <a:extLst xmlns:a="http://schemas.openxmlformats.org/drawingml/2006/main">
              <a:ext uri="{FF2B5EF4-FFF2-40B4-BE49-F238E27FC236}">
                <a16:creationId xmlns:a16="http://schemas.microsoft.com/office/drawing/2014/main" id="{B53A4CA9-BA1F-4FAB-A66C-AC86CE75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颜色=每行比例，不是原始数量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A861D-EB1B-427A-B931-2A263BDB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9" name="名称与样本数见课后表">
            <a:extLst xmlns:a="http://schemas.openxmlformats.org/drawingml/2006/main">
              <a:ext uri="{FF2B5EF4-FFF2-40B4-BE49-F238E27FC236}">
                <a16:creationId xmlns:a16="http://schemas.microsoft.com/office/drawing/2014/main" id="{67D2CBCB-780C-4BD9-8279-BC0F3102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名称与样本数见课后表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4C81D-373F-4F0A-8E7F-3AB6B289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11" name="小类是否全错看对应行">
            <a:extLst xmlns:a="http://schemas.openxmlformats.org/drawingml/2006/main">
              <a:ext uri="{FF2B5EF4-FFF2-40B4-BE49-F238E27FC236}">
                <a16:creationId xmlns:a16="http://schemas.microsoft.com/office/drawing/2014/main" id="{DB862BD8-6A62-4385-B1C4-0267DD25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小类是否全错看对应行</a:t>
            </a:r>
          </a:p>
        </p:txBody>
      </p:sp>
    </p:spTree>
    <p:extLst>
      <p:ext uri="{BB962C8B-B14F-4D97-AF65-F5344CB8AC3E}">
        <p14:creationId xmlns:p14="http://schemas.microsoft.com/office/powerpoint/2010/main" val="1626699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02  /  HSI LEARNING">
            <a:extLst xmlns:a="http://schemas.openxmlformats.org/drawingml/2006/main">
              <a:ext uri="{FF2B5EF4-FFF2-40B4-BE49-F238E27FC236}">
                <a16:creationId xmlns:a16="http://schemas.microsoft.com/office/drawing/2014/main" id="{910495B4-8293-4C40-A75F-71E9C97F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L02  /  HSI LEARNING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A5034F5C-C2EC-4D9C-A45D-02651158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课堂协议E与历史记录">
            <a:extLst xmlns:a="http://schemas.openxmlformats.org/drawingml/2006/main">
              <a:ext uri="{FF2B5EF4-FFF2-40B4-BE49-F238E27FC236}">
                <a16:creationId xmlns:a16="http://schemas.microsoft.com/office/drawing/2014/main" id="{72C6F7D4-6F21-4EE0-ADD7-50CA4271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课堂协议E与历史记录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6FD0F-0EB3-4051-99BB-EFF3EAA1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课堂统一seed42、10/10/80中心划分  ·  PC">
            <a:extLst xmlns:a="http://schemas.openxmlformats.org/drawingml/2006/main">
              <a:ext uri="{FF2B5EF4-FFF2-40B4-BE49-F238E27FC236}">
                <a16:creationId xmlns:a16="http://schemas.microsoft.com/office/drawing/2014/main" id="{F3E521B3-6084-4BF4-9F3A-187C2D65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课堂统一seed42、10/10/80中心划分  ·  PCA/scaler只拟合训练中心  ·  历史A/B/C/D只作为独立记录阅读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46F96-C85F-4A94-9EA3-BA74D89D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E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B1C85-1937-4F6E-AC3F-1DD54659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项目">
            <a:extLst xmlns:a="http://schemas.openxmlformats.org/drawingml/2006/main">
              <a:ext uri="{FF2B5EF4-FFF2-40B4-BE49-F238E27FC236}">
                <a16:creationId xmlns:a16="http://schemas.microsoft.com/office/drawing/2014/main" id="{6788CB27-D7FA-4FD9-95FD-F9DB2053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327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9" name="课堂E">
            <a:extLst xmlns:a="http://schemas.openxmlformats.org/drawingml/2006/main">
              <a:ext uri="{FF2B5EF4-FFF2-40B4-BE49-F238E27FC236}">
                <a16:creationId xmlns:a16="http://schemas.microsoft.com/office/drawing/2014/main" id="{99B8CDCC-B2E4-4CDD-8206-BBF808B7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4327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课堂E</a:t>
            </a:r>
          </a:p>
        </p:txBody>
      </p:sp>
      <p:sp>
        <p:nvSpPr>
          <p:cNvPr id="10" name="训练/验证/测试">
            <a:extLst xmlns:a="http://schemas.openxmlformats.org/drawingml/2006/main">
              <a:ext uri="{FF2B5EF4-FFF2-40B4-BE49-F238E27FC236}">
                <a16:creationId xmlns:a16="http://schemas.microsoft.com/office/drawing/2014/main" id="{D57B8350-0F6C-4022-8505-C18D75E8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训练/验证/测试</a:t>
            </a:r>
          </a:p>
        </p:txBody>
      </p:sp>
      <p:sp>
        <p:nvSpPr>
          <p:cNvPr id="11" name="1024 / 1025 / 8200">
            <a:extLst xmlns:a="http://schemas.openxmlformats.org/drawingml/2006/main">
              <a:ext uri="{FF2B5EF4-FFF2-40B4-BE49-F238E27FC236}">
                <a16:creationId xmlns:a16="http://schemas.microsoft.com/office/drawing/2014/main" id="{B4F2B026-10E7-4375-B99B-6D4E8B4A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57650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1024 / 1025 / 8200</a:t>
            </a:r>
          </a:p>
        </p:txBody>
      </p:sp>
      <p:sp>
        <p:nvSpPr>
          <p:cNvPr id="12" name="数据/seed">
            <a:extLst xmlns:a="http://schemas.openxmlformats.org/drawingml/2006/main">
              <a:ext uri="{FF2B5EF4-FFF2-40B4-BE49-F238E27FC236}">
                <a16:creationId xmlns:a16="http://schemas.microsoft.com/office/drawing/2014/main" id="{9D055284-D6EA-47D0-8B62-749A8F01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数据/seed</a:t>
            </a:r>
          </a:p>
        </p:txBody>
      </p:sp>
      <p:sp>
        <p:nvSpPr>
          <p:cNvPr id="13" name="Indian Pines / 42">
            <a:extLst xmlns:a="http://schemas.openxmlformats.org/drawingml/2006/main">
              <a:ext uri="{FF2B5EF4-FFF2-40B4-BE49-F238E27FC236}">
                <a16:creationId xmlns:a16="http://schemas.microsoft.com/office/drawing/2014/main" id="{2806FA7B-0644-41F6-B196-FBA92C4C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7202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Indian Pines / 42</a:t>
            </a:r>
          </a:p>
        </p:txBody>
      </p:sp>
      <p:sp>
        <p:nvSpPr>
          <p:cNvPr id="14" name="结果来源">
            <a:extLst xmlns:a="http://schemas.openxmlformats.org/drawingml/2006/main">
              <a:ext uri="{FF2B5EF4-FFF2-40B4-BE49-F238E27FC236}">
                <a16:creationId xmlns:a16="http://schemas.microsoft.com/office/drawing/2014/main" id="{1CAB45DD-95A4-4D4E-B096-62A48DDC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结果来源</a:t>
            </a:r>
          </a:p>
        </p:txBody>
      </p:sp>
      <p:sp>
        <p:nvSpPr>
          <p:cNvPr id="15" name="当前run_config与metrics">
            <a:extLst xmlns:a="http://schemas.openxmlformats.org/drawingml/2006/main">
              <a:ext uri="{FF2B5EF4-FFF2-40B4-BE49-F238E27FC236}">
                <a16:creationId xmlns:a16="http://schemas.microsoft.com/office/drawing/2014/main" id="{CAA91572-604A-4656-847D-3D466107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86400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当前run_config与metrics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CF575-40A2-4220-AFEF-B1DCA57E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E5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345648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02  /  HSI LEARNING">
            <a:extLst xmlns:a="http://schemas.openxmlformats.org/drawingml/2006/main">
              <a:ext uri="{FF2B5EF4-FFF2-40B4-BE49-F238E27FC236}">
                <a16:creationId xmlns:a16="http://schemas.microsoft.com/office/drawing/2014/main" id="{E2CD15B9-91A5-4C07-9A4D-5A300F92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L02  /  HSI LEARNING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785071BC-56D9-46AA-8C9D-5C6D46AC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指标分母必须写出来">
            <a:extLst xmlns:a="http://schemas.openxmlformats.org/drawingml/2006/main">
              <a:ext uri="{FF2B5EF4-FFF2-40B4-BE49-F238E27FC236}">
                <a16:creationId xmlns:a16="http://schemas.microsoft.com/office/drawing/2014/main" id="{47B4DA4B-BC8D-4ABB-BFA7-4EC801C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指标分母必须写出来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C2493-5AF3-4383-A451-9C318479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3EE93FA7-95E7-474E-B356-271FFEC3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逐类recall=该类正确数/该类测试数">
            <a:extLst xmlns:a="http://schemas.openxmlformats.org/drawingml/2006/main">
              <a:ext uri="{FF2B5EF4-FFF2-40B4-BE49-F238E27FC236}">
                <a16:creationId xmlns:a16="http://schemas.microsoft.com/office/drawing/2014/main" id="{E7C52FEF-4ABE-4D00-B572-816F6176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逐类recall=该类正确数/该类测试数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A3434D75-9C0B-4DB2-86A5-4E3AC1C7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AA=有测试支持类别的recall平均">
            <a:extLst xmlns:a="http://schemas.openxmlformats.org/drawingml/2006/main">
              <a:ext uri="{FF2B5EF4-FFF2-40B4-BE49-F238E27FC236}">
                <a16:creationId xmlns:a16="http://schemas.microsoft.com/office/drawing/2014/main" id="{396BAA46-0789-4F77-9B3E-EE4AF9D0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AA=有测试支持类别的recall平均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B19A077E-B08C-4B46-936C-9F5AE7EF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全图展示包含训练中心，不是test OA">
            <a:extLst xmlns:a="http://schemas.openxmlformats.org/drawingml/2006/main">
              <a:ext uri="{FF2B5EF4-FFF2-40B4-BE49-F238E27FC236}">
                <a16:creationId xmlns:a16="http://schemas.microsoft.com/office/drawing/2014/main" id="{D96141D7-77D9-4482-9B0B-560AE7BA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全图展示包含训练中心，不是test OA</a:t>
            </a:r>
          </a:p>
        </p:txBody>
      </p:sp>
    </p:spTree>
    <p:extLst>
      <p:ext uri="{BB962C8B-B14F-4D97-AF65-F5344CB8AC3E}">
        <p14:creationId xmlns:p14="http://schemas.microsoft.com/office/powerpoint/2010/main" val="9428898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02  /  HSI LEARNING">
            <a:extLst xmlns:a="http://schemas.openxmlformats.org/drawingml/2006/main">
              <a:ext uri="{FF2B5EF4-FFF2-40B4-BE49-F238E27FC236}">
                <a16:creationId xmlns:a16="http://schemas.microsoft.com/office/drawing/2014/main" id="{3FD84420-5910-4EB9-B62B-EAB24672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L02  /  HSI LEARNING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8C721575-CF6B-455D-A9F2-C270ADEE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让代码验证你的判断">
            <a:extLst xmlns:a="http://schemas.openxmlformats.org/drawingml/2006/main">
              <a:ext uri="{FF2B5EF4-FFF2-40B4-BE49-F238E27FC236}">
                <a16:creationId xmlns:a16="http://schemas.microsoft.com/office/drawing/2014/main" id="{174D4BCD-A353-4473-A9C0-4DFAC176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让代码验证你的判断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D96D2-CA76-4F51-9952-A9E3CD51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D321C-8338-42B1-8926-81202E4A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E3C"/>
          </a:solidFill>
          <a:ln xmlns:a="http://schemas.openxmlformats.org/drawingml/2006/main" w="0">
            <a:noFill/>
          </a:ln>
        </p:spPr>
      </p:sp>
      <p:sp>
        <p:nvSpPr>
          <p:cNvPr id="6" name="y = [0]*900 + [1]*90 + [2]*10&#10;">
            <a:extLst xmlns:a="http://schemas.openxmlformats.org/drawingml/2006/main">
              <a:ext uri="{FF2B5EF4-FFF2-40B4-BE49-F238E27FC236}">
                <a16:creationId xmlns:a16="http://schemas.microsoft.com/office/drawing/2014/main" id="{D458DB05-810A-4703-BF6F-D78B7F60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287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y = [0]*900 + [1]*90 + [2]*10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pred = [0]*1000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assert cohen_kappa_score(y, pred) == 0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# Fit preprocessing on train; report test separately.</a:t>
            </a:r>
          </a:p>
        </p:txBody>
      </p:sp>
      <p:sp>
        <p:nvSpPr>
          <p:cNvPr id="7" name="先预测输出，再运行对应单元格。">
            <a:extLst xmlns:a="http://schemas.openxmlformats.org/drawingml/2006/main">
              <a:ext uri="{FF2B5EF4-FFF2-40B4-BE49-F238E27FC236}">
                <a16:creationId xmlns:a16="http://schemas.microsoft.com/office/drawing/2014/main" id="{6B63F705-FDBA-414F-8CAE-7CAF361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先预测输出，再运行对应单元格。</a:t>
            </a:r>
          </a:p>
        </p:txBody>
      </p:sp>
    </p:spTree>
    <p:extLst>
      <p:ext uri="{BB962C8B-B14F-4D97-AF65-F5344CB8AC3E}">
        <p14:creationId xmlns:p14="http://schemas.microsoft.com/office/powerpoint/2010/main" val="1539024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02  /  HSI LEARNING">
            <a:extLst xmlns:a="http://schemas.openxmlformats.org/drawingml/2006/main">
              <a:ext uri="{FF2B5EF4-FFF2-40B4-BE49-F238E27FC236}">
                <a16:creationId xmlns:a16="http://schemas.microsoft.com/office/drawing/2014/main" id="{25E58385-2C16-420F-9620-AA89701F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L02  /  HSI LEARNING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73E010DF-4FD0-4CA1-AD0C-17ED7AB6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停下来，做一次判断">
            <a:extLst xmlns:a="http://schemas.openxmlformats.org/drawingml/2006/main">
              <a:ext uri="{FF2B5EF4-FFF2-40B4-BE49-F238E27FC236}">
                <a16:creationId xmlns:a16="http://schemas.microsoft.com/office/drawing/2014/main" id="{9C3D6CAD-E0FB-4813-A206-6FD6655D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停下来，做一次判断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8C01E-E461-41CE-85B9-B6F7B920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课堂预测">
            <a:extLst xmlns:a="http://schemas.openxmlformats.org/drawingml/2006/main">
              <a:ext uri="{FF2B5EF4-FFF2-40B4-BE49-F238E27FC236}">
                <a16:creationId xmlns:a16="http://schemas.microsoft.com/office/drawing/2014/main" id="{A6BF1311-6C99-4B80-81F5-950C9A7E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课堂预测</a:t>
            </a:r>
          </a:p>
        </p:txBody>
      </p:sp>
      <p:sp>
        <p:nvSpPr>
          <p:cNvPr id="6" name="把错误全部集中在小类，再观察OA与AA如何变化。">
            <a:extLst xmlns:a="http://schemas.openxmlformats.org/drawingml/2006/main">
              <a:ext uri="{FF2B5EF4-FFF2-40B4-BE49-F238E27FC236}">
                <a16:creationId xmlns:a16="http://schemas.microsoft.com/office/drawing/2014/main" id="{C2EF0650-9590-4345-9DAD-1B6F996A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把错误全部集中在小类，再观察OA与AA如何变化。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540B2-70F3-4088-8022-242F6EFA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退出题">
            <a:extLst xmlns:a="http://schemas.openxmlformats.org/drawingml/2006/main">
              <a:ext uri="{FF2B5EF4-FFF2-40B4-BE49-F238E27FC236}">
                <a16:creationId xmlns:a16="http://schemas.microsoft.com/office/drawing/2014/main" id="{48AC7FB2-9C2C-47A3-B9BD-13F7BF14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退出题</a:t>
            </a:r>
          </a:p>
        </p:txBody>
      </p:sp>
      <p:sp>
        <p:nvSpPr>
          <p:cNvPr id="9" name="OA高、AA低时，应检查混淆矩阵哪里？">
            <a:extLst xmlns:a="http://schemas.openxmlformats.org/drawingml/2006/main">
              <a:ext uri="{FF2B5EF4-FFF2-40B4-BE49-F238E27FC236}">
                <a16:creationId xmlns:a16="http://schemas.microsoft.com/office/drawing/2014/main" id="{6E63D8D0-2058-462B-9775-A9482BB3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8204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OA高、AA低时，应检查混淆矩阵哪里？</a:t>
            </a:r>
          </a:p>
        </p:txBody>
      </p:sp>
    </p:spTree>
    <p:extLst>
      <p:ext uri="{BB962C8B-B14F-4D97-AF65-F5344CB8AC3E}">
        <p14:creationId xmlns:p14="http://schemas.microsoft.com/office/powerpoint/2010/main" val="15263857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02  /  HSI LEARNING">
            <a:extLst xmlns:a="http://schemas.openxmlformats.org/drawingml/2006/main">
              <a:ext uri="{FF2B5EF4-FFF2-40B4-BE49-F238E27FC236}">
                <a16:creationId xmlns:a16="http://schemas.microsoft.com/office/drawing/2014/main" id="{2D5243A9-7C3F-4486-BC8E-49EFE0B0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L02  /  HSI LEARNING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19DB453D-964F-427E-93E3-A90978EE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结论要有边界">
            <a:extLst xmlns:a="http://schemas.openxmlformats.org/drawingml/2006/main">
              <a:ext uri="{FF2B5EF4-FFF2-40B4-BE49-F238E27FC236}">
                <a16:creationId xmlns:a16="http://schemas.microsoft.com/office/drawing/2014/main" id="{B6BFC0FA-C864-4260-BFE1-5FF82695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结论要有边界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416D7-80BD-426D-947B-DC52F522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已知">
            <a:extLst xmlns:a="http://schemas.openxmlformats.org/drawingml/2006/main">
              <a:ext uri="{FF2B5EF4-FFF2-40B4-BE49-F238E27FC236}">
                <a16:creationId xmlns:a16="http://schemas.microsoft.com/office/drawing/2014/main" id="{E03B3FC7-E8FA-497F-AD56-D223DFE9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90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6" name="相邻像元不是独立重复实验">
            <a:extLst xmlns:a="http://schemas.openxmlformats.org/drawingml/2006/main">
              <a:ext uri="{FF2B5EF4-FFF2-40B4-BE49-F238E27FC236}">
                <a16:creationId xmlns:a16="http://schemas.microsoft.com/office/drawing/2014/main" id="{79C205F5-B4C3-4589-96AB-FE44EA48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66950"/>
            <a:ext cx="9296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相邻像元不是独立重复实验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32B77-CA9B-49B5-A882-A32F4AF4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52850"/>
            <a:ext cx="929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边界">
            <a:extLst xmlns:a="http://schemas.openxmlformats.org/drawingml/2006/main">
              <a:ext uri="{FF2B5EF4-FFF2-40B4-BE49-F238E27FC236}">
                <a16:creationId xmlns:a16="http://schemas.microsoft.com/office/drawing/2014/main" id="{8BF032E3-C165-47FD-AEA4-14F40231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90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9" name="标准差不直接等于显著性门槛">
            <a:extLst xmlns:a="http://schemas.openxmlformats.org/drawingml/2006/main">
              <a:ext uri="{FF2B5EF4-FFF2-40B4-BE49-F238E27FC236}">
                <a16:creationId xmlns:a16="http://schemas.microsoft.com/office/drawing/2014/main" id="{5CF79C81-0DD2-4561-A4CD-D6633FCD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10025"/>
            <a:ext cx="9296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标准差不直接等于显著性门槛</a:t>
            </a:r>
          </a:p>
        </p:txBody>
      </p:sp>
      <p:sp>
        <p:nvSpPr>
          <p:cNvPr id="10" name="来源、复现入口与辅助提示见讲者备注。">
            <a:extLst xmlns:a="http://schemas.openxmlformats.org/drawingml/2006/main">
              <a:ext uri="{FF2B5EF4-FFF2-40B4-BE49-F238E27FC236}">
                <a16:creationId xmlns:a16="http://schemas.microsoft.com/office/drawing/2014/main" id="{3953AC14-4014-42FA-97FF-0AFDF260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来源、复现入口与辅助提示见讲者备注。</a:t>
            </a:r>
          </a:p>
        </p:txBody>
      </p:sp>
    </p:spTree>
    <p:extLst>
      <p:ext uri="{BB962C8B-B14F-4D97-AF65-F5344CB8AC3E}">
        <p14:creationId xmlns:p14="http://schemas.microsoft.com/office/powerpoint/2010/main" val="285819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2026-10-09T03:34:16.0800000Z</dcterms:created>
  <dcterms:modified xsi:type="dcterms:W3CDTF">2026-10-09T03:34:16.0800000Z</dcterms:modified>
</coreProperties>
</file>