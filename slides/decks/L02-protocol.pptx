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8ed1fcbe-854a-6e10-831e-6278b7b815c3}">
          <p14:sldIdLst>
            <p14:sldId id="256"/>
            <p14:sldId id="257"/>
          </p14:sldIdLst>
        </p14:section>
        <p14:section name="讲解" id="{992b62f6-b4b1-ca3d-be84-ee487337346a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练习" id="{8d693580-3a62-a637-42e3-8b5cba1d8fba}">
          <p14:sldIdLst>
            <p14:sldId id="265"/>
            <p14:sldId id="266"/>
          </p14:sldIdLst>
        </p14:section>
        <p14:section name="收束" id="{0b59df54-157e-e335-991e-8243ec644ad3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开场问题：OA高、AA低时，应检查混淆矩阵哪里？
原标题：99% 准确率，为什么可能没有意义？
参考节奏：5分钟回顾，10分钟手算，10分钟代码，12分钟练习，5分钟错误分析，3分钟退出题。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
封面图源：02_svm_baseline.ipynb / raw-confusion /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交付物以代码、配置、输出和解释为准。先做完整示例，再做填空与迁移任务。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展示一个分数但不展示协议，让学生提出必须追问的信息。
样本集合 / 指标分母 / 可声称结论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PCA/scaler不要先fit整图。开放集的模型选择与校准目前共享val，明确披露。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明确这是人工构造算例，不是Indian Pines实测。手算OA和AA。
A:900 → A / B:90 → A / C:10 → A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这是本项目自己纠过的错：正确做法是手算+库函数双验证，不许只信一次推导。
Observed .90 / Expected .90 / Kappa 0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讲课图按GT类别ID标轴，名字/support表在同一Notebook cell输出；第一张完整名称图供课后阅读。颜色是行归一化recall，不能说对角线是原始数量。
Rows = truth / Diagonal / Per-class recall
图源：02_svm_baseline.ipynb / raw-confusion / 1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共享split仍不等于共享输入：SVM为光谱，CNN还看空间邻域。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没有测试样本的类标为NA并报告覆盖，不把0/0静默算成0。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只运行指定短cell；完整训练已在课前完成。缺资产时使用已执行输出备用并说明。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停下来收集预测，发现错误后重新解释；不等到课后作业才知道学生没理解。
作业：A02；完整示例 / 填空 / 迁移；提交代码、配置、结果和限制。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区分已观察事实、候选解释与下一项检验。
退出题：OA高、AA低时，应检查混淆矩阵哪里？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0" y="5440680"/>
            <a:ext cx="12191695" cy="1417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0D1B2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5897880"/>
            <a:ext cx="12191695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2F5BB7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L02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划分与</a:t>
            </a:r>
            <a:endParaRPr lang="en-US" sz="5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评价指标</a:t>
            </a:r>
            <a:endParaRPr lang="en-US" sz="5000" dirty="0"/>
          </a:p>
        </p:txBody>
      </p:sp>
      <p:sp>
        <p:nvSpPr>
          <p:cNvPr id="3" name="lesson id"/>
          <p:cNvSpPr/>
          <p:nvPr/>
        </p:nvSpPr>
        <p:spPr>
          <a:xfrm>
            <a:off x="685800" y="1243584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2F5BB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43584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30752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本课问题 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99% 准确率，为什么可能没有意义？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062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划分、指标与信息边界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64515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  ·  L01：观测/标签已区分</a:t>
            </a:r>
            <a:endParaRPr lang="en-US" sz="1300" dirty="0"/>
          </a:p>
        </p:txBody>
      </p:sp>
      <p:sp>
        <p:nvSpPr>
          <p:cNvPr id="8" name="hero frame"/>
          <p:cNvSpPr/>
          <p:nvPr/>
        </p:nvSpPr>
        <p:spPr>
          <a:xfrm>
            <a:off x="7409383" y="1200112"/>
            <a:ext cx="4096512" cy="3589096"/>
          </a:xfrm>
          <a:prstGeom prst="roundRect">
            <a:avLst>
              <a:gd name="adj" fmla="val 25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cover fig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0551" y="1401280"/>
            <a:ext cx="3694176" cy="3186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这节课，你将完成什么</a:t>
            </a:r>
            <a:endParaRPr lang="en-US" sz="3000" dirty="0"/>
          </a:p>
        </p:txBody>
      </p:sp>
      <p:sp>
        <p:nvSpPr>
          <p:cNvPr id="3" name="deliverable 1"/>
          <p:cNvSpPr/>
          <p:nvPr/>
        </p:nvSpPr>
        <p:spPr>
          <a:xfrm>
            <a:off x="685800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协议检查表</a:t>
            </a:r>
            <a:endParaRPr lang="en-US" sz="2200" dirty="0"/>
          </a:p>
        </p:txBody>
      </p:sp>
      <p:sp>
        <p:nvSpPr>
          <p:cNvPr id="7" name="deliverable 2"/>
          <p:cNvSpPr/>
          <p:nvPr/>
        </p:nvSpPr>
        <p:spPr>
          <a:xfrm>
            <a:off x="4383938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手算混淆矩阵</a:t>
            </a:r>
            <a:endParaRPr lang="en-US" sz="2200" dirty="0"/>
          </a:p>
        </p:txBody>
      </p:sp>
      <p:sp>
        <p:nvSpPr>
          <p:cNvPr id="11" name="deliverable 3"/>
          <p:cNvSpPr/>
          <p:nvPr/>
        </p:nvSpPr>
        <p:spPr>
          <a:xfrm>
            <a:off x="8082077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带边界的结果描述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5800" y="4846320"/>
            <a:ext cx="10820095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02_svm_baseline.ipynb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3938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3938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protocol · metrics-toy · raw-confusion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082077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082077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A02 · 完整示例 / 填空 / 迁移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先问分母，再问高分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先问分数算在哪些像元上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是否混入背景 0？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模型何时看过这些信息？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3154680"/>
          </a:xfrm>
          <a:prstGeom prst="roundRect">
            <a:avLst>
              <a:gd name="adj" fmla="val 2899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01752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292608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834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样本集合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370332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指标分母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448056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4389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可声称结论</a:t>
            </a:r>
            <a:endParaRPr lang="en-US" sz="1600" dirty="0"/>
          </a:p>
        </p:txBody>
      </p:sp>
      <p:sp>
        <p:nvSpPr>
          <p:cNvPr id="21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len(split['test_ids'])  # 协议E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8200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信息流的方向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训练拟合预处理与参数</a:t>
            </a:r>
            <a:endParaRPr lang="en-US" sz="20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验证选择超参数或checkpoint</a:t>
            </a:r>
            <a:endParaRPr lang="en-US" sz="20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测试只用于冻结后的报告</a:t>
            </a:r>
            <a:endParaRPr lang="en-US" sz="2000" dirty="0"/>
          </a:p>
        </p:txBody>
      </p:sp>
      <p:sp>
        <p:nvSpPr>
          <p:cNvPr id="12" name="step 1"/>
          <p:cNvSpPr/>
          <p:nvPr/>
        </p:nvSpPr>
        <p:spPr>
          <a:xfrm>
            <a:off x="6400800" y="259689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3" name="chip 01"/>
          <p:cNvSpPr/>
          <p:nvPr/>
        </p:nvSpPr>
        <p:spPr>
          <a:xfrm>
            <a:off x="6601968" y="280720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01968" y="2807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05472" y="259689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Train: fit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812280" y="343814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17" name="step 2"/>
          <p:cNvSpPr/>
          <p:nvPr/>
        </p:nvSpPr>
        <p:spPr>
          <a:xfrm>
            <a:off x="6400800" y="369417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8" name="chip 02"/>
          <p:cNvSpPr/>
          <p:nvPr/>
        </p:nvSpPr>
        <p:spPr>
          <a:xfrm>
            <a:off x="6601968" y="390448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3904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205472" y="369417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Val: select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453542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22" name="step 3"/>
          <p:cNvSpPr/>
          <p:nvPr/>
        </p:nvSpPr>
        <p:spPr>
          <a:xfrm>
            <a:off x="6400800" y="479145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23" name="chip 03"/>
          <p:cNvSpPr/>
          <p:nvPr/>
        </p:nvSpPr>
        <p:spPr>
          <a:xfrm>
            <a:off x="6601968" y="500176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01968" y="5001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205472" y="479145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Test: report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总报大类，也能得到90% OA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A/B/C 样本数900/90/10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全部预测A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小类识别能力为零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OA = \frac{900}{1000} = 0.90 \qquad AA = \frac{1+0+0}{3} = \frac{1}{3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181739"/>
            <a:ext cx="4937760" cy="403082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toy['oa'], toy['aa']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(0.9, 0.3333)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Kappa不是“再算一次准确率”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p_o与p_e都为0.9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按真实与预测边缘频率计算p_e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该构造例Kappa为0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\kappa = \frac{p_o - p_e}{1 - p_e} = \frac{0.90 - 0.90}{0.10} = 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044973"/>
            <a:ext cx="4937760" cy="676614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toy['kappa']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0.0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混淆矩阵是指标的原图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6720840" cy="4480560"/>
          </a:xfrm>
          <a:prstGeom prst="roundRect">
            <a:avLst>
              <a:gd name="adj" fmla="val 1633"/>
            </a:avLst>
          </a:prstGeom>
          <a:solidFill>
            <a:srgbClr val="F2F5F9"/>
          </a:solidFill>
          <a:ln/>
        </p:spPr>
      </p:sp>
      <p:pic>
        <p:nvPicPr>
          <p:cNvPr id="4" name="Image 0" descr="02_svm_baseline-raw-confusion-1-ab78fdf95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0028" y="2039112"/>
            <a:ext cx="4812384" cy="4151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0" y="1920240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怎么读这张图</a:t>
            </a:r>
            <a:endParaRPr lang="en-US" sz="1300" dirty="0"/>
          </a:p>
        </p:txBody>
      </p:sp>
      <p:sp>
        <p:nvSpPr>
          <p:cNvPr id="6" name="chip 01"/>
          <p:cNvSpPr/>
          <p:nvPr/>
        </p:nvSpPr>
        <p:spPr>
          <a:xfrm>
            <a:off x="7772400" y="2459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0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42316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颜色=每行比例，不是原始数量</a:t>
            </a:r>
            <a:endParaRPr lang="en-US" sz="1700" dirty="0"/>
          </a:p>
        </p:txBody>
      </p:sp>
      <p:sp>
        <p:nvSpPr>
          <p:cNvPr id="9" name="chip 02"/>
          <p:cNvSpPr/>
          <p:nvPr/>
        </p:nvSpPr>
        <p:spPr>
          <a:xfrm>
            <a:off x="7772400" y="355701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0" y="3557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352044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名称与样本数见课后表</a:t>
            </a:r>
            <a:endParaRPr lang="en-US" sz="1700" dirty="0"/>
          </a:p>
        </p:txBody>
      </p:sp>
      <p:sp>
        <p:nvSpPr>
          <p:cNvPr id="12" name="chip 03"/>
          <p:cNvSpPr/>
          <p:nvPr/>
        </p:nvSpPr>
        <p:spPr>
          <a:xfrm>
            <a:off x="7772400" y="46542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394192" y="461772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小类是否全错看对应行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589788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02_svm_baseline.ipynb  ·  cell raw-confusion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课堂协议E与历史记录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87452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课堂统一seed42、10/10/80中心划分   ·   PCA/scaler只拟合训练中心   ·   历史A/B/C/D只作为独立记录阅读</a:t>
            </a:r>
            <a:endParaRPr lang="en-US" sz="1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83464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课堂E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训练/验证/测试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1024 / 1025 / 8200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数据/seed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Indian Pines / 42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结果来源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当前run_config与metrics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指标分母必须写出来</a:t>
            </a:r>
            <a:endParaRPr lang="en-US" sz="3000" dirty="0"/>
          </a:p>
        </p:txBody>
      </p:sp>
      <p:sp>
        <p:nvSpPr>
          <p:cNvPr id="3" name="point 1"/>
          <p:cNvSpPr/>
          <p:nvPr/>
        </p:nvSpPr>
        <p:spPr>
          <a:xfrm>
            <a:off x="685800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逐类recall=该类正确数/该类测试数</a:t>
            </a:r>
            <a:endParaRPr lang="en-US" sz="2000" dirty="0"/>
          </a:p>
        </p:txBody>
      </p:sp>
      <p:sp>
        <p:nvSpPr>
          <p:cNvPr id="7" name="point 2"/>
          <p:cNvSpPr/>
          <p:nvPr/>
        </p:nvSpPr>
        <p:spPr>
          <a:xfrm>
            <a:off x="4383938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AA=有测试支持类别的recall平均</a:t>
            </a:r>
            <a:endParaRPr lang="en-US" sz="2000" dirty="0"/>
          </a:p>
        </p:txBody>
      </p:sp>
      <p:sp>
        <p:nvSpPr>
          <p:cNvPr id="11" name="point 3"/>
          <p:cNvSpPr/>
          <p:nvPr/>
        </p:nvSpPr>
        <p:spPr>
          <a:xfrm>
            <a:off x="8082077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全图展示包含训练中心，不是test OA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让代码验证你的判断</a:t>
            </a:r>
            <a:endParaRPr lang="en-US" sz="3000" dirty="0"/>
          </a:p>
        </p:txBody>
      </p:sp>
      <p:sp>
        <p:nvSpPr>
          <p:cNvPr id="3" name="code panel"/>
          <p:cNvSpPr/>
          <p:nvPr/>
        </p:nvSpPr>
        <p:spPr>
          <a:xfrm>
            <a:off x="685800" y="1874520"/>
            <a:ext cx="7406640" cy="3749040"/>
          </a:xfrm>
          <a:prstGeom prst="roundRect">
            <a:avLst>
              <a:gd name="adj" fmla="val 2439"/>
            </a:avLst>
          </a:prstGeom>
          <a:solidFill>
            <a:srgbClr val="0D1B2E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2075688"/>
            <a:ext cx="118872" cy="118872"/>
          </a:xfrm>
          <a:prstGeom prst="ellipse">
            <a:avLst/>
          </a:prstGeom>
          <a:solidFill>
            <a:srgbClr val="D33A2C"/>
          </a:solidFill>
          <a:ln/>
        </p:spPr>
      </p:sp>
      <p:sp>
        <p:nvSpPr>
          <p:cNvPr id="5" name="Shape 3"/>
          <p:cNvSpPr/>
          <p:nvPr/>
        </p:nvSpPr>
        <p:spPr>
          <a:xfrm>
            <a:off x="1179576" y="2075688"/>
            <a:ext cx="118872" cy="118872"/>
          </a:xfrm>
          <a:prstGeom prst="ellipse">
            <a:avLst/>
          </a:prstGeom>
          <a:solidFill>
            <a:srgbClr val="F2C316"/>
          </a:solidFill>
          <a:ln/>
        </p:spPr>
      </p:sp>
      <p:sp>
        <p:nvSpPr>
          <p:cNvPr id="6" name="Shape 4"/>
          <p:cNvSpPr/>
          <p:nvPr/>
        </p:nvSpPr>
        <p:spPr>
          <a:xfrm>
            <a:off x="1399032" y="2075688"/>
            <a:ext cx="118872" cy="118872"/>
          </a:xfrm>
          <a:prstGeom prst="ellipse">
            <a:avLst/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423160"/>
            <a:ext cx="6675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y = [0]*900 + [1]*90 + [2]*10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pred = [0]*1000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assert cohen_kappa_score(y, pred) == 0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7E99AD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# Fit preprocessing on train; report test separately.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58200" y="192024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58200" y="224028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02_svm_baseline.ipynb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458200" y="310896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1" name="cell protocol"/>
          <p:cNvSpPr/>
          <p:nvPr/>
        </p:nvSpPr>
        <p:spPr>
          <a:xfrm>
            <a:off x="8458200" y="3474720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3474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protocol</a:t>
            </a:r>
            <a:endParaRPr lang="en-US" sz="1200" dirty="0"/>
          </a:p>
        </p:txBody>
      </p:sp>
      <p:sp>
        <p:nvSpPr>
          <p:cNvPr id="13" name="cell metrics-toy"/>
          <p:cNvSpPr/>
          <p:nvPr/>
        </p:nvSpPr>
        <p:spPr>
          <a:xfrm>
            <a:off x="8458200" y="3950208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3950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metrics-toy</a:t>
            </a:r>
            <a:endParaRPr lang="en-US" sz="1200" dirty="0"/>
          </a:p>
        </p:txBody>
      </p:sp>
      <p:sp>
        <p:nvSpPr>
          <p:cNvPr id="15" name="cell raw-confusion"/>
          <p:cNvSpPr/>
          <p:nvPr/>
        </p:nvSpPr>
        <p:spPr>
          <a:xfrm>
            <a:off x="8458200" y="4425696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0" y="44256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raw-confusion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先预测输出，再运行对应单元格。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停下来，做一次判断</a:t>
            </a:r>
            <a:endParaRPr lang="en-US" sz="3000" dirty="0"/>
          </a:p>
        </p:txBody>
      </p:sp>
      <p:sp>
        <p:nvSpPr>
          <p:cNvPr id="3" name="prediction card"/>
          <p:cNvSpPr/>
          <p:nvPr/>
        </p:nvSpPr>
        <p:spPr>
          <a:xfrm>
            <a:off x="685800" y="1874520"/>
            <a:ext cx="6355080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2240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课堂预测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697480"/>
            <a:ext cx="5532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把错误全部集中在小类，再观察OA与AA如何变化。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5321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 A02  ·  完整示例 / 填空 / 迁移</a:t>
            </a:r>
            <a:endParaRPr lang="en-US" sz="1400" dirty="0"/>
          </a:p>
        </p:txBody>
      </p:sp>
      <p:sp>
        <p:nvSpPr>
          <p:cNvPr id="7" name="exit question card"/>
          <p:cNvSpPr/>
          <p:nvPr/>
        </p:nvSpPr>
        <p:spPr>
          <a:xfrm>
            <a:off x="7315200" y="1874520"/>
            <a:ext cx="4187952" cy="4343400"/>
          </a:xfrm>
          <a:prstGeom prst="roundRect">
            <a:avLst>
              <a:gd name="adj" fmla="val 2183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26680" y="2240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269748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OA高、AA低时，应检查混淆矩阵哪里？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结论要有边界</a:t>
            </a:r>
            <a:endParaRPr lang="en-US" sz="3000" dirty="0"/>
          </a:p>
        </p:txBody>
      </p:sp>
      <p:sp>
        <p:nvSpPr>
          <p:cNvPr id="3" name="known"/>
          <p:cNvSpPr/>
          <p:nvPr/>
        </p:nvSpPr>
        <p:spPr>
          <a:xfrm>
            <a:off x="685800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4" name="tag"/>
          <p:cNvSpPr/>
          <p:nvPr/>
        </p:nvSpPr>
        <p:spPr>
          <a:xfrm>
            <a:off x="1051560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1F8F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相邻像元不是独立重复实验</a:t>
            </a:r>
            <a:endParaRPr lang="en-US" sz="2400" dirty="0"/>
          </a:p>
        </p:txBody>
      </p:sp>
      <p:sp>
        <p:nvSpPr>
          <p:cNvPr id="7" name="boundary"/>
          <p:cNvSpPr/>
          <p:nvPr/>
        </p:nvSpPr>
        <p:spPr>
          <a:xfrm>
            <a:off x="6233008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8" name="tag"/>
          <p:cNvSpPr/>
          <p:nvPr/>
        </p:nvSpPr>
        <p:spPr>
          <a:xfrm>
            <a:off x="6598768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E875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标准差不直接等于显著性门槛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2303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来源、复现入口与辅助提示见讲者备注。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SI-Learning Spectral">
      <a:dk1>
        <a:srgbClr val="14233A"/>
      </a:dk1>
      <a:lt1>
        <a:srgbClr val="FFFFFF"/>
      </a:lt1>
      <a:dk2>
        <a:srgbClr val="0D1B2E"/>
      </a:dk2>
      <a:lt2>
        <a:srgbClr val="F2F5F9"/>
      </a:lt2>
      <a:accent1>
        <a:srgbClr val="2F5BB7"/>
      </a:accent1>
      <a:accent2>
        <a:srgbClr val="1F8FB8"/>
      </a:accent2>
      <a:accent3>
        <a:srgbClr val="2E9E4F"/>
      </a:accent3>
      <a:accent4>
        <a:srgbClr val="E8752A"/>
      </a:accent4>
      <a:accent5>
        <a:srgbClr val="5B3FA0"/>
      </a:accent5>
      <a:accent6>
        <a:srgbClr val="D33A2C"/>
      </a:accent6>
      <a:hlink>
        <a:srgbClr val="2F5BB7"/>
      </a:hlink>
      <a:folHlink>
        <a:srgbClr val="5B3FA0"/>
      </a:folHlink>
    </a:clrScheme>
    <a:fontScheme name="Office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L02 99% 准确率，为什么可能没有意义？</dc:title>
  <dc:subject>PptxGenJS Presentation</dc:subject>
  <dc:creator>HSI-Learning</dc:creator>
  <cp:lastModifiedBy>HSI-Learning</cp:lastModifiedBy>
  <cp:revision>1</cp:revision>
  <dcterms:created xsi:type="dcterms:W3CDTF">2026-10-10T13:42:17Z</dcterms:created>
  <dcterms:modified xsi:type="dcterms:W3CDTF">2026-10-10T13:42:17Z</dcterms:modified>
</cp:coreProperties>
</file>