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用真实问题开场，先让学生提出预测。不要从依赖列表开始读。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完成标准是能独立生成交付物，而不是只复述概念。右侧面板是本课的Notebook与cell入口。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展示一个分数但不展示协议，让学生提出必须追问的信息。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>
            <a:r>
              <a:t>scikit-learn: model evaluation</a:t>
            </a:r>
          </a:p>
          <a:p>
            <a:r>
              <a:t>https://scikit-learn.org/stable/modules/model_evaluation.html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这是notebook 03协议B的train划分显示：三类样本在空间交错分布，因此9×9窗口很容易跨越划分共享观测——patch重叠问题直接在这张图上讲。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>
            <a:r>
              <a:t>scikit-learn: model evaluation</a:t>
            </a:r>
          </a:p>
          <a:p>
            <a:r>
              <a:t>https://scikit-learn.org/stable/modules/model_evaluation.html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明确这是人工构造算例，不是Indian Pines实测。手算OA和AA。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>
            <a:r>
              <a:t>scikit-learn: model evaluation</a:t>
            </a:r>
          </a:p>
          <a:p>
            <a:r>
              <a:t>https://scikit-learn.org/stable/modules/model_evaluation.html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这是本项目自己纠过的错：正确做法是手算+库函数双验证，不许只信一次推导。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>
            <a:r>
              <a:t>scikit-learn: model evaluation</a:t>
            </a:r>
          </a:p>
          <a:p>
            <a:r>
              <a:t>https://scikit-learn.org/stable/modules/model_evaluation.html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这是notebook 02在IP测试划分上的实测混淆矩阵。让学生指出错误最多的类、错成了谁。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>
            <a:r>
              <a:t>scikit-learn: model evaluation</a:t>
            </a:r>
          </a:p>
          <a:p>
            <a:r>
              <a:t>https://scikit-learn.org/stable/modules/model_evaluation.html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这套协议表来自本项目 benchmark.md。以后看到任何分数先问协议；拿 A 协议的 SVM 和 B 协议的 HybridSN 比大小是没有意义的。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>
            <a:r>
              <a:t>scikit-learn: model evaluation</a:t>
            </a:r>
          </a:p>
          <a:p>
            <a:r>
              <a:t>https://scikit-learn.org/stable/modules/model_evaluation.html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这是关键代码节选，完整上下文在Notebook中。现场只做最小例或载入模型推理；完整训练提前排队。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先让学生在右侧预测框写出预期，再运行一次受控改动。若与预期不同，保留记录而不是换种子直到符合故事。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制提示词见内容源。数据边界：不上传未授权数据或未公开稿件；不让AI虚构引用、指标或执行记录。给出这份实验协议的三个反例：哪些信息可能提前来自测试集？每条指出具体变量与检查断言，不要仅回答“存在数据泄漏”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结束时请学生用一句话回答本课开头的问题，要求带证据类型。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每次发布应补源码版本与运行配置；网络资料可访问不等于可自由再分发。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02_svm_baseline.ipynb</a:t>
            </a:r>
          </a:p>
          <a:p>
            <a:r>
              <a:t>定位: train_test_split, classification_report</a:t>
            </a:r>
          </a:p>
          <a:p>
            <a:r>
              <a:t>scikit-learn: model evaluation</a:t>
            </a:r>
          </a:p>
          <a:p>
            <a:r>
              <a:t>https://scikit-learn.org/stable/modules/model_evaluation.html</a:t>
            </a:r>
          </a:p>
          <a:p>
            <a:r>
              <a:t>Pineau et al. Reproducibility, JMLR 2021</a:t>
            </a:r>
          </a:p>
          <a:p>
            <a:r>
              <a:t>https://jmlr.org/papers/v22/20-303.html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2412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 spc="300">
                <a:solidFill>
                  <a:srgbClr val="5C6B7A"/>
                </a:solidFill>
                <a:latin typeface="Microsoft YaHei"/>
                <a:ea typeface="Microsoft YaHei"/>
              </a:rPr>
              <a:t>HSI-LEARNING</a:t>
            </a:r>
            <a:r>
              <a:rPr sz="1250" b="0" spc="200">
                <a:solidFill>
                  <a:srgbClr val="5C6B7A"/>
                </a:solidFill>
                <a:latin typeface="Microsoft YaHei"/>
                <a:ea typeface="Microsoft YaHei"/>
              </a:rPr>
              <a:t>  ·  高光谱图像分类课程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1572768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600" b="1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615184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700" b="1">
                <a:solidFill>
                  <a:srgbClr val="1C2B3A"/>
                </a:solidFill>
                <a:latin typeface="Microsoft YaHei"/>
                <a:ea typeface="Microsoft YaHei"/>
              </a:rPr>
              <a:t>99% 准确率，为什么可能没有意义？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41648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>
                <a:solidFill>
                  <a:srgbClr val="5C6B7A"/>
                </a:solidFill>
                <a:latin typeface="Microsoft YaHei"/>
                <a:ea typeface="Microsoft YaHei"/>
              </a:rPr>
              <a:t>划分、指标与信息边界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36592"/>
            <a:ext cx="996696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926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本课交付 · </a:t>
            </a: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</a:rPr>
              <a:t>协议检查表  ·  手算混淆矩阵  ·  带边界的结果描述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7044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先修 · </a:t>
            </a:r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L01：观测/标签已区分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本课交付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7510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011679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协议检查表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7977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7238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310896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手算混淆矩阵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87705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6966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42062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带边界的结果描述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011680"/>
            <a:ext cx="3886200" cy="32004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2860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课堂入口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17520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02_svm_baseline.ipynb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602736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858768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train_test_split, classification_report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43984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00016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C2B3A"/>
                </a:solidFill>
                <a:latin typeface="Microsoft YaHei"/>
                <a:ea typeface="Microsoft YaHei"/>
              </a:rPr>
              <a:t>A02 · 交付：代码 + 配置 + 解释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先问分母，再问高分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先问分数算在哪些像元上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是否混入背景 0？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模型何时看过这些信息？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len(y_test)  # 协议A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2050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样本集合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指标分母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可声称结论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三份数据，三种职责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hybridsn_baseline-cell11-0-a51f4ab7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907" y="1874519"/>
            <a:ext cx="43084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138907" y="1874519"/>
            <a:ext cx="4308400" cy="4389120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train拟合、val选择、test报告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三份位置互斥、不重叠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随机划分在空间上是交错的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03_hybridsn_baseline.ipynb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cell11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总报大类，也能得到90% OA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A/B/C 样本数900/90/10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全部预测A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小类识别能力为零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accuracy_score(y, pred)  # 全预测A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0.9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6f6723dc05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36506"/>
            <a:ext cx="4434840" cy="36202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A:900 → A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B:90 → A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C:10 → 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Kappa不是“再算一次准确率”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p_o = p_e = 0.9 时 Kappa 必为 0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本章初稿曾把该例写成 0.47——错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手算与库函数都给出 0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cohen_kappa_score(y, pred)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0.0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6f11d213e8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9148" y="2746247"/>
            <a:ext cx="3959352" cy="5425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Observed .90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Expected .90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Kappa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混淆矩阵是指标的原图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svm_baseline-32e479d9-7018-4689-af9b-d70239566b14-0-6d6d2d1d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410" y="1874519"/>
            <a:ext cx="4957395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814410" y="1874519"/>
            <a:ext cx="4957395" cy="4389120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对角线=分类正确的数量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每行是一个真实类，读support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小类是否全错看行，不看总分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02_svm_baseline.ipynb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32e479d9...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课程四套协议，数字不可互比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A 80/20｜B 30/10/60 (seed 63466)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C 10/10/80 (seed 42)｜D 每类20/10/70 (seed 1334)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不同协议的训练量不同，分数不可横比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Protocol A</a:t>
            </a:r>
          </a:p>
        </p:txBody>
      </p:sp>
      <p:sp>
        <p:nvSpPr>
          <p:cNvPr id="10" name="Oval 9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B / C</a:t>
            </a:r>
          </a:p>
        </p:txBody>
      </p:sp>
      <p:sp>
        <p:nvSpPr>
          <p:cNvPr id="12" name="Oval 11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代码实操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47088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打开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02_svm_baseline.ipynb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87168"/>
            <a:ext cx="6858000" cy="1920239"/>
          </a:xfrm>
          <a:prstGeom prst="roundRect">
            <a:avLst>
              <a:gd name="adj" fmla="val 4500"/>
            </a:avLst>
          </a:prstGeom>
          <a:solidFill>
            <a:srgbClr val="20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98064"/>
            <a:ext cx="6172200" cy="13533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y = [0]*900 + [1]*90 + [2]*10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pred = [0]*1000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assert cohen_kappa_score(y, pred) == 0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/>
            </a:r>
            <a:r>
              <a:rPr sz="1300" b="0">
                <a:solidFill>
                  <a:srgbClr val="7E99AD"/>
                </a:solidFill>
                <a:latin typeface="Consolas"/>
                <a:ea typeface="Microsoft YaHei"/>
              </a:rPr>
              <a:t># Fit preprocessing on train; report test separately.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6634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定位 cell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train_test_split, classification_report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现场安排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395728"/>
            <a:ext cx="32461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现场：逐个运行本页 cell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完整训练：课前排队完成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结果解读：以当前输出为准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2300" b="0">
                <a:solidFill>
                  <a:srgbClr val="1C2B3A"/>
                </a:solidFill>
                <a:latin typeface="Microsoft YaHei"/>
                <a:ea typeface="Microsoft YaHei"/>
              </a:rPr>
              <a:t>把错误全部集中在小类，再观察OA与AA如何变化。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892040"/>
            <a:ext cx="5669280" cy="60350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957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5056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>
                <a:solidFill>
                  <a:srgbClr val="C9571E"/>
                </a:solidFill>
                <a:latin typeface="Microsoft YaHei"/>
                <a:ea typeface="Microsoft YaHei"/>
              </a:rPr>
              <a:t>任务 A02</a:t>
            </a:r>
            <a:r>
              <a:rPr sz="1400" b="0">
                <a:solidFill>
                  <a:srgbClr val="1C2B3A"/>
                </a:solidFill>
                <a:latin typeface="Microsoft YaHei"/>
                <a:ea typeface="Microsoft YaHei"/>
              </a:rPr>
              <a:t>　交付：代码 + 配置 + 解释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057400"/>
            <a:ext cx="3886200" cy="3438144"/>
          </a:xfrm>
          <a:prstGeom prst="rect">
            <a:avLst/>
          </a:prstGeom>
          <a:noFill/>
          <a:ln w="1524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50008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先写预测，再运行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55848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4069080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4782312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AI 辅助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6903720" cy="265176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292" cy="265176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9864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提示词（可直接复制）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9272"/>
            <a:ext cx="62636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550" b="0">
                <a:solidFill>
                  <a:srgbClr val="1C2B3A"/>
                </a:solidFill>
                <a:latin typeface="Microsoft YaHei"/>
                <a:ea typeface="Microsoft YaHei"/>
              </a:rPr>
              <a:t>给出这份实验协议的三个反例：哪些信息可能提前来自测试集？每条指出具体变量与检查断言，不要仅回答“存在数据泄漏”。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7157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人工核验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136392"/>
            <a:ext cx="324612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450" b="0">
                <a:solidFill>
                  <a:srgbClr val="1C2B3A"/>
                </a:solidFill>
                <a:latin typeface="Microsoft YaHei"/>
                <a:ea typeface="Microsoft YaHei"/>
              </a:rPr>
              <a:t>逐项追踪fit/transform与model selection，手算toy指标并用库核对。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小结与边界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5669280" cy="3291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相邻像元不是独立重复实验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标准差不直接等于显著性门槛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2103120"/>
            <a:ext cx="4114800" cy="27432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2103120"/>
            <a:ext cx="50292" cy="274320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8" y="23957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回到本课开头的问题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7808" y="2834640"/>
            <a:ext cx="3520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99% 准确率，为什么可能没有意义？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L02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划分、指标与信息边界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来源、版本与复现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93392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scikit-learn: model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020824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https://scikit-learn.org/stable/modules/model_evaluation.html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87168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Pineau et al. Reproducibility, JMLR 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7919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https://jmlr.org/papers/v22/20-303.html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145536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5C6B7A"/>
                </a:solidFill>
                <a:latin typeface="Microsoft YaHei"/>
                <a:ea typeface="Microsoft YaHei"/>
              </a:rPr>
              <a:t>完整来源状态与许可边界见 docs/teaching/source-audit.md；图像取自当前 Notebook 输出。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99% 准确率，为什么可能没有意义？</dc:title>
  <dc:subject>Theory + practice + verified AI research assistance</dc:subject>
  <dc:creator>HSI-Learning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