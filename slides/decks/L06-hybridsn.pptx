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289728e9-c234-6582-fab7-ca786ad690e2}">
          <p14:sldIdLst>
            <p14:sldId id="256"/>
            <p14:sldId id="257"/>
          </p14:sldIdLst>
        </p14:section>
        <p14:section name="讲解" id="{b68b2762-5b60-5246-5cec-e9acf296df2a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练习" id="{7a9e59d7-b985-155c-4362-a627e6eea165}">
          <p14:sldIdLst>
            <p14:sldId id="265"/>
            <p14:sldId id="266"/>
          </p14:sldIdLst>
        </p14:section>
        <p14:section name="收束" id="{afda1bf8-1c35-403a-ee0e-8ab4a3fce284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开场问题：reshape合并C和D是否减少元素数？
原标题：HybridSN 的 reshape 为什么是关键？
参考节奏：5分钟回顾，10分钟手算，10分钟代码，12分钟练习，5分钟错误分析，3分钟退出题。
课堂入口: 11_patch_hybridsn_classroom.ipynb
定位: hybridsn-shapes, reshape-check, pca-change
先预测，再运行；答错时回到手算例。
AI辅助：只比较提供的论文段落和源码，输出差异表；每项附页码或函数名。没有来源的PCA/epoch/seed标unknown，不猜论文默认值。
人工核验：逐项读原文和源码；形状由framework核对；引用不能由搜索摘要替代。
HybridSN author repository
https://github.com/gokriznastic/HybridSN
PyTorch documentation
https://docs.pytorch.org/docs/stable/index.html
运行配置、数据哈希和结果：artifacts/teaching/classroom-facts.json
封面图源：03_hybridsn_baseline.ipynb / legacy-16 / 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交付物以代码、配置、输出和解释为准。先做完整示例，再做填空与迁移任务。
课堂入口: 11_patch_hybridsn_classroom.ipynb
定位: hybridsn-shapes, reshape-check, pca-change
先预测，再运行；答错时回到手算例。
AI辅助：只比较提供的论文段落和源码，输出差异表；每项附页码或函数名。没有来源的PCA/epoch/seed标unknown，不猜论文默认值。
人工核验：逐项读原文和源码；形状由framework核对；引用不能由搜索摘要替代。
HybridSN author repository
https://github.com/gokriznastic/HybridSN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只讲有实现证据的结构，不搬未经核实论文表格数字。
3D features / Reshape / 2D refinement
课堂入口: 11_patch_hybridsn_classroom.ipynb
定位: hybridsn-shapes, reshape-check, pca-change
先预测，再运行；答错时回到手算例。
AI辅助：只比较提供的论文段落和源码，输出差异表；每项附页码或函数名。没有来源的PCA/epoch/seed标unknown，不猜论文默认值。
人工核验：逐项读原文和源码；形状由framework核对；引用不能由搜索摘要替代。
HybridSN author repository
https://github.com/gokriznastic/HybridSN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现场一次 dummy forward 核对张量而不是死记表。注意 17×17 出现在 2D 卷积之后。
25×25×15 / 19×19×3 / 17×17
课堂入口: 11_patch_hybridsn_classroom.ipynb
定位: hybridsn-shapes, reshape-check, pca-change
先预测，再运行；答错时回到手算例。
AI辅助：只比较提供的论文段落和源码，输出差异表；每项附页码或函数名。没有来源的PCA/epoch/seed标unknown，不猜论文默认值。
人工核验：逐项读原文和源码；形状由framework核对；引用不能由搜索摘要替代。
HybridSN author repository
https://github.com/gokriznastic/HybridSN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用arange小张量验证元素对应。permute和view不是同义。
N,32,3,19,19 / view / N,96,19,19
课堂入口: 11_patch_hybridsn_classroom.ipynb
定位: hybridsn-shapes, reshape-check, pca-change
先预测，再运行；答错时回到手算例。
AI辅助：只比较提供的论文段落和源码，输出差异表；每项附页码或函数名。没有来源的PCA/epoch/seed标unknown，不猜论文默认值。
人工核验：逐项读原文和源码；形状由framework核对；引用不能由搜索摘要替代。
HybridSN author repository
https://github.com/gokriznastic/HybridSN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手算 4,735,232：参数大头不是卷积而是第一个全连接。这不是"无损压缩"，是结构选择。
Flatten 18,496 / Linear 256 / Trade-off
课堂入口: 11_patch_hybridsn_classroom.ipynb
定位: hybridsn-shapes, reshape-check, pca-change
先预测，再运行；答错时回到手算例。
AI辅助：只比较提供的论文段落和源码，输出差异表；每项附页码或函数名。没有来源的PCA/epoch/seed标unknown，不猜论文默认值。
人工核验：逐项读原文和源码；形状由framework核对；引用不能由搜索摘要替代。
HybridSN author repository
https://github.com/gokriznastic/HybridSN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曲线来自notebook 03实际训练（协议B，测试 6150 样本）。两个干货：val 下滑后不能回头选 test 最好的轮次；训练中途崩一次再恢复也很常见——看曲线而不是看单点。
历史协议B输出，仅用于结构/读图；不是协议E的比较成绩。 历史曲线由保存的epoch日志重绘，数值与历史协议B不变；logged loss保留旧代码的归一化口径。
Loss curve / Val plateau / Best epoch
图源：03_hybridsn_baseline.ipynb / legacy-16 / 0
课堂入口: 11_patch_hybridsn_classroom.ipynb
定位: hybridsn-shapes, reshape-check, pca-change
先预测，再运行；答错时回到手算例。
AI辅助：只比较提供的论文段落和源码，输出差异表；每项附页码或函数名。没有来源的PCA/epoch/seed标unknown，不猜论文默认值。
人工核验：逐项读原文和源码；形状由framework核对；引用不能由搜索摘要替代。
HybridSN author repository
https://github.com/gokriznastic/HybridSN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官方链接是gokriznastic/HybridSN。来源未访问的表项保持待核验。本项目还撤回过一条不实归属：自定义方差惩罚不是SSRN论文的内容。
Paper / Author code / Course variant
课堂入口: 11_patch_hybridsn_classroom.ipynb
定位: hybridsn-shapes, reshape-check, pca-change
先预测，再运行；答错时回到手算例。
AI辅助：只比较提供的论文段落和源码，输出差异表；每项附页码或函数名。没有来源的PCA/epoch/seed标unknown，不猜论文默认值。
人工核验：逐项读原文和源码；形状由framework核对；引用不能由搜索摘要替代。
HybridSN author repository
https://github.com/gokriznastic/HybridSN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本课使用随机权重前向，不能把其输出命名为训练预测结果。
课堂入口: 11_patch_hybridsn_classroom.ipynb
定位: hybridsn-shapes, reshape-check, pca-change
先预测，再运行；答错时回到手算例。
AI辅助：只比较提供的论文段落和源码，输出差异表；每项附页码或函数名。没有来源的PCA/epoch/seed标unknown，不猜论文默认值。
人工核验：逐项读原文和源码；形状由framework核对；引用不能由搜索摘要替代。
HybridSN author repository
https://github.com/gokriznastic/HybridSN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只运行指定短cell；完整训练已在课前完成。缺资产时使用已执行输出备用并说明。
课堂入口: 11_patch_hybridsn_classroom.ipynb
定位: hybridsn-shapes, reshape-check, pca-change
先预测，再运行；答错时回到手算例。
AI辅助：只比较提供的论文段落和源码，输出差异表；每项附页码或函数名。没有来源的PCA/epoch/seed标unknown，不猜论文默认值。
人工核验：逐项读原文和源码；形状由framework核对；引用不能由搜索摘要替代。
HybridSN author repository
https://github.com/gokriznastic/HybridSN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停下来收集预测，发现错误后重新解释；不等到课后作业才知道学生没理解。
作业：A03；完整示例 / 填空 / 迁移；提交代码、配置、结果和限制。
课堂入口: 11_patch_hybridsn_classroom.ipynb
定位: hybridsn-shapes, reshape-check, pca-change
先预测，再运行；答错时回到手算例。
AI辅助：只比较提供的论文段落和源码，输出差异表；每项附页码或函数名。没有来源的PCA/epoch/seed标unknown，不猜论文默认值。
人工核验：逐项读原文和源码；形状由framework核对；引用不能由搜索摘要替代。
HybridSN author repository
https://github.com/gokriznastic/HybridSN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区分已观察事实、候选解释与下一项检验。
退出题：reshape合并C和D是否减少元素数？
课堂入口: 11_patch_hybridsn_classroom.ipynb
定位: hybridsn-shapes, reshape-check, pca-change
先预测，再运行；答错时回到手算例。
AI辅助：只比较提供的论文段落和源码，输出差异表；每项附页码或函数名。没有来源的PCA/epoch/seed标unknown，不猜论文默认值。
人工核验：逐项读原文和源码；形状由framework核对；引用不能由搜索摘要替代。
HybridSN author repository
https://github.com/gokriznastic/HybridSN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0" y="5440680"/>
            <a:ext cx="12191695" cy="1417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0D1B2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5897880"/>
            <a:ext cx="12191695" cy="960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2F5BB7"/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L06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读懂</a:t>
            </a:r>
            <a:endParaRPr lang="en-US" sz="5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HybridSN</a:t>
            </a:r>
            <a:endParaRPr lang="en-US" sz="5000" dirty="0"/>
          </a:p>
        </p:txBody>
      </p:sp>
      <p:sp>
        <p:nvSpPr>
          <p:cNvPr id="3" name="lesson id"/>
          <p:cNvSpPr/>
          <p:nvPr/>
        </p:nvSpPr>
        <p:spPr>
          <a:xfrm>
            <a:off x="685800" y="1243584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2F5BB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43584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L06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30752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本课问题  </a:t>
            </a:r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HybridSN 的 reshape 为什么是关键？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062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从经典结构到可检查的实现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64515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  ·  L05：3D与2D轴语义</a:t>
            </a:r>
            <a:endParaRPr lang="en-US" sz="1300" dirty="0"/>
          </a:p>
        </p:txBody>
      </p:sp>
      <p:sp>
        <p:nvSpPr>
          <p:cNvPr id="8" name="hero frame"/>
          <p:cNvSpPr/>
          <p:nvPr/>
        </p:nvSpPr>
        <p:spPr>
          <a:xfrm>
            <a:off x="6842455" y="1988820"/>
            <a:ext cx="466344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0" descr="cover fig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3623" y="2284476"/>
            <a:ext cx="4261104" cy="1420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这节课，你将完成什么</a:t>
            </a:r>
            <a:endParaRPr lang="en-US" sz="3000" dirty="0"/>
          </a:p>
        </p:txBody>
      </p:sp>
      <p:sp>
        <p:nvSpPr>
          <p:cNvPr id="3" name="deliverable 1"/>
          <p:cNvSpPr/>
          <p:nvPr/>
        </p:nvSpPr>
        <p:spPr>
          <a:xfrm>
            <a:off x="685800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结构映射表</a:t>
            </a:r>
            <a:endParaRPr lang="en-US" sz="2200" dirty="0"/>
          </a:p>
        </p:txBody>
      </p:sp>
      <p:sp>
        <p:nvSpPr>
          <p:cNvPr id="7" name="deliverable 2"/>
          <p:cNvSpPr/>
          <p:nvPr/>
        </p:nvSpPr>
        <p:spPr>
          <a:xfrm>
            <a:off x="4383938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形状与参数核对</a:t>
            </a:r>
            <a:endParaRPr lang="en-US" sz="2200" dirty="0"/>
          </a:p>
        </p:txBody>
      </p:sp>
      <p:sp>
        <p:nvSpPr>
          <p:cNvPr id="11" name="deliverable 3"/>
          <p:cNvSpPr/>
          <p:nvPr/>
        </p:nvSpPr>
        <p:spPr>
          <a:xfrm>
            <a:off x="8082077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一个可证伪消融问题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85800" y="4846320"/>
            <a:ext cx="10820095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NOTEBOOK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11_patch_hybridsn_classroom.ipynb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3938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3938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hybridsn-shapes · reshape-check · pca-change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082077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082077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A03 · 完整示例 / 填空 / 迁移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不是混合就一定更好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3D保留depth方向局部建模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2D继续聚合通道与空间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效果必须放在协议中测量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4480560"/>
          </a:xfrm>
          <a:prstGeom prst="roundRect">
            <a:avLst>
              <a:gd name="adj" fmla="val 2364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68046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358902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34975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 features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436626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42748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Reshape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514350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50520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2D refinement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无padding，尺寸会逐层收缩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 25→23→21→19→17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PCA-15 深度 15→9→5→3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输入维数改变要重新核对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3154680"/>
          </a:xfrm>
          <a:prstGeom prst="roundRect">
            <a:avLst>
              <a:gd name="adj" fmla="val 2899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01752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292608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2834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25×25×15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370332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19×19×3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448056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4389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17×17</a:t>
            </a:r>
            <a:endParaRPr lang="en-US" sz="1600" dirty="0"/>
          </a:p>
        </p:txBody>
      </p:sp>
      <p:sp>
        <p:nvSpPr>
          <p:cNvPr id="21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shapes['conv3']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(2,32,3,19,19)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把C与D合并，不是降维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32×3变成96通道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19×19空间位置保留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元素数不变，不恢复原始光谱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32 \times 3 \times 19 \times 19 \;=\; 96 \times 19 \times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3185271"/>
            <a:ext cx="4937760" cy="396018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merged.shape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torch.Size([2, 96, 19, 19])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参数大户藏在Flatten后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64×17×17=18,496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首FC映射到 256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全局池化减参但会改变表示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18{,}496 \times 256 + 256 = 4{,}735{,}2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3174251"/>
            <a:ext cx="4937760" cy="418058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net.dense1[0].weight.shape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torch.Size([256, 18496])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训练过程与检查点选择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10820095" cy="3246120"/>
          </a:xfrm>
          <a:prstGeom prst="roundRect">
            <a:avLst>
              <a:gd name="adj" fmla="val 2254"/>
            </a:avLst>
          </a:prstGeom>
          <a:solidFill>
            <a:srgbClr val="F2F5F9"/>
          </a:solidFill>
          <a:ln/>
        </p:spPr>
      </p:sp>
      <p:pic>
        <p:nvPicPr>
          <p:cNvPr id="4" name="Image 0" descr="03_hybridsn_baseline-legacy-16-0-e14ce9d88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0444" y="2039112"/>
            <a:ext cx="8750808" cy="2916936"/>
          </a:xfrm>
          <a:prstGeom prst="rect">
            <a:avLst/>
          </a:prstGeom>
        </p:spPr>
      </p:pic>
      <p:sp>
        <p:nvSpPr>
          <p:cNvPr id="5" name="chip 01"/>
          <p:cNvSpPr/>
          <p:nvPr/>
        </p:nvSpPr>
        <p:spPr>
          <a:xfrm>
            <a:off x="685800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5B3FA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97864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本图保留历史协议B训练记录</a:t>
            </a:r>
            <a:endParaRPr lang="en-US" sz="1600" dirty="0"/>
          </a:p>
        </p:txBody>
      </p:sp>
      <p:sp>
        <p:nvSpPr>
          <p:cNvPr id="8" name="chip 02"/>
          <p:cNvSpPr/>
          <p:nvPr/>
        </p:nvSpPr>
        <p:spPr>
          <a:xfrm>
            <a:off x="4399178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E9E4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399178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911242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权重按validation选择</a:t>
            </a:r>
            <a:endParaRPr lang="en-US" sz="1600" dirty="0"/>
          </a:p>
        </p:txBody>
      </p:sp>
      <p:sp>
        <p:nvSpPr>
          <p:cNvPr id="11" name="chip 03"/>
          <p:cNvSpPr/>
          <p:nvPr/>
        </p:nvSpPr>
        <p:spPr>
          <a:xfrm>
            <a:off x="8112557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D33A2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112557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24621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当前协议E结果与历史B分开报告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6400800"/>
            <a:ext cx="1082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03_hybridsn_baseline.ipynb  ·  cell legacy-16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论文、作者代码、教学代码分三列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核尺寸和shape逐项对齐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PCA/划分/预算单独核验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简化必须标为教学变体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4480560"/>
          </a:xfrm>
          <a:prstGeom prst="roundRect">
            <a:avLst>
              <a:gd name="adj" fmla="val 2364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68046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358902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34975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Paper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436626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42748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Author code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514350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50520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Course variant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逐层shape与元素对应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87452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先追踪depth和空间各自收缩   ·   合并C和D保留元素及空间位置   ·   25改为其他patch时重新核算FC</a:t>
            </a:r>
            <a:endParaRPr lang="en-US" sz="1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83464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shape（N=2）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2,1,15,25,25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Conv3输出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2,32,3,19,19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C×D合并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2,96,19,19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Conv2d输出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2,64,17,17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让代码验证你的判断</a:t>
            </a:r>
            <a:endParaRPr lang="en-US" sz="3000" dirty="0"/>
          </a:p>
        </p:txBody>
      </p:sp>
      <p:sp>
        <p:nvSpPr>
          <p:cNvPr id="3" name="code panel"/>
          <p:cNvSpPr/>
          <p:nvPr/>
        </p:nvSpPr>
        <p:spPr>
          <a:xfrm>
            <a:off x="685800" y="1874520"/>
            <a:ext cx="7406640" cy="3749040"/>
          </a:xfrm>
          <a:prstGeom prst="roundRect">
            <a:avLst>
              <a:gd name="adj" fmla="val 2439"/>
            </a:avLst>
          </a:prstGeom>
          <a:solidFill>
            <a:srgbClr val="0D1B2E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2075688"/>
            <a:ext cx="118872" cy="118872"/>
          </a:xfrm>
          <a:prstGeom prst="ellipse">
            <a:avLst/>
          </a:prstGeom>
          <a:solidFill>
            <a:srgbClr val="D33A2C"/>
          </a:solidFill>
          <a:ln/>
        </p:spPr>
      </p:sp>
      <p:sp>
        <p:nvSpPr>
          <p:cNvPr id="5" name="Shape 3"/>
          <p:cNvSpPr/>
          <p:nvPr/>
        </p:nvSpPr>
        <p:spPr>
          <a:xfrm>
            <a:off x="1179576" y="2075688"/>
            <a:ext cx="118872" cy="118872"/>
          </a:xfrm>
          <a:prstGeom prst="ellipse">
            <a:avLst/>
          </a:prstGeom>
          <a:solidFill>
            <a:srgbClr val="F2C316"/>
          </a:solidFill>
          <a:ln/>
        </p:spPr>
      </p:sp>
      <p:sp>
        <p:nvSpPr>
          <p:cNvPr id="6" name="Shape 4"/>
          <p:cNvSpPr/>
          <p:nvPr/>
        </p:nvSpPr>
        <p:spPr>
          <a:xfrm>
            <a:off x="1399032" y="2075688"/>
            <a:ext cx="118872" cy="118872"/>
          </a:xfrm>
          <a:prstGeom prst="ellipse">
            <a:avLst/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423160"/>
            <a:ext cx="66751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assert shapes['conv3'] == (2,32,3,19,19)</a:t>
            </a:r>
            <a:endParaRPr lang="en-US" sz="16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merged = tensor.reshape(2,96,19,19)</a:t>
            </a:r>
            <a:endParaRPr lang="en-US" sz="16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assert merged.numel() == tensor.numel()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458200" y="192024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458200" y="224028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11_patch_hybridsn_classroom.ipynb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458200" y="310896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1" name="cell hybridsn-shapes"/>
          <p:cNvSpPr/>
          <p:nvPr/>
        </p:nvSpPr>
        <p:spPr>
          <a:xfrm>
            <a:off x="8458200" y="3474720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0" y="3474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hybridsn-shapes</a:t>
            </a:r>
            <a:endParaRPr lang="en-US" sz="1200" dirty="0"/>
          </a:p>
        </p:txBody>
      </p:sp>
      <p:sp>
        <p:nvSpPr>
          <p:cNvPr id="13" name="cell reshape-check"/>
          <p:cNvSpPr/>
          <p:nvPr/>
        </p:nvSpPr>
        <p:spPr>
          <a:xfrm>
            <a:off x="8458200" y="3950208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0" y="3950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reshape-check</a:t>
            </a:r>
            <a:endParaRPr lang="en-US" sz="1200" dirty="0"/>
          </a:p>
        </p:txBody>
      </p:sp>
      <p:sp>
        <p:nvSpPr>
          <p:cNvPr id="15" name="cell pca-change"/>
          <p:cNvSpPr/>
          <p:nvPr/>
        </p:nvSpPr>
        <p:spPr>
          <a:xfrm>
            <a:off x="8458200" y="4425696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95360" y="44256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pca-change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852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先预测输出，再运行对应单元格。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停下来，做一次判断</a:t>
            </a:r>
            <a:endParaRPr lang="en-US" sz="3000" dirty="0"/>
          </a:p>
        </p:txBody>
      </p:sp>
      <p:sp>
        <p:nvSpPr>
          <p:cNvPr id="3" name="prediction card"/>
          <p:cNvSpPr/>
          <p:nvPr/>
        </p:nvSpPr>
        <p:spPr>
          <a:xfrm>
            <a:off x="685800" y="1874520"/>
            <a:ext cx="6355080" cy="4343400"/>
          </a:xfrm>
          <a:prstGeom prst="roundRect">
            <a:avLst>
              <a:gd name="adj" fmla="val 2105"/>
            </a:avLst>
          </a:prstGeom>
          <a:solidFill>
            <a:srgbClr val="F2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7280" y="2240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课堂预测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697480"/>
            <a:ext cx="5532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PCA从15改30，先推断Conv2d输入通道，再用forward验证。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553212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 A03  ·  完整示例 / 填空 / 迁移</a:t>
            </a:r>
            <a:endParaRPr lang="en-US" sz="1400" dirty="0"/>
          </a:p>
        </p:txBody>
      </p:sp>
      <p:sp>
        <p:nvSpPr>
          <p:cNvPr id="7" name="exit question card"/>
          <p:cNvSpPr/>
          <p:nvPr/>
        </p:nvSpPr>
        <p:spPr>
          <a:xfrm>
            <a:off x="7315200" y="1874520"/>
            <a:ext cx="4187952" cy="4343400"/>
          </a:xfrm>
          <a:prstGeom prst="roundRect">
            <a:avLst>
              <a:gd name="adj" fmla="val 2183"/>
            </a:avLst>
          </a:prstGeom>
          <a:solidFill>
            <a:srgbClr val="0D1B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26680" y="22402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退出题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2697480"/>
            <a:ext cx="3383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reshape合并C和D是否减少元素数？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结论要有边界</a:t>
            </a:r>
            <a:endParaRPr lang="en-US" sz="3000" dirty="0"/>
          </a:p>
        </p:txBody>
      </p:sp>
      <p:sp>
        <p:nvSpPr>
          <p:cNvPr id="3" name="known"/>
          <p:cNvSpPr/>
          <p:nvPr/>
        </p:nvSpPr>
        <p:spPr>
          <a:xfrm>
            <a:off x="685800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4" name="tag"/>
          <p:cNvSpPr/>
          <p:nvPr/>
        </p:nvSpPr>
        <p:spPr>
          <a:xfrm>
            <a:off x="1051560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1F8FB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教学同构不等于逐数复现</a:t>
            </a:r>
            <a:endParaRPr lang="en-US" sz="2400" dirty="0"/>
          </a:p>
        </p:txBody>
      </p:sp>
      <p:sp>
        <p:nvSpPr>
          <p:cNvPr id="7" name="boundary"/>
          <p:cNvSpPr/>
          <p:nvPr/>
        </p:nvSpPr>
        <p:spPr>
          <a:xfrm>
            <a:off x="6233008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8" name="tag"/>
          <p:cNvSpPr/>
          <p:nvPr/>
        </p:nvSpPr>
        <p:spPr>
          <a:xfrm>
            <a:off x="6598768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E875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参数压缩不自动产生论文贡献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23036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来源、复现入口与辅助提示见讲者备注。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SI-Learning Spectral">
      <a:dk1>
        <a:srgbClr val="14233A"/>
      </a:dk1>
      <a:lt1>
        <a:srgbClr val="FFFFFF"/>
      </a:lt1>
      <a:dk2>
        <a:srgbClr val="0D1B2E"/>
      </a:dk2>
      <a:lt2>
        <a:srgbClr val="F2F5F9"/>
      </a:lt2>
      <a:accent1>
        <a:srgbClr val="2F5BB7"/>
      </a:accent1>
      <a:accent2>
        <a:srgbClr val="1F8FB8"/>
      </a:accent2>
      <a:accent3>
        <a:srgbClr val="2E9E4F"/>
      </a:accent3>
      <a:accent4>
        <a:srgbClr val="E8752A"/>
      </a:accent4>
      <a:accent5>
        <a:srgbClr val="5B3FA0"/>
      </a:accent5>
      <a:accent6>
        <a:srgbClr val="D33A2C"/>
      </a:accent6>
      <a:hlink>
        <a:srgbClr val="2F5BB7"/>
      </a:hlink>
      <a:folHlink>
        <a:srgbClr val="5B3FA0"/>
      </a:folHlink>
    </a:clrScheme>
    <a:fontScheme name="Office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L06 HybridSN 的 reshape 为什么是关键？</dc:title>
  <dc:subject>PptxGenJS Presentation</dc:subject>
  <dc:creator>HSI-Learning</dc:creator>
  <cp:lastModifiedBy>HSI-Learning</cp:lastModifiedBy>
  <cp:revision>1</cp:revision>
  <dcterms:created xsi:type="dcterms:W3CDTF">2026-10-10T13:42:18Z</dcterms:created>
  <dcterms:modified xsi:type="dcterms:W3CDTF">2026-10-10T13:42:18Z</dcterms:modified>
</cp:coreProperties>
</file>