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用真实问题开场，先让学生提出预测。不要从依赖列表开始读。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03_hybridsn_baseline.ipynb</a:t>
            </a:r>
          </a:p>
          <a:p>
            <a:r>
              <a:t>定位: HybridSN, forward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完成标准是能独立生成交付物，而不是只复述概念。右侧面板是本课的Notebook与cell入口。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03_hybridsn_baseline.ipynb</a:t>
            </a:r>
          </a:p>
          <a:p>
            <a:r>
              <a:t>定位: HybridSN, forward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只讲有实现证据的结构，不搬未经核实论文表格数字。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03_hybridsn_baseline.ipynb</a:t>
            </a:r>
          </a:p>
          <a:p>
            <a:r>
              <a:t>定位: HybridSN, forward</a:t>
            </a:r>
          </a:p>
          <a:p>
            <a:r>
              <a:t>HybridSN author repository</a:t>
            </a:r>
          </a:p>
          <a:p>
            <a:r>
              <a:t>https://github.com/gokriznastic/HybridSN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现场一次 dummy forward 核对张量而不是死记表。注意 17×17 出现在 2D 卷积之后。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03_hybridsn_baseline.ipynb</a:t>
            </a:r>
          </a:p>
          <a:p>
            <a:r>
              <a:t>定位: HybridSN, forward</a:t>
            </a:r>
          </a:p>
          <a:p>
            <a:r>
              <a:t>HybridSN author repository</a:t>
            </a:r>
          </a:p>
          <a:p>
            <a:r>
              <a:t>https://github.com/gokriznastic/HybridSN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用arange小张量验证元素对应。permute和view不是同义。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03_hybridsn_baseline.ipynb</a:t>
            </a:r>
          </a:p>
          <a:p>
            <a:r>
              <a:t>定位: HybridSN, forward</a:t>
            </a:r>
          </a:p>
          <a:p>
            <a:r>
              <a:t>HybridSN author repository</a:t>
            </a:r>
          </a:p>
          <a:p>
            <a:r>
              <a:t>https://github.com/gokriznastic/HybridSN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手算 4,735,232：参数大头不是卷积而是第一个全连接。这不是"无损压缩"，是结构选择。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03_hybridsn_baseline.ipynb</a:t>
            </a:r>
          </a:p>
          <a:p>
            <a:r>
              <a:t>定位: HybridSN, forward</a:t>
            </a:r>
          </a:p>
          <a:p>
            <a:r>
              <a:t>HybridSN author repository</a:t>
            </a:r>
          </a:p>
          <a:p>
            <a:r>
              <a:t>https://github.com/gokriznastic/HybridSN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曲线来自notebook 03实际训练（协议B，测试 6150 样本）。两个干货：val 下滑后不能回头选 test 最好的轮次；训练中途崩一次再恢复也很常见——看曲线而不是看单点。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03_hybridsn_baseline.ipynb</a:t>
            </a:r>
          </a:p>
          <a:p>
            <a:r>
              <a:t>定位: HybridSN, forward</a:t>
            </a:r>
          </a:p>
          <a:p>
            <a:r>
              <a:t>HybridSN author repository</a:t>
            </a:r>
          </a:p>
          <a:p>
            <a:r>
              <a:t>https://github.com/gokriznastic/HybridSN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官方链接是gokriznastic/HybridSN。来源未访问的表项保持待核验。本项目还撤回过一条不实归属：自定义方差惩罚不是SSRN论文的内容。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03_hybridsn_baseline.ipynb</a:t>
            </a:r>
          </a:p>
          <a:p>
            <a:r>
              <a:t>定位: HybridSN, forward</a:t>
            </a:r>
          </a:p>
          <a:p>
            <a:r>
              <a:t>HybridSN author repository</a:t>
            </a:r>
          </a:p>
          <a:p>
            <a:r>
              <a:t>https://github.com/gokriznastic/HybridSN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这是关键代码节选，完整上下文在Notebook中。现场只做最小例或载入模型推理；完整训练提前排队。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03_hybridsn_baseline.ipynb</a:t>
            </a:r>
          </a:p>
          <a:p>
            <a:r>
              <a:t>定位: HybridSN, forward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先让学生在右侧预测框写出预期，再运行一次受控改动。若与预期不同，保留记录而不是换种子直到符合故事。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03_hybridsn_baseline.ipynb</a:t>
            </a:r>
          </a:p>
          <a:p>
            <a:r>
              <a:t>定位: HybridSN, forward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可复制提示词见内容源。数据边界：不上传未授权数据或未公开稿件；不让AI虚构引用、指标或执行记录。只比较提供的论文段落和源码，输出差异表；每项附页码或函数名。没有来源的PCA/epoch/seed标unknown，不猜论文默认值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03_hybridsn_baseline.ipynb</a:t>
            </a:r>
          </a:p>
          <a:p>
            <a:r>
              <a:t>定位: HybridSN, forward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结束时请学生用一句话回答本课开头的问题，要求带证据类型。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03_hybridsn_baseline.ipynb</a:t>
            </a:r>
          </a:p>
          <a:p>
            <a:r>
              <a:t>定位: HybridSN, forward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每次发布应补源码版本与运行配置；网络资料可访问不等于可自由再分发。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03_hybridsn_baseline.ipynb</a:t>
            </a:r>
          </a:p>
          <a:p>
            <a:r>
              <a:t>定位: HybridSN, forward</a:t>
            </a:r>
          </a:p>
          <a:p>
            <a:r>
              <a:t>HybridSN author repository</a:t>
            </a:r>
          </a:p>
          <a:p>
            <a:r>
              <a:t>https://github.com/gokriznastic/HybridSN</a:t>
            </a:r>
          </a:p>
          <a:p>
            <a:r>
              <a:t>PyTorch documentation</a:t>
            </a:r>
          </a:p>
          <a:p>
            <a:r>
              <a:t>https://docs.pytorch.org/docs/stable/index.html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024128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 spc="300">
                <a:solidFill>
                  <a:srgbClr val="5C6B7A"/>
                </a:solidFill>
                <a:latin typeface="Microsoft YaHei"/>
                <a:ea typeface="Microsoft YaHei"/>
              </a:rPr>
              <a:t>HSI-LEARNING</a:t>
            </a:r>
            <a:r>
              <a:rPr sz="1250" b="0" spc="200">
                <a:solidFill>
                  <a:srgbClr val="5C6B7A"/>
                </a:solidFill>
                <a:latin typeface="Microsoft YaHei"/>
                <a:ea typeface="Microsoft YaHei"/>
              </a:rPr>
              <a:t>  ·  高光谱图像分类课程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1572768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4600" b="1">
                <a:solidFill>
                  <a:srgbClr val="C9571E"/>
                </a:solidFill>
                <a:latin typeface="Microsoft YaHei"/>
                <a:ea typeface="Microsoft YaHei"/>
              </a:rPr>
              <a:t>L06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2615184"/>
            <a:ext cx="99669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3700" b="1">
                <a:solidFill>
                  <a:srgbClr val="1C2B3A"/>
                </a:solidFill>
                <a:latin typeface="Microsoft YaHei"/>
                <a:ea typeface="Microsoft YaHei"/>
              </a:rPr>
              <a:t>HybridSN 的 reshape 为什么是关键？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041648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800" b="0">
                <a:solidFill>
                  <a:srgbClr val="5C6B7A"/>
                </a:solidFill>
                <a:latin typeface="Microsoft YaHei"/>
                <a:ea typeface="Microsoft YaHei"/>
              </a:rPr>
              <a:t>从经典结构到可检查的实现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736592"/>
            <a:ext cx="9966960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992624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1">
                <a:solidFill>
                  <a:srgbClr val="1C2B3A"/>
                </a:solidFill>
                <a:latin typeface="Microsoft YaHei"/>
                <a:ea typeface="Microsoft YaHei"/>
              </a:rPr>
              <a:t>本课交付 · </a:t>
            </a:r>
            <a:r>
              <a:rPr sz="1500" b="0">
                <a:solidFill>
                  <a:srgbClr val="5C6B7A"/>
                </a:solidFill>
                <a:latin typeface="Microsoft YaHei"/>
                <a:ea typeface="Microsoft YaHei"/>
              </a:rPr>
              <a:t>结构映射表  ·  形状与参数核对  ·  一个可证伪消融问题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870448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0">
                <a:solidFill>
                  <a:srgbClr val="5C6B7A"/>
                </a:solidFill>
                <a:latin typeface="Microsoft YaHei"/>
                <a:ea typeface="Microsoft YaHei"/>
              </a:rPr>
              <a:t>先修 · </a:t>
            </a:r>
            <a:r>
              <a:rPr sz="1300" b="0">
                <a:solidFill>
                  <a:srgbClr val="5C6B7A"/>
                </a:solidFill>
                <a:latin typeface="Microsoft YaHei"/>
                <a:ea typeface="Microsoft YaHei"/>
              </a:rPr>
              <a:t>L05：3D与2D轴语义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L06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从经典结构到可检查的实现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本课交付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975104"/>
            <a:ext cx="7772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1">
                <a:solidFill>
                  <a:srgbClr val="C9571E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2011679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000" b="0">
                <a:solidFill>
                  <a:srgbClr val="1C2B3A"/>
                </a:solidFill>
                <a:latin typeface="Microsoft YaHei"/>
                <a:ea typeface="Microsoft YaHei"/>
              </a:rPr>
              <a:t>结构映射表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2779776"/>
            <a:ext cx="5943600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072384"/>
            <a:ext cx="7772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1">
                <a:solidFill>
                  <a:srgbClr val="C9571E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310896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000" b="0">
                <a:solidFill>
                  <a:srgbClr val="1C2B3A"/>
                </a:solidFill>
                <a:latin typeface="Microsoft YaHei"/>
                <a:ea typeface="Microsoft YaHei"/>
              </a:rPr>
              <a:t>形状与参数核对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3877056"/>
            <a:ext cx="5943600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169664"/>
            <a:ext cx="7772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1">
                <a:solidFill>
                  <a:srgbClr val="C9571E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420624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000" b="0">
                <a:solidFill>
                  <a:srgbClr val="1C2B3A"/>
                </a:solidFill>
                <a:latin typeface="Microsoft YaHei"/>
                <a:ea typeface="Microsoft YaHei"/>
              </a:rPr>
              <a:t>一个可证伪消融问题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2011680"/>
            <a:ext cx="3886200" cy="3200400"/>
          </a:xfrm>
          <a:prstGeom prst="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228600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课堂入口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2761488"/>
            <a:ext cx="324612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NOTEBOOK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017520"/>
            <a:ext cx="324612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100" b="0">
                <a:solidFill>
                  <a:srgbClr val="1C2B3A"/>
                </a:solidFill>
                <a:latin typeface="Consolas"/>
                <a:ea typeface="Microsoft YaHei"/>
              </a:rPr>
              <a:t>03_hybridsn_baseline.ipynb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602736"/>
            <a:ext cx="324612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CELLS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3858768"/>
            <a:ext cx="324612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100" b="0">
                <a:solidFill>
                  <a:srgbClr val="1C2B3A"/>
                </a:solidFill>
                <a:latin typeface="Consolas"/>
                <a:ea typeface="Microsoft YaHei"/>
              </a:rPr>
              <a:t>HybridSN, forward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443984"/>
            <a:ext cx="324612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任务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4700016"/>
            <a:ext cx="324612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250" b="0">
                <a:solidFill>
                  <a:srgbClr val="1C2B3A"/>
                </a:solidFill>
                <a:latin typeface="Microsoft YaHei"/>
                <a:ea typeface="Microsoft YaHei"/>
              </a:rPr>
              <a:t>A03 · 交付：代码 + 配置 + 解释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L06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从经典结构到可检查的实现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不是混合就一定更好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057400"/>
            <a:ext cx="4983480" cy="3017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3D保留depth方向局部建模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2D继续聚合通道与空间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效果必须放在协议中测量</a:t>
            </a:r>
          </a:p>
        </p:txBody>
      </p:sp>
      <p:sp>
        <p:nvSpPr>
          <p:cNvPr id="7" name="Rectangle 6"/>
          <p:cNvSpPr/>
          <p:nvPr/>
        </p:nvSpPr>
        <p:spPr>
          <a:xfrm>
            <a:off x="6693408" y="2103120"/>
            <a:ext cx="14630" cy="4059935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50431" y="2052827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86016" y="1911095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3D features</a:t>
            </a:r>
          </a:p>
        </p:txBody>
      </p:sp>
      <p:sp>
        <p:nvSpPr>
          <p:cNvPr id="10" name="Oval 9"/>
          <p:cNvSpPr/>
          <p:nvPr/>
        </p:nvSpPr>
        <p:spPr>
          <a:xfrm>
            <a:off x="6650431" y="4073652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86016" y="3931920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Reshape</a:t>
            </a:r>
          </a:p>
        </p:txBody>
      </p:sp>
      <p:sp>
        <p:nvSpPr>
          <p:cNvPr id="12" name="Oval 11"/>
          <p:cNvSpPr/>
          <p:nvPr/>
        </p:nvSpPr>
        <p:spPr>
          <a:xfrm>
            <a:off x="6650431" y="6094476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86016" y="5952744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2D refinement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L06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从经典结构到可检查的实现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无padding，尺寸会逐层收缩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057400"/>
            <a:ext cx="4983480" cy="3017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空间 25→23→21→19→17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PCA-15 深度 15→9→5→3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输入维数改变要重新核对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5193792"/>
            <a:ext cx="4983480" cy="932688"/>
          </a:xfrm>
          <a:prstGeom prst="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5" y="5321808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Microsoft YaHei"/>
                <a:ea typeface="Microsoft YaHei"/>
              </a:rPr>
              <a:t>&gt;&gt;&gt; </a:t>
            </a:r>
            <a:r>
              <a:rPr sz="1300" b="0">
                <a:solidFill>
                  <a:srgbClr val="1C2B3A"/>
                </a:solidFill>
                <a:latin typeface="Consolas"/>
                <a:ea typeface="Microsoft YaHei"/>
              </a:rPr>
              <a:t>features.shape  # conv3 输出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5" y="5705856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Consolas"/>
                <a:ea typeface="Microsoft YaHei"/>
              </a:rPr>
              <a:t>torch.Size([2, 64, 3, 19, 19])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93408" y="2103120"/>
            <a:ext cx="14630" cy="4059935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50431" y="2052827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86016" y="1911095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25×25×15</a:t>
            </a:r>
          </a:p>
        </p:txBody>
      </p:sp>
      <p:sp>
        <p:nvSpPr>
          <p:cNvPr id="13" name="Oval 12"/>
          <p:cNvSpPr/>
          <p:nvPr/>
        </p:nvSpPr>
        <p:spPr>
          <a:xfrm>
            <a:off x="6650431" y="4073652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86016" y="3931920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19×19×3</a:t>
            </a:r>
          </a:p>
        </p:txBody>
      </p:sp>
      <p:sp>
        <p:nvSpPr>
          <p:cNvPr id="15" name="Oval 14"/>
          <p:cNvSpPr/>
          <p:nvPr/>
        </p:nvSpPr>
        <p:spPr>
          <a:xfrm>
            <a:off x="6650431" y="6094476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86016" y="5952744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17×17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L06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从经典结构到可检查的实现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把C与D合并，不是降维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057400"/>
            <a:ext cx="4983480" cy="3017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32×3变成96通道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19×19空间位置保留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元素数不变，不恢复原始光谱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5193792"/>
            <a:ext cx="4983480" cy="932688"/>
          </a:xfrm>
          <a:prstGeom prst="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5" y="5321808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Microsoft YaHei"/>
                <a:ea typeface="Microsoft YaHei"/>
              </a:rPr>
              <a:t>&gt;&gt;&gt; </a:t>
            </a:r>
            <a:r>
              <a:rPr sz="1300" b="0">
                <a:solidFill>
                  <a:srgbClr val="1C2B3A"/>
                </a:solidFill>
                <a:latin typeface="Consolas"/>
                <a:ea typeface="Microsoft YaHei"/>
              </a:rPr>
              <a:t>features.reshape(2, 96, 19, 19).shape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5" y="5705856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Consolas"/>
                <a:ea typeface="Microsoft YaHei"/>
              </a:rPr>
              <a:t>torch.Size([2, 96, 19, 19])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920240"/>
            <a:ext cx="4956048" cy="2194560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ormula-9958dad4db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1404" y="2839678"/>
            <a:ext cx="4434840" cy="355682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693408" y="4434840"/>
            <a:ext cx="14630" cy="1728216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650431" y="4384548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86016" y="4242816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N,32,3,19,19</a:t>
            </a:r>
          </a:p>
        </p:txBody>
      </p:sp>
      <p:sp>
        <p:nvSpPr>
          <p:cNvPr id="15" name="Oval 14"/>
          <p:cNvSpPr/>
          <p:nvPr/>
        </p:nvSpPr>
        <p:spPr>
          <a:xfrm>
            <a:off x="6650431" y="5239512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86016" y="5097780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view</a:t>
            </a:r>
          </a:p>
        </p:txBody>
      </p:sp>
      <p:sp>
        <p:nvSpPr>
          <p:cNvPr id="17" name="Oval 16"/>
          <p:cNvSpPr/>
          <p:nvPr/>
        </p:nvSpPr>
        <p:spPr>
          <a:xfrm>
            <a:off x="6650431" y="6094476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86016" y="5952744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N,96,19,19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L06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从经典结构到可检查的实现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参数大户藏在Flatten后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057400"/>
            <a:ext cx="4983480" cy="3017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64×17×17=18,496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首FC映射到 256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全局池化减参但会改变表示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5193792"/>
            <a:ext cx="4983480" cy="932688"/>
          </a:xfrm>
          <a:prstGeom prst="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5" y="5321808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Microsoft YaHei"/>
                <a:ea typeface="Microsoft YaHei"/>
              </a:rPr>
              <a:t>&gt;&gt;&gt; </a:t>
            </a:r>
            <a:r>
              <a:rPr sz="1300" b="0">
                <a:solidFill>
                  <a:srgbClr val="1C2B3A"/>
                </a:solidFill>
                <a:latin typeface="Consolas"/>
                <a:ea typeface="Microsoft YaHei"/>
              </a:rPr>
              <a:t>fc.weight.shape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5" y="5705856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Consolas"/>
                <a:ea typeface="Microsoft YaHei"/>
              </a:rPr>
              <a:t>torch.Size([256, 18496])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920240"/>
            <a:ext cx="4956048" cy="2194560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ormula-ad0ef0c262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1404" y="2829781"/>
            <a:ext cx="4434840" cy="375477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693408" y="4434840"/>
            <a:ext cx="14630" cy="1728216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650431" y="4384548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86016" y="4242816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Flatten 18,496</a:t>
            </a:r>
          </a:p>
        </p:txBody>
      </p:sp>
      <p:sp>
        <p:nvSpPr>
          <p:cNvPr id="15" name="Oval 14"/>
          <p:cNvSpPr/>
          <p:nvPr/>
        </p:nvSpPr>
        <p:spPr>
          <a:xfrm>
            <a:off x="6650431" y="5239512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86016" y="5097780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Linear 256</a:t>
            </a:r>
          </a:p>
        </p:txBody>
      </p:sp>
      <p:sp>
        <p:nvSpPr>
          <p:cNvPr id="17" name="Oval 16"/>
          <p:cNvSpPr/>
          <p:nvPr/>
        </p:nvSpPr>
        <p:spPr>
          <a:xfrm>
            <a:off x="6650431" y="6094476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86016" y="5952744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Trade-off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L06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从经典结构到可检查的实现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训练过程与检查点选择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_hybridsn_baseline-cell16-0-902ed2a8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7995" y="1874519"/>
            <a:ext cx="5450225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567995" y="1874519"/>
            <a:ext cx="5450225" cy="4389120"/>
          </a:xfrm>
          <a:prstGeom prst="rect">
            <a:avLst/>
          </a:prstGeom>
          <a:noFill/>
          <a:ln w="12700">
            <a:solidFill>
              <a:srgbClr val="D9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193852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怎么读这张图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395728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epoch 14 val 0.9893，本组最佳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epoch 18 train acc 瞬间崩到 0.853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最终 OA 0.9909 用的是 epoch_14 权重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587044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50" b="0">
                <a:solidFill>
                  <a:srgbClr val="5C6B7A"/>
                </a:solidFill>
                <a:latin typeface="Consolas"/>
                <a:ea typeface="Microsoft YaHei"/>
              </a:rPr>
              <a:t>03_hybridsn_baseline.ipynb</a:t>
            </a:r>
            <a:r>
              <a:rPr sz="1050" b="0">
                <a:solidFill>
                  <a:srgbClr val="5C6B7A"/>
                </a:solidFill>
                <a:latin typeface="Consolas"/>
                <a:ea typeface="Microsoft YaHei"/>
              </a:rPr>
              <a:t>  ·  cell cell16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L06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从经典结构到可检查的实现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论文、作者代码、教学代码分三列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057400"/>
            <a:ext cx="4983480" cy="3017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核尺寸和shape逐项对齐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PCA/划分/预算单独核验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简化必须标为教学变体</a:t>
            </a:r>
          </a:p>
        </p:txBody>
      </p:sp>
      <p:sp>
        <p:nvSpPr>
          <p:cNvPr id="7" name="Rectangle 6"/>
          <p:cNvSpPr/>
          <p:nvPr/>
        </p:nvSpPr>
        <p:spPr>
          <a:xfrm>
            <a:off x="6693408" y="2103120"/>
            <a:ext cx="14630" cy="4059935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50431" y="2052827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86016" y="1911095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Paper</a:t>
            </a:r>
          </a:p>
        </p:txBody>
      </p:sp>
      <p:sp>
        <p:nvSpPr>
          <p:cNvPr id="10" name="Oval 9"/>
          <p:cNvSpPr/>
          <p:nvPr/>
        </p:nvSpPr>
        <p:spPr>
          <a:xfrm>
            <a:off x="6650431" y="4073652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86016" y="3931920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Author code</a:t>
            </a:r>
          </a:p>
        </p:txBody>
      </p:sp>
      <p:sp>
        <p:nvSpPr>
          <p:cNvPr id="12" name="Oval 11"/>
          <p:cNvSpPr/>
          <p:nvPr/>
        </p:nvSpPr>
        <p:spPr>
          <a:xfrm>
            <a:off x="6650431" y="6094476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86016" y="5952744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Course variant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L06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从经典结构到可检查的实现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代码实操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47088"/>
            <a:ext cx="76809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0">
                <a:solidFill>
                  <a:srgbClr val="5C6B7A"/>
                </a:solidFill>
                <a:latin typeface="Microsoft YaHei"/>
                <a:ea typeface="Microsoft YaHei"/>
              </a:rPr>
              <a:t>打开  </a:t>
            </a:r>
            <a:r>
              <a:rPr sz="1300" b="0">
                <a:solidFill>
                  <a:srgbClr val="1C2B3A"/>
                </a:solidFill>
                <a:latin typeface="Consolas"/>
                <a:ea typeface="Microsoft YaHei"/>
              </a:rPr>
              <a:t>03_hybridsn_baseline.ipynb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2487168"/>
            <a:ext cx="6858000" cy="1920239"/>
          </a:xfrm>
          <a:prstGeom prst="roundRect">
            <a:avLst>
              <a:gd name="adj" fmla="val 4500"/>
            </a:avLst>
          </a:prstGeom>
          <a:solidFill>
            <a:srgbClr val="20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25296" y="2798064"/>
            <a:ext cx="6172200" cy="13533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42000"/>
              </a:lnSpc>
            </a:pPr>
            <a:r>
              <a:rPr sz="1300" b="0">
                <a:solidFill>
                  <a:srgbClr val="DEE9F2"/>
                </a:solidFill>
                <a:latin typeface="Consolas"/>
                <a:ea typeface="Microsoft YaHei"/>
              </a:rPr>
              <a:t>features = conv3(conv2(conv1(inputs.unsqueeze(1))))</a:t>
            </a:r>
          </a:p>
          <a:p>
            <a:pPr>
              <a:lnSpc>
                <a:spcPct val="142000"/>
              </a:lnSpc>
            </a:pPr>
            <a:r>
              <a:rPr sz="1300" b="0">
                <a:solidFill>
                  <a:srgbClr val="DEE9F2"/>
                </a:solidFill>
                <a:latin typeface="Consolas"/>
                <a:ea typeface="Microsoft YaHei"/>
              </a:rPr>
              <a:t>n,c,d,h,w = features.shape</a:t>
            </a:r>
          </a:p>
          <a:p>
            <a:pPr>
              <a:lnSpc>
                <a:spcPct val="142000"/>
              </a:lnSpc>
            </a:pPr>
            <a:r>
              <a:rPr sz="1300" b="0">
                <a:solidFill>
                  <a:srgbClr val="DEE9F2"/>
                </a:solidFill>
                <a:latin typeface="Consolas"/>
                <a:ea typeface="Microsoft YaHei"/>
              </a:rPr>
              <a:t>features = features.reshape(n,c*d,h,w)</a:t>
            </a:r>
          </a:p>
          <a:p>
            <a:pPr>
              <a:lnSpc>
                <a:spcPct val="142000"/>
              </a:lnSpc>
            </a:pPr>
            <a:r>
              <a:rPr sz="1300" b="0">
                <a:solidFill>
                  <a:srgbClr val="DEE9F2"/>
                </a:solidFill>
                <a:latin typeface="Consolas"/>
                <a:ea typeface="Microsoft YaHei"/>
              </a:rPr>
              <a:t>logits = classifier(conv2d(features).flatten(1))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66344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0">
                <a:solidFill>
                  <a:srgbClr val="5C6B7A"/>
                </a:solidFill>
                <a:latin typeface="Microsoft YaHei"/>
                <a:ea typeface="Microsoft YaHei"/>
              </a:rPr>
              <a:t>定位 cell  </a:t>
            </a:r>
            <a:r>
              <a:rPr sz="1300" b="0">
                <a:solidFill>
                  <a:srgbClr val="1C2B3A"/>
                </a:solidFill>
                <a:latin typeface="Consolas"/>
                <a:ea typeface="Microsoft YaHei"/>
              </a:rPr>
              <a:t>HybridSN, forward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3852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现场安排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395728"/>
            <a:ext cx="3246120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现场：逐个运行本页 cell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完整训练：课前排队完成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结果解读：以当前输出为准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L06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从经典结构到可检查的实现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课堂练习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148840"/>
            <a:ext cx="6035040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5000"/>
              </a:lnSpc>
            </a:pPr>
            <a:r>
              <a:rPr sz="2300" b="0">
                <a:solidFill>
                  <a:srgbClr val="1C2B3A"/>
                </a:solidFill>
                <a:latin typeface="Microsoft YaHei"/>
                <a:ea typeface="Microsoft YaHei"/>
              </a:rPr>
              <a:t>PCA从15改30，先推断Conv2d输入通道，再用forward验证。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4892040"/>
            <a:ext cx="5669280" cy="603504"/>
          </a:xfrm>
          <a:prstGeom prst="roundRect">
            <a:avLst>
              <a:gd name="adj" fmla="val 50000"/>
            </a:avLst>
          </a:prstGeom>
          <a:noFill/>
          <a:ln w="13970">
            <a:solidFill>
              <a:srgbClr val="C957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5056632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400" b="1">
                <a:solidFill>
                  <a:srgbClr val="C9571E"/>
                </a:solidFill>
                <a:latin typeface="Microsoft YaHei"/>
                <a:ea typeface="Microsoft YaHei"/>
              </a:rPr>
              <a:t>任务 A03</a:t>
            </a:r>
            <a:r>
              <a:rPr sz="1400" b="0">
                <a:solidFill>
                  <a:srgbClr val="1C2B3A"/>
                </a:solidFill>
                <a:latin typeface="Microsoft YaHei"/>
                <a:ea typeface="Microsoft YaHei"/>
              </a:rPr>
              <a:t>　交付：代码 + 配置 + 解释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2057400"/>
            <a:ext cx="3886200" cy="3438144"/>
          </a:xfrm>
          <a:prstGeom prst="rect">
            <a:avLst/>
          </a:prstGeom>
          <a:noFill/>
          <a:ln w="15240">
            <a:solidFill>
              <a:srgbClr val="D9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2350008"/>
            <a:ext cx="324612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Microsoft YaHei"/>
                <a:ea typeface="Microsoft YaHei"/>
              </a:rPr>
              <a:t>先写预测，再运行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3355848"/>
            <a:ext cx="3246120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0" y="4069080"/>
            <a:ext cx="3246120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0" y="4782312"/>
            <a:ext cx="3246120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L06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从经典结构到可检查的实现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AI 辅助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1248" y="2651760"/>
            <a:ext cx="6903720" cy="2651760"/>
          </a:xfrm>
          <a:prstGeom prst="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2651760"/>
            <a:ext cx="50292" cy="2651760"/>
          </a:xfrm>
          <a:prstGeom prst="rect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2898648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提示词（可直接复制）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319272"/>
            <a:ext cx="626364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40000"/>
              </a:lnSpc>
            </a:pPr>
            <a:r>
              <a:rPr sz="1550" b="0">
                <a:solidFill>
                  <a:srgbClr val="1C2B3A"/>
                </a:solidFill>
                <a:latin typeface="Microsoft YaHei"/>
                <a:ea typeface="Microsoft YaHei"/>
              </a:rPr>
              <a:t>只比较提供的论文段落和源码，输出差异表；每项附页码或函数名。没有来源的PCA/epoch/seed标unknown，不猜论文默认值。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27157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人工核验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3136392"/>
            <a:ext cx="3246120" cy="21945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5000"/>
              </a:lnSpc>
            </a:pPr>
            <a:r>
              <a:rPr sz="1450" b="0">
                <a:solidFill>
                  <a:srgbClr val="1C2B3A"/>
                </a:solidFill>
                <a:latin typeface="Microsoft YaHei"/>
                <a:ea typeface="Microsoft YaHei"/>
              </a:rPr>
              <a:t>逐项读原文和源码；形状由framework核对；引用不能由搜索摘要替代。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L06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从经典结构到可检查的实现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小结与边界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148840"/>
            <a:ext cx="5669280" cy="3291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20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2000" b="0">
                <a:solidFill>
                  <a:srgbClr val="1C2B3A"/>
                </a:solidFill>
                <a:latin typeface="Microsoft YaHei"/>
                <a:ea typeface="Microsoft YaHei"/>
              </a:rPr>
              <a:t>教学同构不等于逐数复现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20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2000" b="0">
                <a:solidFill>
                  <a:srgbClr val="1C2B3A"/>
                </a:solidFill>
                <a:latin typeface="Microsoft YaHei"/>
                <a:ea typeface="Microsoft YaHei"/>
              </a:rPr>
              <a:t>参数压缩不自动产生论文贡献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0" y="2103120"/>
            <a:ext cx="4114800" cy="2743200"/>
          </a:xfrm>
          <a:prstGeom prst="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0" y="2103120"/>
            <a:ext cx="50292" cy="2743200"/>
          </a:xfrm>
          <a:prstGeom prst="rect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07808" y="2395728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回到本课开头的问题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07808" y="2834640"/>
            <a:ext cx="352044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40000"/>
              </a:lnSpc>
            </a:pP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HybridSN 的 reshape 为什么是关键？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L06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从经典结构到可检查的实现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来源、版本与复现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993392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1">
                <a:solidFill>
                  <a:srgbClr val="1C2B3A"/>
                </a:solidFill>
                <a:latin typeface="Microsoft YaHei"/>
                <a:ea typeface="Microsoft YaHei"/>
              </a:rPr>
              <a:t>HybridSN author repository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2020824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</a:rPr>
              <a:t>https://github.com/gokriznastic/HybridSN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2487168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2651760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1">
                <a:solidFill>
                  <a:srgbClr val="1C2B3A"/>
                </a:solidFill>
                <a:latin typeface="Microsoft YaHei"/>
                <a:ea typeface="Microsoft YaHei"/>
              </a:rPr>
              <a:t>PyTorch documentation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679192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</a:rPr>
              <a:t>https://docs.pytorch.org/docs/stable/index.html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3145536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57607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5C6B7A"/>
                </a:solidFill>
                <a:latin typeface="Microsoft YaHei"/>
                <a:ea typeface="Microsoft YaHei"/>
              </a:rPr>
              <a:t>完整来源状态与许可边界见 docs/teaching/source-audit.md；图像取自当前 Notebook 输出。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HybridSN 的 reshape 为什么是关键？</dc:title>
  <dc:subject>Theory + practice + verified AI research assistance</dc:subject>
  <dc:creator>HSI-Learning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