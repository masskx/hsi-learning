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开场" id="{c719a966-8cb5-dfe2-bfe9-b0bf68d151cf}">
          <p14:sldIdLst>
            <p14:sldId id="256"/>
            <p14:sldId id="257"/>
          </p14:sldIdLst>
        </p14:section>
        <p14:section name="讲解" id="{8c0d6e6e-3043-6a8b-730e-beac58142be3}">
          <p14:sldIdLst>
            <p14:sldId id="258"/>
            <p14:sldId id="259"/>
            <p14:sldId id="260"/>
            <p14:sldId id="261"/>
            <p14:sldId id="262"/>
            <p14:sldId id="263"/>
            <p14:sldId id="264"/>
          </p14:sldIdLst>
        </p14:section>
        <p14:section name="练习" id="{bb741235-6312-8ff9-850e-31d7328ca880}">
          <p14:sldIdLst>
            <p14:sldId id="265"/>
            <p14:sldId id="266"/>
          </p14:sldIdLst>
        </p14:section>
        <p14:section name="收束" id="{06a13785-6d28-1b70-d415-0836c9fa29ba}">
          <p14:sldIdLst>
            <p14:sldId id="2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开场问题：reshape合并C和D是否减少元素数？
原标题：HybridSN 的 reshape 为什么是关键？
参考节奏：5分钟回顾，10分钟手算，10分钟代码，12分钟练习，5分钟错误分析，3分钟退出题。
课堂入口: 11_patch_hybridsn_classroom.ipynb
定位: hybridsn-shapes, reshape-check, pca-change
先预测，再运行；答错时回到手算例。
AI辅助：只比较提供的论文段落和源码，输出差异表；每项附页码或函数名。没有来源的PCA/epoch/seed标unknown，不猜论文默认值。
人工核验：逐项读原文和源码；形状由framework核对；引用不能由搜索摘要替代。
HybridSN author repository
https://github.com/gokriznastic/HybridSN
PyTorch documentation
https://docs.pytorch.org/docs/stable/index.html
运行配置、数据哈希和结果：artifacts/teaching/classroom-facts.json
封面图源：03_hybridsn_baseline.ipynb / legacy-16 / 0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交付物以代码、配置、输出和解释为准。先做完整示例，再做填空与迁移任务。
课堂入口: 11_patch_hybridsn_classroom.ipynb
定位: hybridsn-shapes, reshape-check, pca-change
先预测，再运行；答错时回到手算例。
AI辅助：只比较提供的论文段落和源码，输出差异表；每项附页码或函数名。没有来源的PCA/epoch/seed标unknown，不猜论文默认值。
人工核验：逐项读原文和源码；形状由framework核对；引用不能由搜索摘要替代。
HybridSN author repository
https://github.com/gokriznastic/HybridSN
PyTorch documentation
https://docs.pytorch.org/docs/stable/index.html
运行配置、数据哈希和结果：artifacts/teaching/classroom-facts.json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只讲有实现证据的结构，不搬未经核实论文表格数字。
3D features / Reshape / 2D refinement
课堂入口: 11_patch_hybridsn_classroom.ipynb
定位: hybridsn-shapes, reshape-check, pca-change
先预测，再运行；答错时回到手算例。
AI辅助：只比较提供的论文段落和源码，输出差异表；每项附页码或函数名。没有来源的PCA/epoch/seed标unknown，不猜论文默认值。
人工核验：逐项读原文和源码；形状由framework核对；引用不能由搜索摘要替代。
HybridSN author repository
https://github.com/gokriznastic/HybridSN
PyTorch documentation
https://docs.pytorch.org/docs/stable/index.html
运行配置、数据哈希和结果：artifacts/teaching/classroom-facts.json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现场一次 dummy forward 核对张量而不是死记表。注意 17×17 出现在 2D 卷积之后。
25×25×15 / 19×19×3 / 17×17
课堂入口: 11_patch_hybridsn_classroom.ipynb
定位: hybridsn-shapes, reshape-check, pca-change
先预测，再运行；答错时回到手算例。
AI辅助：只比较提供的论文段落和源码，输出差异表；每项附页码或函数名。没有来源的PCA/epoch/seed标unknown，不猜论文默认值。
人工核验：逐项读原文和源码；形状由framework核对；引用不能由搜索摘要替代。
HybridSN author repository
https://github.com/gokriznastic/HybridSN
PyTorch documentation
https://docs.pytorch.org/docs/stable/index.html
运行配置、数据哈希和结果：artifacts/teaching/classroom-facts.json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用arange小张量验证元素对应。permute和view不是同义。
N,32,3,19,19 / view / N,96,19,19
课堂入口: 11_patch_hybridsn_classroom.ipynb
定位: hybridsn-shapes, reshape-check, pca-change
先预测，再运行；答错时回到手算例。
AI辅助：只比较提供的论文段落和源码，输出差异表；每项附页码或函数名。没有来源的PCA/epoch/seed标unknown，不猜论文默认值。
人工核验：逐项读原文和源码；形状由framework核对；引用不能由搜索摘要替代。
HybridSN author repository
https://github.com/gokriznastic/HybridSN
PyTorch documentation
https://docs.pytorch.org/docs/stable/index.html
运行配置、数据哈希和结果：artifacts/teaching/classroom-facts.json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手算 4,735,232：参数大头不是卷积而是第一个全连接。这不是"无损压缩"，是结构选择。
Flatten 18,496 / Linear 256 / Trade-off
课堂入口: 11_patch_hybridsn_classroom.ipynb
定位: hybridsn-shapes, reshape-check, pca-change
先预测，再运行；答错时回到手算例。
AI辅助：只比较提供的论文段落和源码，输出差异表；每项附页码或函数名。没有来源的PCA/epoch/seed标unknown，不猜论文默认值。
人工核验：逐项读原文和源码；形状由framework核对；引用不能由搜索摘要替代。
HybridSN author repository
https://github.com/gokriznastic/HybridSN
PyTorch documentation
https://docs.pytorch.org/docs/stable/index.html
运行配置、数据哈希和结果：artifacts/teaching/classroom-facts.json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曲线来自notebook 03实际训练（协议B，测试 6150 样本）。两个干货：val 下滑后不能回头选 test 最好的轮次；训练中途崩一次再恢复也很常见——看曲线而不是看单点。
历史协议B输出，仅用于结构/读图；不是协议E的比较成绩。 历史曲线由保存的epoch日志重绘，数值与历史协议B不变；logged loss保留旧代码的归一化口径。
Loss curve / Val plateau / Best epoch
图源：03_hybridsn_baseline.ipynb / legacy-16 / 0
课堂入口: 11_patch_hybridsn_classroom.ipynb
定位: hybridsn-shapes, reshape-check, pca-change
先预测，再运行；答错时回到手算例。
AI辅助：只比较提供的论文段落和源码，输出差异表；每项附页码或函数名。没有来源的PCA/epoch/seed标unknown，不猜论文默认值。
人工核验：逐项读原文和源码；形状由framework核对；引用不能由搜索摘要替代。
HybridSN author repository
https://github.com/gokriznastic/HybridSN
PyTorch documentation
https://docs.pytorch.org/docs/stable/index.html
运行配置、数据哈希和结果：artifacts/teaching/classroom-facts.json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官方链接是gokriznastic/HybridSN。来源未访问的表项保持待核验。本项目还撤回过一条不实归属：自定义方差惩罚不是SSRN论文的内容。
Paper / Author code / Course variant
课堂入口: 11_patch_hybridsn_classroom.ipynb
定位: hybridsn-shapes, reshape-check, pca-change
先预测，再运行；答错时回到手算例。
AI辅助：只比较提供的论文段落和源码，输出差异表；每项附页码或函数名。没有来源的PCA/epoch/seed标unknown，不猜论文默认值。
人工核验：逐项读原文和源码；形状由framework核对；引用不能由搜索摘要替代。
HybridSN author repository
https://github.com/gokriznastic/HybridSN
PyTorch documentation
https://docs.pytorch.org/docs/stable/index.html
运行配置、数据哈希和结果：artifacts/teaching/classroom-facts.json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本课使用随机权重前向，不能把其输出命名为训练预测结果。
课堂入口: 11_patch_hybridsn_classroom.ipynb
定位: hybridsn-shapes, reshape-check, pca-change
先预测，再运行；答错时回到手算例。
AI辅助：只比较提供的论文段落和源码，输出差异表；每项附页码或函数名。没有来源的PCA/epoch/seed标unknown，不猜论文默认值。
人工核验：逐项读原文和源码；形状由framework核对；引用不能由搜索摘要替代。
HybridSN author repository
https://github.com/gokriznastic/HybridSN
PyTorch documentation
https://docs.pytorch.org/docs/stable/index.html
运行配置、数据哈希和结果：artifacts/teaching/classroom-facts.json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只运行指定短cell；完整训练已在课前完成。缺资产时使用已执行输出备用并说明。
课堂入口: 11_patch_hybridsn_classroom.ipynb
定位: hybridsn-shapes, reshape-check, pca-change
先预测，再运行；答错时回到手算例。
AI辅助：只比较提供的论文段落和源码，输出差异表；每项附页码或函数名。没有来源的PCA/epoch/seed标unknown，不猜论文默认值。
人工核验：逐项读原文和源码；形状由framework核对；引用不能由搜索摘要替代。
HybridSN author repository
https://github.com/gokriznastic/HybridSN
PyTorch documentation
https://docs.pytorch.org/docs/stable/index.html
运行配置、数据哈希和结果：artifacts/teaching/classroom-facts.json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停下来收集预测，发现错误后重新解释；不等到课后作业才知道学生没理解。
作业：A03；完整示例 / 填空 / 迁移；提交代码、配置、结果和限制。
课堂入口: 11_patch_hybridsn_classroom.ipynb
定位: hybridsn-shapes, reshape-check, pca-change
先预测，再运行；答错时回到手算例。
AI辅助：只比较提供的论文段落和源码，输出差异表；每项附页码或函数名。没有来源的PCA/epoch/seed标unknown，不猜论文默认值。
人工核验：逐项读原文和源码；形状由framework核对；引用不能由搜索摘要替代。
HybridSN author repository
https://github.com/gokriznastic/HybridSN
PyTorch documentation
https://docs.pytorch.org/docs/stable/index.html
运行配置、数据哈希和结果：artifacts/teaching/classroom-facts.json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区分已观察事实、候选解释与下一项检验。
退出题：reshape合并C和D是否减少元素数？
课堂入口: 11_patch_hybridsn_classroom.ipynb
定位: hybridsn-shapes, reshape-check, pca-change
先预测，再运行；答错时回到手算例。
AI辅助：只比较提供的论文段落和源码，输出差异表；每项附页码或函数名。没有来源的PCA/epoch/seed标unknown，不猜论文默认值。
人工核验：逐项读原文和源码；形状由framework核对；引用不能由搜索摘要替代。
HybridSN author repository
https://github.com/gokriznastic/HybridSN
PyTorch documentation
https://docs.pytorch.org/docs/stable/index.html
运行配置、数据哈希和结果：artifacts/teaching/classroom-facts.json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4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0D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HSI-Learning/slides/assets/brand/spectrum-bars.png">    </p:cNvPr>
          <p:cNvPicPr>
            <a:picLocks noChangeAspect="1"/>
          </p:cNvPicPr>
          <p:nvPr/>
        </p:nvPicPr>
        <p:blipFill>
          <a:blip r:embed="rId1">
            <a:alphaModFix amt="85000"/>
          </a:blip>
          <a:stretch>
            <a:fillRect/>
          </a:stretch>
        </p:blipFill>
        <p:spPr>
          <a:xfrm>
            <a:off x="0" y="5440680"/>
            <a:ext cx="12191695" cy="14173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85800" y="56692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A9BAC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HSI-LEARNING  ·  高光谱图像分类课程</a:t>
            </a:r>
            <a:endParaRPr lang="en-US" sz="1200" dirty="0"/>
          </a:p>
        </p:txBody>
      </p:sp>
      <p:sp>
        <p:nvSpPr>
          <p:cNvPr id="4" name="Text 1"/>
          <p:cNvSpPr/>
          <p:nvPr>
            <p:ph idx="102" type="title" hasCustomPrompt="1"/>
          </p:nvPr>
        </p:nvSpPr>
        <p:spPr>
          <a:xfrm>
            <a:off x="685800" y="1828800"/>
            <a:ext cx="6309360" cy="1783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108000"/>
              </a:lnSpc>
              <a:buNone/>
              <a:defRPr lang="en-US" sz="5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defRPr>
            </a:lvl1pPr>
          </a:lstStyle>
          <a:p>
            <a:pPr algn="l" indent="0" marL="0">
              <a:lnSpc>
                <a:spcPct val="108000"/>
              </a:lnSpc>
              <a:buNone/>
            </a:pPr>
            <a:endParaRPr lang="en-US" sz="5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384048"/>
            <a:ext cx="658368" cy="274320"/>
          </a:xfrm>
          <a:prstGeom prst="rect">
            <a:avLst>
              <a:gd name="adj" fmla="val 20000"/>
            </a:avLst>
          </a:prstGeom>
          <a:solidFill>
            <a:srgbClr val="0D1B2E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84048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L06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508760" y="3840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50" kern="0" dirty="0">
                <a:solidFill>
                  <a:srgbClr val="5F6E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HSI-LEARNING  ·  高光谱图像分类课程</a:t>
            </a:r>
            <a:endParaRPr lang="en-US" sz="1100" dirty="0"/>
          </a:p>
        </p:txBody>
      </p:sp>
      <p:sp>
        <p:nvSpPr>
          <p:cNvPr id="5" name="Text 3"/>
          <p:cNvSpPr/>
          <p:nvPr>
            <p:ph idx="103" type="title" hasCustomPrompt="1"/>
          </p:nvPr>
        </p:nvSpPr>
        <p:spPr>
          <a:xfrm>
            <a:off x="685800" y="868680"/>
            <a:ext cx="10820095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rgbClr val="1423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82935" y="384048"/>
            <a:ext cx="8229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100">
                <a:solidFill>
                  <a:srgbClr val="5F6E80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0D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HSI-Learning/slides/assets/brand/spectrum-bars.png">    </p:cNvPr>
          <p:cNvPicPr>
            <a:picLocks noChangeAspect="1"/>
          </p:cNvPicPr>
          <p:nvPr/>
        </p:nvPicPr>
        <p:blipFill>
          <a:blip r:embed="rId1">
            <a:alphaModFix amt="55000"/>
          </a:blip>
          <a:stretch>
            <a:fillRect/>
          </a:stretch>
        </p:blipFill>
        <p:spPr>
          <a:xfrm>
            <a:off x="0" y="5897880"/>
            <a:ext cx="12191695" cy="96012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85800" y="384048"/>
            <a:ext cx="658368" cy="274320"/>
          </a:xfrm>
          <a:prstGeom prst="rect">
            <a:avLst>
              <a:gd name="adj" fmla="val 20000"/>
            </a:avLst>
          </a:prstGeom>
          <a:solidFill>
            <a:srgbClr val="2F5BB7"/>
          </a:solidFill>
          <a:ln/>
        </p:spPr>
      </p:sp>
      <p:sp>
        <p:nvSpPr>
          <p:cNvPr id="4" name="Text 1"/>
          <p:cNvSpPr/>
          <p:nvPr/>
        </p:nvSpPr>
        <p:spPr>
          <a:xfrm>
            <a:off x="685800" y="384048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L06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508760" y="3840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50" kern="0" dirty="0">
                <a:solidFill>
                  <a:srgbClr val="A9BAC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HSI-LEARNING  ·  高光谱图像分类课程</a:t>
            </a:r>
            <a:endParaRPr lang="en-US" sz="1100" dirty="0"/>
          </a:p>
        </p:txBody>
      </p:sp>
      <p:sp>
        <p:nvSpPr>
          <p:cNvPr id="6" name="Text 3"/>
          <p:cNvSpPr/>
          <p:nvPr>
            <p:ph idx="104" type="title" hasCustomPrompt="1"/>
          </p:nvPr>
        </p:nvSpPr>
        <p:spPr>
          <a:xfrm>
            <a:off x="685800" y="868680"/>
            <a:ext cx="10820095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82935" y="384048"/>
            <a:ext cx="8229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100">
                <a:solidFill>
                  <a:srgbClr val="A9BACD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82935" y="384048"/>
            <a:ext cx="8229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100">
                <a:solidFill>
                  <a:srgbClr val="5F6E80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685800" y="1828800"/>
            <a:ext cx="630936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5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读懂</a:t>
            </a:r>
            <a:endParaRPr lang="en-US" sz="50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5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HybridSN</a:t>
            </a:r>
            <a:endParaRPr lang="en-US" sz="5000" dirty="0"/>
          </a:p>
        </p:txBody>
      </p:sp>
      <p:sp>
        <p:nvSpPr>
          <p:cNvPr id="3" name="lesson id"/>
          <p:cNvSpPr/>
          <p:nvPr/>
        </p:nvSpPr>
        <p:spPr>
          <a:xfrm>
            <a:off x="685800" y="1243584"/>
            <a:ext cx="786384" cy="347472"/>
          </a:xfrm>
          <a:prstGeom prst="roundRect">
            <a:avLst>
              <a:gd name="adj" fmla="val 18421"/>
            </a:avLst>
          </a:prstGeom>
          <a:solidFill>
            <a:srgbClr val="2F5BB7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85800" y="1243584"/>
            <a:ext cx="7863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L06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3730752"/>
            <a:ext cx="6400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F5B5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本课问题  </a:t>
            </a:r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HybridSN 的 reshape 为什么是关键？</a:t>
            </a:r>
            <a:endParaRPr lang="en-US" sz="19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4206240"/>
            <a:ext cx="6400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A9BAC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从经典结构到可检查的实现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4645152"/>
            <a:ext cx="6400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A9BAC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先修  ·  L05：3D与2D轴语义</a:t>
            </a:r>
            <a:endParaRPr lang="en-US" sz="1300" dirty="0"/>
          </a:p>
        </p:txBody>
      </p:sp>
      <p:sp>
        <p:nvSpPr>
          <p:cNvPr id="8" name="hero frame"/>
          <p:cNvSpPr/>
          <p:nvPr/>
        </p:nvSpPr>
        <p:spPr>
          <a:xfrm>
            <a:off x="6842455" y="1988820"/>
            <a:ext cx="466344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28600" dist="76200" dir="5400000">
              <a:srgbClr val="000000">
                <a:alpha val="35000"/>
              </a:srgbClr>
            </a:outerShdw>
          </a:effectLst>
        </p:spPr>
      </p:sp>
      <p:pic>
        <p:nvPicPr>
          <p:cNvPr id="9" name="Image 0" descr="cover figur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3623" y="2284476"/>
            <a:ext cx="4261104" cy="142036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3" type="title" hasCustomPrompt="1"/>
          </p:nvPr>
        </p:nvSpPr>
        <p:spPr>
          <a:xfrm>
            <a:off x="685800" y="868680"/>
            <a:ext cx="108200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423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这节课，你将完成什么</a:t>
            </a:r>
            <a:endParaRPr lang="en-US" sz="3000" dirty="0"/>
          </a:p>
        </p:txBody>
      </p:sp>
      <p:sp>
        <p:nvSpPr>
          <p:cNvPr id="3" name="deliverable 1"/>
          <p:cNvSpPr/>
          <p:nvPr/>
        </p:nvSpPr>
        <p:spPr>
          <a:xfrm>
            <a:off x="685800" y="1920240"/>
            <a:ext cx="3423818" cy="2240280"/>
          </a:xfrm>
          <a:prstGeom prst="roundRect">
            <a:avLst>
              <a:gd name="adj" fmla="val 4082"/>
            </a:avLst>
          </a:prstGeom>
          <a:solidFill>
            <a:srgbClr val="F2F5F9"/>
          </a:solidFill>
          <a:ln/>
        </p:spPr>
      </p:sp>
      <p:sp>
        <p:nvSpPr>
          <p:cNvPr id="4" name="chip 01"/>
          <p:cNvSpPr/>
          <p:nvPr/>
        </p:nvSpPr>
        <p:spPr>
          <a:xfrm>
            <a:off x="1005840" y="2240280"/>
            <a:ext cx="512064" cy="512064"/>
          </a:xfrm>
          <a:prstGeom prst="roundRect">
            <a:avLst>
              <a:gd name="adj" fmla="val 16071"/>
            </a:avLst>
          </a:prstGeom>
          <a:solidFill>
            <a:srgbClr val="5B3FA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05840" y="224028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2971800"/>
            <a:ext cx="278373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1423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结构映射表</a:t>
            </a:r>
            <a:endParaRPr lang="en-US" sz="2200" dirty="0"/>
          </a:p>
        </p:txBody>
      </p:sp>
      <p:sp>
        <p:nvSpPr>
          <p:cNvPr id="7" name="deliverable 2"/>
          <p:cNvSpPr/>
          <p:nvPr/>
        </p:nvSpPr>
        <p:spPr>
          <a:xfrm>
            <a:off x="4383938" y="1920240"/>
            <a:ext cx="3423818" cy="2240280"/>
          </a:xfrm>
          <a:prstGeom prst="roundRect">
            <a:avLst>
              <a:gd name="adj" fmla="val 4082"/>
            </a:avLst>
          </a:prstGeom>
          <a:solidFill>
            <a:srgbClr val="F2F5F9"/>
          </a:solidFill>
          <a:ln/>
        </p:spPr>
      </p:sp>
      <p:sp>
        <p:nvSpPr>
          <p:cNvPr id="8" name="chip 02"/>
          <p:cNvSpPr/>
          <p:nvPr/>
        </p:nvSpPr>
        <p:spPr>
          <a:xfrm>
            <a:off x="4703978" y="2240280"/>
            <a:ext cx="512064" cy="512064"/>
          </a:xfrm>
          <a:prstGeom prst="roundRect">
            <a:avLst>
              <a:gd name="adj" fmla="val 16071"/>
            </a:avLst>
          </a:prstGeom>
          <a:solidFill>
            <a:srgbClr val="2E9E4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703978" y="224028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4703978" y="2971800"/>
            <a:ext cx="278373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1423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形状与参数核对</a:t>
            </a:r>
            <a:endParaRPr lang="en-US" sz="2200" dirty="0"/>
          </a:p>
        </p:txBody>
      </p:sp>
      <p:sp>
        <p:nvSpPr>
          <p:cNvPr id="11" name="deliverable 3"/>
          <p:cNvSpPr/>
          <p:nvPr/>
        </p:nvSpPr>
        <p:spPr>
          <a:xfrm>
            <a:off x="8082077" y="1920240"/>
            <a:ext cx="3423818" cy="2240280"/>
          </a:xfrm>
          <a:prstGeom prst="roundRect">
            <a:avLst>
              <a:gd name="adj" fmla="val 4082"/>
            </a:avLst>
          </a:prstGeom>
          <a:solidFill>
            <a:srgbClr val="F2F5F9"/>
          </a:solidFill>
          <a:ln/>
        </p:spPr>
      </p:sp>
      <p:sp>
        <p:nvSpPr>
          <p:cNvPr id="12" name="chip 03"/>
          <p:cNvSpPr/>
          <p:nvPr/>
        </p:nvSpPr>
        <p:spPr>
          <a:xfrm>
            <a:off x="8402117" y="2240280"/>
            <a:ext cx="512064" cy="512064"/>
          </a:xfrm>
          <a:prstGeom prst="roundRect">
            <a:avLst>
              <a:gd name="adj" fmla="val 16071"/>
            </a:avLst>
          </a:prstGeom>
          <a:solidFill>
            <a:srgbClr val="D33A2C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402117" y="224028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8402117" y="2971800"/>
            <a:ext cx="278373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1423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一个可证伪消融问题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685800" y="4846320"/>
            <a:ext cx="10820095" cy="0"/>
          </a:xfrm>
          <a:prstGeom prst="line">
            <a:avLst/>
          </a:prstGeom>
          <a:noFill/>
          <a:ln w="12700">
            <a:solidFill>
              <a:srgbClr val="DCE3E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85800" y="5074920"/>
            <a:ext cx="342381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5F6E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NOTEBOOK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685800" y="5440680"/>
            <a:ext cx="342381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4233A"/>
                </a:solidFill>
                <a:latin typeface="Consolas" pitchFamily="34" charset="0"/>
                <a:ea typeface="Microsoft YaHei" pitchFamily="34" charset="-122"/>
                <a:cs typeface="Consolas" pitchFamily="34" charset="-120"/>
              </a:rPr>
              <a:t>11_patch_hybridsn_classroom.ipynb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4383938" y="5074920"/>
            <a:ext cx="342381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5F6E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定位 CELL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4383938" y="5440680"/>
            <a:ext cx="342381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4233A"/>
                </a:solidFill>
                <a:latin typeface="Consolas" pitchFamily="34" charset="0"/>
                <a:ea typeface="Microsoft YaHei" pitchFamily="34" charset="-122"/>
                <a:cs typeface="Consolas" pitchFamily="34" charset="-120"/>
              </a:rPr>
              <a:t>hybridsn-shapes · reshape-check · pca-change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8082077" y="5074920"/>
            <a:ext cx="342381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5F6E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作业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8082077" y="5440680"/>
            <a:ext cx="342381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1423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A03 · 完整示例 / 填空 / 迁移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82935" y="384048"/>
            <a:ext cx="8229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100">
                <a:solidFill>
                  <a:srgbClr val="5F6E80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3" type="title" hasCustomPrompt="1"/>
          </p:nvPr>
        </p:nvSpPr>
        <p:spPr>
          <a:xfrm>
            <a:off x="685800" y="868680"/>
            <a:ext cx="108200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423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不是混合就一定更好</a:t>
            </a:r>
            <a:endParaRPr lang="en-US" sz="3000" dirty="0"/>
          </a:p>
        </p:txBody>
      </p:sp>
      <p:sp>
        <p:nvSpPr>
          <p:cNvPr id="3" name="chip 01"/>
          <p:cNvSpPr/>
          <p:nvPr/>
        </p:nvSpPr>
        <p:spPr>
          <a:xfrm>
            <a:off x="685800" y="2002536"/>
            <a:ext cx="420624" cy="420624"/>
          </a:xfrm>
          <a:prstGeom prst="roundRect">
            <a:avLst>
              <a:gd name="adj" fmla="val 19565"/>
            </a:avLst>
          </a:prstGeom>
          <a:solidFill>
            <a:srgbClr val="5B3FA0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85800" y="200253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1307592" y="1965960"/>
            <a:ext cx="5779008" cy="1322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2100" dirty="0">
                <a:solidFill>
                  <a:srgbClr val="1423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3D保留depth方向局部建模</a:t>
            </a:r>
            <a:endParaRPr lang="en-US" sz="2100" dirty="0"/>
          </a:p>
        </p:txBody>
      </p:sp>
      <p:sp>
        <p:nvSpPr>
          <p:cNvPr id="6" name="chip 02"/>
          <p:cNvSpPr/>
          <p:nvPr/>
        </p:nvSpPr>
        <p:spPr>
          <a:xfrm>
            <a:off x="685800" y="3435096"/>
            <a:ext cx="420624" cy="420624"/>
          </a:xfrm>
          <a:prstGeom prst="roundRect">
            <a:avLst>
              <a:gd name="adj" fmla="val 19565"/>
            </a:avLst>
          </a:prstGeom>
          <a:solidFill>
            <a:srgbClr val="2E9E4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85800" y="343509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307592" y="3398520"/>
            <a:ext cx="5779008" cy="1322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2100" dirty="0">
                <a:solidFill>
                  <a:srgbClr val="1423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2D继续聚合通道与空间</a:t>
            </a:r>
            <a:endParaRPr lang="en-US" sz="2100" dirty="0"/>
          </a:p>
        </p:txBody>
      </p:sp>
      <p:sp>
        <p:nvSpPr>
          <p:cNvPr id="9" name="chip 03"/>
          <p:cNvSpPr/>
          <p:nvPr/>
        </p:nvSpPr>
        <p:spPr>
          <a:xfrm>
            <a:off x="685800" y="4867656"/>
            <a:ext cx="420624" cy="420624"/>
          </a:xfrm>
          <a:prstGeom prst="roundRect">
            <a:avLst>
              <a:gd name="adj" fmla="val 19565"/>
            </a:avLst>
          </a:prstGeom>
          <a:solidFill>
            <a:srgbClr val="D33A2C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85800" y="48676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307592" y="4831080"/>
            <a:ext cx="5779008" cy="1322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2100" dirty="0">
                <a:solidFill>
                  <a:srgbClr val="1423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效果必须放在协议中测量</a:t>
            </a:r>
            <a:endParaRPr lang="en-US" sz="2100" dirty="0"/>
          </a:p>
        </p:txBody>
      </p:sp>
      <p:sp>
        <p:nvSpPr>
          <p:cNvPr id="12" name="keywords"/>
          <p:cNvSpPr/>
          <p:nvPr/>
        </p:nvSpPr>
        <p:spPr>
          <a:xfrm>
            <a:off x="7635240" y="1874520"/>
            <a:ext cx="3867912" cy="4480560"/>
          </a:xfrm>
          <a:prstGeom prst="roundRect">
            <a:avLst>
              <a:gd name="adj" fmla="val 2364"/>
            </a:avLst>
          </a:prstGeom>
          <a:solidFill>
            <a:srgbClr val="F2F5F9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955280" y="214884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2F5BB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关键词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101584" y="3680460"/>
            <a:ext cx="0" cy="1554480"/>
          </a:xfrm>
          <a:prstGeom prst="line">
            <a:avLst/>
          </a:prstGeom>
          <a:noFill/>
          <a:ln w="19050">
            <a:solidFill>
              <a:srgbClr val="DCE3E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010144" y="3589020"/>
            <a:ext cx="182880" cy="182880"/>
          </a:xfrm>
          <a:prstGeom prst="ellipse">
            <a:avLst/>
          </a:prstGeom>
          <a:solidFill>
            <a:srgbClr val="5B3FA0"/>
          </a:solidFill>
          <a:ln w="25400">
            <a:solidFill>
              <a:srgbClr val="F2F5F9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412480" y="34975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3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3D features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8010144" y="4366260"/>
            <a:ext cx="182880" cy="182880"/>
          </a:xfrm>
          <a:prstGeom prst="ellipse">
            <a:avLst/>
          </a:prstGeom>
          <a:solidFill>
            <a:srgbClr val="2E9E4F"/>
          </a:solidFill>
          <a:ln w="25400">
            <a:solidFill>
              <a:srgbClr val="F2F5F9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412480" y="42748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3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Reshape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8010144" y="5143500"/>
            <a:ext cx="182880" cy="182880"/>
          </a:xfrm>
          <a:prstGeom prst="ellipse">
            <a:avLst/>
          </a:prstGeom>
          <a:solidFill>
            <a:srgbClr val="D33A2C"/>
          </a:solidFill>
          <a:ln w="25400">
            <a:solidFill>
              <a:srgbClr val="F2F5F9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412480" y="505206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3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2D refinement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82935" y="384048"/>
            <a:ext cx="8229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100">
                <a:solidFill>
                  <a:srgbClr val="5F6E80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3" type="title" hasCustomPrompt="1"/>
          </p:nvPr>
        </p:nvSpPr>
        <p:spPr>
          <a:xfrm>
            <a:off x="685800" y="868680"/>
            <a:ext cx="108200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423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无padding，尺寸会逐层收缩</a:t>
            </a:r>
            <a:endParaRPr lang="en-US" sz="3000" dirty="0"/>
          </a:p>
        </p:txBody>
      </p:sp>
      <p:sp>
        <p:nvSpPr>
          <p:cNvPr id="3" name="chip 01"/>
          <p:cNvSpPr/>
          <p:nvPr/>
        </p:nvSpPr>
        <p:spPr>
          <a:xfrm>
            <a:off x="685800" y="2002536"/>
            <a:ext cx="420624" cy="420624"/>
          </a:xfrm>
          <a:prstGeom prst="roundRect">
            <a:avLst>
              <a:gd name="adj" fmla="val 19565"/>
            </a:avLst>
          </a:prstGeom>
          <a:solidFill>
            <a:srgbClr val="5B3FA0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85800" y="200253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1307592" y="1965960"/>
            <a:ext cx="5779008" cy="880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2100" dirty="0">
                <a:solidFill>
                  <a:srgbClr val="1423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空间 25→23→21→19→17</a:t>
            </a:r>
            <a:endParaRPr lang="en-US" sz="2100" dirty="0"/>
          </a:p>
        </p:txBody>
      </p:sp>
      <p:sp>
        <p:nvSpPr>
          <p:cNvPr id="6" name="chip 02"/>
          <p:cNvSpPr/>
          <p:nvPr/>
        </p:nvSpPr>
        <p:spPr>
          <a:xfrm>
            <a:off x="685800" y="2993136"/>
            <a:ext cx="420624" cy="420624"/>
          </a:xfrm>
          <a:prstGeom prst="roundRect">
            <a:avLst>
              <a:gd name="adj" fmla="val 19565"/>
            </a:avLst>
          </a:prstGeom>
          <a:solidFill>
            <a:srgbClr val="2E9E4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85800" y="299313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307592" y="2956560"/>
            <a:ext cx="5779008" cy="880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2100" dirty="0">
                <a:solidFill>
                  <a:srgbClr val="1423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PCA-15 深度 15→9→5→3</a:t>
            </a:r>
            <a:endParaRPr lang="en-US" sz="2100" dirty="0"/>
          </a:p>
        </p:txBody>
      </p:sp>
      <p:sp>
        <p:nvSpPr>
          <p:cNvPr id="9" name="chip 03"/>
          <p:cNvSpPr/>
          <p:nvPr/>
        </p:nvSpPr>
        <p:spPr>
          <a:xfrm>
            <a:off x="685800" y="3983736"/>
            <a:ext cx="420624" cy="420624"/>
          </a:xfrm>
          <a:prstGeom prst="roundRect">
            <a:avLst>
              <a:gd name="adj" fmla="val 19565"/>
            </a:avLst>
          </a:prstGeom>
          <a:solidFill>
            <a:srgbClr val="D33A2C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85800" y="398373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307592" y="3947160"/>
            <a:ext cx="5779008" cy="880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2100" dirty="0">
                <a:solidFill>
                  <a:srgbClr val="1423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输入维数改变要重新核对</a:t>
            </a:r>
            <a:endParaRPr lang="en-US" sz="2100" dirty="0"/>
          </a:p>
        </p:txBody>
      </p:sp>
      <p:sp>
        <p:nvSpPr>
          <p:cNvPr id="12" name="keywords"/>
          <p:cNvSpPr/>
          <p:nvPr/>
        </p:nvSpPr>
        <p:spPr>
          <a:xfrm>
            <a:off x="7635240" y="1874520"/>
            <a:ext cx="3867912" cy="3154680"/>
          </a:xfrm>
          <a:prstGeom prst="roundRect">
            <a:avLst>
              <a:gd name="adj" fmla="val 2899"/>
            </a:avLst>
          </a:prstGeom>
          <a:solidFill>
            <a:srgbClr val="F2F5F9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955280" y="214884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2F5BB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关键词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101584" y="3017520"/>
            <a:ext cx="0" cy="1554480"/>
          </a:xfrm>
          <a:prstGeom prst="line">
            <a:avLst/>
          </a:prstGeom>
          <a:noFill/>
          <a:ln w="19050">
            <a:solidFill>
              <a:srgbClr val="DCE3E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010144" y="2926080"/>
            <a:ext cx="182880" cy="182880"/>
          </a:xfrm>
          <a:prstGeom prst="ellipse">
            <a:avLst/>
          </a:prstGeom>
          <a:solidFill>
            <a:srgbClr val="5B3FA0"/>
          </a:solidFill>
          <a:ln w="25400">
            <a:solidFill>
              <a:srgbClr val="F2F5F9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412480" y="283464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3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25×25×15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8010144" y="3703320"/>
            <a:ext cx="182880" cy="182880"/>
          </a:xfrm>
          <a:prstGeom prst="ellipse">
            <a:avLst/>
          </a:prstGeom>
          <a:solidFill>
            <a:srgbClr val="2E9E4F"/>
          </a:solidFill>
          <a:ln w="25400">
            <a:solidFill>
              <a:srgbClr val="F2F5F9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412480" y="36118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3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19×19×3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8010144" y="4480560"/>
            <a:ext cx="182880" cy="182880"/>
          </a:xfrm>
          <a:prstGeom prst="ellipse">
            <a:avLst/>
          </a:prstGeom>
          <a:solidFill>
            <a:srgbClr val="D33A2C"/>
          </a:solidFill>
          <a:ln w="25400">
            <a:solidFill>
              <a:srgbClr val="F2F5F9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412480" y="43891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3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17×17</a:t>
            </a:r>
            <a:endParaRPr lang="en-US" sz="1600" dirty="0"/>
          </a:p>
        </p:txBody>
      </p:sp>
      <p:sp>
        <p:nvSpPr>
          <p:cNvPr id="21" name="run panel"/>
          <p:cNvSpPr/>
          <p:nvPr/>
        </p:nvSpPr>
        <p:spPr>
          <a:xfrm>
            <a:off x="685800" y="5285232"/>
            <a:ext cx="10820095" cy="987552"/>
          </a:xfrm>
          <a:prstGeom prst="roundRect">
            <a:avLst>
              <a:gd name="adj" fmla="val 9259"/>
            </a:avLst>
          </a:prstGeom>
          <a:solidFill>
            <a:srgbClr val="0D1B2E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1005840" y="5440680"/>
            <a:ext cx="1018001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5B54A"/>
                </a:solidFill>
                <a:latin typeface="Consolas" pitchFamily="34" charset="0"/>
                <a:ea typeface="Microsoft YaHei" pitchFamily="34" charset="-122"/>
                <a:cs typeface="Consolas" pitchFamily="34" charset="-120"/>
              </a:rPr>
              <a:t>&gt;&gt;&gt; </a:t>
            </a:r>
            <a:pPr indent="0" marL="0">
              <a:buNone/>
            </a:pPr>
            <a:r>
              <a:rPr lang="en-US" sz="1600" dirty="0">
                <a:solidFill>
                  <a:srgbClr val="D7E3F0"/>
                </a:solidFill>
                <a:latin typeface="Consolas" pitchFamily="34" charset="0"/>
                <a:ea typeface="Microsoft YaHei" pitchFamily="34" charset="-122"/>
                <a:cs typeface="Consolas" pitchFamily="34" charset="-120"/>
              </a:rPr>
              <a:t>shapes['conv3']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1005840" y="5815584"/>
            <a:ext cx="1018001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5B54A"/>
                </a:solidFill>
                <a:latin typeface="Consolas" pitchFamily="34" charset="0"/>
                <a:ea typeface="Microsoft YaHei" pitchFamily="34" charset="-122"/>
                <a:cs typeface="Consolas" pitchFamily="34" charset="-120"/>
              </a:rPr>
              <a:t>(2,32,3,19,19)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82935" y="384048"/>
            <a:ext cx="8229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100">
                <a:solidFill>
                  <a:srgbClr val="5F6E80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3" type="title" hasCustomPrompt="1"/>
          </p:nvPr>
        </p:nvSpPr>
        <p:spPr>
          <a:xfrm>
            <a:off x="685800" y="868680"/>
            <a:ext cx="108200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423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把C与D合并，不是降维</a:t>
            </a:r>
            <a:endParaRPr lang="en-US" sz="3000" dirty="0"/>
          </a:p>
        </p:txBody>
      </p:sp>
      <p:sp>
        <p:nvSpPr>
          <p:cNvPr id="3" name="chip 01"/>
          <p:cNvSpPr/>
          <p:nvPr/>
        </p:nvSpPr>
        <p:spPr>
          <a:xfrm>
            <a:off x="685800" y="2002536"/>
            <a:ext cx="420624" cy="420624"/>
          </a:xfrm>
          <a:prstGeom prst="roundRect">
            <a:avLst>
              <a:gd name="adj" fmla="val 19565"/>
            </a:avLst>
          </a:prstGeom>
          <a:solidFill>
            <a:srgbClr val="5B3FA0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85800" y="200253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1307592" y="1965960"/>
            <a:ext cx="4270248" cy="880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900" dirty="0">
                <a:solidFill>
                  <a:srgbClr val="1423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32×3变成96通道</a:t>
            </a:r>
            <a:endParaRPr lang="en-US" sz="1900" dirty="0"/>
          </a:p>
        </p:txBody>
      </p:sp>
      <p:sp>
        <p:nvSpPr>
          <p:cNvPr id="6" name="chip 02"/>
          <p:cNvSpPr/>
          <p:nvPr/>
        </p:nvSpPr>
        <p:spPr>
          <a:xfrm>
            <a:off x="685800" y="2993136"/>
            <a:ext cx="420624" cy="420624"/>
          </a:xfrm>
          <a:prstGeom prst="roundRect">
            <a:avLst>
              <a:gd name="adj" fmla="val 19565"/>
            </a:avLst>
          </a:prstGeom>
          <a:solidFill>
            <a:srgbClr val="2E9E4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85800" y="299313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307592" y="2956560"/>
            <a:ext cx="4270248" cy="880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900" dirty="0">
                <a:solidFill>
                  <a:srgbClr val="1423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19×19空间位置保留</a:t>
            </a:r>
            <a:endParaRPr lang="en-US" sz="1900" dirty="0"/>
          </a:p>
        </p:txBody>
      </p:sp>
      <p:sp>
        <p:nvSpPr>
          <p:cNvPr id="9" name="chip 03"/>
          <p:cNvSpPr/>
          <p:nvPr/>
        </p:nvSpPr>
        <p:spPr>
          <a:xfrm>
            <a:off x="685800" y="3983736"/>
            <a:ext cx="420624" cy="420624"/>
          </a:xfrm>
          <a:prstGeom prst="roundRect">
            <a:avLst>
              <a:gd name="adj" fmla="val 19565"/>
            </a:avLst>
          </a:prstGeom>
          <a:solidFill>
            <a:srgbClr val="D33A2C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85800" y="398373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307592" y="3947160"/>
            <a:ext cx="4270248" cy="880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900" dirty="0">
                <a:solidFill>
                  <a:srgbClr val="1423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元素数不变，不恢复原始光谱</a:t>
            </a:r>
            <a:endParaRPr lang="en-US" sz="1900" dirty="0"/>
          </a:p>
        </p:txBody>
      </p:sp>
      <p:sp>
        <p:nvSpPr>
          <p:cNvPr id="12" name="formula card"/>
          <p:cNvSpPr/>
          <p:nvPr/>
        </p:nvSpPr>
        <p:spPr>
          <a:xfrm>
            <a:off x="5989320" y="1874520"/>
            <a:ext cx="5513832" cy="3017520"/>
          </a:xfrm>
          <a:prstGeom prst="roundRect">
            <a:avLst>
              <a:gd name="adj" fmla="val 3030"/>
            </a:avLst>
          </a:prstGeom>
          <a:solidFill>
            <a:srgbClr val="F2F5F9"/>
          </a:solidFill>
          <a:ln/>
        </p:spPr>
      </p:sp>
      <p:pic>
        <p:nvPicPr>
          <p:cNvPr id="13" name="Image 0" descr="formula: 32 \times 3 \times 19 \times 19 \;=\; 96 \times 19 \times 19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77356" y="3185271"/>
            <a:ext cx="4937760" cy="396018"/>
          </a:xfrm>
          <a:prstGeom prst="rect">
            <a:avLst/>
          </a:prstGeom>
        </p:spPr>
      </p:pic>
      <p:sp>
        <p:nvSpPr>
          <p:cNvPr id="14" name="run panel"/>
          <p:cNvSpPr/>
          <p:nvPr/>
        </p:nvSpPr>
        <p:spPr>
          <a:xfrm>
            <a:off x="685800" y="5285232"/>
            <a:ext cx="10820095" cy="987552"/>
          </a:xfrm>
          <a:prstGeom prst="roundRect">
            <a:avLst>
              <a:gd name="adj" fmla="val 9259"/>
            </a:avLst>
          </a:prstGeom>
          <a:solidFill>
            <a:srgbClr val="0D1B2E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1005840" y="5440680"/>
            <a:ext cx="1018001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5B54A"/>
                </a:solidFill>
                <a:latin typeface="Consolas" pitchFamily="34" charset="0"/>
                <a:ea typeface="Microsoft YaHei" pitchFamily="34" charset="-122"/>
                <a:cs typeface="Consolas" pitchFamily="34" charset="-120"/>
              </a:rPr>
              <a:t>&gt;&gt;&gt; </a:t>
            </a:r>
            <a:pPr indent="0" marL="0">
              <a:buNone/>
            </a:pPr>
            <a:r>
              <a:rPr lang="en-US" sz="1600" dirty="0">
                <a:solidFill>
                  <a:srgbClr val="D7E3F0"/>
                </a:solidFill>
                <a:latin typeface="Consolas" pitchFamily="34" charset="0"/>
                <a:ea typeface="Microsoft YaHei" pitchFamily="34" charset="-122"/>
                <a:cs typeface="Consolas" pitchFamily="34" charset="-120"/>
              </a:rPr>
              <a:t>merged.shape</a:t>
            </a:r>
            <a:endParaRPr lang="en-US" sz="1600" dirty="0"/>
          </a:p>
        </p:txBody>
      </p:sp>
      <p:sp>
        <p:nvSpPr>
          <p:cNvPr id="16" name="Text 13"/>
          <p:cNvSpPr txBox="1"/>
          <p:nvPr/>
        </p:nvSpPr>
        <p:spPr>
          <a:xfrm>
            <a:off x="1005840" y="5815584"/>
            <a:ext cx="1018001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5B54A"/>
                </a:solidFill>
                <a:latin typeface="Consolas" pitchFamily="34" charset="0"/>
                <a:ea typeface="Microsoft YaHei" pitchFamily="34" charset="-122"/>
                <a:cs typeface="Consolas" pitchFamily="34" charset="-120"/>
              </a:rPr>
              <a:t>torch.Size([2, 96, 19, 19])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82935" y="384048"/>
            <a:ext cx="8229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100">
                <a:solidFill>
                  <a:srgbClr val="5F6E80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3" type="title" hasCustomPrompt="1"/>
          </p:nvPr>
        </p:nvSpPr>
        <p:spPr>
          <a:xfrm>
            <a:off x="685800" y="868680"/>
            <a:ext cx="108200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423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参数大户藏在Flatten后</a:t>
            </a:r>
            <a:endParaRPr lang="en-US" sz="3000" dirty="0"/>
          </a:p>
        </p:txBody>
      </p:sp>
      <p:sp>
        <p:nvSpPr>
          <p:cNvPr id="3" name="chip 01"/>
          <p:cNvSpPr/>
          <p:nvPr/>
        </p:nvSpPr>
        <p:spPr>
          <a:xfrm>
            <a:off x="685800" y="2002536"/>
            <a:ext cx="420624" cy="420624"/>
          </a:xfrm>
          <a:prstGeom prst="roundRect">
            <a:avLst>
              <a:gd name="adj" fmla="val 19565"/>
            </a:avLst>
          </a:prstGeom>
          <a:solidFill>
            <a:srgbClr val="5B3FA0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85800" y="200253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1307592" y="1965960"/>
            <a:ext cx="4270248" cy="880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900" dirty="0">
                <a:solidFill>
                  <a:srgbClr val="1423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64×17×17=18,496</a:t>
            </a:r>
            <a:endParaRPr lang="en-US" sz="1900" dirty="0"/>
          </a:p>
        </p:txBody>
      </p:sp>
      <p:sp>
        <p:nvSpPr>
          <p:cNvPr id="6" name="chip 02"/>
          <p:cNvSpPr/>
          <p:nvPr/>
        </p:nvSpPr>
        <p:spPr>
          <a:xfrm>
            <a:off x="685800" y="2993136"/>
            <a:ext cx="420624" cy="420624"/>
          </a:xfrm>
          <a:prstGeom prst="roundRect">
            <a:avLst>
              <a:gd name="adj" fmla="val 19565"/>
            </a:avLst>
          </a:prstGeom>
          <a:solidFill>
            <a:srgbClr val="2E9E4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85800" y="299313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307592" y="2956560"/>
            <a:ext cx="4270248" cy="880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900" dirty="0">
                <a:solidFill>
                  <a:srgbClr val="1423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首FC映射到 256</a:t>
            </a:r>
            <a:endParaRPr lang="en-US" sz="1900" dirty="0"/>
          </a:p>
        </p:txBody>
      </p:sp>
      <p:sp>
        <p:nvSpPr>
          <p:cNvPr id="9" name="chip 03"/>
          <p:cNvSpPr/>
          <p:nvPr/>
        </p:nvSpPr>
        <p:spPr>
          <a:xfrm>
            <a:off x="685800" y="3983736"/>
            <a:ext cx="420624" cy="420624"/>
          </a:xfrm>
          <a:prstGeom prst="roundRect">
            <a:avLst>
              <a:gd name="adj" fmla="val 19565"/>
            </a:avLst>
          </a:prstGeom>
          <a:solidFill>
            <a:srgbClr val="D33A2C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85800" y="398373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307592" y="3947160"/>
            <a:ext cx="4270248" cy="880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900" dirty="0">
                <a:solidFill>
                  <a:srgbClr val="1423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全局池化减参但会改变表示</a:t>
            </a:r>
            <a:endParaRPr lang="en-US" sz="1900" dirty="0"/>
          </a:p>
        </p:txBody>
      </p:sp>
      <p:sp>
        <p:nvSpPr>
          <p:cNvPr id="12" name="formula card"/>
          <p:cNvSpPr/>
          <p:nvPr/>
        </p:nvSpPr>
        <p:spPr>
          <a:xfrm>
            <a:off x="5989320" y="1874520"/>
            <a:ext cx="5513832" cy="3017520"/>
          </a:xfrm>
          <a:prstGeom prst="roundRect">
            <a:avLst>
              <a:gd name="adj" fmla="val 3030"/>
            </a:avLst>
          </a:prstGeom>
          <a:solidFill>
            <a:srgbClr val="F2F5F9"/>
          </a:solidFill>
          <a:ln/>
        </p:spPr>
      </p:sp>
      <p:pic>
        <p:nvPicPr>
          <p:cNvPr id="13" name="Image 0" descr="formula: 18{,}496 \times 256 + 256 = 4{,}735{,}232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77356" y="3174251"/>
            <a:ext cx="4937760" cy="418058"/>
          </a:xfrm>
          <a:prstGeom prst="rect">
            <a:avLst/>
          </a:prstGeom>
        </p:spPr>
      </p:pic>
      <p:sp>
        <p:nvSpPr>
          <p:cNvPr id="14" name="run panel"/>
          <p:cNvSpPr/>
          <p:nvPr/>
        </p:nvSpPr>
        <p:spPr>
          <a:xfrm>
            <a:off x="685800" y="5285232"/>
            <a:ext cx="10820095" cy="987552"/>
          </a:xfrm>
          <a:prstGeom prst="roundRect">
            <a:avLst>
              <a:gd name="adj" fmla="val 9259"/>
            </a:avLst>
          </a:prstGeom>
          <a:solidFill>
            <a:srgbClr val="0D1B2E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1005840" y="5440680"/>
            <a:ext cx="1018001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5B54A"/>
                </a:solidFill>
                <a:latin typeface="Consolas" pitchFamily="34" charset="0"/>
                <a:ea typeface="Microsoft YaHei" pitchFamily="34" charset="-122"/>
                <a:cs typeface="Consolas" pitchFamily="34" charset="-120"/>
              </a:rPr>
              <a:t>&gt;&gt;&gt; </a:t>
            </a:r>
            <a:pPr indent="0" marL="0">
              <a:buNone/>
            </a:pPr>
            <a:r>
              <a:rPr lang="en-US" sz="1600" dirty="0">
                <a:solidFill>
                  <a:srgbClr val="D7E3F0"/>
                </a:solidFill>
                <a:latin typeface="Consolas" pitchFamily="34" charset="0"/>
                <a:ea typeface="Microsoft YaHei" pitchFamily="34" charset="-122"/>
                <a:cs typeface="Consolas" pitchFamily="34" charset="-120"/>
              </a:rPr>
              <a:t>net.dense1[0].weight.shape</a:t>
            </a:r>
            <a:endParaRPr lang="en-US" sz="1600" dirty="0"/>
          </a:p>
        </p:txBody>
      </p:sp>
      <p:sp>
        <p:nvSpPr>
          <p:cNvPr id="16" name="Text 13"/>
          <p:cNvSpPr txBox="1"/>
          <p:nvPr/>
        </p:nvSpPr>
        <p:spPr>
          <a:xfrm>
            <a:off x="1005840" y="5815584"/>
            <a:ext cx="1018001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5B54A"/>
                </a:solidFill>
                <a:latin typeface="Consolas" pitchFamily="34" charset="0"/>
                <a:ea typeface="Microsoft YaHei" pitchFamily="34" charset="-122"/>
                <a:cs typeface="Consolas" pitchFamily="34" charset="-120"/>
              </a:rPr>
              <a:t>torch.Size([256, 18496])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82935" y="384048"/>
            <a:ext cx="8229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100">
                <a:solidFill>
                  <a:srgbClr val="5F6E80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3" type="title" hasCustomPrompt="1"/>
          </p:nvPr>
        </p:nvSpPr>
        <p:spPr>
          <a:xfrm>
            <a:off x="685800" y="868680"/>
            <a:ext cx="108200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423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训练过程与检查点选择</a:t>
            </a:r>
            <a:endParaRPr lang="en-US" sz="3000" dirty="0"/>
          </a:p>
        </p:txBody>
      </p:sp>
      <p:sp>
        <p:nvSpPr>
          <p:cNvPr id="3" name="figure frame"/>
          <p:cNvSpPr/>
          <p:nvPr/>
        </p:nvSpPr>
        <p:spPr>
          <a:xfrm>
            <a:off x="685800" y="1874520"/>
            <a:ext cx="10820095" cy="3246120"/>
          </a:xfrm>
          <a:prstGeom prst="roundRect">
            <a:avLst>
              <a:gd name="adj" fmla="val 2254"/>
            </a:avLst>
          </a:prstGeom>
          <a:solidFill>
            <a:srgbClr val="F2F5F9"/>
          </a:solidFill>
          <a:ln/>
        </p:spPr>
      </p:sp>
      <p:pic>
        <p:nvPicPr>
          <p:cNvPr id="4" name="Image 0" descr="03_hybridsn_baseline-legacy-16-0-e14ce9d88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20444" y="2039112"/>
            <a:ext cx="8750808" cy="2916936"/>
          </a:xfrm>
          <a:prstGeom prst="rect">
            <a:avLst/>
          </a:prstGeom>
        </p:spPr>
      </p:pic>
      <p:sp>
        <p:nvSpPr>
          <p:cNvPr id="5" name="chip 01"/>
          <p:cNvSpPr/>
          <p:nvPr/>
        </p:nvSpPr>
        <p:spPr>
          <a:xfrm>
            <a:off x="685800" y="5477256"/>
            <a:ext cx="365760" cy="365760"/>
          </a:xfrm>
          <a:prstGeom prst="roundRect">
            <a:avLst>
              <a:gd name="adj" fmla="val 22500"/>
            </a:avLst>
          </a:prstGeom>
          <a:solidFill>
            <a:srgbClr val="5B3FA0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685800" y="54772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1197864" y="5440680"/>
            <a:ext cx="288127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423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本图保留历史协议B训练记录</a:t>
            </a:r>
            <a:endParaRPr lang="en-US" sz="1600" dirty="0"/>
          </a:p>
        </p:txBody>
      </p:sp>
      <p:sp>
        <p:nvSpPr>
          <p:cNvPr id="8" name="chip 02"/>
          <p:cNvSpPr/>
          <p:nvPr/>
        </p:nvSpPr>
        <p:spPr>
          <a:xfrm>
            <a:off x="4399178" y="5477256"/>
            <a:ext cx="365760" cy="365760"/>
          </a:xfrm>
          <a:prstGeom prst="roundRect">
            <a:avLst>
              <a:gd name="adj" fmla="val 22500"/>
            </a:avLst>
          </a:prstGeom>
          <a:solidFill>
            <a:srgbClr val="2E9E4F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4399178" y="54772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4911242" y="5440680"/>
            <a:ext cx="288127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423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权重按validation选择</a:t>
            </a:r>
            <a:endParaRPr lang="en-US" sz="1600" dirty="0"/>
          </a:p>
        </p:txBody>
      </p:sp>
      <p:sp>
        <p:nvSpPr>
          <p:cNvPr id="11" name="chip 03"/>
          <p:cNvSpPr/>
          <p:nvPr/>
        </p:nvSpPr>
        <p:spPr>
          <a:xfrm>
            <a:off x="8112557" y="5477256"/>
            <a:ext cx="365760" cy="365760"/>
          </a:xfrm>
          <a:prstGeom prst="roundRect">
            <a:avLst>
              <a:gd name="adj" fmla="val 22500"/>
            </a:avLst>
          </a:prstGeom>
          <a:solidFill>
            <a:srgbClr val="D33A2C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8112557" y="54772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8624621" y="5440680"/>
            <a:ext cx="288127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423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当前协议E结果与历史B分开报告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685800" y="6400800"/>
            <a:ext cx="1082009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F6E80"/>
                </a:solidFill>
                <a:latin typeface="Consolas" pitchFamily="34" charset="0"/>
                <a:ea typeface="Microsoft YaHei" pitchFamily="34" charset="-122"/>
                <a:cs typeface="Consolas" pitchFamily="34" charset="-120"/>
              </a:rPr>
              <a:t>03_hybridsn_baseline.ipynb  ·  cell legacy-16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82935" y="384048"/>
            <a:ext cx="8229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100">
                <a:solidFill>
                  <a:srgbClr val="5F6E80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3" type="title" hasCustomPrompt="1"/>
          </p:nvPr>
        </p:nvSpPr>
        <p:spPr>
          <a:xfrm>
            <a:off x="685800" y="868680"/>
            <a:ext cx="108200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423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论文、作者代码、教学代码分三列</a:t>
            </a:r>
            <a:endParaRPr lang="en-US" sz="3000" dirty="0"/>
          </a:p>
        </p:txBody>
      </p:sp>
      <p:sp>
        <p:nvSpPr>
          <p:cNvPr id="3" name="chip 01"/>
          <p:cNvSpPr/>
          <p:nvPr/>
        </p:nvSpPr>
        <p:spPr>
          <a:xfrm>
            <a:off x="685800" y="2002536"/>
            <a:ext cx="420624" cy="420624"/>
          </a:xfrm>
          <a:prstGeom prst="roundRect">
            <a:avLst>
              <a:gd name="adj" fmla="val 19565"/>
            </a:avLst>
          </a:prstGeom>
          <a:solidFill>
            <a:srgbClr val="5B3FA0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85800" y="200253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1307592" y="1965960"/>
            <a:ext cx="5779008" cy="1322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2100" dirty="0">
                <a:solidFill>
                  <a:srgbClr val="1423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核尺寸和shape逐项对齐</a:t>
            </a:r>
            <a:endParaRPr lang="en-US" sz="2100" dirty="0"/>
          </a:p>
        </p:txBody>
      </p:sp>
      <p:sp>
        <p:nvSpPr>
          <p:cNvPr id="6" name="chip 02"/>
          <p:cNvSpPr/>
          <p:nvPr/>
        </p:nvSpPr>
        <p:spPr>
          <a:xfrm>
            <a:off x="685800" y="3435096"/>
            <a:ext cx="420624" cy="420624"/>
          </a:xfrm>
          <a:prstGeom prst="roundRect">
            <a:avLst>
              <a:gd name="adj" fmla="val 19565"/>
            </a:avLst>
          </a:prstGeom>
          <a:solidFill>
            <a:srgbClr val="2E9E4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85800" y="343509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307592" y="3398520"/>
            <a:ext cx="5779008" cy="1322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2100" dirty="0">
                <a:solidFill>
                  <a:srgbClr val="1423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PCA/划分/预算单独核验</a:t>
            </a:r>
            <a:endParaRPr lang="en-US" sz="2100" dirty="0"/>
          </a:p>
        </p:txBody>
      </p:sp>
      <p:sp>
        <p:nvSpPr>
          <p:cNvPr id="9" name="chip 03"/>
          <p:cNvSpPr/>
          <p:nvPr/>
        </p:nvSpPr>
        <p:spPr>
          <a:xfrm>
            <a:off x="685800" y="4867656"/>
            <a:ext cx="420624" cy="420624"/>
          </a:xfrm>
          <a:prstGeom prst="roundRect">
            <a:avLst>
              <a:gd name="adj" fmla="val 19565"/>
            </a:avLst>
          </a:prstGeom>
          <a:solidFill>
            <a:srgbClr val="D33A2C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85800" y="48676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307592" y="4831080"/>
            <a:ext cx="5779008" cy="1322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2100" dirty="0">
                <a:solidFill>
                  <a:srgbClr val="1423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简化必须标为教学变体</a:t>
            </a:r>
            <a:endParaRPr lang="en-US" sz="2100" dirty="0"/>
          </a:p>
        </p:txBody>
      </p:sp>
      <p:sp>
        <p:nvSpPr>
          <p:cNvPr id="12" name="keywords"/>
          <p:cNvSpPr/>
          <p:nvPr/>
        </p:nvSpPr>
        <p:spPr>
          <a:xfrm>
            <a:off x="7635240" y="1874520"/>
            <a:ext cx="3867912" cy="4480560"/>
          </a:xfrm>
          <a:prstGeom prst="roundRect">
            <a:avLst>
              <a:gd name="adj" fmla="val 2364"/>
            </a:avLst>
          </a:prstGeom>
          <a:solidFill>
            <a:srgbClr val="F2F5F9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955280" y="214884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2F5BB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关键词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101584" y="3680460"/>
            <a:ext cx="0" cy="1554480"/>
          </a:xfrm>
          <a:prstGeom prst="line">
            <a:avLst/>
          </a:prstGeom>
          <a:noFill/>
          <a:ln w="19050">
            <a:solidFill>
              <a:srgbClr val="DCE3E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010144" y="3589020"/>
            <a:ext cx="182880" cy="182880"/>
          </a:xfrm>
          <a:prstGeom prst="ellipse">
            <a:avLst/>
          </a:prstGeom>
          <a:solidFill>
            <a:srgbClr val="5B3FA0"/>
          </a:solidFill>
          <a:ln w="25400">
            <a:solidFill>
              <a:srgbClr val="F2F5F9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412480" y="34975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3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Paper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8010144" y="4366260"/>
            <a:ext cx="182880" cy="182880"/>
          </a:xfrm>
          <a:prstGeom prst="ellipse">
            <a:avLst/>
          </a:prstGeom>
          <a:solidFill>
            <a:srgbClr val="2E9E4F"/>
          </a:solidFill>
          <a:ln w="25400">
            <a:solidFill>
              <a:srgbClr val="F2F5F9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412480" y="42748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3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Author code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8010144" y="5143500"/>
            <a:ext cx="182880" cy="182880"/>
          </a:xfrm>
          <a:prstGeom prst="ellipse">
            <a:avLst/>
          </a:prstGeom>
          <a:solidFill>
            <a:srgbClr val="D33A2C"/>
          </a:solidFill>
          <a:ln w="25400">
            <a:solidFill>
              <a:srgbClr val="F2F5F9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412480" y="505206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3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Course variant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82935" y="384048"/>
            <a:ext cx="8229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100">
                <a:solidFill>
                  <a:srgbClr val="5F6E80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3" type="title" hasCustomPrompt="1"/>
          </p:nvPr>
        </p:nvSpPr>
        <p:spPr>
          <a:xfrm>
            <a:off x="685800" y="868680"/>
            <a:ext cx="108200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423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逐层shape与元素对应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1874520"/>
            <a:ext cx="108200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5F6E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先追踪depth和空间各自收缩   ·   合并C和D保留元素及空间位置   ·   25改为其他patch时重新核算FC</a:t>
            </a:r>
            <a:endParaRPr lang="en-US" sz="17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2834640"/>
          <a:ext cx="10820095" cy="914400"/>
        </p:xfrm>
        <a:graphic>
          <a:graphicData uri="http://schemas.openxmlformats.org/drawingml/2006/table">
            <a:tbl>
              <a:tblPr/>
              <a:tblGrid>
                <a:gridCol w="5410048"/>
                <a:gridCol w="5410048"/>
              </a:tblGrid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阶段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64592" marR="164592" marT="0" marB="0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shape（N=2）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64592" marR="164592" marT="0" marB="0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E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423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输入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64592" marR="164592" marT="0" marB="0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423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2,1,15,25,25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64592" marR="164592" marT="0" marB="0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423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Conv3输出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64592" marR="164592" marT="0" marB="0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423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2,32,3,19,19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64592" marR="164592" marT="0" marB="0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423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C×D合并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64592" marR="164592" marT="0" marB="0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423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2,96,19,19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64592" marR="164592" marT="0" marB="0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423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Conv2d输出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64592" marR="164592" marT="0" marB="0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423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2,64,17,17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64592" marR="164592" marT="0" marB="0" anchor="ctr">
                    <a:lnL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82935" y="384048"/>
            <a:ext cx="8229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100">
                <a:solidFill>
                  <a:srgbClr val="5F6E80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3" type="title" hasCustomPrompt="1"/>
          </p:nvPr>
        </p:nvSpPr>
        <p:spPr>
          <a:xfrm>
            <a:off x="685800" y="868680"/>
            <a:ext cx="108200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423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让代码验证你的判断</a:t>
            </a:r>
            <a:endParaRPr lang="en-US" sz="3000" dirty="0"/>
          </a:p>
        </p:txBody>
      </p:sp>
      <p:sp>
        <p:nvSpPr>
          <p:cNvPr id="3" name="code panel"/>
          <p:cNvSpPr/>
          <p:nvPr/>
        </p:nvSpPr>
        <p:spPr>
          <a:xfrm>
            <a:off x="685800" y="1874520"/>
            <a:ext cx="7406640" cy="3749040"/>
          </a:xfrm>
          <a:prstGeom prst="roundRect">
            <a:avLst>
              <a:gd name="adj" fmla="val 2439"/>
            </a:avLst>
          </a:prstGeom>
          <a:solidFill>
            <a:srgbClr val="0D1B2E"/>
          </a:solidFill>
          <a:ln/>
        </p:spPr>
      </p:sp>
      <p:sp>
        <p:nvSpPr>
          <p:cNvPr id="4" name="Shape 2"/>
          <p:cNvSpPr/>
          <p:nvPr/>
        </p:nvSpPr>
        <p:spPr>
          <a:xfrm>
            <a:off x="960120" y="2075688"/>
            <a:ext cx="118872" cy="118872"/>
          </a:xfrm>
          <a:prstGeom prst="ellipse">
            <a:avLst/>
          </a:prstGeom>
          <a:solidFill>
            <a:srgbClr val="D33A2C"/>
          </a:solidFill>
          <a:ln/>
        </p:spPr>
      </p:sp>
      <p:sp>
        <p:nvSpPr>
          <p:cNvPr id="5" name="Shape 3"/>
          <p:cNvSpPr/>
          <p:nvPr/>
        </p:nvSpPr>
        <p:spPr>
          <a:xfrm>
            <a:off x="1179576" y="2075688"/>
            <a:ext cx="118872" cy="118872"/>
          </a:xfrm>
          <a:prstGeom prst="ellipse">
            <a:avLst/>
          </a:prstGeom>
          <a:solidFill>
            <a:srgbClr val="F2C316"/>
          </a:solidFill>
          <a:ln/>
        </p:spPr>
      </p:sp>
      <p:sp>
        <p:nvSpPr>
          <p:cNvPr id="6" name="Shape 4"/>
          <p:cNvSpPr/>
          <p:nvPr/>
        </p:nvSpPr>
        <p:spPr>
          <a:xfrm>
            <a:off x="1399032" y="2075688"/>
            <a:ext cx="118872" cy="118872"/>
          </a:xfrm>
          <a:prstGeom prst="ellipse">
            <a:avLst/>
          </a:prstGeom>
          <a:solidFill>
            <a:srgbClr val="2E9E4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051560" y="2423160"/>
            <a:ext cx="667512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5000"/>
              </a:lnSpc>
              <a:buNone/>
            </a:pPr>
            <a:r>
              <a:rPr lang="en-US" sz="1600" dirty="0">
                <a:solidFill>
                  <a:srgbClr val="D7E3F0"/>
                </a:solidFill>
                <a:latin typeface="Consolas" pitchFamily="34" charset="0"/>
                <a:ea typeface="Microsoft YaHei" pitchFamily="34" charset="-122"/>
                <a:cs typeface="Consolas" pitchFamily="34" charset="-120"/>
              </a:rPr>
              <a:t>assert shapes['conv3'] == (2,32,3,19,19)</a:t>
            </a:r>
            <a:endParaRPr lang="en-US" sz="16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600" dirty="0">
                <a:solidFill>
                  <a:srgbClr val="D7E3F0"/>
                </a:solidFill>
                <a:latin typeface="Consolas" pitchFamily="34" charset="0"/>
                <a:ea typeface="Microsoft YaHei" pitchFamily="34" charset="-122"/>
                <a:cs typeface="Consolas" pitchFamily="34" charset="-120"/>
              </a:rPr>
              <a:t>merged = tensor.reshape(2,96,19,19)</a:t>
            </a:r>
            <a:endParaRPr lang="en-US" sz="16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600" dirty="0">
                <a:solidFill>
                  <a:srgbClr val="D7E3F0"/>
                </a:solidFill>
                <a:latin typeface="Consolas" pitchFamily="34" charset="0"/>
                <a:ea typeface="Microsoft YaHei" pitchFamily="34" charset="-122"/>
                <a:cs typeface="Consolas" pitchFamily="34" charset="-120"/>
              </a:rPr>
              <a:t>assert merged.numel() == tensor.numel()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8458200" y="1920240"/>
            <a:ext cx="30449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5F6E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打开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8458200" y="2240280"/>
            <a:ext cx="30449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4233A"/>
                </a:solidFill>
                <a:latin typeface="Consolas" pitchFamily="34" charset="0"/>
                <a:ea typeface="Microsoft YaHei" pitchFamily="34" charset="-122"/>
                <a:cs typeface="Consolas" pitchFamily="34" charset="-120"/>
              </a:rPr>
              <a:t>11_patch_hybridsn_classroom.ipynb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8458200" y="3108960"/>
            <a:ext cx="30449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5F6E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定位 cell</a:t>
            </a:r>
            <a:endParaRPr lang="en-US" sz="1300" dirty="0"/>
          </a:p>
        </p:txBody>
      </p:sp>
      <p:sp>
        <p:nvSpPr>
          <p:cNvPr id="11" name="cell hybridsn-shapes"/>
          <p:cNvSpPr/>
          <p:nvPr/>
        </p:nvSpPr>
        <p:spPr>
          <a:xfrm>
            <a:off x="8458200" y="3474720"/>
            <a:ext cx="3044952" cy="365760"/>
          </a:xfrm>
          <a:prstGeom prst="roundRect">
            <a:avLst>
              <a:gd name="adj" fmla="val 15000"/>
            </a:avLst>
          </a:prstGeom>
          <a:ln w="9525">
            <a:solidFill>
              <a:srgbClr val="DCE3E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595360" y="347472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F5BB7"/>
                </a:solidFill>
                <a:latin typeface="Consolas" pitchFamily="34" charset="0"/>
                <a:ea typeface="Microsoft YaHei" pitchFamily="34" charset="-122"/>
                <a:cs typeface="Consolas" pitchFamily="34" charset="-120"/>
              </a:rPr>
              <a:t>hybridsn-shapes</a:t>
            </a:r>
            <a:endParaRPr lang="en-US" sz="1200" dirty="0"/>
          </a:p>
        </p:txBody>
      </p:sp>
      <p:sp>
        <p:nvSpPr>
          <p:cNvPr id="13" name="cell reshape-check"/>
          <p:cNvSpPr/>
          <p:nvPr/>
        </p:nvSpPr>
        <p:spPr>
          <a:xfrm>
            <a:off x="8458200" y="3950208"/>
            <a:ext cx="3044952" cy="365760"/>
          </a:xfrm>
          <a:prstGeom prst="roundRect">
            <a:avLst>
              <a:gd name="adj" fmla="val 15000"/>
            </a:avLst>
          </a:prstGeom>
          <a:ln w="9525">
            <a:solidFill>
              <a:srgbClr val="DCE3E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595360" y="3950208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F5BB7"/>
                </a:solidFill>
                <a:latin typeface="Consolas" pitchFamily="34" charset="0"/>
                <a:ea typeface="Microsoft YaHei" pitchFamily="34" charset="-122"/>
                <a:cs typeface="Consolas" pitchFamily="34" charset="-120"/>
              </a:rPr>
              <a:t>reshape-check</a:t>
            </a:r>
            <a:endParaRPr lang="en-US" sz="1200" dirty="0"/>
          </a:p>
        </p:txBody>
      </p:sp>
      <p:sp>
        <p:nvSpPr>
          <p:cNvPr id="15" name="cell pca-change"/>
          <p:cNvSpPr/>
          <p:nvPr/>
        </p:nvSpPr>
        <p:spPr>
          <a:xfrm>
            <a:off x="8458200" y="4425696"/>
            <a:ext cx="3044952" cy="365760"/>
          </a:xfrm>
          <a:prstGeom prst="roundRect">
            <a:avLst>
              <a:gd name="adj" fmla="val 15000"/>
            </a:avLst>
          </a:prstGeom>
          <a:ln w="9525">
            <a:solidFill>
              <a:srgbClr val="DCE3E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595360" y="4425696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F5BB7"/>
                </a:solidFill>
                <a:latin typeface="Consolas" pitchFamily="34" charset="0"/>
                <a:ea typeface="Microsoft YaHei" pitchFamily="34" charset="-122"/>
                <a:cs typeface="Consolas" pitchFamily="34" charset="-120"/>
              </a:rPr>
              <a:t>pca-change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685800" y="5852160"/>
            <a:ext cx="108200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5F6E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先预测输出，再运行对应单元格。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82935" y="384048"/>
            <a:ext cx="8229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100">
                <a:solidFill>
                  <a:srgbClr val="5F6E80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3" type="title" hasCustomPrompt="1"/>
          </p:nvPr>
        </p:nvSpPr>
        <p:spPr>
          <a:xfrm>
            <a:off x="685800" y="868680"/>
            <a:ext cx="108200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423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停下来，做一次判断</a:t>
            </a:r>
            <a:endParaRPr lang="en-US" sz="3000" dirty="0"/>
          </a:p>
        </p:txBody>
      </p:sp>
      <p:sp>
        <p:nvSpPr>
          <p:cNvPr id="3" name="prediction card"/>
          <p:cNvSpPr/>
          <p:nvPr/>
        </p:nvSpPr>
        <p:spPr>
          <a:xfrm>
            <a:off x="685800" y="1874520"/>
            <a:ext cx="6355080" cy="4343400"/>
          </a:xfrm>
          <a:prstGeom prst="roundRect">
            <a:avLst>
              <a:gd name="adj" fmla="val 2105"/>
            </a:avLst>
          </a:prstGeom>
          <a:solidFill>
            <a:srgbClr val="F2F5F9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097280" y="224028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2F5BB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课堂预测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2697480"/>
            <a:ext cx="55321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2400" dirty="0">
                <a:solidFill>
                  <a:srgbClr val="1423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PCA从15改30，先推断Conv2d输入通道，再用forward验证。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1097280" y="5532120"/>
            <a:ext cx="5532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F6E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作业 A03  ·  完整示例 / 填空 / 迁移</a:t>
            </a:r>
            <a:endParaRPr lang="en-US" sz="1400" dirty="0"/>
          </a:p>
        </p:txBody>
      </p:sp>
      <p:sp>
        <p:nvSpPr>
          <p:cNvPr id="7" name="exit question card"/>
          <p:cNvSpPr/>
          <p:nvPr/>
        </p:nvSpPr>
        <p:spPr>
          <a:xfrm>
            <a:off x="7315200" y="1874520"/>
            <a:ext cx="4187952" cy="4343400"/>
          </a:xfrm>
          <a:prstGeom prst="roundRect">
            <a:avLst>
              <a:gd name="adj" fmla="val 2183"/>
            </a:avLst>
          </a:prstGeom>
          <a:solidFill>
            <a:srgbClr val="0D1B2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726680" y="2240280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5B5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退出题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7726680" y="2697480"/>
            <a:ext cx="338328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reshape合并C和D是否减少元素数？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82935" y="384048"/>
            <a:ext cx="8229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100">
                <a:solidFill>
                  <a:srgbClr val="5F6E80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4" type="title" hasCustomPrompt="1"/>
          </p:nvPr>
        </p:nvSpPr>
        <p:spPr>
          <a:xfrm>
            <a:off x="685800" y="868680"/>
            <a:ext cx="108200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结论要有边界</a:t>
            </a:r>
            <a:endParaRPr lang="en-US" sz="3000" dirty="0"/>
          </a:p>
        </p:txBody>
      </p:sp>
      <p:sp>
        <p:nvSpPr>
          <p:cNvPr id="3" name="known"/>
          <p:cNvSpPr/>
          <p:nvPr/>
        </p:nvSpPr>
        <p:spPr>
          <a:xfrm>
            <a:off x="685800" y="1920240"/>
            <a:ext cx="5272888" cy="2743200"/>
          </a:xfrm>
          <a:prstGeom prst="roundRect">
            <a:avLst>
              <a:gd name="adj" fmla="val 3333"/>
            </a:avLst>
          </a:prstGeom>
          <a:solidFill>
            <a:srgbClr val="16294A"/>
          </a:solidFill>
          <a:ln/>
        </p:spPr>
      </p:sp>
      <p:sp>
        <p:nvSpPr>
          <p:cNvPr id="4" name="tag"/>
          <p:cNvSpPr/>
          <p:nvPr/>
        </p:nvSpPr>
        <p:spPr>
          <a:xfrm>
            <a:off x="1051560" y="2286000"/>
            <a:ext cx="786384" cy="347472"/>
          </a:xfrm>
          <a:prstGeom prst="roundRect">
            <a:avLst>
              <a:gd name="adj" fmla="val 18421"/>
            </a:avLst>
          </a:prstGeom>
          <a:solidFill>
            <a:srgbClr val="1F8FB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51560" y="2286000"/>
            <a:ext cx="7863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已知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051560" y="2926080"/>
            <a:ext cx="454136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教学同构不等于逐数复现</a:t>
            </a:r>
            <a:endParaRPr lang="en-US" sz="2400" dirty="0"/>
          </a:p>
        </p:txBody>
      </p:sp>
      <p:sp>
        <p:nvSpPr>
          <p:cNvPr id="7" name="boundary"/>
          <p:cNvSpPr/>
          <p:nvPr/>
        </p:nvSpPr>
        <p:spPr>
          <a:xfrm>
            <a:off x="6233008" y="1920240"/>
            <a:ext cx="5272888" cy="2743200"/>
          </a:xfrm>
          <a:prstGeom prst="roundRect">
            <a:avLst>
              <a:gd name="adj" fmla="val 3333"/>
            </a:avLst>
          </a:prstGeom>
          <a:solidFill>
            <a:srgbClr val="16294A"/>
          </a:solidFill>
          <a:ln/>
        </p:spPr>
      </p:sp>
      <p:sp>
        <p:nvSpPr>
          <p:cNvPr id="8" name="tag"/>
          <p:cNvSpPr/>
          <p:nvPr/>
        </p:nvSpPr>
        <p:spPr>
          <a:xfrm>
            <a:off x="6598768" y="2286000"/>
            <a:ext cx="786384" cy="347472"/>
          </a:xfrm>
          <a:prstGeom prst="roundRect">
            <a:avLst>
              <a:gd name="adj" fmla="val 18421"/>
            </a:avLst>
          </a:prstGeom>
          <a:solidFill>
            <a:srgbClr val="E8752A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598768" y="2286000"/>
            <a:ext cx="7863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边界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6598768" y="2926080"/>
            <a:ext cx="454136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参数压缩不自动产生论文贡献</a:t>
            </a:r>
            <a:endParaRPr lang="en-US" sz="2400" dirty="0"/>
          </a:p>
        </p:txBody>
      </p:sp>
      <p:sp>
        <p:nvSpPr>
          <p:cNvPr id="11" name="Text 9"/>
          <p:cNvSpPr txBox="1"/>
          <p:nvPr/>
        </p:nvSpPr>
        <p:spPr>
          <a:xfrm>
            <a:off x="685800" y="5230368"/>
            <a:ext cx="108200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A9BAC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来源、复现入口与辅助提示见讲者备注。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82935" y="384048"/>
            <a:ext cx="8229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100">
                <a:solidFill>
                  <a:srgbClr val="A9BACD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HSI-Learning Spectral">
      <a:dk1>
        <a:srgbClr val="14233A"/>
      </a:dk1>
      <a:lt1>
        <a:srgbClr val="FFFFFF"/>
      </a:lt1>
      <a:dk2>
        <a:srgbClr val="0D1B2E"/>
      </a:dk2>
      <a:lt2>
        <a:srgbClr val="F2F5F9"/>
      </a:lt2>
      <a:accent1>
        <a:srgbClr val="2F5BB7"/>
      </a:accent1>
      <a:accent2>
        <a:srgbClr val="1F8FB8"/>
      </a:accent2>
      <a:accent3>
        <a:srgbClr val="2E9E4F"/>
      </a:accent3>
      <a:accent4>
        <a:srgbClr val="E8752A"/>
      </a:accent4>
      <a:accent5>
        <a:srgbClr val="5B3FA0"/>
      </a:accent5>
      <a:accent6>
        <a:srgbClr val="D33A2C"/>
      </a:accent6>
      <a:hlink>
        <a:srgbClr val="2F5BB7"/>
      </a:hlink>
      <a:folHlink>
        <a:srgbClr val="5B3FA0"/>
      </a:folHlink>
    </a:clrScheme>
    <a:fontScheme name="Office">
      <a:majorFont>
        <a:latin typeface="Microsoft YaHei"/>
        <a:ea typeface="Microsoft YaHei"/>
        <a:cs typeface=""/>
        <a:font script="Jpan" typeface="游ゴシック Light"/>
        <a:font script="Hang" typeface="맑은 고딕"/>
        <a:font script="Hans" typeface="Microsoft YaHei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Microsoft YaHei"/>
        <a:cs typeface=""/>
        <a:font script="Jpan" typeface="游ゴシック"/>
        <a:font script="Hang" typeface="맑은 고딕"/>
        <a:font script="Hans" typeface="Microsoft YaHei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L06 HybridSN 的 reshape 为什么是关键？</dc:title>
  <dc:subject>PptxGenJS Presentation</dc:subject>
  <dc:creator>HSI-Learning</dc:creator>
  <cp:lastModifiedBy>HSI-Learning</cp:lastModifiedBy>
  <cp:revision>1</cp:revision>
  <dcterms:created xsi:type="dcterms:W3CDTF">2026-10-10T13:41:29Z</dcterms:created>
  <dcterms:modified xsi:type="dcterms:W3CDTF">2026-10-10T13:41:29Z</dcterms:modified>
</cp:coreProperties>
</file>