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28d9617159497c" /><Relationship Type="http://schemas.openxmlformats.org/officeDocument/2006/relationships/extended-properties" Target="/docProps/app.xml" Id="R21649c750dad4c9a" /><Relationship Type="http://schemas.openxmlformats.org/officeDocument/2006/relationships/officeDocument" Target="/ppt/presentation.xml" Id="Rc7a48a5a97b347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c578a72e154d83"/>
  </p:sldMasterIdLst>
  <p:notesMasterIdLst>
    <p:notesMasterId xmlns:r="http://schemas.openxmlformats.org/officeDocument/2006/relationships" r:id="R5097c8a3477b4e45"/>
  </p:notesMasterIdLst>
  <p:sldIdLst>
    <p:sldId xmlns:r="http://schemas.openxmlformats.org/officeDocument/2006/relationships" id="256" r:id="Rdf970041a8874382"/>
    <p:sldId xmlns:r="http://schemas.openxmlformats.org/officeDocument/2006/relationships" id="257" r:id="Raddb37553c8f4564"/>
    <p:sldId xmlns:r="http://schemas.openxmlformats.org/officeDocument/2006/relationships" id="258" r:id="R5d3d12af7e2f44a9"/>
    <p:sldId xmlns:r="http://schemas.openxmlformats.org/officeDocument/2006/relationships" id="259" r:id="R61da94fcd6da4fe9"/>
    <p:sldId xmlns:r="http://schemas.openxmlformats.org/officeDocument/2006/relationships" id="260" r:id="R3e5fdbec100a4897"/>
    <p:sldId xmlns:r="http://schemas.openxmlformats.org/officeDocument/2006/relationships" id="261" r:id="Rf9a8b105903c43ab"/>
    <p:sldId xmlns:r="http://schemas.openxmlformats.org/officeDocument/2006/relationships" id="262" r:id="R9605eb232ff248e2"/>
    <p:sldId xmlns:r="http://schemas.openxmlformats.org/officeDocument/2006/relationships" id="263" r:id="R42dc8b21d5374886"/>
    <p:sldId xmlns:r="http://schemas.openxmlformats.org/officeDocument/2006/relationships" id="264" r:id="R4dbe0da3c1714297"/>
    <p:sldId xmlns:r="http://schemas.openxmlformats.org/officeDocument/2006/relationships" id="265" r:id="Rc5cc178e7e4a48f3"/>
    <p:sldId xmlns:r="http://schemas.openxmlformats.org/officeDocument/2006/relationships" id="266" r:id="Rf92ea526fd7149cb"/>
    <p:sldId xmlns:r="http://schemas.openxmlformats.org/officeDocument/2006/relationships" id="267" r:id="R7343416e6ab34b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7d0240317f4382" /><Relationship Type="http://schemas.openxmlformats.org/officeDocument/2006/relationships/slideMaster" Target="/ppt/slideMasters/slideMaster1.xml" Id="Rb4c578a72e154d83" /><Relationship Type="http://schemas.openxmlformats.org/officeDocument/2006/relationships/notesMaster" Target="/ppt/notesMasters/notesMaster1.xml" Id="R5097c8a3477b4e45" /><Relationship Type="http://schemas.openxmlformats.org/officeDocument/2006/relationships/presProps" Target="/ppt/presProps.xml" Id="Rcc970c6f34154846" /><Relationship Type="http://schemas.openxmlformats.org/officeDocument/2006/relationships/tableStyles" Target="/ppt/tableStyles.xml" Id="R43cbb025191f4a1d" /><Relationship Type="http://schemas.openxmlformats.org/officeDocument/2006/relationships/slide" Target="/ppt/slides/slide1.xml" Id="Rdf970041a8874382" /><Relationship Type="http://schemas.openxmlformats.org/officeDocument/2006/relationships/slide" Target="/ppt/slides/slide2.xml" Id="Raddb37553c8f4564" /><Relationship Type="http://schemas.openxmlformats.org/officeDocument/2006/relationships/slide" Target="/ppt/slides/slide3.xml" Id="R5d3d12af7e2f44a9" /><Relationship Type="http://schemas.openxmlformats.org/officeDocument/2006/relationships/slide" Target="/ppt/slides/slide4.xml" Id="R61da94fcd6da4fe9" /><Relationship Type="http://schemas.openxmlformats.org/officeDocument/2006/relationships/slide" Target="/ppt/slides/slide5.xml" Id="R3e5fdbec100a4897" /><Relationship Type="http://schemas.openxmlformats.org/officeDocument/2006/relationships/slide" Target="/ppt/slides/slide6.xml" Id="Rf9a8b105903c43ab" /><Relationship Type="http://schemas.openxmlformats.org/officeDocument/2006/relationships/slide" Target="/ppt/slides/slide7.xml" Id="R9605eb232ff248e2" /><Relationship Type="http://schemas.openxmlformats.org/officeDocument/2006/relationships/slide" Target="/ppt/slides/slide8.xml" Id="R42dc8b21d5374886" /><Relationship Type="http://schemas.openxmlformats.org/officeDocument/2006/relationships/slide" Target="/ppt/slides/slide9.xml" Id="R4dbe0da3c1714297" /><Relationship Type="http://schemas.openxmlformats.org/officeDocument/2006/relationships/slide" Target="/ppt/slides/slide10.xml" Id="Rc5cc178e7e4a48f3" /><Relationship Type="http://schemas.openxmlformats.org/officeDocument/2006/relationships/slide" Target="/ppt/slides/slide11.xml" Id="Rf92ea526fd7149cb" /><Relationship Type="http://schemas.openxmlformats.org/officeDocument/2006/relationships/slide" Target="/ppt/slides/slide12.xml" Id="R7343416e6ab34b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49e7771a4240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a19c80c7f24fee" /><Relationship Type="http://schemas.openxmlformats.org/officeDocument/2006/relationships/notesMaster" Target="/ppt/notesMasters/notesMaster1.xml" Id="R633dee7877b440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cd826f2d24467c" /><Relationship Type="http://schemas.openxmlformats.org/officeDocument/2006/relationships/notesMaster" Target="/ppt/notesMasters/notesMaster1.xml" Id="Rb9b6f7cdcc2148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e3f6fa56b04266" /><Relationship Type="http://schemas.openxmlformats.org/officeDocument/2006/relationships/notesMaster" Target="/ppt/notesMasters/notesMaster1.xml" Id="Rd8968233862b4d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608085425840be" /><Relationship Type="http://schemas.openxmlformats.org/officeDocument/2006/relationships/notesMaster" Target="/ppt/notesMasters/notesMaster1.xml" Id="R8e39f0da1fa445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8bd106b0094bf2" /><Relationship Type="http://schemas.openxmlformats.org/officeDocument/2006/relationships/notesMaster" Target="/ppt/notesMasters/notesMaster1.xml" Id="R05f65f4afd544a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38938f98a64553" /><Relationship Type="http://schemas.openxmlformats.org/officeDocument/2006/relationships/notesMaster" Target="/ppt/notesMasters/notesMaster1.xml" Id="R1d7ed07c11aa4d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209177a9064e29" /><Relationship Type="http://schemas.openxmlformats.org/officeDocument/2006/relationships/notesMaster" Target="/ppt/notesMasters/notesMaster1.xml" Id="Rb258e4f07f9e46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6f7392c3baa4d31" /><Relationship Type="http://schemas.openxmlformats.org/officeDocument/2006/relationships/notesMaster" Target="/ppt/notesMasters/notesMaster1.xml" Id="R5a9e8b32ac3a43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f50d5e551c4718" /><Relationship Type="http://schemas.openxmlformats.org/officeDocument/2006/relationships/notesMaster" Target="/ppt/notesMasters/notesMaster1.xml" Id="Rd0ad7d55b91347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c96af04a55b4d4c" /><Relationship Type="http://schemas.openxmlformats.org/officeDocument/2006/relationships/notesMaster" Target="/ppt/notesMasters/notesMaster1.xml" Id="Rce52f491fe2f45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ba4750c8be4a7f" /><Relationship Type="http://schemas.openxmlformats.org/officeDocument/2006/relationships/notesMaster" Target="/ppt/notesMasters/notesMaster1.xml" Id="R08217ab5d51d40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97b9977a6054a0a" /><Relationship Type="http://schemas.openxmlformats.org/officeDocument/2006/relationships/notesMaster" Target="/ppt/notesMasters/notesMaster1.xml" Id="Rb2488bfd078149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开场问题：reshape合并C和D是否减少元素数？</a:t>
            </a:r>
          </a:p>
          <a:p xmlns:a="http://schemas.openxmlformats.org/drawingml/2006/main">
            <a:r>
              <a:t>原标题：HybridSN 的 reshape 为什么是关键？</a:t>
            </a:r>
          </a:p>
          <a:p xmlns:a="http://schemas.openxmlformats.org/drawingml/2006/main">
            <a:r>
              <a:t>参考节奏：5分钟回顾，10分钟手算，10分钟代码，12分钟练习，5分钟错误分析，3分钟退出题。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  <a:p xmlns:a="http://schemas.openxmlformats.org/drawingml/2006/main">
            <a:r>
              <a:t>封面图源：03_hybridsn_baseline.ipynb / legacy-16 / 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交付物以代码、配置、输出和解释为准。先做完整示例，再做填空与迁移任务。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只讲有实现证据的结构，不搬未经核实论文表格数字。</a:t>
            </a:r>
          </a:p>
          <a:p xmlns:a="http://schemas.openxmlformats.org/drawingml/2006/main">
            <a:r>
              <a:t>3D features / Reshape / 2D refinement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现场一次 dummy forward 核对张量而不是死记表。注意 17×17 出现在 2D 卷积之后。</a:t>
            </a:r>
          </a:p>
          <a:p xmlns:a="http://schemas.openxmlformats.org/drawingml/2006/main">
            <a:r>
              <a:t>25×25×15 / 19×19×3 / 17×17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用arange小张量验证元素对应。permute和view不是同义。</a:t>
            </a:r>
          </a:p>
          <a:p xmlns:a="http://schemas.openxmlformats.org/drawingml/2006/main">
            <a:r>
              <a:t>N,32,3,19,19 / view / N,96,19,19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手算 4,735,232：参数大头不是卷积而是第一个全连接。这不是"无损压缩"，是结构选择。</a:t>
            </a:r>
          </a:p>
          <a:p xmlns:a="http://schemas.openxmlformats.org/drawingml/2006/main">
            <a:r>
              <a:t>Flatten 18,496 / Linear 256 / Trade-off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曲线来自notebook 03实际训练（协议B，测试 6150 样本）。两个干货：val 下滑后不能回头选 test 最好的轮次；训练中途崩一次再恢复也很常见——看曲线而不是看单点。</a:t>
            </a:r>
          </a:p>
          <a:p xmlns:a="http://schemas.openxmlformats.org/drawingml/2006/main">
            <a:r>
              <a:t>历史协议B输出，仅用于结构/读图；不是协议E的比较成绩。 历史曲线由保存的epoch日志重绘，数值与历史协议B不变；logged loss保留旧代码的归一化口径。</a:t>
            </a:r>
          </a:p>
          <a:p xmlns:a="http://schemas.openxmlformats.org/drawingml/2006/main">
            <a:r>
              <a:t>Loss curve / Val plateau / Best epoch</a:t>
            </a:r>
          </a:p>
          <a:p xmlns:a="http://schemas.openxmlformats.org/drawingml/2006/main">
            <a:r>
              <a:t>图源：03_hybridsn_baseline.ipynb / legacy-16 / 0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官方链接是gokriznastic/HybridSN。来源未访问的表项保持待核验。本项目还撤回过一条不实归属：自定义方差惩罚不是SSRN论文的内容。</a:t>
            </a:r>
          </a:p>
          <a:p xmlns:a="http://schemas.openxmlformats.org/drawingml/2006/main">
            <a:r>
              <a:t>Paper / Author code / Course variant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本课使用随机权重前向，不能把其输出命名为训练预测结果。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只运行指定短cell；完整训练已在课前完成。缺资产时使用已执行输出备用并说明。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停下来收集预测，发现错误后重新解释；不等到课后作业才知道学生没理解。</a:t>
            </a:r>
          </a:p>
          <a:p xmlns:a="http://schemas.openxmlformats.org/drawingml/2006/main">
            <a:r>
              <a:t>作业：A03；完整示例 / 填空 / 迁移；提交代码、配置、结果和限制。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区分已观察事实、候选解释与下一项检验。</a:t>
            </a:r>
          </a:p>
          <a:p xmlns:a="http://schemas.openxmlformats.org/drawingml/2006/main">
            <a:r>
              <a:t>退出题：reshape合并C和D是否减少元素数？</a:t>
            </a:r>
          </a:p>
          <a:p xmlns:a="http://schemas.openxmlformats.org/drawingml/2006/main">
            <a:r>
              <a:t>课堂入口: 11_patch_hybridsn_classroom.ipynb</a:t>
            </a:r>
          </a:p>
          <a:p xmlns:a="http://schemas.openxmlformats.org/drawingml/2006/main">
            <a:r>
              <a:t>定位: hybridsn-shapes, reshape-check, pca-change</a:t>
            </a:r>
          </a:p>
          <a:p xmlns:a="http://schemas.openxmlformats.org/drawingml/2006/main">
            <a:r>
              <a:t>先预测，再运行；答错时回到手算例。</a:t>
            </a:r>
          </a:p>
          <a:p xmlns:a="http://schemas.openxmlformats.org/drawingml/2006/main">
            <a:r>
              <a:t>AI辅助：只比较提供的论文段落和源码，输出差异表；每项附页码或函数名。没有来源的PCA/epoch/seed标unknown，不猜论文默认值。</a:t>
            </a:r>
          </a:p>
          <a:p xmlns:a="http://schemas.openxmlformats.org/drawingml/2006/main">
            <a:r>
              <a:t>人工核验：逐项读原文和源码；形状由framework核对；引用不能由搜索摘要替代。</a:t>
            </a:r>
          </a:p>
          <a:p xmlns:a="http://schemas.openxmlformats.org/drawingml/2006/main">
            <a:r>
              <a:t>HybridSN author repository</a:t>
            </a:r>
          </a:p>
          <a:p xmlns:a="http://schemas.openxmlformats.org/drawingml/2006/main">
            <a:r>
              <a:t>https://github.com/gokriznastic/HybridSN</a:t>
            </a:r>
          </a:p>
          <a:p xmlns:a="http://schemas.openxmlformats.org/drawingml/2006/main">
            <a:r>
              <a:t>PyTorch documentation</a:t>
            </a:r>
          </a:p>
          <a:p xmlns:a="http://schemas.openxmlformats.org/drawingml/2006/main">
            <a:r>
              <a:t>https://docs.pytorch.org/docs/stable/index.html</a:t>
            </a:r>
          </a:p>
          <a:p xmlns:a="http://schemas.openxmlformats.org/drawingml/2006/main">
            <a:r>
              <a:t>运行配置、数据哈希和结果：artifacts/teaching/classroom-facts.json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983d18bda3431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f8c278038411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cfbb003379418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ae7045ad604c9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cfdcd8581e487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9819ae3b6d4e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551E292-883A-48AE-85D1-2983C15D4E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0564BCC-189F-41D3-90BB-433AF2860C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EC8C048-4F8D-4145-A51C-9265648CF4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9D6CEB-AFF0-4D35-A898-22A361A34C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42E70E3-421B-4EE3-A9D1-95BCE0AD29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D03BE95-AEF6-4EF2-85D6-EEFE202567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B08740-208B-4C55-BA00-1810909BA1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C1DEF9A-B434-4BA8-96A1-2460E3AB9B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7552C0-4CE9-4153-AB87-DC2CB3C37F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8DCC689-FB9F-4A4B-BDC2-F8EFDD08FD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6637a9385f45b3" /><Relationship Type="http://schemas.openxmlformats.org/officeDocument/2006/relationships/slideLayout" Target="/ppt/slideLayouts/slideLayout1.xml" Id="R7fabdeac217e4634" /><Relationship Type="http://schemas.openxmlformats.org/officeDocument/2006/relationships/slideLayout" Target="/ppt/slideLayouts/slideLayout2.xml" Id="R0988a4144be94218" /><Relationship Type="http://schemas.openxmlformats.org/officeDocument/2006/relationships/slideLayout" Target="/ppt/slideLayouts/slideLayout3.xml" Id="R1a53a18976c74f75" /><Relationship Type="http://schemas.openxmlformats.org/officeDocument/2006/relationships/slideLayout" Target="/ppt/slideLayouts/slideLayout4.xml" Id="R5cd8e923beab4f23" /><Relationship Type="http://schemas.openxmlformats.org/officeDocument/2006/relationships/slideLayout" Target="/ppt/slideLayouts/slideLayout5.xml" Id="Ra2b20b38d77f4418" /><Relationship Type="http://schemas.openxmlformats.org/officeDocument/2006/relationships/slideLayout" Target="/ppt/slideLayouts/slideLayout6.xml" Id="R7dfc5aa7ae9c49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abdeac217e4634"/>
    <p:sldLayoutId xmlns:r="http://schemas.openxmlformats.org/officeDocument/2006/relationships" id="2147483650" r:id="R0988a4144be94218"/>
    <p:sldLayoutId xmlns:r="http://schemas.openxmlformats.org/officeDocument/2006/relationships" id="2147483651" r:id="R1a53a18976c74f75"/>
    <p:sldLayoutId xmlns:r="http://schemas.openxmlformats.org/officeDocument/2006/relationships" id="2147483652" r:id="R5cd8e923beab4f23"/>
    <p:sldLayoutId xmlns:r="http://schemas.openxmlformats.org/officeDocument/2006/relationships" id="2147483653" r:id="Ra2b20b38d77f4418"/>
    <p:sldLayoutId xmlns:r="http://schemas.openxmlformats.org/officeDocument/2006/relationships" id="2147483654" r:id="R7dfc5aa7ae9c49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66f6ada1cc46d3" /><Relationship Type="http://schemas.openxmlformats.org/officeDocument/2006/relationships/image" Target="/ppt/media/image.png" Id="Rff698e1b8a714101" /><Relationship Type="http://schemas.openxmlformats.org/officeDocument/2006/relationships/notesSlide" Target="/ppt/notesSlides/notesSlide1.xml" Id="R9e1caf7074d3417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efd7aa51814d0e" /><Relationship Type="http://schemas.openxmlformats.org/officeDocument/2006/relationships/notesSlide" Target="/ppt/notesSlides/notesSlide2.xml" Id="R7f7c4d7bd7fd4f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9415410f744148" /><Relationship Type="http://schemas.openxmlformats.org/officeDocument/2006/relationships/notesSlide" Target="/ppt/notesSlides/notesSlide3.xml" Id="R1799452288de4e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fc7afa89864d24" /><Relationship Type="http://schemas.openxmlformats.org/officeDocument/2006/relationships/notesSlide" Target="/ppt/notesSlides/notesSlide4.xml" Id="R27992d99dcaa4f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46634ec19447cd" /><Relationship Type="http://schemas.openxmlformats.org/officeDocument/2006/relationships/image" Target="/ppt/media/image2.png" Id="R6d486830d1564ea8" /><Relationship Type="http://schemas.openxmlformats.org/officeDocument/2006/relationships/notesSlide" Target="/ppt/notesSlides/notesSlide5.xml" Id="R2433a44219244c2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41c53fdc104298" /><Relationship Type="http://schemas.openxmlformats.org/officeDocument/2006/relationships/image" Target="/ppt/media/image3.png" Id="R6ff40058bf834a0b" /><Relationship Type="http://schemas.openxmlformats.org/officeDocument/2006/relationships/notesSlide" Target="/ppt/notesSlides/notesSlide6.xml" Id="Re2655157ba6e43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824dfae04d4980" /><Relationship Type="http://schemas.openxmlformats.org/officeDocument/2006/relationships/image" Target="/ppt/media/image4.png" Id="Rce8d764254b24d2b" /><Relationship Type="http://schemas.openxmlformats.org/officeDocument/2006/relationships/notesSlide" Target="/ppt/notesSlides/notesSlide7.xml" Id="Rb8f379af699140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197b69c29b4416" /><Relationship Type="http://schemas.openxmlformats.org/officeDocument/2006/relationships/notesSlide" Target="/ppt/notesSlides/notesSlide8.xml" Id="R462c2014e2b343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33c4f9fc1d4cdb" /><Relationship Type="http://schemas.openxmlformats.org/officeDocument/2006/relationships/notesSlide" Target="/ppt/notesSlides/notesSlide9.xml" Id="R2faf0fc5a2a240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40c78966714bc4" /><Relationship Type="http://schemas.openxmlformats.org/officeDocument/2006/relationships/notesSlide" Target="/ppt/notesSlides/notesSlide10.xml" Id="R9ee3b9bc884a443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131934ceb24d3d" /><Relationship Type="http://schemas.openxmlformats.org/officeDocument/2006/relationships/notesSlide" Target="/ppt/notesSlides/notesSlide11.xml" Id="R7cd79a17331e4c9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ef1918e59c4e57" /><Relationship Type="http://schemas.openxmlformats.org/officeDocument/2006/relationships/notesSlide" Target="/ppt/notesSlides/notesSlide12.xml" Id="R118a218b7da749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23D94147-4FAF-4105-A3BF-FA8B2C88F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EF296554-8C82-4659-9F28-24F9410E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F23C96-31E4-4671-BEF7-89243560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28A30-18D3-4069-AA39-1B2DF913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读懂&#10;HybridSN">
            <a:extLst xmlns:a="http://schemas.openxmlformats.org/drawingml/2006/main">
              <a:ext uri="{FF2B5EF4-FFF2-40B4-BE49-F238E27FC236}">
                <a16:creationId xmlns:a16="http://schemas.microsoft.com/office/drawing/2014/main" id="{643F65DF-0846-48DA-AF58-867B34B9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5245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读懂</a:t>
            </a:r>
          </a:p>
          <a:p xmlns:a="http://schemas.openxmlformats.org/drawingml/2006/main">
            <a:pPr>
              <a:def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HybridSN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47D3E7-C901-4394-9049-E8195FF26C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98e1b8a714101"/>
          <a:stretch xmlns:a="http://schemas.openxmlformats.org/drawingml/2006/main"/>
        </p:blipFill>
        <p:spPr>
          <a:xfrm xmlns:a="http://schemas.openxmlformats.org/drawingml/2006/main">
            <a:off x="6591300" y="2371725"/>
            <a:ext cx="4914900" cy="1638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9DD45-D58A-4C96-93D5-278A2FEE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从经典结构到可检查的实现">
            <a:extLst xmlns:a="http://schemas.openxmlformats.org/drawingml/2006/main">
              <a:ext uri="{FF2B5EF4-FFF2-40B4-BE49-F238E27FC236}">
                <a16:creationId xmlns:a16="http://schemas.microsoft.com/office/drawing/2014/main" id="{00808788-460A-4EA4-B658-E34A25EC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从经典结构到可检查的实现</a:t>
            </a:r>
          </a:p>
        </p:txBody>
      </p:sp>
      <p:sp>
        <p:nvSpPr>
          <p:cNvPr id="9" name="先修  /  L05：3D与2D轴语义">
            <a:extLst xmlns:a="http://schemas.openxmlformats.org/drawingml/2006/main">
              <a:ext uri="{FF2B5EF4-FFF2-40B4-BE49-F238E27FC236}">
                <a16:creationId xmlns:a16="http://schemas.microsoft.com/office/drawing/2014/main" id="{43107C96-11B4-4084-9EA9-02916CB7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先修  /  L05：3D与2D轴语义</a:t>
            </a:r>
          </a:p>
        </p:txBody>
      </p:sp>
    </p:spTree>
    <p:extLst>
      <p:ext uri="{BB962C8B-B14F-4D97-AF65-F5344CB8AC3E}">
        <p14:creationId xmlns:p14="http://schemas.microsoft.com/office/powerpoint/2010/main" val="10814172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1C205B92-E762-42D9-9D70-BC208A4F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B9D14C3C-FACC-444D-9CD9-1628BAFF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这节课，你将完成什么">
            <a:extLst xmlns:a="http://schemas.openxmlformats.org/drawingml/2006/main">
              <a:ext uri="{FF2B5EF4-FFF2-40B4-BE49-F238E27FC236}">
                <a16:creationId xmlns:a16="http://schemas.microsoft.com/office/drawing/2014/main" id="{CBE23792-BCB3-4C3B-A459-F3ECA406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这节课，你将完成什么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911FB9-41AD-40FB-9F91-3B2624C2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EEAE4B2E-6C9D-4710-B635-BFA04629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结构映射表">
            <a:extLst xmlns:a="http://schemas.openxmlformats.org/drawingml/2006/main">
              <a:ext uri="{FF2B5EF4-FFF2-40B4-BE49-F238E27FC236}">
                <a16:creationId xmlns:a16="http://schemas.microsoft.com/office/drawing/2014/main" id="{48C5E625-45E8-4132-B3EC-43B304577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41935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结构映射表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5DF71-F432-4BDE-9E9C-34F4374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19475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DB01F20C-2819-4F69-90B6-0B7EECB37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9975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9" name="形状与参数核对">
            <a:extLst xmlns:a="http://schemas.openxmlformats.org/drawingml/2006/main">
              <a:ext uri="{FF2B5EF4-FFF2-40B4-BE49-F238E27FC236}">
                <a16:creationId xmlns:a16="http://schemas.microsoft.com/office/drawing/2014/main" id="{750E9700-7800-489C-A142-E4FA22323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09975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形状与参数核对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3A98B8-CF6B-413A-B1DB-CD4D4E91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10100"/>
            <a:ext cx="952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5291424B-C3D4-46A4-BA64-F5B8E532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76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2" name="一个可证伪消融问题">
            <a:extLst xmlns:a="http://schemas.openxmlformats.org/drawingml/2006/main">
              <a:ext uri="{FF2B5EF4-FFF2-40B4-BE49-F238E27FC236}">
                <a16:creationId xmlns:a16="http://schemas.microsoft.com/office/drawing/2014/main" id="{EE3B169D-1B62-4B5F-AFCB-EF94C563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00600"/>
            <a:ext cx="952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一个可证伪消融问题</a:t>
            </a:r>
          </a:p>
        </p:txBody>
      </p:sp>
    </p:spTree>
    <p:extLst>
      <p:ext uri="{BB962C8B-B14F-4D97-AF65-F5344CB8AC3E}">
        <p14:creationId xmlns:p14="http://schemas.microsoft.com/office/powerpoint/2010/main" val="10084864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BFFBA4F7-27A7-4D4F-B2AD-3AAA6D94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59256116-8D1D-4A49-A2AA-D6FA206B2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不是混合就一定更好">
            <a:extLst xmlns:a="http://schemas.openxmlformats.org/drawingml/2006/main">
              <a:ext uri="{FF2B5EF4-FFF2-40B4-BE49-F238E27FC236}">
                <a16:creationId xmlns:a16="http://schemas.microsoft.com/office/drawing/2014/main" id="{3811501C-EC25-4159-BDEF-607A581E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不是混合就一定更好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E1531-B40C-44E9-AD97-2CF66552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BB5B0F41-195A-4693-BE10-7C100D63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3D保留depth方向局部建模">
            <a:extLst xmlns:a="http://schemas.openxmlformats.org/drawingml/2006/main">
              <a:ext uri="{FF2B5EF4-FFF2-40B4-BE49-F238E27FC236}">
                <a16:creationId xmlns:a16="http://schemas.microsoft.com/office/drawing/2014/main" id="{9B365247-E2F1-4DF1-BF76-29547E0B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3D保留depth方向局部建模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2C9F5A4A-1474-469B-8C9D-53205E5B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2D继续聚合通道与空间">
            <a:extLst xmlns:a="http://schemas.openxmlformats.org/drawingml/2006/main">
              <a:ext uri="{FF2B5EF4-FFF2-40B4-BE49-F238E27FC236}">
                <a16:creationId xmlns:a16="http://schemas.microsoft.com/office/drawing/2014/main" id="{64BF4A76-B950-483A-9226-DA81DEC4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2D继续聚合通道与空间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85B5728C-66BD-47B5-A473-08980201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效果必须放在协议中测量">
            <a:extLst xmlns:a="http://schemas.openxmlformats.org/drawingml/2006/main">
              <a:ext uri="{FF2B5EF4-FFF2-40B4-BE49-F238E27FC236}">
                <a16:creationId xmlns:a16="http://schemas.microsoft.com/office/drawing/2014/main" id="{8996590A-6E16-4472-AA64-254D7074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效果必须放在协议中测量</a:t>
            </a:r>
          </a:p>
        </p:txBody>
      </p:sp>
    </p:spTree>
    <p:extLst>
      <p:ext uri="{BB962C8B-B14F-4D97-AF65-F5344CB8AC3E}">
        <p14:creationId xmlns:p14="http://schemas.microsoft.com/office/powerpoint/2010/main" val="170955909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B2C0FB21-A66C-42C8-8D6E-74F03785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6DA6CEC1-1725-44E9-802D-3BD6144E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" name="无padding，尺寸会逐层收缩">
            <a:extLst xmlns:a="http://schemas.openxmlformats.org/drawingml/2006/main">
              <a:ext uri="{FF2B5EF4-FFF2-40B4-BE49-F238E27FC236}">
                <a16:creationId xmlns:a16="http://schemas.microsoft.com/office/drawing/2014/main" id="{37F21572-53E6-4989-A85B-AF09BB6D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无padding，尺寸会逐层收缩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7B6404-7363-4745-A10C-5E0840D4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ED9DAE5D-098E-4558-B4D2-8CC24962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空间 25→23→21→19→17">
            <a:extLst xmlns:a="http://schemas.openxmlformats.org/drawingml/2006/main">
              <a:ext uri="{FF2B5EF4-FFF2-40B4-BE49-F238E27FC236}">
                <a16:creationId xmlns:a16="http://schemas.microsoft.com/office/drawing/2014/main" id="{DA307DAE-168A-4EB5-88F3-04BE7E55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空间 25→23→21→19→17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F04552EE-9A03-421D-9ED3-3B6CE15C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PCA-15 深度 15→9→5→3">
            <a:extLst xmlns:a="http://schemas.openxmlformats.org/drawingml/2006/main">
              <a:ext uri="{FF2B5EF4-FFF2-40B4-BE49-F238E27FC236}">
                <a16:creationId xmlns:a16="http://schemas.microsoft.com/office/drawing/2014/main" id="{60BE8B02-83E6-4F30-9A1F-177EF746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PCA-15 深度 15→9→5→3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F234AB27-2676-4AE2-B822-951EA39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输入维数改变要重新核对">
            <a:extLst xmlns:a="http://schemas.openxmlformats.org/drawingml/2006/main">
              <a:ext uri="{FF2B5EF4-FFF2-40B4-BE49-F238E27FC236}">
                <a16:creationId xmlns:a16="http://schemas.microsoft.com/office/drawing/2014/main" id="{7901DB32-99C6-43C7-ACA6-1F7D3832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输入维数改变要重新核对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545B43-44BB-4D05-9131-BBD3028A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2" name="&gt;&gt;&gt; shapes['conv3']&#10;(2,32,3,19">
            <a:extLst xmlns:a="http://schemas.openxmlformats.org/drawingml/2006/main">
              <a:ext uri="{FF2B5EF4-FFF2-40B4-BE49-F238E27FC236}">
                <a16:creationId xmlns:a16="http://schemas.microsoft.com/office/drawing/2014/main" id="{479899F2-EEC7-465E-81A7-BDBFF529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1040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&gt;&gt;&gt; shapes['conv3']</a:t>
            </a:r>
          </a:p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(2,32,3,19,19)</a:t>
            </a:r>
          </a:p>
        </p:txBody>
      </p:sp>
    </p:spTree>
    <p:extLst>
      <p:ext uri="{BB962C8B-B14F-4D97-AF65-F5344CB8AC3E}">
        <p14:creationId xmlns:p14="http://schemas.microsoft.com/office/powerpoint/2010/main" val="1090941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F6FC4ADF-29D9-4B76-A481-0F049210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2CA9F6F2-529A-40ED-B860-91B34761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3" name="把C与D合并，不是降维">
            <a:extLst xmlns:a="http://schemas.openxmlformats.org/drawingml/2006/main">
              <a:ext uri="{FF2B5EF4-FFF2-40B4-BE49-F238E27FC236}">
                <a16:creationId xmlns:a16="http://schemas.microsoft.com/office/drawing/2014/main" id="{A39EF957-7A13-4155-94A4-85F18BF6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把C与D合并，不是降维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1327D-2B4F-477F-A14D-80E3AD4A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32×3变成96通道">
            <a:extLst xmlns:a="http://schemas.openxmlformats.org/drawingml/2006/main">
              <a:ext uri="{FF2B5EF4-FFF2-40B4-BE49-F238E27FC236}">
                <a16:creationId xmlns:a16="http://schemas.microsoft.com/office/drawing/2014/main" id="{2CEACF02-36CC-4D9B-8001-E202BCDB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32×3变成96通道</a:t>
            </a:r>
          </a:p>
        </p:txBody>
      </p:sp>
      <p:sp>
        <p:nvSpPr>
          <p:cNvPr id="6" name="19×19空间位置保留">
            <a:extLst xmlns:a="http://schemas.openxmlformats.org/drawingml/2006/main">
              <a:ext uri="{FF2B5EF4-FFF2-40B4-BE49-F238E27FC236}">
                <a16:creationId xmlns:a16="http://schemas.microsoft.com/office/drawing/2014/main" id="{F5229C15-C444-40BD-A28C-E20A44F0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19×19空间位置保留</a:t>
            </a:r>
          </a:p>
        </p:txBody>
      </p:sp>
      <p:sp>
        <p:nvSpPr>
          <p:cNvPr id="7" name="元素数不变，不恢复原始光谱">
            <a:extLst xmlns:a="http://schemas.openxmlformats.org/drawingml/2006/main">
              <a:ext uri="{FF2B5EF4-FFF2-40B4-BE49-F238E27FC236}">
                <a16:creationId xmlns:a16="http://schemas.microsoft.com/office/drawing/2014/main" id="{8009B976-EA8E-432A-83A7-86CB7C67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元素数不变，不恢复原始光谱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6D4DD-7399-4806-BF56-0DE170B1C2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486830d1564ea8"/>
          <a:stretch xmlns:a="http://schemas.openxmlformats.org/drawingml/2006/main"/>
        </p:blipFill>
        <p:spPr>
          <a:xfrm xmlns:a="http://schemas.openxmlformats.org/drawingml/2006/main">
            <a:off x="6096000" y="3169183"/>
            <a:ext cx="5410200" cy="433908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F01FB3-25D5-48E3-8FDE-2E700B5A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merged.shape">
            <a:extLst xmlns:a="http://schemas.openxmlformats.org/drawingml/2006/main">
              <a:ext uri="{FF2B5EF4-FFF2-40B4-BE49-F238E27FC236}">
                <a16:creationId xmlns:a16="http://schemas.microsoft.com/office/drawing/2014/main" id="{22B3DF82-4E95-4A3F-9B15-67BF42ED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merged.shape</a:t>
            </a:r>
          </a:p>
        </p:txBody>
      </p:sp>
      <p:sp>
        <p:nvSpPr>
          <p:cNvPr id="11" name="torch.Size([2, 96, 19, 19])">
            <a:extLst xmlns:a="http://schemas.openxmlformats.org/drawingml/2006/main">
              <a:ext uri="{FF2B5EF4-FFF2-40B4-BE49-F238E27FC236}">
                <a16:creationId xmlns:a16="http://schemas.microsoft.com/office/drawing/2014/main" id="{EC17F293-8284-4A4C-96B6-2E2BEA72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torch.Size([2, 96, 19, 19])</a:t>
            </a:r>
          </a:p>
        </p:txBody>
      </p:sp>
    </p:spTree>
    <p:extLst>
      <p:ext uri="{BB962C8B-B14F-4D97-AF65-F5344CB8AC3E}">
        <p14:creationId xmlns:p14="http://schemas.microsoft.com/office/powerpoint/2010/main" val="2226211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B7CC587D-C083-486D-9446-12175B37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BA09D987-EAB7-4E3B-99C3-884ECF32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" name="参数大户藏在Flatten后">
            <a:extLst xmlns:a="http://schemas.openxmlformats.org/drawingml/2006/main">
              <a:ext uri="{FF2B5EF4-FFF2-40B4-BE49-F238E27FC236}">
                <a16:creationId xmlns:a16="http://schemas.microsoft.com/office/drawing/2014/main" id="{77C6FB73-55D5-4877-AACB-A5B328F8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参数大户藏在Flatten后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B27D5-278C-46F4-9373-0DC76243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64×17×17=18,496">
            <a:extLst xmlns:a="http://schemas.openxmlformats.org/drawingml/2006/main">
              <a:ext uri="{FF2B5EF4-FFF2-40B4-BE49-F238E27FC236}">
                <a16:creationId xmlns:a16="http://schemas.microsoft.com/office/drawing/2014/main" id="{DFF2DC8C-F205-4922-89CE-CE02269C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64×17×17=18,496</a:t>
            </a:r>
          </a:p>
        </p:txBody>
      </p:sp>
      <p:sp>
        <p:nvSpPr>
          <p:cNvPr id="6" name="首FC映射到 256">
            <a:extLst xmlns:a="http://schemas.openxmlformats.org/drawingml/2006/main">
              <a:ext uri="{FF2B5EF4-FFF2-40B4-BE49-F238E27FC236}">
                <a16:creationId xmlns:a16="http://schemas.microsoft.com/office/drawing/2014/main" id="{163235F7-B327-4CEB-B0AF-09F9127B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首FC映射到 256</a:t>
            </a:r>
          </a:p>
        </p:txBody>
      </p:sp>
      <p:sp>
        <p:nvSpPr>
          <p:cNvPr id="7" name="全局池化减参但会改变表示">
            <a:extLst xmlns:a="http://schemas.openxmlformats.org/drawingml/2006/main">
              <a:ext uri="{FF2B5EF4-FFF2-40B4-BE49-F238E27FC236}">
                <a16:creationId xmlns:a16="http://schemas.microsoft.com/office/drawing/2014/main" id="{069E2EDA-EBD5-4E52-A3D4-7FDF0965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720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全局池化减参但会改变表示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E0179C-E5CF-4647-B00E-6B871AC5F2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f40058bf834a0b"/>
          <a:stretch xmlns:a="http://schemas.openxmlformats.org/drawingml/2006/main"/>
        </p:blipFill>
        <p:spPr>
          <a:xfrm xmlns:a="http://schemas.openxmlformats.org/drawingml/2006/main">
            <a:off x="6096000" y="3157109"/>
            <a:ext cx="5410200" cy="458057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06D62F-208E-4E1D-BA49-D7681EB9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0" name="&gt;&gt;&gt; net.dense1[0].weight.shape">
            <a:extLst xmlns:a="http://schemas.openxmlformats.org/drawingml/2006/main">
              <a:ext uri="{FF2B5EF4-FFF2-40B4-BE49-F238E27FC236}">
                <a16:creationId xmlns:a16="http://schemas.microsoft.com/office/drawing/2014/main" id="{11537EB1-D324-42E5-B696-E90D2571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15000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152E5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152E50"/>
                </a:solidFill>
                <a:latin typeface="Consolas"/>
                <a:ea typeface="Consolas"/>
                <a:cs typeface="Consolas"/>
              </a:rPr>
              <a:t>&gt;&gt;&gt; net.dense1[0].weight.shape</a:t>
            </a:r>
          </a:p>
        </p:txBody>
      </p:sp>
      <p:sp>
        <p:nvSpPr>
          <p:cNvPr id="11" name="torch.Size([256, 18496])">
            <a:extLst xmlns:a="http://schemas.openxmlformats.org/drawingml/2006/main">
              <a:ext uri="{FF2B5EF4-FFF2-40B4-BE49-F238E27FC236}">
                <a16:creationId xmlns:a16="http://schemas.microsoft.com/office/drawing/2014/main" id="{13FE289B-4214-4B19-A46B-F6F3ACB3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105525"/>
            <a:ext cx="1040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315DAB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315DAB"/>
                </a:solidFill>
                <a:latin typeface="Consolas"/>
                <a:ea typeface="Consolas"/>
                <a:cs typeface="Consolas"/>
              </a:rPr>
              <a:t>torch.Size([256, 18496])</a:t>
            </a:r>
          </a:p>
        </p:txBody>
      </p:sp>
    </p:spTree>
    <p:extLst>
      <p:ext uri="{BB962C8B-B14F-4D97-AF65-F5344CB8AC3E}">
        <p14:creationId xmlns:p14="http://schemas.microsoft.com/office/powerpoint/2010/main" val="16944071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201C2134-0EC7-4945-A075-C1346257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6785DEB1-74E7-476D-B686-F9B26443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" name="训练过程与检查点选择">
            <a:extLst xmlns:a="http://schemas.openxmlformats.org/drawingml/2006/main">
              <a:ext uri="{FF2B5EF4-FFF2-40B4-BE49-F238E27FC236}">
                <a16:creationId xmlns:a16="http://schemas.microsoft.com/office/drawing/2014/main" id="{6AD7A69F-C76B-4512-9EEB-BBCA41DD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训练过程与检查点选择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B1B389-1BB5-461F-98FC-5870FABA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BF185D-BF2F-4BE6-B3A5-E71D97DF73B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d764254b24d2b"/>
          <a:stretch xmlns:a="http://schemas.openxmlformats.org/drawingml/2006/main"/>
        </p:blipFill>
        <p:spPr>
          <a:xfrm xmlns:a="http://schemas.openxmlformats.org/drawingml/2006/main">
            <a:off x="685800" y="2168525"/>
            <a:ext cx="10820400" cy="36068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88C57-68F7-426E-8D53-73B68AC1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7" name="本图保留历史协议B训练记录">
            <a:extLst xmlns:a="http://schemas.openxmlformats.org/drawingml/2006/main">
              <a:ext uri="{FF2B5EF4-FFF2-40B4-BE49-F238E27FC236}">
                <a16:creationId xmlns:a16="http://schemas.microsoft.com/office/drawing/2014/main" id="{C1EDAE87-A6AA-426E-96D5-CB615E69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本图保留历史协议B训练记录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1E053-1C43-45A3-A9A8-6555FC38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9" name="权重按validation选择">
            <a:extLst xmlns:a="http://schemas.openxmlformats.org/drawingml/2006/main">
              <a:ext uri="{FF2B5EF4-FFF2-40B4-BE49-F238E27FC236}">
                <a16:creationId xmlns:a16="http://schemas.microsoft.com/office/drawing/2014/main" id="{1433D7F5-2D46-4E4D-8806-547815E2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权重按validation选择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CBAD9B-E57B-4D69-BC8E-B34B0082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5972175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11" name="当前协议E结果与历史B分开报告">
            <a:extLst xmlns:a="http://schemas.openxmlformats.org/drawingml/2006/main">
              <a:ext uri="{FF2B5EF4-FFF2-40B4-BE49-F238E27FC236}">
                <a16:creationId xmlns:a16="http://schemas.microsoft.com/office/drawing/2014/main" id="{28A70628-FD4A-494A-A8CF-B05782E0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400" y="6096000"/>
            <a:ext cx="334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当前协议E结果与历史B分开报告</a:t>
            </a:r>
          </a:p>
        </p:txBody>
      </p:sp>
    </p:spTree>
    <p:extLst>
      <p:ext uri="{BB962C8B-B14F-4D97-AF65-F5344CB8AC3E}">
        <p14:creationId xmlns:p14="http://schemas.microsoft.com/office/powerpoint/2010/main" val="20302996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FD06B969-0099-44DE-98A5-D6BDF00B2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205DEF5C-12CF-4259-858D-650810D8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3" name="论文、作者代码、教学代码分三列">
            <a:extLst xmlns:a="http://schemas.openxmlformats.org/drawingml/2006/main">
              <a:ext uri="{FF2B5EF4-FFF2-40B4-BE49-F238E27FC236}">
                <a16:creationId xmlns:a16="http://schemas.microsoft.com/office/drawing/2014/main" id="{95F907AE-D4BC-4AEF-9CF0-47020578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论文、作者代码、教学代码分三列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99AC5-773D-4C29-B4CB-987C296D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E5279125-FB8E-4844-8215-3411631D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526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核尺寸和shape逐项对齐">
            <a:extLst xmlns:a="http://schemas.openxmlformats.org/drawingml/2006/main">
              <a:ext uri="{FF2B5EF4-FFF2-40B4-BE49-F238E27FC236}">
                <a16:creationId xmlns:a16="http://schemas.microsoft.com/office/drawing/2014/main" id="{83EE6297-EDAC-420E-AF54-2B74546A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574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核尺寸和shape逐项对齐</a:t>
            </a:r>
          </a:p>
        </p:txBody>
      </p:sp>
      <p:sp>
        <p:nvSpPr>
          <p:cNvPr id="7" name="02">
            <a:extLst xmlns:a="http://schemas.openxmlformats.org/drawingml/2006/main">
              <a:ext uri="{FF2B5EF4-FFF2-40B4-BE49-F238E27FC236}">
                <a16:creationId xmlns:a16="http://schemas.microsoft.com/office/drawing/2014/main" id="{F968DE35-5F09-41C5-8A20-B72243F7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PCA/划分/预算单独核验">
            <a:extLst xmlns:a="http://schemas.openxmlformats.org/drawingml/2006/main">
              <a:ext uri="{FF2B5EF4-FFF2-40B4-BE49-F238E27FC236}">
                <a16:creationId xmlns:a16="http://schemas.microsoft.com/office/drawing/2014/main" id="{C10FFA18-34D4-47F7-A9A6-4A00AB5D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PCA/划分/预算单独核验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0EFA9D03-83A4-4B8A-A964-4BDCF835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9107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0" name="简化必须标为教学变体">
            <a:extLst xmlns:a="http://schemas.openxmlformats.org/drawingml/2006/main">
              <a:ext uri="{FF2B5EF4-FFF2-40B4-BE49-F238E27FC236}">
                <a16:creationId xmlns:a16="http://schemas.microsoft.com/office/drawing/2014/main" id="{446449A1-AC6F-4B14-986E-68339FB8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695825"/>
            <a:ext cx="952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简化必须标为教学变体</a:t>
            </a:r>
          </a:p>
        </p:txBody>
      </p:sp>
    </p:spTree>
    <p:extLst>
      <p:ext uri="{BB962C8B-B14F-4D97-AF65-F5344CB8AC3E}">
        <p14:creationId xmlns:p14="http://schemas.microsoft.com/office/powerpoint/2010/main" val="10328617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523A24A3-E235-4D98-86D0-90ACBFC5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649533C6-94EB-431A-86A6-6C185745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逐层shape与元素对应">
            <a:extLst xmlns:a="http://schemas.openxmlformats.org/drawingml/2006/main">
              <a:ext uri="{FF2B5EF4-FFF2-40B4-BE49-F238E27FC236}">
                <a16:creationId xmlns:a16="http://schemas.microsoft.com/office/drawing/2014/main" id="{9C003C49-5A05-486D-AF8D-DDBC01BC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逐层shape与元素对应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2693C-48E0-4C35-BA25-71F3EBE2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先追踪depth和空间各自收缩  ·  合并C和D保留元素及">
            <a:extLst xmlns:a="http://schemas.openxmlformats.org/drawingml/2006/main">
              <a:ext uri="{FF2B5EF4-FFF2-40B4-BE49-F238E27FC236}">
                <a16:creationId xmlns:a16="http://schemas.microsoft.com/office/drawing/2014/main" id="{94C5B2D5-473E-4D60-8557-D901660A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先追踪depth和空间各自收缩  ·  合并C和D保留元素及空间位置  ·  25改为其他patch时重新核算FC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BD0DD4-2446-4583-9FD9-6F5DD9AE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E5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8AC99E-F464-4F8D-93ED-3DBAA829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820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阶段">
            <a:extLst xmlns:a="http://schemas.openxmlformats.org/drawingml/2006/main">
              <a:ext uri="{FF2B5EF4-FFF2-40B4-BE49-F238E27FC236}">
                <a16:creationId xmlns:a16="http://schemas.microsoft.com/office/drawing/2014/main" id="{C9621753-3429-4D8E-A9C8-4E8ECE25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432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9" name="shape（N=2）">
            <a:extLst xmlns:a="http://schemas.openxmlformats.org/drawingml/2006/main">
              <a:ext uri="{FF2B5EF4-FFF2-40B4-BE49-F238E27FC236}">
                <a16:creationId xmlns:a16="http://schemas.microsoft.com/office/drawing/2014/main" id="{39DD6917-5E5B-4A1A-81FE-B48C1827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432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shape（N=2）</a:t>
            </a:r>
          </a:p>
        </p:txBody>
      </p:sp>
      <p:sp>
        <p:nvSpPr>
          <p:cNvPr id="10" name="输入">
            <a:extLst xmlns:a="http://schemas.openxmlformats.org/drawingml/2006/main">
              <a:ext uri="{FF2B5EF4-FFF2-40B4-BE49-F238E27FC236}">
                <a16:creationId xmlns:a16="http://schemas.microsoft.com/office/drawing/2014/main" id="{3D5CB733-0EE4-45E5-B6BA-D4A2F298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147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1" name="2,1,15,25,25">
            <a:extLst xmlns:a="http://schemas.openxmlformats.org/drawingml/2006/main">
              <a:ext uri="{FF2B5EF4-FFF2-40B4-BE49-F238E27FC236}">
                <a16:creationId xmlns:a16="http://schemas.microsoft.com/office/drawing/2014/main" id="{F9D22258-6403-4454-BEE0-3DA226E12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147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2,1,15,25,25</a:t>
            </a:r>
          </a:p>
        </p:txBody>
      </p:sp>
      <p:sp>
        <p:nvSpPr>
          <p:cNvPr id="12" name="Conv3输出">
            <a:extLst xmlns:a="http://schemas.openxmlformats.org/drawingml/2006/main">
              <a:ext uri="{FF2B5EF4-FFF2-40B4-BE49-F238E27FC236}">
                <a16:creationId xmlns:a16="http://schemas.microsoft.com/office/drawing/2014/main" id="{63A19DE5-E5E3-4CA1-93C0-CA28FFB1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862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Conv3输出</a:t>
            </a:r>
          </a:p>
        </p:txBody>
      </p:sp>
      <p:sp>
        <p:nvSpPr>
          <p:cNvPr id="13" name="2,32,3,19,19">
            <a:extLst xmlns:a="http://schemas.openxmlformats.org/drawingml/2006/main">
              <a:ext uri="{FF2B5EF4-FFF2-40B4-BE49-F238E27FC236}">
                <a16:creationId xmlns:a16="http://schemas.microsoft.com/office/drawing/2014/main" id="{A0F561FB-BD9A-41BC-8335-264FD7E1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4862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2,32,3,19,19</a:t>
            </a:r>
          </a:p>
        </p:txBody>
      </p:sp>
      <p:sp>
        <p:nvSpPr>
          <p:cNvPr id="14" name="C×D合并">
            <a:extLst xmlns:a="http://schemas.openxmlformats.org/drawingml/2006/main">
              <a:ext uri="{FF2B5EF4-FFF2-40B4-BE49-F238E27FC236}">
                <a16:creationId xmlns:a16="http://schemas.microsoft.com/office/drawing/2014/main" id="{D152CA23-6705-463C-B2EC-A8321D08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577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C×D合并</a:t>
            </a:r>
          </a:p>
        </p:txBody>
      </p:sp>
      <p:sp>
        <p:nvSpPr>
          <p:cNvPr id="15" name="2,96,19,19">
            <a:extLst xmlns:a="http://schemas.openxmlformats.org/drawingml/2006/main">
              <a:ext uri="{FF2B5EF4-FFF2-40B4-BE49-F238E27FC236}">
                <a16:creationId xmlns:a16="http://schemas.microsoft.com/office/drawing/2014/main" id="{500462F9-A8C6-4380-A646-20FF5ED2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0577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2,96,19,19</a:t>
            </a:r>
          </a:p>
        </p:txBody>
      </p:sp>
      <p:sp>
        <p:nvSpPr>
          <p:cNvPr id="16" name="Conv2d输出">
            <a:extLst xmlns:a="http://schemas.openxmlformats.org/drawingml/2006/main">
              <a:ext uri="{FF2B5EF4-FFF2-40B4-BE49-F238E27FC236}">
                <a16:creationId xmlns:a16="http://schemas.microsoft.com/office/drawing/2014/main" id="{CBDF5002-3066-4293-85DC-FD416767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292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Conv2d输出</a:t>
            </a:r>
          </a:p>
        </p:txBody>
      </p:sp>
      <p:sp>
        <p:nvSpPr>
          <p:cNvPr id="17" name="2,64,17,17">
            <a:extLst xmlns:a="http://schemas.openxmlformats.org/drawingml/2006/main">
              <a:ext uri="{FF2B5EF4-FFF2-40B4-BE49-F238E27FC236}">
                <a16:creationId xmlns:a16="http://schemas.microsoft.com/office/drawing/2014/main" id="{11680CC6-382A-44B3-BE7A-CD2DC263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2927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2,64,17,17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C4D8E8-CF2F-4A6B-AE53-6AADF240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E50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436135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6BE1C0D2-5267-422E-BDCF-15DBC8A0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100BF657-C3FD-4F98-8C62-96404CC3D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让代码验证你的判断">
            <a:extLst xmlns:a="http://schemas.openxmlformats.org/drawingml/2006/main">
              <a:ext uri="{FF2B5EF4-FFF2-40B4-BE49-F238E27FC236}">
                <a16:creationId xmlns:a16="http://schemas.microsoft.com/office/drawing/2014/main" id="{80C4EAFE-8DA0-4ECA-934C-B3BB81F7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让代码验证你的判断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2C4761-BD4D-4FEB-A802-AC04C1AA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5619E-2718-4AC9-A1FF-0431E981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E3C"/>
          </a:solidFill>
          <a:ln xmlns:a="http://schemas.openxmlformats.org/drawingml/2006/main" w="0">
            <a:noFill/>
          </a:ln>
        </p:spPr>
      </p:sp>
      <p:sp>
        <p:nvSpPr>
          <p:cNvPr id="6" name="assert shapes['conv3'] == (2,3">
            <a:extLst xmlns:a="http://schemas.openxmlformats.org/drawingml/2006/main">
              <a:ext uri="{FF2B5EF4-FFF2-40B4-BE49-F238E27FC236}">
                <a16:creationId xmlns:a16="http://schemas.microsoft.com/office/drawing/2014/main" id="{305DCC6C-95C4-4FEC-9552-63E0FD95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10287000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assert shapes['conv3'] == (2,32,3,19,19)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merged = tensor.reshape(2,96,19,19)</a:t>
            </a:r>
          </a:p>
          <a:p xmlns:a="http://schemas.openxmlformats.org/drawingml/2006/main">
            <a:pPr>
              <a:defRPr sz="1875" b="0">
                <a:solidFill>
                  <a:srgbClr val="EAF0F7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AF0F7"/>
                </a:solidFill>
                <a:latin typeface="Consolas"/>
                <a:ea typeface="Consolas"/>
                <a:cs typeface="Consolas"/>
              </a:rPr>
              <a:t>assert merged.numel() == tensor.numel()</a:t>
            </a:r>
          </a:p>
        </p:txBody>
      </p:sp>
      <p:sp>
        <p:nvSpPr>
          <p:cNvPr id="7" name="先预测输出，再运行对应单元格。">
            <a:extLst xmlns:a="http://schemas.openxmlformats.org/drawingml/2006/main">
              <a:ext uri="{FF2B5EF4-FFF2-40B4-BE49-F238E27FC236}">
                <a16:creationId xmlns:a16="http://schemas.microsoft.com/office/drawing/2014/main" id="{A22CF253-97FC-44B7-B1E9-13E13608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先预测输出，再运行对应单元格。</a:t>
            </a:r>
          </a:p>
        </p:txBody>
      </p:sp>
    </p:spTree>
    <p:extLst>
      <p:ext uri="{BB962C8B-B14F-4D97-AF65-F5344CB8AC3E}">
        <p14:creationId xmlns:p14="http://schemas.microsoft.com/office/powerpoint/2010/main" val="6338764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AAA40574-A9F1-4375-96C0-6BB9470C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333D7A84-E354-4025-9273-7D5F1B62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停下来，做一次判断">
            <a:extLst xmlns:a="http://schemas.openxmlformats.org/drawingml/2006/main">
              <a:ext uri="{FF2B5EF4-FFF2-40B4-BE49-F238E27FC236}">
                <a16:creationId xmlns:a16="http://schemas.microsoft.com/office/drawing/2014/main" id="{9DBF465A-B4D5-409D-9C4C-90034FA6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停下来，做一次判断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54E4D-CABB-4DCC-BFC6-BB191420D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课堂预测">
            <a:extLst xmlns:a="http://schemas.openxmlformats.org/drawingml/2006/main">
              <a:ext uri="{FF2B5EF4-FFF2-40B4-BE49-F238E27FC236}">
                <a16:creationId xmlns:a16="http://schemas.microsoft.com/office/drawing/2014/main" id="{374EBABE-F86A-408F-93A3-5BF9876D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课堂预测</a:t>
            </a:r>
          </a:p>
        </p:txBody>
      </p:sp>
      <p:sp>
        <p:nvSpPr>
          <p:cNvPr id="6" name="PCA从15改30，先推断Conv2d输入通道，再用forw">
            <a:extLst xmlns:a="http://schemas.openxmlformats.org/drawingml/2006/main">
              <a:ext uri="{FF2B5EF4-FFF2-40B4-BE49-F238E27FC236}">
                <a16:creationId xmlns:a16="http://schemas.microsoft.com/office/drawing/2014/main" id="{65077E00-4152-4AC1-A2C5-D4FE24D8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PCA从15改30，先推断Conv2d输入通道，再用forward验证。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34E4B-43DC-44C5-86CF-31454976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退出题">
            <a:extLst xmlns:a="http://schemas.openxmlformats.org/drawingml/2006/main">
              <a:ext uri="{FF2B5EF4-FFF2-40B4-BE49-F238E27FC236}">
                <a16:creationId xmlns:a16="http://schemas.microsoft.com/office/drawing/2014/main" id="{DA5ADF69-F42F-4859-9BBA-C892BE46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退出题</a:t>
            </a:r>
          </a:p>
        </p:txBody>
      </p:sp>
      <p:sp>
        <p:nvSpPr>
          <p:cNvPr id="9" name="reshape合并C和D是否减少元素数？">
            <a:extLst xmlns:a="http://schemas.openxmlformats.org/drawingml/2006/main">
              <a:ext uri="{FF2B5EF4-FFF2-40B4-BE49-F238E27FC236}">
                <a16:creationId xmlns:a16="http://schemas.microsoft.com/office/drawing/2014/main" id="{5841DF24-7778-416C-ABD7-61D38FCF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108204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reshape合并C和D是否减少元素数？</a:t>
            </a:r>
          </a:p>
        </p:txBody>
      </p:sp>
    </p:spTree>
    <p:extLst>
      <p:ext uri="{BB962C8B-B14F-4D97-AF65-F5344CB8AC3E}">
        <p14:creationId xmlns:p14="http://schemas.microsoft.com/office/powerpoint/2010/main" val="15877806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L06  /  HSI LEARNING">
            <a:extLst xmlns:a="http://schemas.openxmlformats.org/drawingml/2006/main">
              <a:ext uri="{FF2B5EF4-FFF2-40B4-BE49-F238E27FC236}">
                <a16:creationId xmlns:a16="http://schemas.microsoft.com/office/drawing/2014/main" id="{24C3EEB3-EF6B-4840-846D-C7EDDD1F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L06  /  HSI LEARNING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20535995-ABC1-4FC6-832A-D24999EE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结论要有边界">
            <a:extLst xmlns:a="http://schemas.openxmlformats.org/drawingml/2006/main">
              <a:ext uri="{FF2B5EF4-FFF2-40B4-BE49-F238E27FC236}">
                <a16:creationId xmlns:a16="http://schemas.microsoft.com/office/drawing/2014/main" id="{49CEC9A3-21C7-49E3-8BD0-3996C639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结论要有边界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4563C-FA18-4676-8EEE-B0E054A1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533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DAB"/>
          </a:solidFill>
          <a:ln xmlns:a="http://schemas.openxmlformats.org/drawingml/2006/main" w="0">
            <a:noFill/>
          </a:ln>
        </p:spPr>
      </p:sp>
      <p:sp>
        <p:nvSpPr>
          <p:cNvPr id="5" name="已知">
            <a:extLst xmlns:a="http://schemas.openxmlformats.org/drawingml/2006/main">
              <a:ext uri="{FF2B5EF4-FFF2-40B4-BE49-F238E27FC236}">
                <a16:creationId xmlns:a16="http://schemas.microsoft.com/office/drawing/2014/main" id="{A5493619-2BBE-473C-A365-299867F3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6" name="教学同构不等于逐数复现">
            <a:extLst xmlns:a="http://schemas.openxmlformats.org/drawingml/2006/main">
              <a:ext uri="{FF2B5EF4-FFF2-40B4-BE49-F238E27FC236}">
                <a16:creationId xmlns:a16="http://schemas.microsoft.com/office/drawing/2014/main" id="{FA2F8BAF-2C1F-4B57-B076-51E0ADD8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66950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教学同构不等于逐数复现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5B428-AD85-4DA1-9B79-D74E0FFD6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752850"/>
            <a:ext cx="9296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9"/>
          </a:solidFill>
          <a:ln xmlns:a="http://schemas.openxmlformats.org/drawingml/2006/main" w="0">
            <a:noFill/>
          </a:ln>
        </p:spPr>
      </p:sp>
      <p:sp>
        <p:nvSpPr>
          <p:cNvPr id="8" name="边界">
            <a:extLst xmlns:a="http://schemas.openxmlformats.org/drawingml/2006/main">
              <a:ext uri="{FF2B5EF4-FFF2-40B4-BE49-F238E27FC236}">
                <a16:creationId xmlns:a16="http://schemas.microsoft.com/office/drawing/2014/main" id="{98E58000-4D17-435C-90B6-88190F0A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90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315DAB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9" name="参数压缩不自动产生论文贡献">
            <a:extLst xmlns:a="http://schemas.openxmlformats.org/drawingml/2006/main">
              <a:ext uri="{FF2B5EF4-FFF2-40B4-BE49-F238E27FC236}">
                <a16:creationId xmlns:a16="http://schemas.microsoft.com/office/drawing/2014/main" id="{4F6A2E19-6AAC-450D-99C1-BECE3132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10025"/>
            <a:ext cx="92964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0">
                <a:solidFill>
                  <a:srgbClr val="152E50"/>
                </a:solidFill>
                <a:latin typeface="Microsoft YaHei"/>
                <a:ea typeface="Microsoft YaHei"/>
                <a:cs typeface="Microsoft YaHei"/>
              </a:rPr>
              <a:t>参数压缩不自动产生论文贡献</a:t>
            </a:r>
          </a:p>
        </p:txBody>
      </p:sp>
      <p:sp>
        <p:nvSpPr>
          <p:cNvPr id="10" name="来源、复现入口与辅助提示见讲者备注。">
            <a:extLst xmlns:a="http://schemas.openxmlformats.org/drawingml/2006/main">
              <a:ext uri="{FF2B5EF4-FFF2-40B4-BE49-F238E27FC236}">
                <a16:creationId xmlns:a16="http://schemas.microsoft.com/office/drawing/2014/main" id="{9F5E41E2-9F49-4C27-B850-6A8932CD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C6B7A"/>
                </a:solidFill>
                <a:latin typeface="Microsoft YaHei"/>
                <a:ea typeface="Microsoft YaHei"/>
                <a:cs typeface="Microsoft YaHei"/>
              </a:rPr>
              <a:t>来源、复现入口与辅助提示见讲者备注。</a:t>
            </a:r>
          </a:p>
        </p:txBody>
      </p:sp>
    </p:spTree>
    <p:extLst>
      <p:ext uri="{BB962C8B-B14F-4D97-AF65-F5344CB8AC3E}">
        <p14:creationId xmlns:p14="http://schemas.microsoft.com/office/powerpoint/2010/main" val="9293118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2026-10-09T03:43:49.5060000Z</dcterms:created>
  <dcterms:modified xsi:type="dcterms:W3CDTF">2026-10-09T03:43:49.5060000Z</dcterms:modified>
</coreProperties>
</file>