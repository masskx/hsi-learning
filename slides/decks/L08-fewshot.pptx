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f75136f9-dc14-0871-8055-e80f5e0a9ee0}">
          <p14:sldIdLst>
            <p14:sldId id="256"/>
            <p14:sldId id="257"/>
          </p14:sldIdLst>
        </p14:section>
        <p14:section name="讲解" id="{5cf16a2e-6634-b41a-e570-40eb83e15104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练习" id="{73aa3673-f11c-3bd0-be0b-0799a5737f14}">
          <p14:sldIdLst>
            <p14:sldId id="266"/>
            <p14:sldId id="267"/>
          </p14:sldIdLst>
        </p14:section>
        <p14:section name="收束" id="{9b7187b6-343a-41c2-8e06-8fa8e2556be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开场问题：单episode的25个support是否等于总标签预算？
原标题：5-shot 的五个样本，究竟怎么算？
参考节奏：5分钟回顾，10分钟手算，10分钟代码，12分钟练习，5分钟错误分析，3分钟退出题。
课堂入口: 16_protonet_teaching.ipynb
定位: protocol, episode, prototype-math, evaluation, maps, episode-update
先预测，再运行；答错时回到手算例。
AI辅助：审计这份few-shot配置的标签预算、类集合与support/query信息流。输出需执行的断言，禁止把单episode的support数量写成总训练标注量。
人工核验：验证类集合不交、像元不交、独立采样器；核对BN是否适应query。
Snell et al. Prototypical Networks, 2017
https://arxiv.org/abs/1703.05175
运行配置、数据哈希和结果：artifacts/teaching/classroom-facts.json
封面图源：16_protonet_teaching.ipynb / maps /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交付物以代码、配置、输出和解释为准。先做完整示例，再做填空与迁移任务。
课堂入口: 16_protonet_teaching.ipynb
定位: protocol, episode, prototype-math, evaluation, maps, episode-update
先预测，再运行；答错时回到手算例。
AI辅助：审计这份few-shot配置的标签预算、类集合与support/query信息流。输出需执行的断言，禁止把单episode的support数量写成总训练标注量。
人工核验：验证类集合不交、像元不交、独立采样器；核对BN是否适应query。
Snell et al. Prototypical Networks, 2017
https://arxiv.org/abs/1703.05175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这是本项目纠正过的话术："只25个标签就92%"不成立——类划分本身用了大量标注。完整预算=encoder标注+support。
Meta-training labels / 25 support labels / Query evaluation
课堂入口: 16_protonet_teaching.ipynb
定位: protocol, episode, prototype-math, evaluation, maps, episode-update
先预测，再运行；答错时回到手算例。
AI辅助：审计这份few-shot配置的标签预算、类集合与support/query信息流。输出需执行的断言，禁止把单episode的support数量写成总训练标注量。
人工核验：验证类集合不交、像元不交、独立采样器；核对BN是否适应query。
Snell et al. Prototypical Networks, 2017
https://arxiv.org/abs/1703.05175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展示当前6/5/5显式划分，说明同场景patch仍可共享无标签上下文。
Meta-train / Meta-val / Meta-test
课堂入口: 16_protonet_teaching.ipynb
定位: protocol, episode, prototype-math, evaluation, maps, episode-update
先预测，再运行；答错时回到手算例。
AI辅助：审计这份few-shot配置的标签预算、类集合与support/query信息流。输出需执行的断言，禁止把单episode的support数量写成总训练标注量。
人工核验：验证类集合不交、像元不交、独立采样器；核对BN是否适应query。
Snell et al. Prototypical Networks, 2017
https://arxiv.org/abs/1703.05175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图例明确圆圈/叉号，打印原图坐标与无交集断言。
Sample classes / Support K / Query Q
图源：16_protonet_teaching.ipynb / episode / 0
课堂入口: 16_protonet_teaching.ipynb
定位: protocol, episode, prototype-math, evaluation, maps, episode-update
先预测，再运行；答错时回到手算例。
AI辅助：审计这份few-shot配置的标签预算、类集合与support/query信息流。输出需执行的断言，禁止把单episode的support数量写成总训练标注量。
人工核验：验证类集合不交、像元不交、独立采样器；核对BN是否适应query。
Snell et al. Prototypical Networks, 2017
https://arxiv.org/abs/1703.05175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均值原型后平方距离9和25，负号使近者logit更大。手算完再对代码。
Prototype (1,0) / Query (4,0) / Prototype (9,0)
课堂入口: 16_protonet_teaching.ipynb
定位: protocol, episode, prototype-math, evaluation, maps, episode-update
先预测，再运行；答错时回到手算例。
AI辅助：审计这份few-shot配置的标签预算、类集合与support/query信息流。输出需执行的断言，禁止把单episode的support数量写成总训练标注量。
人工核验：验证类集合不交、像元不交、独立采样器；核对BN是否适应query。
Snell et al. Prototypical Networks, 2017
https://arxiv.org/abs/1703.05175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不能把分别训练的模型曲线解释成纯K变化效果。
1-shot / 5-shot / 10-shot
图源：16_protonet_teaching.ipynb / evaluation / 0
课堂入口: 16_protonet_teaching.ipynb
定位: protocol, episode, prototype-math, evaluation, maps, episode-update
先预测，再运行；答错时回到手算例。
AI辅助：审计这份few-shot配置的标签预算、类集合与support/query信息流。输出需执行的断言，禁止把单episode的support数量写成总训练标注量。
人工核验：验证类集合不交、像元不交、独立采样器；核对BN是否适应query。
Snell et al. Prototypical Networks, 2017
https://arxiv.org/abs/1703.05175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GT用于显示，不进入推理；本次map特意展示封闭输出空间的局限。
Support classes / Forced assignment / Display only
图源：16_protonet_teaching.ipynb / maps / 0
课堂入口: 16_protonet_teaching.ipynb
定位: protocol, episode, prototype-math, evaluation, maps, episode-update
先预测，再运行；答错时回到手算例。
AI辅助：审计这份few-shot配置的标签预算、类集合与support/query信息流。输出需执行的断言，禁止把单episode的support数量写成总训练标注量。
人工核验：验证类集合不交、像元不交、独立采样器；核对BN是否适应query。
Snell et al. Prototypical Networks, 2017
https://arxiv.org/abs/1703.05175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Notebook16 episode-update复制encoder做一次训练episode，不改变演示权重；BN统计固定。
课堂入口: 16_protonet_teaching.ipynb
定位: protocol, episode, prototype-math, evaluation, maps, episode-update
先预测，再运行；答错时回到手算例。
AI辅助：审计这份few-shot配置的标签预算、类集合与support/query信息流。输出需执行的断言，禁止把单episode的support数量写成总训练标注量。
人工核验：验证类集合不交、像元不交、独立采样器；核对BN是否适应query。
Snell et al. Prototypical Networks, 2017
https://arxiv.org/abs/1703.05175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任务间std不是新数据集的泛化置信区间。
课堂入口: 16_protonet_teaching.ipynb
定位: protocol, episode, prototype-math, evaluation, maps, episode-update
先预测，再运行；答错时回到手算例。
AI辅助：审计这份few-shot配置的标签预算、类集合与support/query信息流。输出需执行的断言，禁止把单episode的support数量写成总训练标注量。
人工核验：验证类集合不交、像元不交、独立采样器；核对BN是否适应query。
Snell et al. Prototypical Networks, 2017
https://arxiv.org/abs/1703.05175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只运行指定短cell；完整训练已在课前完成。缺资产时使用已执行输出备用并说明。
课堂入口: 16_protonet_teaching.ipynb
定位: protocol, episode, prototype-math, evaluation, maps, episode-update
先预测，再运行；答错时回到手算例。
AI辅助：审计这份few-shot配置的标签预算、类集合与support/query信息流。输出需执行的断言，禁止把单episode的support数量写成总训练标注量。
人工核验：验证类集合不交、像元不交、独立采样器；核对BN是否适应query。
Snell et al. Prototypical Networks, 2017
https://arxiv.org/abs/1703.05175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停下来收集预测，发现错误后重新解释；不等到课后作业才知道学生没理解。
作业：A05；完整示例 / 填空 / 迁移；提交代码、配置、结果和限制。
课堂入口: 16_protonet_teaching.ipynb
定位: protocol, episode, prototype-math, evaluation, maps, episode-update
先预测，再运行；答错时回到手算例。
AI辅助：审计这份few-shot配置的标签预算、类集合与support/query信息流。输出需执行的断言，禁止把单episode的support数量写成总训练标注量。
人工核验：验证类集合不交、像元不交、独立采样器；核对BN是否适应query。
Snell et al. Prototypical Networks, 2017
https://arxiv.org/abs/1703.05175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区分已观察事实、候选解释与下一项检验。
退出题：单episode的25个support是否等于总标签预算？
课堂入口: 16_protonet_teaching.ipynb
定位: protocol, episode, prototype-math, evaluation, maps, episode-update
先预测，再运行；答错时回到手算例。
AI辅助：审计这份few-shot配置的标签预算、类集合与support/query信息流。输出需执行的断言，禁止把单episode的support数量写成总训练标注量。
人工核验：验证类集合不交、像元不交、独立采样器；核对BN是否适应query。
Snell et al. Prototypical Networks, 2017
https://arxiv.org/abs/1703.05175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SI-Learning/slides/assets/brand/spectrum-bars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0" y="5440680"/>
            <a:ext cx="12191695" cy="1417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HSI-LEARNING  ·  高光谱图像分类课程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1828800"/>
            <a:ext cx="630936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8000"/>
              </a:lnSpc>
              <a:buNone/>
              <a:def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lnSpc>
                <a:spcPct val="108000"/>
              </a:lnSpc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58368" cy="274320"/>
          </a:xfrm>
          <a:prstGeom prst="rect">
            <a:avLst>
              <a:gd name="adj" fmla="val 20000"/>
            </a:avLst>
          </a:prstGeom>
          <a:solidFill>
            <a:srgbClr val="0D1B2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HSI-LEARNING  ·  高光谱图像分类课程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SI-Learning/slides/assets/brand/spectrum-bars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0" y="5897880"/>
            <a:ext cx="12191695" cy="960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384048"/>
            <a:ext cx="658368" cy="274320"/>
          </a:xfrm>
          <a:prstGeom prst="rect">
            <a:avLst>
              <a:gd name="adj" fmla="val 20000"/>
            </a:avLst>
          </a:prstGeom>
          <a:solidFill>
            <a:srgbClr val="2F5BB7"/>
          </a:solidFill>
          <a:ln/>
        </p:spPr>
      </p:sp>
      <p:sp>
        <p:nvSpPr>
          <p:cNvPr id="4" name="Text 1"/>
          <p:cNvSpPr/>
          <p:nvPr/>
        </p:nvSpPr>
        <p:spPr>
          <a:xfrm>
            <a:off x="685800" y="3840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HSI-LEARNING  ·  高光谱图像分类课程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A9BACD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85800" y="1828800"/>
            <a:ext cx="6309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原型网络</a:t>
            </a:r>
            <a:endParaRPr lang="en-US" sz="5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与少样本任务</a:t>
            </a:r>
            <a:endParaRPr lang="en-US" sz="5000" dirty="0"/>
          </a:p>
        </p:txBody>
      </p:sp>
      <p:sp>
        <p:nvSpPr>
          <p:cNvPr id="3" name="lesson id"/>
          <p:cNvSpPr/>
          <p:nvPr/>
        </p:nvSpPr>
        <p:spPr>
          <a:xfrm>
            <a:off x="685800" y="1243584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2F5BB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4358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L08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3075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5B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本课问题 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5-shot 的五个样本，究竟怎么算？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062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Meta-training / Support / Query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64515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先修  ·  L04/L05；理解特征向量</a:t>
            </a:r>
            <a:endParaRPr lang="en-US" sz="1300" dirty="0"/>
          </a:p>
        </p:txBody>
      </p:sp>
      <p:sp>
        <p:nvSpPr>
          <p:cNvPr id="8" name="hero frame"/>
          <p:cNvSpPr/>
          <p:nvPr/>
        </p:nvSpPr>
        <p:spPr>
          <a:xfrm>
            <a:off x="7409383" y="1787135"/>
            <a:ext cx="4096512" cy="2415050"/>
          </a:xfrm>
          <a:prstGeom prst="roundRect">
            <a:avLst>
              <a:gd name="adj" fmla="val 3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cover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0551" y="1988303"/>
            <a:ext cx="3694176" cy="20127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这节课，你将完成什么</a:t>
            </a:r>
            <a:endParaRPr lang="en-US" sz="3000" dirty="0"/>
          </a:p>
        </p:txBody>
      </p:sp>
      <p:sp>
        <p:nvSpPr>
          <p:cNvPr id="3" name="deliverable 1"/>
          <p:cNvSpPr/>
          <p:nvPr/>
        </p:nvSpPr>
        <p:spPr>
          <a:xfrm>
            <a:off x="685800" y="1920240"/>
            <a:ext cx="3423818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/>
        </p:spPr>
      </p:sp>
      <p:sp>
        <p:nvSpPr>
          <p:cNvPr id="4" name="chip 01"/>
          <p:cNvSpPr/>
          <p:nvPr/>
        </p:nvSpPr>
        <p:spPr>
          <a:xfrm>
            <a:off x="1005840" y="224028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5B3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7180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类集合与标签预算表</a:t>
            </a:r>
            <a:endParaRPr lang="en-US" sz="2200" dirty="0"/>
          </a:p>
        </p:txBody>
      </p:sp>
      <p:sp>
        <p:nvSpPr>
          <p:cNvPr id="7" name="deliverable 2"/>
          <p:cNvSpPr/>
          <p:nvPr/>
        </p:nvSpPr>
        <p:spPr>
          <a:xfrm>
            <a:off x="4383938" y="1920240"/>
            <a:ext cx="3423818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/>
        </p:spPr>
      </p:sp>
      <p:sp>
        <p:nvSpPr>
          <p:cNvPr id="8" name="chip 02"/>
          <p:cNvSpPr/>
          <p:nvPr/>
        </p:nvSpPr>
        <p:spPr>
          <a:xfrm>
            <a:off x="4703978" y="224028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2E9E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3978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03978" y="297180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episode位置清单</a:t>
            </a:r>
            <a:endParaRPr lang="en-US" sz="2200" dirty="0"/>
          </a:p>
        </p:txBody>
      </p:sp>
      <p:sp>
        <p:nvSpPr>
          <p:cNvPr id="11" name="deliverable 3"/>
          <p:cNvSpPr/>
          <p:nvPr/>
        </p:nvSpPr>
        <p:spPr>
          <a:xfrm>
            <a:off x="8082077" y="1920240"/>
            <a:ext cx="3423818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/>
        </p:spPr>
      </p:sp>
      <p:sp>
        <p:nvSpPr>
          <p:cNvPr id="12" name="chip 03"/>
          <p:cNvSpPr/>
          <p:nvPr/>
        </p:nvSpPr>
        <p:spPr>
          <a:xfrm>
            <a:off x="8402117" y="224028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D33A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02117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97180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原型分类与K对照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85800" y="4846320"/>
            <a:ext cx="1082009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507492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NOTEBOOK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44068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16_protonet_teaching.ipynb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83938" y="507492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CELL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83938" y="544068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protocol · episode · prototype-math · evaluation · maps · episode-update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82077" y="507492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082077" y="544068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A05 · 完整示例 / 填空 / 迁移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25个标签，不是全部训练预算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577900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25仅为5-way 5-shot support标签数</a:t>
            </a:r>
            <a:endParaRPr lang="en-US" sz="2100" dirty="0"/>
          </a:p>
        </p:txBody>
      </p:sp>
      <p:sp>
        <p:nvSpPr>
          <p:cNvPr id="6" name="chip 02"/>
          <p:cNvSpPr/>
          <p:nvPr/>
        </p:nvSpPr>
        <p:spPr>
          <a:xfrm>
            <a:off x="685800" y="29931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993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956560"/>
            <a:ext cx="577900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训练池与训练query监督也消耗标注</a:t>
            </a:r>
            <a:endParaRPr lang="en-US" sz="2100" dirty="0"/>
          </a:p>
        </p:txBody>
      </p:sp>
      <p:sp>
        <p:nvSpPr>
          <p:cNvPr id="9" name="chip 03"/>
          <p:cNvSpPr/>
          <p:nvPr/>
        </p:nvSpPr>
        <p:spPr>
          <a:xfrm>
            <a:off x="685800" y="39837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983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3947160"/>
            <a:ext cx="577900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验证标签与部署support另外记录</a:t>
            </a:r>
            <a:endParaRPr lang="en-US" sz="2100" dirty="0"/>
          </a:p>
        </p:txBody>
      </p:sp>
      <p:sp>
        <p:nvSpPr>
          <p:cNvPr id="12" name="keywords"/>
          <p:cNvSpPr/>
          <p:nvPr/>
        </p:nvSpPr>
        <p:spPr>
          <a:xfrm>
            <a:off x="7635240" y="1874520"/>
            <a:ext cx="3867912" cy="3154680"/>
          </a:xfrm>
          <a:prstGeom prst="roundRect">
            <a:avLst>
              <a:gd name="adj" fmla="val 2899"/>
            </a:avLst>
          </a:prstGeom>
          <a:solidFill>
            <a:srgbClr val="F2F5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0" y="2148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3017520"/>
            <a:ext cx="0" cy="1554480"/>
          </a:xfrm>
          <a:prstGeom prst="line">
            <a:avLst/>
          </a:prstGeom>
          <a:noFill/>
          <a:ln w="1905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2926080"/>
            <a:ext cx="182880" cy="182880"/>
          </a:xfrm>
          <a:prstGeom prst="ellipse">
            <a:avLst/>
          </a:prstGeom>
          <a:solidFill>
            <a:srgbClr val="5B3FA0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Meta-training labels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10144" y="3703320"/>
            <a:ext cx="182880" cy="182880"/>
          </a:xfrm>
          <a:prstGeom prst="ellipse">
            <a:avLst/>
          </a:prstGeom>
          <a:solidFill>
            <a:srgbClr val="2E9E4F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support labels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10144" y="4480560"/>
            <a:ext cx="182880" cy="182880"/>
          </a:xfrm>
          <a:prstGeom prst="ellipse">
            <a:avLst/>
          </a:prstGeom>
          <a:solidFill>
            <a:srgbClr val="D33A2C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4389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evaluation</a:t>
            </a:r>
            <a:endParaRPr lang="en-US" sz="1600" dirty="0"/>
          </a:p>
        </p:txBody>
      </p:sp>
      <p:sp>
        <p:nvSpPr>
          <p:cNvPr id="21" name="run panel"/>
          <p:cNvSpPr/>
          <p:nvPr/>
        </p:nvSpPr>
        <p:spPr>
          <a:xfrm>
            <a:off x="685800" y="5285232"/>
            <a:ext cx="10820095" cy="987552"/>
          </a:xfrm>
          <a:prstGeom prst="roundRect">
            <a:avLst>
              <a:gd name="adj" fmla="val 9259"/>
            </a:avLst>
          </a:prstGeom>
          <a:solidFill>
            <a:srgbClr val="0D1B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5440680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cfg['classes']['test']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815584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[12, 13, 14, 15, 16]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同类少标注与未见类学习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577900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same-class：像元分开</a:t>
            </a:r>
            <a:endParaRPr lang="en-US" sz="2100" dirty="0"/>
          </a:p>
        </p:txBody>
      </p:sp>
      <p:sp>
        <p:nvSpPr>
          <p:cNvPr id="6" name="chip 02"/>
          <p:cNvSpPr/>
          <p:nvPr/>
        </p:nvSpPr>
        <p:spPr>
          <a:xfrm>
            <a:off x="685800" y="343509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435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3398520"/>
            <a:ext cx="577900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class-disjoint：类别分开</a:t>
            </a:r>
            <a:endParaRPr lang="en-US" sz="2100" dirty="0"/>
          </a:p>
        </p:txBody>
      </p:sp>
      <p:sp>
        <p:nvSpPr>
          <p:cNvPr id="9" name="chip 03"/>
          <p:cNvSpPr/>
          <p:nvPr/>
        </p:nvSpPr>
        <p:spPr>
          <a:xfrm>
            <a:off x="685800" y="48676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4867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4831080"/>
            <a:ext cx="577900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两者都不自动空间独立</a:t>
            </a:r>
            <a:endParaRPr lang="en-US" sz="2100" dirty="0"/>
          </a:p>
        </p:txBody>
      </p:sp>
      <p:sp>
        <p:nvSpPr>
          <p:cNvPr id="12" name="keywords"/>
          <p:cNvSpPr/>
          <p:nvPr/>
        </p:nvSpPr>
        <p:spPr>
          <a:xfrm>
            <a:off x="7635240" y="1874520"/>
            <a:ext cx="3867912" cy="4480560"/>
          </a:xfrm>
          <a:prstGeom prst="roundRect">
            <a:avLst>
              <a:gd name="adj" fmla="val 2364"/>
            </a:avLst>
          </a:prstGeom>
          <a:solidFill>
            <a:srgbClr val="F2F5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0" y="2148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3680460"/>
            <a:ext cx="0" cy="1554480"/>
          </a:xfrm>
          <a:prstGeom prst="line">
            <a:avLst/>
          </a:prstGeom>
          <a:noFill/>
          <a:ln w="1905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3589020"/>
            <a:ext cx="182880" cy="182880"/>
          </a:xfrm>
          <a:prstGeom prst="ellipse">
            <a:avLst/>
          </a:prstGeom>
          <a:solidFill>
            <a:srgbClr val="5B3FA0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34975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Meta-train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10144" y="4366260"/>
            <a:ext cx="182880" cy="182880"/>
          </a:xfrm>
          <a:prstGeom prst="ellipse">
            <a:avLst/>
          </a:prstGeom>
          <a:solidFill>
            <a:srgbClr val="2E9E4F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42748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Meta-val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10144" y="5143500"/>
            <a:ext cx="182880" cy="182880"/>
          </a:xfrm>
          <a:prstGeom prst="ellipse">
            <a:avLst/>
          </a:prstGeom>
          <a:solidFill>
            <a:srgbClr val="D33A2C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50520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Meta-test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Support和Query不能串门</a:t>
            </a:r>
            <a:endParaRPr lang="en-US" sz="3000" dirty="0"/>
          </a:p>
        </p:txBody>
      </p:sp>
      <p:sp>
        <p:nvSpPr>
          <p:cNvPr id="3" name="figure frame"/>
          <p:cNvSpPr/>
          <p:nvPr/>
        </p:nvSpPr>
        <p:spPr>
          <a:xfrm>
            <a:off x="685800" y="1874520"/>
            <a:ext cx="10820095" cy="2545021"/>
          </a:xfrm>
          <a:prstGeom prst="roundRect">
            <a:avLst>
              <a:gd name="adj" fmla="val 2874"/>
            </a:avLst>
          </a:prstGeom>
          <a:solidFill>
            <a:srgbClr val="F2F5F9"/>
          </a:solidFill>
          <a:ln/>
        </p:spPr>
      </p:sp>
      <p:pic>
        <p:nvPicPr>
          <p:cNvPr id="4" name="Image 0" descr="16_protonet_teaching-episode-0-76c3bef98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39112"/>
            <a:ext cx="10490911" cy="2215837"/>
          </a:xfrm>
          <a:prstGeom prst="rect">
            <a:avLst/>
          </a:prstGeom>
        </p:spPr>
      </p:pic>
      <p:sp>
        <p:nvSpPr>
          <p:cNvPr id="5" name="chip 01"/>
          <p:cNvSpPr/>
          <p:nvPr/>
        </p:nvSpPr>
        <p:spPr>
          <a:xfrm>
            <a:off x="685800" y="4776157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5B3FA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47761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97864" y="4739581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每轮抽5类</a:t>
            </a:r>
            <a:endParaRPr lang="en-US" sz="1600" dirty="0"/>
          </a:p>
        </p:txBody>
      </p:sp>
      <p:sp>
        <p:nvSpPr>
          <p:cNvPr id="8" name="chip 02"/>
          <p:cNvSpPr/>
          <p:nvPr/>
        </p:nvSpPr>
        <p:spPr>
          <a:xfrm>
            <a:off x="4399178" y="4776157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2E9E4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99178" y="47761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911242" y="4739581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支持集建原型，query算损失/指标</a:t>
            </a:r>
            <a:endParaRPr lang="en-US" sz="1600" dirty="0"/>
          </a:p>
        </p:txBody>
      </p:sp>
      <p:sp>
        <p:nvSpPr>
          <p:cNvPr id="11" name="chip 03"/>
          <p:cNvSpPr/>
          <p:nvPr/>
        </p:nvSpPr>
        <p:spPr>
          <a:xfrm>
            <a:off x="8112557" y="4776157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D33A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112557" y="47761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24621" y="4739581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不足N类必须报错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40080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E8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16_protonet_teaching.ipynb  ·  cell episode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用二维例子算原型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427024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类1支持点(0,0),(2,0) → 原型(1,0)</a:t>
            </a:r>
            <a:endParaRPr lang="en-US" sz="1900" dirty="0"/>
          </a:p>
        </p:txBody>
      </p:sp>
      <p:sp>
        <p:nvSpPr>
          <p:cNvPr id="6" name="chip 02"/>
          <p:cNvSpPr/>
          <p:nvPr/>
        </p:nvSpPr>
        <p:spPr>
          <a:xfrm>
            <a:off x="685800" y="29931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993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956560"/>
            <a:ext cx="427024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类2支持点(8,0),(10,0) → 原型(9,0)</a:t>
            </a:r>
            <a:endParaRPr lang="en-US" sz="1900" dirty="0"/>
          </a:p>
        </p:txBody>
      </p:sp>
      <p:sp>
        <p:nvSpPr>
          <p:cNvPr id="9" name="chip 03"/>
          <p:cNvSpPr/>
          <p:nvPr/>
        </p:nvSpPr>
        <p:spPr>
          <a:xfrm>
            <a:off x="685800" y="39837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983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3947160"/>
            <a:ext cx="427024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query=(4,0)：距离9 vs 25，归类1</a:t>
            </a:r>
            <a:endParaRPr lang="en-US" sz="1900" dirty="0"/>
          </a:p>
        </p:txBody>
      </p:sp>
      <p:sp>
        <p:nvSpPr>
          <p:cNvPr id="12" name="formula card"/>
          <p:cNvSpPr/>
          <p:nvPr/>
        </p:nvSpPr>
        <p:spPr>
          <a:xfrm>
            <a:off x="5989320" y="1874520"/>
            <a:ext cx="5513832" cy="3017520"/>
          </a:xfrm>
          <a:prstGeom prst="roundRect">
            <a:avLst>
              <a:gd name="adj" fmla="val 3030"/>
            </a:avLst>
          </a:prstGeom>
          <a:solidFill>
            <a:srgbClr val="F2F5F9"/>
          </a:solidFill>
          <a:ln/>
        </p:spPr>
      </p:sp>
      <p:pic>
        <p:nvPicPr>
          <p:cNvPr id="13" name="Image 0" descr="formula: c_k = \mathrm{mean}_i\, f(x_i) \qquad \mathrm{logits} = - \| f(q) - c_k \|^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7356" y="3213598"/>
            <a:ext cx="4937760" cy="339365"/>
          </a:xfrm>
          <a:prstGeom prst="rect">
            <a:avLst/>
          </a:prstGeom>
        </p:spPr>
      </p:pic>
      <p:sp>
        <p:nvSpPr>
          <p:cNvPr id="14" name="run panel"/>
          <p:cNvSpPr/>
          <p:nvPr/>
        </p:nvSpPr>
        <p:spPr>
          <a:xfrm>
            <a:off x="685800" y="5285232"/>
            <a:ext cx="10820095" cy="987552"/>
          </a:xfrm>
          <a:prstGeom prst="roundRect">
            <a:avLst>
              <a:gd name="adj" fmla="val 9259"/>
            </a:avLst>
          </a:prstGeom>
          <a:solidFill>
            <a:srgbClr val="0D1B2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5840" y="5440680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c1, c2 = (0+2)/2, (8+10)/2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5815584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(1.0, 9.0)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K对照要用同一encoder</a:t>
            </a:r>
            <a:endParaRPr lang="en-US" sz="3000" dirty="0"/>
          </a:p>
        </p:txBody>
      </p:sp>
      <p:sp>
        <p:nvSpPr>
          <p:cNvPr id="3" name="figure frame"/>
          <p:cNvSpPr/>
          <p:nvPr/>
        </p:nvSpPr>
        <p:spPr>
          <a:xfrm>
            <a:off x="685800" y="1874520"/>
            <a:ext cx="10820095" cy="3246120"/>
          </a:xfrm>
          <a:prstGeom prst="roundRect">
            <a:avLst>
              <a:gd name="adj" fmla="val 2254"/>
            </a:avLst>
          </a:prstGeom>
          <a:solidFill>
            <a:srgbClr val="F2F5F9"/>
          </a:solidFill>
          <a:ln/>
        </p:spPr>
      </p:sp>
      <p:pic>
        <p:nvPicPr>
          <p:cNvPr id="4" name="Image 0" descr="16_protonet_teaching-evaluation-0-0d0758b0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5421" y="2039112"/>
            <a:ext cx="6300852" cy="2916936"/>
          </a:xfrm>
          <a:prstGeom prst="rect">
            <a:avLst/>
          </a:prstGeom>
        </p:spPr>
      </p:pic>
      <p:sp>
        <p:nvSpPr>
          <p:cNvPr id="5" name="chip 01"/>
          <p:cNvSpPr/>
          <p:nvPr/>
        </p:nvSpPr>
        <p:spPr>
          <a:xfrm>
            <a:off x="685800" y="547725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5B3FA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97864" y="5440680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冻结已验证checkpoint</a:t>
            </a:r>
            <a:endParaRPr lang="en-US" sz="1600" dirty="0"/>
          </a:p>
        </p:txBody>
      </p:sp>
      <p:sp>
        <p:nvSpPr>
          <p:cNvPr id="8" name="chip 02"/>
          <p:cNvSpPr/>
          <p:nvPr/>
        </p:nvSpPr>
        <p:spPr>
          <a:xfrm>
            <a:off x="4399178" y="547725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2E9E4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99178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911242" y="5440680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固定类池与配对query</a:t>
            </a:r>
            <a:endParaRPr lang="en-US" sz="1600" dirty="0"/>
          </a:p>
        </p:txBody>
      </p:sp>
      <p:sp>
        <p:nvSpPr>
          <p:cNvPr id="11" name="chip 03"/>
          <p:cNvSpPr/>
          <p:nvPr/>
        </p:nvSpPr>
        <p:spPr>
          <a:xfrm>
            <a:off x="8112557" y="547725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D33A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112557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24621" y="5440680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任务重复不是新数据集证据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40080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E8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16_protonet_teaching.ipynb  ·  cell evaluation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全图map只是任务外示范</a:t>
            </a:r>
            <a:endParaRPr lang="en-US" sz="3000" dirty="0"/>
          </a:p>
        </p:txBody>
      </p:sp>
      <p:sp>
        <p:nvSpPr>
          <p:cNvPr id="3" name="figure frame"/>
          <p:cNvSpPr/>
          <p:nvPr/>
        </p:nvSpPr>
        <p:spPr>
          <a:xfrm>
            <a:off x="685800" y="1874520"/>
            <a:ext cx="6720840" cy="4480560"/>
          </a:xfrm>
          <a:prstGeom prst="roundRect">
            <a:avLst>
              <a:gd name="adj" fmla="val 1633"/>
            </a:avLst>
          </a:prstGeom>
          <a:solidFill>
            <a:srgbClr val="F2F5F9"/>
          </a:solidFill>
          <a:ln/>
        </p:spPr>
      </p:sp>
      <p:pic>
        <p:nvPicPr>
          <p:cNvPr id="4" name="Image 0" descr="16_protonet_teaching-maps-0-9db5f762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373603"/>
            <a:ext cx="6391656" cy="34823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0" y="192024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怎么读这张图</a:t>
            </a:r>
            <a:endParaRPr lang="en-US" sz="1300" dirty="0"/>
          </a:p>
        </p:txBody>
      </p:sp>
      <p:sp>
        <p:nvSpPr>
          <p:cNvPr id="6" name="chip 01"/>
          <p:cNvSpPr/>
          <p:nvPr/>
        </p:nvSpPr>
        <p:spPr>
          <a:xfrm>
            <a:off x="7772400" y="24597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394192" y="242316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只存在五类原型</a:t>
            </a:r>
            <a:endParaRPr lang="en-US" sz="1700" dirty="0"/>
          </a:p>
        </p:txBody>
      </p:sp>
      <p:sp>
        <p:nvSpPr>
          <p:cNvPr id="9" name="chip 02"/>
          <p:cNvSpPr/>
          <p:nvPr/>
        </p:nvSpPr>
        <p:spPr>
          <a:xfrm>
            <a:off x="7772400" y="355701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0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394192" y="352044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其他类会被强制分到五类</a:t>
            </a:r>
            <a:endParaRPr lang="en-US" sz="1700" dirty="0"/>
          </a:p>
        </p:txBody>
      </p:sp>
      <p:sp>
        <p:nvSpPr>
          <p:cNvPr id="12" name="chip 03"/>
          <p:cNvSpPr/>
          <p:nvPr/>
        </p:nvSpPr>
        <p:spPr>
          <a:xfrm>
            <a:off x="7772400" y="465429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0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394192" y="461772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不能用这张图声称16类泛化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589788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E8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16_protonet_teaching.ipynb  ·  cell maps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一个episode如何更新encoder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449884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support编码并建立类均值</a:t>
            </a:r>
            <a:endParaRPr lang="en-US" sz="2000" dirty="0"/>
          </a:p>
        </p:txBody>
      </p:sp>
      <p:sp>
        <p:nvSpPr>
          <p:cNvPr id="6" name="chip 02"/>
          <p:cNvSpPr/>
          <p:nvPr/>
        </p:nvSpPr>
        <p:spPr>
          <a:xfrm>
            <a:off x="685800" y="343509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435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3398520"/>
            <a:ext cx="449884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query编码，负平方距离作为logits</a:t>
            </a:r>
            <a:endParaRPr lang="en-US" sz="2000" dirty="0"/>
          </a:p>
        </p:txBody>
      </p:sp>
      <p:sp>
        <p:nvSpPr>
          <p:cNvPr id="9" name="chip 03"/>
          <p:cNvSpPr/>
          <p:nvPr/>
        </p:nvSpPr>
        <p:spPr>
          <a:xfrm>
            <a:off x="685800" y="48676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4867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4831080"/>
            <a:ext cx="449884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query标签计算CE；反传到encoder</a:t>
            </a:r>
            <a:endParaRPr lang="en-US" sz="2000" dirty="0"/>
          </a:p>
        </p:txBody>
      </p:sp>
      <p:sp>
        <p:nvSpPr>
          <p:cNvPr id="12" name="step 1"/>
          <p:cNvSpPr/>
          <p:nvPr/>
        </p:nvSpPr>
        <p:spPr>
          <a:xfrm>
            <a:off x="6400800" y="2596896"/>
            <a:ext cx="510235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13" name="chip 01"/>
          <p:cNvSpPr/>
          <p:nvPr/>
        </p:nvSpPr>
        <p:spPr>
          <a:xfrm>
            <a:off x="6601968" y="280720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01968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05472" y="2596896"/>
            <a:ext cx="4142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Support→prototype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12280" y="3438144"/>
            <a:ext cx="0" cy="256032"/>
          </a:xfrm>
          <a:prstGeom prst="line">
            <a:avLst/>
          </a:prstGeom>
          <a:noFill/>
          <a:ln w="15875">
            <a:solidFill>
              <a:srgbClr val="5F6E80"/>
            </a:solidFill>
            <a:prstDash val="solid"/>
            <a:tailEnd type="triangle"/>
          </a:ln>
        </p:spPr>
      </p:sp>
      <p:sp>
        <p:nvSpPr>
          <p:cNvPr id="17" name="step 2"/>
          <p:cNvSpPr/>
          <p:nvPr/>
        </p:nvSpPr>
        <p:spPr>
          <a:xfrm>
            <a:off x="6400800" y="3694176"/>
            <a:ext cx="510235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18" name="chip 02"/>
          <p:cNvSpPr/>
          <p:nvPr/>
        </p:nvSpPr>
        <p:spPr>
          <a:xfrm>
            <a:off x="6601968" y="390448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3904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205472" y="3694176"/>
            <a:ext cx="4142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Query→logits→CE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12280" y="4535424"/>
            <a:ext cx="0" cy="256032"/>
          </a:xfrm>
          <a:prstGeom prst="line">
            <a:avLst/>
          </a:prstGeom>
          <a:noFill/>
          <a:ln w="15875">
            <a:solidFill>
              <a:srgbClr val="5F6E80"/>
            </a:solidFill>
            <a:prstDash val="solid"/>
            <a:tailEnd type="triangle"/>
          </a:ln>
        </p:spPr>
      </p:sp>
      <p:sp>
        <p:nvSpPr>
          <p:cNvPr id="22" name="step 3"/>
          <p:cNvSpPr/>
          <p:nvPr/>
        </p:nvSpPr>
        <p:spPr>
          <a:xfrm>
            <a:off x="6400800" y="4791456"/>
            <a:ext cx="510235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23" name="chip 03"/>
          <p:cNvSpPr/>
          <p:nvPr/>
        </p:nvSpPr>
        <p:spPr>
          <a:xfrm>
            <a:off x="6601968" y="500176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01968" y="5001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205472" y="4791456"/>
            <a:ext cx="4142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backward→encoder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配对K对照与任务方差</a:t>
            </a:r>
            <a:endParaRPr lang="en-US" sz="3000" dirty="0"/>
          </a:p>
        </p:txBody>
      </p:sp>
      <p:sp>
        <p:nvSpPr>
          <p:cNvPr id="3" name="point 1"/>
          <p:cNvSpPr/>
          <p:nvPr/>
        </p:nvSpPr>
        <p:spPr>
          <a:xfrm>
            <a:off x="685800" y="1965960"/>
            <a:ext cx="3423818" cy="2651760"/>
          </a:xfrm>
          <a:prstGeom prst="roundRect">
            <a:avLst>
              <a:gd name="adj" fmla="val 3448"/>
            </a:avLst>
          </a:prstGeom>
          <a:solidFill>
            <a:srgbClr val="F2F5F9"/>
          </a:solidFill>
          <a:ln/>
        </p:spPr>
      </p:sp>
      <p:sp>
        <p:nvSpPr>
          <p:cNvPr id="4" name="chip 01"/>
          <p:cNvSpPr/>
          <p:nvPr/>
        </p:nvSpPr>
        <p:spPr>
          <a:xfrm>
            <a:off x="1005840" y="22860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5B3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017520"/>
            <a:ext cx="278373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同一encoder与类集合</a:t>
            </a:r>
            <a:endParaRPr lang="en-US" sz="2000" dirty="0"/>
          </a:p>
        </p:txBody>
      </p:sp>
      <p:sp>
        <p:nvSpPr>
          <p:cNvPr id="7" name="point 2"/>
          <p:cNvSpPr/>
          <p:nvPr/>
        </p:nvSpPr>
        <p:spPr>
          <a:xfrm>
            <a:off x="4383938" y="1965960"/>
            <a:ext cx="3423818" cy="2651760"/>
          </a:xfrm>
          <a:prstGeom prst="roundRect">
            <a:avLst>
              <a:gd name="adj" fmla="val 3448"/>
            </a:avLst>
          </a:prstGeom>
          <a:solidFill>
            <a:srgbClr val="F2F5F9"/>
          </a:solidFill>
          <a:ln/>
        </p:spPr>
      </p:sp>
      <p:sp>
        <p:nvSpPr>
          <p:cNvPr id="8" name="chip 02"/>
          <p:cNvSpPr/>
          <p:nvPr/>
        </p:nvSpPr>
        <p:spPr>
          <a:xfrm>
            <a:off x="4703978" y="22860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2E9E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3978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03978" y="3017520"/>
            <a:ext cx="278373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同一query，support按嵌套子集改变K</a:t>
            </a:r>
            <a:endParaRPr lang="en-US" sz="2000" dirty="0"/>
          </a:p>
        </p:txBody>
      </p:sp>
      <p:sp>
        <p:nvSpPr>
          <p:cNvPr id="11" name="point 3"/>
          <p:cNvSpPr/>
          <p:nvPr/>
        </p:nvSpPr>
        <p:spPr>
          <a:xfrm>
            <a:off x="8082077" y="1965960"/>
            <a:ext cx="3423818" cy="2651760"/>
          </a:xfrm>
          <a:prstGeom prst="roundRect">
            <a:avLst>
              <a:gd name="adj" fmla="val 3448"/>
            </a:avLst>
          </a:prstGeom>
          <a:solidFill>
            <a:srgbClr val="F2F5F9"/>
          </a:solidFill>
          <a:ln/>
        </p:spPr>
      </p:sp>
      <p:sp>
        <p:nvSpPr>
          <p:cNvPr id="12" name="chip 03"/>
          <p:cNvSpPr/>
          <p:nvPr/>
        </p:nvSpPr>
        <p:spPr>
          <a:xfrm>
            <a:off x="8402117" y="22860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D33A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02117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3017520"/>
            <a:ext cx="278373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报告每任务差值，保留下降任务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让代码验证你的判断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685800" y="1874520"/>
            <a:ext cx="7406640" cy="3749040"/>
          </a:xfrm>
          <a:prstGeom prst="roundRect">
            <a:avLst>
              <a:gd name="adj" fmla="val 2439"/>
            </a:avLst>
          </a:prstGeom>
          <a:solidFill>
            <a:srgbClr val="0D1B2E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2075688"/>
            <a:ext cx="118872" cy="118872"/>
          </a:xfrm>
          <a:prstGeom prst="ellipse">
            <a:avLst/>
          </a:prstGeom>
          <a:solidFill>
            <a:srgbClr val="D33A2C"/>
          </a:solidFill>
          <a:ln/>
        </p:spPr>
      </p:sp>
      <p:sp>
        <p:nvSpPr>
          <p:cNvPr id="5" name="Shape 3"/>
          <p:cNvSpPr/>
          <p:nvPr/>
        </p:nvSpPr>
        <p:spPr>
          <a:xfrm>
            <a:off x="1179576" y="2075688"/>
            <a:ext cx="118872" cy="118872"/>
          </a:xfrm>
          <a:prstGeom prst="ellipse">
            <a:avLst/>
          </a:prstGeom>
          <a:solidFill>
            <a:srgbClr val="F2C316"/>
          </a:solidFill>
          <a:ln/>
        </p:spPr>
      </p:sp>
      <p:sp>
        <p:nvSpPr>
          <p:cNvPr id="6" name="Shape 4"/>
          <p:cNvSpPr/>
          <p:nvPr/>
        </p:nvSpPr>
        <p:spPr>
          <a:xfrm>
            <a:off x="1399032" y="2075688"/>
            <a:ext cx="118872" cy="118872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423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logits = prototype_logits(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    se, torch.as_tensor(ep.support_y), qe, 5)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loss = torch.nn.functional.cross_entropy(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    logits, torch.as_tensor(ep.query_y))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assert not set(support) &amp; set(query)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192024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458200" y="2240280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16_protonet_teaching.ipynb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58200" y="310896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cell</a:t>
            </a:r>
            <a:endParaRPr lang="en-US" sz="1300" dirty="0"/>
          </a:p>
        </p:txBody>
      </p:sp>
      <p:sp>
        <p:nvSpPr>
          <p:cNvPr id="11" name="cell protocol"/>
          <p:cNvSpPr/>
          <p:nvPr/>
        </p:nvSpPr>
        <p:spPr>
          <a:xfrm>
            <a:off x="8458200" y="3474720"/>
            <a:ext cx="3044952" cy="365760"/>
          </a:xfrm>
          <a:prstGeom prst="roundRect">
            <a:avLst>
              <a:gd name="adj" fmla="val 15000"/>
            </a:avLst>
          </a:prstGeom>
          <a:ln w="9525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BB7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protocol</a:t>
            </a:r>
            <a:endParaRPr lang="en-US" sz="1200" dirty="0"/>
          </a:p>
        </p:txBody>
      </p:sp>
      <p:sp>
        <p:nvSpPr>
          <p:cNvPr id="13" name="cell episode"/>
          <p:cNvSpPr/>
          <p:nvPr/>
        </p:nvSpPr>
        <p:spPr>
          <a:xfrm>
            <a:off x="8458200" y="3950208"/>
            <a:ext cx="3044952" cy="365760"/>
          </a:xfrm>
          <a:prstGeom prst="roundRect">
            <a:avLst>
              <a:gd name="adj" fmla="val 15000"/>
            </a:avLst>
          </a:prstGeom>
          <a:ln w="9525">
            <a:solidFill>
              <a:srgbClr val="DCE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0" y="39502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BB7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episode</a:t>
            </a:r>
            <a:endParaRPr lang="en-US" sz="1200" dirty="0"/>
          </a:p>
        </p:txBody>
      </p:sp>
      <p:sp>
        <p:nvSpPr>
          <p:cNvPr id="15" name="cell prototype-math"/>
          <p:cNvSpPr/>
          <p:nvPr/>
        </p:nvSpPr>
        <p:spPr>
          <a:xfrm>
            <a:off x="8458200" y="4425696"/>
            <a:ext cx="3044952" cy="365760"/>
          </a:xfrm>
          <a:prstGeom prst="roundRect">
            <a:avLst>
              <a:gd name="adj" fmla="val 15000"/>
            </a:avLst>
          </a:prstGeom>
          <a:ln w="9525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0" y="44256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BB7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prototype-math</a:t>
            </a:r>
            <a:endParaRPr lang="en-US" sz="1200" dirty="0"/>
          </a:p>
        </p:txBody>
      </p:sp>
      <p:sp>
        <p:nvSpPr>
          <p:cNvPr id="17" name="cell evaluation"/>
          <p:cNvSpPr/>
          <p:nvPr/>
        </p:nvSpPr>
        <p:spPr>
          <a:xfrm>
            <a:off x="8458200" y="4901184"/>
            <a:ext cx="3044952" cy="365760"/>
          </a:xfrm>
          <a:prstGeom prst="roundRect">
            <a:avLst>
              <a:gd name="adj" fmla="val 15000"/>
            </a:avLst>
          </a:prstGeom>
          <a:ln w="9525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49011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BB7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8521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先预测输出，再运行对应单元格。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停下来，做一次判断</a:t>
            </a:r>
            <a:endParaRPr lang="en-US" sz="3000" dirty="0"/>
          </a:p>
        </p:txBody>
      </p:sp>
      <p:sp>
        <p:nvSpPr>
          <p:cNvPr id="3" name="prediction card"/>
          <p:cNvSpPr/>
          <p:nvPr/>
        </p:nvSpPr>
        <p:spPr>
          <a:xfrm>
            <a:off x="685800" y="1874520"/>
            <a:ext cx="6355080" cy="4343400"/>
          </a:xfrm>
          <a:prstGeom prst="roundRect">
            <a:avLst>
              <a:gd name="adj" fmla="val 2105"/>
            </a:avLst>
          </a:prstGeom>
          <a:solidFill>
            <a:srgbClr val="F2F5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2240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课堂预测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697480"/>
            <a:ext cx="5532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固定query，K从1增至5；个别任务下降也如实记录。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53212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 A05  ·  完整示例 / 填空 / 迁移</a:t>
            </a:r>
            <a:endParaRPr lang="en-US" sz="1400" dirty="0"/>
          </a:p>
        </p:txBody>
      </p:sp>
      <p:sp>
        <p:nvSpPr>
          <p:cNvPr id="7" name="exit question card"/>
          <p:cNvSpPr/>
          <p:nvPr/>
        </p:nvSpPr>
        <p:spPr>
          <a:xfrm>
            <a:off x="7315200" y="1874520"/>
            <a:ext cx="4187952" cy="4343400"/>
          </a:xfrm>
          <a:prstGeom prst="roundRect">
            <a:avLst>
              <a:gd name="adj" fmla="val 2183"/>
            </a:avLst>
          </a:prstGeom>
          <a:solidFill>
            <a:srgbClr val="0D1B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26680" y="2240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B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退出题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269748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单episode的25个support是否等于总标签预算？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结论要有边界</a:t>
            </a:r>
            <a:endParaRPr lang="en-US" sz="3000" dirty="0"/>
          </a:p>
        </p:txBody>
      </p:sp>
      <p:sp>
        <p:nvSpPr>
          <p:cNvPr id="3" name="known"/>
          <p:cNvSpPr/>
          <p:nvPr/>
        </p:nvSpPr>
        <p:spPr>
          <a:xfrm>
            <a:off x="685800" y="1920240"/>
            <a:ext cx="5272888" cy="2743200"/>
          </a:xfrm>
          <a:prstGeom prst="roundRect">
            <a:avLst>
              <a:gd name="adj" fmla="val 3333"/>
            </a:avLst>
          </a:prstGeom>
          <a:solidFill>
            <a:srgbClr val="16294A"/>
          </a:solidFill>
          <a:ln/>
        </p:spPr>
      </p:sp>
      <p:sp>
        <p:nvSpPr>
          <p:cNvPr id="4" name="tag"/>
          <p:cNvSpPr/>
          <p:nvPr/>
        </p:nvSpPr>
        <p:spPr>
          <a:xfrm>
            <a:off x="1051560" y="2286000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1F8FB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926080"/>
            <a:ext cx="454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同场景类别不交≠空间外推</a:t>
            </a:r>
            <a:endParaRPr lang="en-US" sz="2400" dirty="0"/>
          </a:p>
        </p:txBody>
      </p:sp>
      <p:sp>
        <p:nvSpPr>
          <p:cNvPr id="7" name="boundary"/>
          <p:cNvSpPr/>
          <p:nvPr/>
        </p:nvSpPr>
        <p:spPr>
          <a:xfrm>
            <a:off x="6233008" y="1920240"/>
            <a:ext cx="5272888" cy="2743200"/>
          </a:xfrm>
          <a:prstGeom prst="roundRect">
            <a:avLst>
              <a:gd name="adj" fmla="val 3333"/>
            </a:avLst>
          </a:prstGeom>
          <a:solidFill>
            <a:srgbClr val="16294A"/>
          </a:solidFill>
          <a:ln/>
        </p:spPr>
      </p:sp>
      <p:sp>
        <p:nvSpPr>
          <p:cNvPr id="8" name="tag"/>
          <p:cNvSpPr/>
          <p:nvPr/>
        </p:nvSpPr>
        <p:spPr>
          <a:xfrm>
            <a:off x="6598768" y="2286000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E875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98768" y="228600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98768" y="2926080"/>
            <a:ext cx="454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样本相关时均值方差不必按1/K缩小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23036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来源、复现入口与辅助提示见讲者备注。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A9BACD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SI-Learning Spectral">
      <a:dk1>
        <a:srgbClr val="14233A"/>
      </a:dk1>
      <a:lt1>
        <a:srgbClr val="FFFFFF"/>
      </a:lt1>
      <a:dk2>
        <a:srgbClr val="0D1B2E"/>
      </a:dk2>
      <a:lt2>
        <a:srgbClr val="F2F5F9"/>
      </a:lt2>
      <a:accent1>
        <a:srgbClr val="2F5BB7"/>
      </a:accent1>
      <a:accent2>
        <a:srgbClr val="1F8FB8"/>
      </a:accent2>
      <a:accent3>
        <a:srgbClr val="2E9E4F"/>
      </a:accent3>
      <a:accent4>
        <a:srgbClr val="E8752A"/>
      </a:accent4>
      <a:accent5>
        <a:srgbClr val="5B3FA0"/>
      </a:accent5>
      <a:accent6>
        <a:srgbClr val="D33A2C"/>
      </a:accent6>
      <a:hlink>
        <a:srgbClr val="2F5BB7"/>
      </a:hlink>
      <a:folHlink>
        <a:srgbClr val="5B3FA0"/>
      </a:folHlink>
    </a:clrScheme>
    <a:fontScheme name="Office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L08 5-shot 的五个样本，究竟怎么算？</dc:title>
  <dc:subject>PptxGenJS Presentation</dc:subject>
  <dc:creator>HSI-Learning</dc:creator>
  <cp:lastModifiedBy>HSI-Learning</cp:lastModifiedBy>
  <cp:revision>1</cp:revision>
  <dcterms:created xsi:type="dcterms:W3CDTF">2026-10-10T13:42:18Z</dcterms:created>
  <dcterms:modified xsi:type="dcterms:W3CDTF">2026-10-10T13:42:18Z</dcterms:modified>
</cp:coreProperties>
</file>