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用真实问题开场，先让学生提出预测。不要从依赖列表开始读。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完成标准是能独立生成交付物，而不是只复述概念。右侧面板是本课的Notebook与cell入口。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叠加图来自notebook 03：GT色块叠在真彩色上。让学生任指一个色块，问它的9×9邻域里有多少黑色未标注位置。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让学生读出中心值12，检查切片中间也是12。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transpose不是随意reshape；数值位置必须对应。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同一中心位置对比两种padding，不能把更漂亮的边界当性能证明。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全图预测与mask后结果都来自notebook 03推理cell。shuffle后仅reshape、不保存坐标是常见错误。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本项目量化过的泄漏：随机划分下相邻窗口几乎全共享。测试分高的解释力因此大打折扣；严格做法是空间不交划分（代价是类别覆盖不均）。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这是关键代码节选，完整上下文在Notebook中。现场只做最小例或载入模型推理；完整训练提前排队。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先让学生在右侧预测框写出预期，再运行一次受控改动。若与预期不同，保留记录而不是换种子直到符合故事。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制提示词见内容源。数据边界：不上传未授权数据或未公开稿件；不让AI虚构引用、指标或执行记录。为这个patch函数设计边界测试，用5×5可手算数组。给出输入、期望值和断言；不要用被测函数自身生成期望答案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结束时请学生用一句话回答本课开头的问题，要求带证据类型。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每次发布应补源码版本与运行配置；网络资料可访问不等于可自由再分发。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PatchSet, __getitem__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2412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 spc="300">
                <a:solidFill>
                  <a:srgbClr val="5C6B7A"/>
                </a:solidFill>
                <a:latin typeface="Microsoft YaHei"/>
                <a:ea typeface="Microsoft YaHei"/>
              </a:rPr>
              <a:t>HSI-LEARNING</a:t>
            </a:r>
            <a:r>
              <a:rPr sz="1250" b="0" spc="200">
                <a:solidFill>
                  <a:srgbClr val="5C6B7A"/>
                </a:solidFill>
                <a:latin typeface="Microsoft YaHei"/>
                <a:ea typeface="Microsoft YaHei"/>
              </a:rPr>
              <a:t>  ·  高光谱图像分类课程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1572768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600" b="1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615184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700" b="1">
                <a:solidFill>
                  <a:srgbClr val="1C2B3A"/>
                </a:solidFill>
                <a:latin typeface="Microsoft YaHei"/>
                <a:ea typeface="Microsoft YaHei"/>
              </a:rPr>
              <a:t>一个像元怎样变成模型输入？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>
                <a:solidFill>
                  <a:srgbClr val="5C6B7A"/>
                </a:solidFill>
                <a:latin typeface="Microsoft YaHei"/>
                <a:ea typeface="Microsoft YaHei"/>
              </a:rPr>
              <a:t>中心、邻域、padding与坐标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36592"/>
            <a:ext cx="996696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926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本课交付 · </a:t>
            </a: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</a:rPr>
              <a:t>patch提取断言  ·  输入shape表  ·  空间重叠说明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704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先修 · </a:t>
            </a:r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L01/L02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本课交付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7510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11679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patch提取断言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7977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7238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31089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输入shape表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87705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6966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42062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空间重叠说明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011680"/>
            <a:ext cx="3886200" cy="32004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2860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课堂入口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17520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03_hybridsn_baseline.ipynb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02736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858768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PatchSet, __getitem__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43984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0016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C2B3A"/>
                </a:solidFill>
                <a:latin typeface="Microsoft YaHei"/>
                <a:ea typeface="Microsoft YaHei"/>
              </a:rPr>
              <a:t>A03 · 交付：代码 + 配置 + 解释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邻域是输入，中心是监督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hybridsn_baseline-cell5-2-7deee89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821" y="1874519"/>
            <a:ext cx="4316572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134821" y="1874519"/>
            <a:ext cx="4316572" cy="438912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彩色块：有标注的中心像元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黑色：未标注位置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patch取邻域观测、中心标签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03_hybridsn_baseline.ipynb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cell5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先在toy数组上手算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5×5数组按行编号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中心(2,2)切3×3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边角需要明确padding规则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padded[2:5, 2:5][1,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7b7aef83c9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19425"/>
            <a:ext cx="4434840" cy="3961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Coordinate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Radius 1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3×3 patch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三次shape变化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HWC是数据读取布局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CHW是2D卷积布局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batch维由loader增加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patch.transpose(2, 0, 1).shape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(12, 9, 9)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(9,9,12)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(12,9,9)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(B,12,9,9)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零填充不是零反射率地物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边缘观测缺失需要约定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PCA后0表示变换空间原点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更换reflect是实验变量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Constant</a:t>
            </a:r>
          </a:p>
        </p:txBody>
      </p:sp>
      <p:sp>
        <p:nvSpPr>
          <p:cNvPr id="10" name="Oval 9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Reflect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Controlled comparison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回贴map必须有位置证据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hybridsn_baseline-cell18-1-5831aadd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821" y="1874519"/>
            <a:ext cx="4316572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134821" y="1874519"/>
            <a:ext cx="4316572" cy="438912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预测按原坐标写回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背景不评估，显示为黑色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全图显示不等于测试成绩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03_hybridsn_baseline.ipynb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cell18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patch 重叠：这不是小事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错开1像素的两个9×9窗口共享 72/81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10%训练时 patch 重叠率 60–89%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中心不同 ≠ 观测独立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8*9/81  # 相邻窗口共享比例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0.889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Overlap 72/81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60–89%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Not independent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代码实操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47088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打开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03_hybridsn_baseline.ipynb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87168"/>
            <a:ext cx="6858000" cy="1920239"/>
          </a:xfrm>
          <a:prstGeom prst="roundRect">
            <a:avLst>
              <a:gd name="adj" fmla="val 4500"/>
            </a:avLst>
          </a:prstGeom>
          <a:solidFill>
            <a:srgbClr val="20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98064"/>
            <a:ext cx="6172200" cy="13533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2000"/>
              </a:lnSpc>
            </a:pPr>
            <a:r>
              <a:rPr sz="1500" b="0">
                <a:solidFill>
                  <a:srgbClr val="DEE9F2"/>
                </a:solidFill>
                <a:latin typeface="Consolas"/>
                <a:ea typeface="Microsoft YaHei"/>
              </a:rPr>
              <a:t>patch = padded[r:r+size, c:c+size]</a:t>
            </a:r>
          </a:p>
          <a:p>
            <a:pPr>
              <a:lnSpc>
                <a:spcPct val="142000"/>
              </a:lnSpc>
            </a:pPr>
            <a:r>
              <a:rPr sz="1500" b="0">
                <a:solidFill>
                  <a:srgbClr val="DEE9F2"/>
                </a:solidFill>
                <a:latin typeface="Consolas"/>
                <a:ea typeface="Microsoft YaHei"/>
              </a:rPr>
              <a:t>assert np.allclose(patch[p,p], cube[r,c])</a:t>
            </a:r>
          </a:p>
          <a:p>
            <a:pPr>
              <a:lnSpc>
                <a:spcPct val="142000"/>
              </a:lnSpc>
            </a:pPr>
            <a:r>
              <a:rPr sz="1500" b="0">
                <a:solidFill>
                  <a:srgbClr val="DEE9F2"/>
                </a:solidFill>
                <a:latin typeface="Consolas"/>
                <a:ea typeface="Microsoft YaHei"/>
              </a:rPr>
              <a:t>chw = patch.transpose(2,0,1)</a:t>
            </a:r>
          </a:p>
          <a:p>
            <a:pPr>
              <a:lnSpc>
                <a:spcPct val="142000"/>
              </a:lnSpc>
            </a:pPr>
            <a:r>
              <a:rPr sz="1500" b="0">
                <a:solidFill>
                  <a:srgbClr val="DEE9F2"/>
                </a:solidFill>
                <a:latin typeface="Consolas"/>
                <a:ea typeface="Microsoft YaHei"/>
              </a:rPr>
              <a:t/>
            </a:r>
            <a:r>
              <a:rPr sz="1500" b="0">
                <a:solidFill>
                  <a:srgbClr val="7E99AD"/>
                </a:solidFill>
                <a:latin typeface="Consolas"/>
                <a:ea typeface="Microsoft YaHei"/>
              </a:rPr>
              <a:t># Keep original (r,c) alongside each prediction.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634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定位 cell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PatchSet, __getitem__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现场安排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395728"/>
            <a:ext cx="32461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现场：逐个运行本页 cell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完整训练：课前排队完成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结果解读：以当前输出为准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2300" b="0">
                <a:solidFill>
                  <a:srgbClr val="1C2B3A"/>
                </a:solidFill>
                <a:latin typeface="Microsoft YaHei"/>
                <a:ea typeface="Microsoft YaHei"/>
              </a:rPr>
              <a:t>检查四个角、中心、奇数size；偶数输入应报错或明确中心定义。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892040"/>
            <a:ext cx="5669280" cy="60350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95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5056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>
                <a:solidFill>
                  <a:srgbClr val="C9571E"/>
                </a:solidFill>
                <a:latin typeface="Microsoft YaHei"/>
                <a:ea typeface="Microsoft YaHei"/>
              </a:rPr>
              <a:t>任务 A03</a:t>
            </a:r>
            <a:r>
              <a:rPr sz="1400" b="0">
                <a:solidFill>
                  <a:srgbClr val="1C2B3A"/>
                </a:solidFill>
                <a:latin typeface="Microsoft YaHei"/>
                <a:ea typeface="Microsoft YaHei"/>
              </a:rPr>
              <a:t>　交付：代码 + 配置 + 解释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057400"/>
            <a:ext cx="3886200" cy="3438144"/>
          </a:xfrm>
          <a:prstGeom prst="rect">
            <a:avLst/>
          </a:prstGeom>
          <a:noFill/>
          <a:ln w="1524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50008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先写预测，再运行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55848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4069080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782312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AI 辅助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6903720" cy="265176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292" cy="265176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9864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提示词（可直接复制）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62636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550" b="0">
                <a:solidFill>
                  <a:srgbClr val="1C2B3A"/>
                </a:solidFill>
                <a:latin typeface="Microsoft YaHei"/>
                <a:ea typeface="Microsoft YaHei"/>
              </a:rPr>
              <a:t>为这个patch函数设计边界测试，用5×5可手算数组。给出输入、期望值和断言；不要用被测函数自身生成期望答案。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7157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人工核验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136392"/>
            <a:ext cx="324612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C2B3A"/>
                </a:solidFill>
                <a:latin typeface="Microsoft YaHei"/>
                <a:ea typeface="Microsoft YaHei"/>
              </a:rPr>
              <a:t>手算首末坐标和中心值，确保测试不是循环证明。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小结与边界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5669280" cy="3291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patch重叠改变评估问题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更大窗口不保证更好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2103120"/>
            <a:ext cx="4114800" cy="27432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2103120"/>
            <a:ext cx="50292" cy="274320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23957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回到本课开头的问题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834640"/>
            <a:ext cx="3520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一个像元怎样变成模型输入？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L04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中心、邻域、padding与坐标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来源、版本与复现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93392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PyTorch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020824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https://docs.pytorch.org/docs/stable/index.html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87168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5C6B7A"/>
                </a:solidFill>
                <a:latin typeface="Microsoft YaHei"/>
                <a:ea typeface="Microsoft YaHei"/>
              </a:rPr>
              <a:t>完整来源状态与许可边界见 docs/teaching/source-audit.md；图像取自当前 Notebook 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一个像元怎样变成模型输入？</dc:title>
  <dc:subject>Theory + practice + verified AI research assistance</dc:subject>
  <dc:creator>HSI-Learning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