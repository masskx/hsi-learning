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</p:sldIdLst>
  <p:notesMasterIdLst>
    <p:notesMasterId r:id="rId14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开场" id="{a716366a-93ba-73e4-6855-d8266ede5cc7}">
          <p14:sldIdLst>
            <p14:sldId id="256"/>
            <p14:sldId id="257"/>
          </p14:sldIdLst>
        </p14:section>
        <p14:section name="讲解" id="{2f4bec6a-08d8-38dd-a3d4-939dcfa5cd73}">
          <p14:sldIdLst>
            <p14:sldId id="258"/>
            <p14:sldId id="259"/>
            <p14:sldId id="260"/>
            <p14:sldId id="261"/>
            <p14:sldId id="262"/>
            <p14:sldId id="263"/>
            <p14:sldId id="264"/>
          </p14:sldIdLst>
        </p14:section>
        <p14:section name="练习" id="{cd7bc591-a402-25ca-5c7b-5f28bb050455}">
          <p14:sldIdLst>
            <p14:sldId id="265"/>
            <p14:sldId id="266"/>
          </p14:sldIdLst>
        </p14:section>
        <p14:section name="收束" id="{e6bb7b2a-b6a2-2b7e-d699-2efec14163ff}">
          <p14:sldIdLst>
            <p14:sldId id="267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notesMaster" Target="notesMasters/notesMaster1.xml"/><Relationship Id="rId15" Type="http://schemas.openxmlformats.org/officeDocument/2006/relationships/presProps" Target="presProps.xml"/><Relationship Id="rId16" Type="http://schemas.openxmlformats.org/officeDocument/2006/relationships/viewProps" Target="viewProps.xml"/><Relationship Id="rId17" Type="http://schemas.openxmlformats.org/officeDocument/2006/relationships/theme" Target="theme/theme1.xml"/><Relationship Id="rId18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开场问题：shuffle后如何保证预测回到原坐标？
原标题：一个像元怎样变成模型输入？
参考节奏：5分钟回顾，10分钟手算，10分钟代码，12分钟练习，5分钟错误分析，3分钟退出题。
课堂入口: 11_patch_hybridsn_classroom.ipynb
定位: toy-patches, reshape-check
先预测，再运行；答错时回到手算例。
AI辅助：为这个patch函数设计边界测试，用5×5可手算数组。给出输入、期望值和断言；不要用被测函数自身生成期望答案。
人工核验：手算首末坐标和中心值，确保测试不是循环证明。
PyTorch documentation
https://docs.pytorch.org/docs/stable/index.html
运行配置、数据哈希和结果：artifacts/teaching/classroom-facts.json
封面图源：02_svm_baseline.ipynb / maps / 0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交付物以代码、配置、输出和解释为准。先做完整示例，再做填空与迁移任务。
课堂入口: 11_patch_hybridsn_classroom.ipynb
定位: toy-patches, reshape-check
先预测，再运行；答错时回到手算例。
AI辅助：为这个patch函数设计边界测试，用5×5可手算数组。给出输入、期望值和断言；不要用被测函数自身生成期望答案。
人工核验：手算首末坐标和中心值，确保测试不是循环证明。
PyTorch documentation
https://docs.pytorch.org/docs/stable/index.html
运行配置、数据哈希和结果：artifacts/teaching/classroom-facts.json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图来自当前toy-patches：中心及四角的padding数值逐格核对。
Center label / Neighborhood / Unlabeled background
图源：11_patch_hybridsn_classroom.ipynb / toy-patches / 0
课堂入口: 11_patch_hybridsn_classroom.ipynb
定位: toy-patches, reshape-check
先预测，再运行；答错时回到手算例。
AI辅助：为这个patch函数设计边界测试，用5×5可手算数组。给出输入、期望值和断言；不要用被测函数自身生成期望答案。
人工核验：手算首末坐标和中心值，确保测试不是循环证明。
PyTorch documentation
https://docs.pytorch.org/docs/stable/index.html
运行配置、数据哈希和结果：artifacts/teaching/classroom-facts.json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让学生读出中心值12，检查切片中间也是12。
Coordinate / Radius 1 / 3×3 patch
课堂入口: 11_patch_hybridsn_classroom.ipynb
定位: toy-patches, reshape-check
先预测，再运行；答错时回到手算例。
AI辅助：为这个patch函数设计边界测试，用5×5可手算数组。给出输入、期望值和断言；不要用被测函数自身生成期望答案。
人工核验：手算首末坐标和中心值，确保测试不是循环证明。
PyTorch documentation
https://docs.pytorch.org/docs/stable/index.html
运行配置、数据哈希和结果：artifacts/teaching/classroom-facts.json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transpose不是随意reshape；数值位置必须对应。
(9,9,12) / (12,9,9) / (B,12,9,9)
课堂入口: 11_patch_hybridsn_classroom.ipynb
定位: toy-patches, reshape-check
先预测，再运行；答错时回到手算例。
AI辅助：为这个patch函数设计边界测试，用5×5可手算数组。给出输入、期望值和断言；不要用被测函数自身生成期望答案。
人工核验：手算首末坐标和中心值，确保测试不是循环证明。
PyTorch documentation
https://docs.pytorch.org/docs/stable/index.html
运行配置、数据哈希和结果：artifacts/teaching/classroom-facts.json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同一中心位置对比两种padding，不能把更漂亮的边界当性能证明。
Constant / Reflect / Controlled comparison
课堂入口: 11_patch_hybridsn_classroom.ipynb
定位: toy-patches, reshape-check
先预测，再运行；答错时回到手算例。
AI辅助：为这个patch函数设计边界测试，用5×5可手算数组。给出输入、期望值和断言；不要用被测函数自身生成期望答案。
人工核验：手算首末坐标和中心值，确保测试不是循环证明。
PyTorch documentation
https://docs.pytorch.org/docs/stable/index.html
运行配置、数据哈希和结果：artifacts/teaching/classroom-facts.json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当前协议E的SVM全图显示；test错误图另看maps的第二张输出。
Prediction map / Background masked / Test metrics separate
图源：02_svm_baseline.ipynb / maps / 0
课堂入口: 11_patch_hybridsn_classroom.ipynb
定位: toy-patches, reshape-check
先预测，再运行；答错时回到手算例。
AI辅助：为这个patch函数设计边界测试，用5×5可手算数组。给出输入、期望值和断言；不要用被测函数自身生成期望答案。
人工核验：手算首末坐标和中心值，确保测试不是循环证明。
PyTorch documentation
https://docs.pytorch.org/docs/stable/index.html
运行配置、数据哈希和结果：artifacts/teaching/classroom-facts.json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不能把89%说成总体泄漏量或性能增益。
Pair overlap 72/81 / Sampling positions / Observed dependence
课堂入口: 11_patch_hybridsn_classroom.ipynb
定位: toy-patches, reshape-check
先预测，再运行；答错时回到手算例。
AI辅助：为这个patch函数设计边界测试，用5×5可手算数组。给出输入、期望值和断言；不要用被测函数自身生成期望答案。
人工核验：手算首末坐标和中心值，确保测试不是循环证明。
PyTorch documentation
https://docs.pytorch.org/docs/stable/index.html
运行配置、数据哈希和结果：artifacts/teaching/classroom-facts.json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Notebook02 spatial-split给出位置清单。空间划分同时改变覆盖和难度，不称净泄漏效应。
课堂入口: 11_patch_hybridsn_classroom.ipynb
定位: toy-patches, reshape-check
先预测，再运行；答错时回到手算例。
AI辅助：为这个patch函数设计边界测试，用5×5可手算数组。给出输入、期望值和断言；不要用被测函数自身生成期望答案。
人工核验：手算首末坐标和中心值，确保测试不是循环证明。
PyTorch documentation
https://docs.pytorch.org/docs/stable/index.html
运行配置、数据哈希和结果：artifacts/teaching/classroom-facts.json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只运行指定短cell；完整训练已在课前完成。缺资产时使用已执行输出备用并说明。
课堂入口: 11_patch_hybridsn_classroom.ipynb
定位: toy-patches, reshape-check
先预测，再运行；答错时回到手算例。
AI辅助：为这个patch函数设计边界测试，用5×5可手算数组。给出输入、期望值和断言；不要用被测函数自身生成期望答案。
人工核验：手算首末坐标和中心值，确保测试不是循环证明。
PyTorch documentation
https://docs.pytorch.org/docs/stable/index.html
运行配置、数据哈希和结果：artifacts/teaching/classroom-facts.json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停下来收集预测，发现错误后重新解释；不等到课后作业才知道学生没理解。
作业：A03；完整示例 / 填空 / 迁移；提交代码、配置、结果和限制。
课堂入口: 11_patch_hybridsn_classroom.ipynb
定位: toy-patches, reshape-check
先预测，再运行；答错时回到手算例。
AI辅助：为这个patch函数设计边界测试，用5×5可手算数组。给出输入、期望值和断言；不要用被测函数自身生成期望答案。
人工核验：手算首末坐标和中心值，确保测试不是循环证明。
PyTorch documentation
https://docs.pytorch.org/docs/stable/index.html
运行配置、数据哈希和结果：artifacts/teaching/classroom-facts.json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区分已观察事实、候选解释与下一项检验。
退出题：shuffle后如何保证预测回到原坐标？
课堂入口: 11_patch_hybridsn_classroom.ipynb
定位: toy-patches, reshape-check
先预测，再运行；答错时回到手算例。
AI辅助：为这个patch函数设计边界测试，用5×5可手算数组。给出输入、期望值和断言；不要用被测函数自身生成期望答案。
人工核验：手算首末坐标和中心值，确保测试不是循环证明。
PyTorch documentation
https://docs.pytorch.org/docs/stable/index.html
运行配置、数据哈希和结果：artifacts/teaching/classroom-facts.json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02-1.png"/><Relationship Id="rId2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04-1.png"/><Relationship Id="rId2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VER">
    <p:bg>
      <p:bgPr>
        <a:solidFill>
          <a:srgbClr val="0D1B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HSI-Learning/slides/assets/brand/spectrum-bars.png">    </p:cNvPr>
          <p:cNvPicPr>
            <a:picLocks noChangeAspect="1"/>
          </p:cNvPicPr>
          <p:nvPr/>
        </p:nvPicPr>
        <p:blipFill>
          <a:blip r:embed="rId1">
            <a:alphaModFix amt="85000"/>
          </a:blip>
          <a:stretch>
            <a:fillRect/>
          </a:stretch>
        </p:blipFill>
        <p:spPr>
          <a:xfrm>
            <a:off x="0" y="5440680"/>
            <a:ext cx="12191695" cy="141732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685800" y="566928"/>
            <a:ext cx="7315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A9BAC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HSI-LEARNING  ·  高光谱图像分类课程</a:t>
            </a:r>
            <a:endParaRPr lang="en-US" sz="1200" dirty="0"/>
          </a:p>
        </p:txBody>
      </p:sp>
      <p:sp>
        <p:nvSpPr>
          <p:cNvPr id="4" name="Text 1"/>
          <p:cNvSpPr/>
          <p:nvPr>
            <p:ph idx="102" type="title" hasCustomPrompt="1"/>
          </p:nvPr>
        </p:nvSpPr>
        <p:spPr>
          <a:xfrm>
            <a:off x="685800" y="1828800"/>
            <a:ext cx="6309360" cy="17830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lnSpc>
                <a:spcPct val="108000"/>
              </a:lnSpc>
              <a:buNone/>
              <a:defRPr lang="en-US" sz="50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defRPr>
            </a:lvl1pPr>
          </a:lstStyle>
          <a:p>
            <a:pPr algn="l" indent="0" marL="0">
              <a:lnSpc>
                <a:spcPct val="108000"/>
              </a:lnSpc>
              <a:buNone/>
            </a:pPr>
            <a:endParaRPr lang="en-US" sz="5000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85800" y="384048"/>
            <a:ext cx="658368" cy="274320"/>
          </a:xfrm>
          <a:prstGeom prst="rect">
            <a:avLst>
              <a:gd name="adj" fmla="val 20000"/>
            </a:avLst>
          </a:prstGeom>
          <a:solidFill>
            <a:srgbClr val="0D1B2E"/>
          </a:solidFill>
          <a:ln/>
        </p:spPr>
      </p:sp>
      <p:sp>
        <p:nvSpPr>
          <p:cNvPr id="3" name="Text 1"/>
          <p:cNvSpPr/>
          <p:nvPr/>
        </p:nvSpPr>
        <p:spPr>
          <a:xfrm>
            <a:off x="685800" y="384048"/>
            <a:ext cx="65836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L04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1508760" y="384048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spc="150" kern="0" dirty="0">
                <a:solidFill>
                  <a:srgbClr val="5F6E8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HSI-LEARNING  ·  高光谱图像分类课程</a:t>
            </a:r>
            <a:endParaRPr lang="en-US" sz="1100" dirty="0"/>
          </a:p>
        </p:txBody>
      </p:sp>
      <p:sp>
        <p:nvSpPr>
          <p:cNvPr id="5" name="Text 3"/>
          <p:cNvSpPr/>
          <p:nvPr>
            <p:ph idx="103" type="title" hasCustomPrompt="1"/>
          </p:nvPr>
        </p:nvSpPr>
        <p:spPr>
          <a:xfrm>
            <a:off x="685800" y="868680"/>
            <a:ext cx="10820095" cy="73152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3000" b="1" dirty="0">
                <a:solidFill>
                  <a:srgbClr val="14233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defRPr>
            </a:lvl1pPr>
          </a:lstStyle>
          <a:p>
            <a:pPr algn="l" indent="0" marL="0">
              <a:buNone/>
            </a:pPr>
            <a:endParaRPr lang="en-US" sz="3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682935" y="384048"/>
            <a:ext cx="8229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 anchor="ctr"/>
          <a:lstStyle>
            <a:lvl1pPr>
              <a:defRPr sz="1100">
                <a:solidFill>
                  <a:srgbClr val="5F6E80"/>
                </a:solidFill>
                <a:latin typeface="Microsoft YaHei"/>
                <a:ea typeface="Microsoft YaHei"/>
                <a:cs typeface="Microsoft YaHei"/>
              </a:defRPr>
            </a:lvl1pPr>
          </a:lstStyle>
          <a:p>
            <a:pPr algn="r"/>
            <a:fld id="{F7021451-1387-4CA6-816F-3879F97B5CBC}" type="slidenum">
              <a:rPr b="0" lang="en-US"/>
              <a:t>1003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LOSING">
    <p:bg>
      <p:bgPr>
        <a:solidFill>
          <a:srgbClr val="0D1B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HSI-Learning/slides/assets/brand/spectrum-bars.png">    </p:cNvPr>
          <p:cNvPicPr>
            <a:picLocks noChangeAspect="1"/>
          </p:cNvPicPr>
          <p:nvPr/>
        </p:nvPicPr>
        <p:blipFill>
          <a:blip r:embed="rId1">
            <a:alphaModFix amt="55000"/>
          </a:blip>
          <a:stretch>
            <a:fillRect/>
          </a:stretch>
        </p:blipFill>
        <p:spPr>
          <a:xfrm>
            <a:off x="0" y="5897880"/>
            <a:ext cx="12191695" cy="96012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685800" y="384048"/>
            <a:ext cx="658368" cy="274320"/>
          </a:xfrm>
          <a:prstGeom prst="rect">
            <a:avLst>
              <a:gd name="adj" fmla="val 20000"/>
            </a:avLst>
          </a:prstGeom>
          <a:solidFill>
            <a:srgbClr val="2F5BB7"/>
          </a:solidFill>
          <a:ln/>
        </p:spPr>
      </p:sp>
      <p:sp>
        <p:nvSpPr>
          <p:cNvPr id="4" name="Text 1"/>
          <p:cNvSpPr/>
          <p:nvPr/>
        </p:nvSpPr>
        <p:spPr>
          <a:xfrm>
            <a:off x="685800" y="384048"/>
            <a:ext cx="65836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L04</a:t>
            </a:r>
            <a:endParaRPr lang="en-US" sz="1100" dirty="0"/>
          </a:p>
        </p:txBody>
      </p:sp>
      <p:sp>
        <p:nvSpPr>
          <p:cNvPr id="5" name="Text 2"/>
          <p:cNvSpPr/>
          <p:nvPr/>
        </p:nvSpPr>
        <p:spPr>
          <a:xfrm>
            <a:off x="1508760" y="384048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spc="150" kern="0" dirty="0">
                <a:solidFill>
                  <a:srgbClr val="A9BAC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HSI-LEARNING  ·  高光谱图像分类课程</a:t>
            </a:r>
            <a:endParaRPr lang="en-US" sz="1100" dirty="0"/>
          </a:p>
        </p:txBody>
      </p:sp>
      <p:sp>
        <p:nvSpPr>
          <p:cNvPr id="6" name="Text 3"/>
          <p:cNvSpPr/>
          <p:nvPr>
            <p:ph idx="104" type="title" hasCustomPrompt="1"/>
          </p:nvPr>
        </p:nvSpPr>
        <p:spPr>
          <a:xfrm>
            <a:off x="685800" y="868680"/>
            <a:ext cx="10820095" cy="73152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30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defRPr>
            </a:lvl1pPr>
          </a:lstStyle>
          <a:p>
            <a:pPr algn="l" indent="0" marL="0">
              <a:buNone/>
            </a:pPr>
            <a:endParaRPr lang="en-US" sz="3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682935" y="384048"/>
            <a:ext cx="8229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 anchor="ctr"/>
          <a:lstStyle>
            <a:lvl1pPr>
              <a:defRPr sz="1100">
                <a:solidFill>
                  <a:srgbClr val="A9BACD"/>
                </a:solidFill>
                <a:latin typeface="Microsoft YaHei"/>
                <a:ea typeface="Microsoft YaHei"/>
                <a:cs typeface="Microsoft YaHei"/>
              </a:defRPr>
            </a:lvl1pPr>
          </a:lstStyle>
          <a:p>
            <a:pPr algn="r"/>
            <a:fld id="{F7021451-1387-4CA6-816F-3879F97B5CBC}" type="slidenum">
              <a:rPr b="0" lang="en-US"/>
              <a:t>1004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682935" y="384048"/>
            <a:ext cx="8229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 anchor="ctr"/>
          <a:lstStyle>
            <a:lvl1pPr>
              <a:defRPr sz="1100">
                <a:solidFill>
                  <a:srgbClr val="5F6E80"/>
                </a:solidFill>
                <a:latin typeface="Microsoft YaHei"/>
                <a:ea typeface="Microsoft YaHei"/>
                <a:cs typeface="Microsoft YaHei"/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2" type="title" hasCustomPrompt="1"/>
          </p:nvPr>
        </p:nvSpPr>
        <p:spPr>
          <a:xfrm>
            <a:off x="685800" y="1828800"/>
            <a:ext cx="6309360" cy="1783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8000"/>
              </a:lnSpc>
              <a:buNone/>
            </a:pPr>
            <a:r>
              <a:rPr lang="en-US" sz="50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从像元</a:t>
            </a:r>
            <a:endParaRPr lang="en-US" sz="5000" dirty="0"/>
          </a:p>
          <a:p>
            <a:pPr algn="l" indent="0" marL="0">
              <a:lnSpc>
                <a:spcPct val="108000"/>
              </a:lnSpc>
              <a:buNone/>
            </a:pPr>
            <a:r>
              <a:rPr lang="en-US" sz="50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构建 Patch</a:t>
            </a:r>
            <a:endParaRPr lang="en-US" sz="5000" dirty="0"/>
          </a:p>
        </p:txBody>
      </p:sp>
      <p:sp>
        <p:nvSpPr>
          <p:cNvPr id="3" name="lesson id"/>
          <p:cNvSpPr/>
          <p:nvPr/>
        </p:nvSpPr>
        <p:spPr>
          <a:xfrm>
            <a:off x="685800" y="1243584"/>
            <a:ext cx="786384" cy="347472"/>
          </a:xfrm>
          <a:prstGeom prst="roundRect">
            <a:avLst>
              <a:gd name="adj" fmla="val 18421"/>
            </a:avLst>
          </a:prstGeom>
          <a:solidFill>
            <a:srgbClr val="2F5BB7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685800" y="1243584"/>
            <a:ext cx="786384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L04</a:t>
            </a:r>
            <a:endParaRPr lang="en-US" sz="1500" dirty="0"/>
          </a:p>
        </p:txBody>
      </p:sp>
      <p:sp>
        <p:nvSpPr>
          <p:cNvPr id="5" name="Text 3"/>
          <p:cNvSpPr txBox="1"/>
          <p:nvPr/>
        </p:nvSpPr>
        <p:spPr>
          <a:xfrm>
            <a:off x="685800" y="3730752"/>
            <a:ext cx="6400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b="1" dirty="0">
                <a:solidFill>
                  <a:srgbClr val="F5B54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本课问题  </a:t>
            </a:r>
            <a:pPr indent="0" marL="0">
              <a:buNone/>
            </a:pPr>
            <a:r>
              <a:rPr lang="en-US" sz="190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一个像元怎样变成模型输入？</a:t>
            </a:r>
            <a:endParaRPr lang="en-US" sz="1900" dirty="0"/>
          </a:p>
        </p:txBody>
      </p:sp>
      <p:sp>
        <p:nvSpPr>
          <p:cNvPr id="6" name="Text 4"/>
          <p:cNvSpPr txBox="1"/>
          <p:nvPr/>
        </p:nvSpPr>
        <p:spPr>
          <a:xfrm>
            <a:off x="685800" y="4206240"/>
            <a:ext cx="64008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A9BAC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中心、邻域、padding与坐标</a:t>
            </a:r>
            <a:endParaRPr lang="en-US" sz="1600" dirty="0"/>
          </a:p>
        </p:txBody>
      </p:sp>
      <p:sp>
        <p:nvSpPr>
          <p:cNvPr id="7" name="Text 5"/>
          <p:cNvSpPr txBox="1"/>
          <p:nvPr/>
        </p:nvSpPr>
        <p:spPr>
          <a:xfrm>
            <a:off x="685800" y="4645152"/>
            <a:ext cx="64008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A9BAC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先修  ·  L01/L02</a:t>
            </a:r>
            <a:endParaRPr lang="en-US" sz="1300" dirty="0"/>
          </a:p>
        </p:txBody>
      </p:sp>
      <p:sp>
        <p:nvSpPr>
          <p:cNvPr id="8" name="hero frame"/>
          <p:cNvSpPr/>
          <p:nvPr/>
        </p:nvSpPr>
        <p:spPr>
          <a:xfrm>
            <a:off x="7409383" y="1787135"/>
            <a:ext cx="4096512" cy="2415050"/>
          </a:xfrm>
          <a:prstGeom prst="roundRect">
            <a:avLst>
              <a:gd name="adj" fmla="val 3786"/>
            </a:avLst>
          </a:prstGeom>
          <a:solidFill>
            <a:srgbClr val="FFFFFF"/>
          </a:solidFill>
          <a:ln/>
          <a:effectLst>
            <a:outerShdw sx="100000" sy="100000" kx="0" ky="0" algn="bl" rotWithShape="0" blurRad="228600" dist="76200" dir="5400000">
              <a:srgbClr val="000000">
                <a:alpha val="35000"/>
              </a:srgbClr>
            </a:outerShdw>
          </a:effectLst>
        </p:spPr>
      </p:sp>
      <p:pic>
        <p:nvPicPr>
          <p:cNvPr id="9" name="Image 0" descr="cover figure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610551" y="1988303"/>
            <a:ext cx="3694176" cy="2012714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3"/>
          <p:cNvSpPr/>
          <p:nvPr>
            <p:ph idx="103" type="title" hasCustomPrompt="1"/>
          </p:nvPr>
        </p:nvSpPr>
        <p:spPr>
          <a:xfrm>
            <a:off x="685800" y="868680"/>
            <a:ext cx="1082009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14233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这节课，你将完成什么</a:t>
            </a:r>
            <a:endParaRPr lang="en-US" sz="3000" dirty="0"/>
          </a:p>
        </p:txBody>
      </p:sp>
      <p:sp>
        <p:nvSpPr>
          <p:cNvPr id="3" name="deliverable 1"/>
          <p:cNvSpPr/>
          <p:nvPr/>
        </p:nvSpPr>
        <p:spPr>
          <a:xfrm>
            <a:off x="685800" y="1920240"/>
            <a:ext cx="3423818" cy="2240280"/>
          </a:xfrm>
          <a:prstGeom prst="roundRect">
            <a:avLst>
              <a:gd name="adj" fmla="val 4082"/>
            </a:avLst>
          </a:prstGeom>
          <a:solidFill>
            <a:srgbClr val="F2F5F9"/>
          </a:solidFill>
          <a:ln/>
        </p:spPr>
      </p:sp>
      <p:sp>
        <p:nvSpPr>
          <p:cNvPr id="4" name="chip 01"/>
          <p:cNvSpPr/>
          <p:nvPr/>
        </p:nvSpPr>
        <p:spPr>
          <a:xfrm>
            <a:off x="1005840" y="2240280"/>
            <a:ext cx="512064" cy="512064"/>
          </a:xfrm>
          <a:prstGeom prst="roundRect">
            <a:avLst>
              <a:gd name="adj" fmla="val 16071"/>
            </a:avLst>
          </a:prstGeom>
          <a:solidFill>
            <a:srgbClr val="5B3FA0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1005840" y="2240280"/>
            <a:ext cx="512064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01</a:t>
            </a:r>
            <a:endParaRPr lang="en-US" sz="1600" dirty="0"/>
          </a:p>
        </p:txBody>
      </p:sp>
      <p:sp>
        <p:nvSpPr>
          <p:cNvPr id="6" name="Text 4"/>
          <p:cNvSpPr txBox="1"/>
          <p:nvPr/>
        </p:nvSpPr>
        <p:spPr>
          <a:xfrm>
            <a:off x="1005840" y="2971800"/>
            <a:ext cx="2783738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2200" b="1" dirty="0">
                <a:solidFill>
                  <a:srgbClr val="14233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patch提取断言</a:t>
            </a:r>
            <a:endParaRPr lang="en-US" sz="2200" dirty="0"/>
          </a:p>
        </p:txBody>
      </p:sp>
      <p:sp>
        <p:nvSpPr>
          <p:cNvPr id="7" name="deliverable 2"/>
          <p:cNvSpPr/>
          <p:nvPr/>
        </p:nvSpPr>
        <p:spPr>
          <a:xfrm>
            <a:off x="4383938" y="1920240"/>
            <a:ext cx="3423818" cy="2240280"/>
          </a:xfrm>
          <a:prstGeom prst="roundRect">
            <a:avLst>
              <a:gd name="adj" fmla="val 4082"/>
            </a:avLst>
          </a:prstGeom>
          <a:solidFill>
            <a:srgbClr val="F2F5F9"/>
          </a:solidFill>
          <a:ln/>
        </p:spPr>
      </p:sp>
      <p:sp>
        <p:nvSpPr>
          <p:cNvPr id="8" name="chip 02"/>
          <p:cNvSpPr/>
          <p:nvPr/>
        </p:nvSpPr>
        <p:spPr>
          <a:xfrm>
            <a:off x="4703978" y="2240280"/>
            <a:ext cx="512064" cy="512064"/>
          </a:xfrm>
          <a:prstGeom prst="roundRect">
            <a:avLst>
              <a:gd name="adj" fmla="val 16071"/>
            </a:avLst>
          </a:prstGeom>
          <a:solidFill>
            <a:srgbClr val="2E9E4F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4703978" y="2240280"/>
            <a:ext cx="512064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02</a:t>
            </a:r>
            <a:endParaRPr lang="en-US" sz="1600" dirty="0"/>
          </a:p>
        </p:txBody>
      </p:sp>
      <p:sp>
        <p:nvSpPr>
          <p:cNvPr id="10" name="Text 8"/>
          <p:cNvSpPr txBox="1"/>
          <p:nvPr/>
        </p:nvSpPr>
        <p:spPr>
          <a:xfrm>
            <a:off x="4703978" y="2971800"/>
            <a:ext cx="2783738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2200" b="1" dirty="0">
                <a:solidFill>
                  <a:srgbClr val="14233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输入shape表</a:t>
            </a:r>
            <a:endParaRPr lang="en-US" sz="2200" dirty="0"/>
          </a:p>
        </p:txBody>
      </p:sp>
      <p:sp>
        <p:nvSpPr>
          <p:cNvPr id="11" name="deliverable 3"/>
          <p:cNvSpPr/>
          <p:nvPr/>
        </p:nvSpPr>
        <p:spPr>
          <a:xfrm>
            <a:off x="8082077" y="1920240"/>
            <a:ext cx="3423818" cy="2240280"/>
          </a:xfrm>
          <a:prstGeom prst="roundRect">
            <a:avLst>
              <a:gd name="adj" fmla="val 4082"/>
            </a:avLst>
          </a:prstGeom>
          <a:solidFill>
            <a:srgbClr val="F2F5F9"/>
          </a:solidFill>
          <a:ln/>
        </p:spPr>
      </p:sp>
      <p:sp>
        <p:nvSpPr>
          <p:cNvPr id="12" name="chip 03"/>
          <p:cNvSpPr/>
          <p:nvPr/>
        </p:nvSpPr>
        <p:spPr>
          <a:xfrm>
            <a:off x="8402117" y="2240280"/>
            <a:ext cx="512064" cy="512064"/>
          </a:xfrm>
          <a:prstGeom prst="roundRect">
            <a:avLst>
              <a:gd name="adj" fmla="val 16071"/>
            </a:avLst>
          </a:prstGeom>
          <a:solidFill>
            <a:srgbClr val="D33A2C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8402117" y="2240280"/>
            <a:ext cx="512064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03</a:t>
            </a:r>
            <a:endParaRPr lang="en-US" sz="1600" dirty="0"/>
          </a:p>
        </p:txBody>
      </p:sp>
      <p:sp>
        <p:nvSpPr>
          <p:cNvPr id="14" name="Text 12"/>
          <p:cNvSpPr txBox="1"/>
          <p:nvPr/>
        </p:nvSpPr>
        <p:spPr>
          <a:xfrm>
            <a:off x="8402117" y="2971800"/>
            <a:ext cx="2783738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2200" b="1" dirty="0">
                <a:solidFill>
                  <a:srgbClr val="14233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空间重叠说明</a:t>
            </a:r>
            <a:endParaRPr lang="en-US" sz="2200" dirty="0"/>
          </a:p>
        </p:txBody>
      </p:sp>
      <p:sp>
        <p:nvSpPr>
          <p:cNvPr id="15" name="Shape 13"/>
          <p:cNvSpPr/>
          <p:nvPr/>
        </p:nvSpPr>
        <p:spPr>
          <a:xfrm>
            <a:off x="685800" y="4846320"/>
            <a:ext cx="10820095" cy="0"/>
          </a:xfrm>
          <a:prstGeom prst="line">
            <a:avLst/>
          </a:prstGeom>
          <a:noFill/>
          <a:ln w="12700">
            <a:solidFill>
              <a:srgbClr val="DCE3EA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685800" y="5074920"/>
            <a:ext cx="342381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spc="100" kern="0" dirty="0">
                <a:solidFill>
                  <a:srgbClr val="5F6E8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NOTEBOOK</a:t>
            </a:r>
            <a:endParaRPr lang="en-US" sz="1300" dirty="0"/>
          </a:p>
        </p:txBody>
      </p:sp>
      <p:sp>
        <p:nvSpPr>
          <p:cNvPr id="17" name="Text 15"/>
          <p:cNvSpPr txBox="1"/>
          <p:nvPr/>
        </p:nvSpPr>
        <p:spPr>
          <a:xfrm>
            <a:off x="685800" y="5440680"/>
            <a:ext cx="3423818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300" dirty="0">
                <a:solidFill>
                  <a:srgbClr val="14233A"/>
                </a:solidFill>
                <a:latin typeface="Consolas" pitchFamily="34" charset="0"/>
                <a:ea typeface="Microsoft YaHei" pitchFamily="34" charset="-122"/>
                <a:cs typeface="Consolas" pitchFamily="34" charset="-120"/>
              </a:rPr>
              <a:t>11_patch_hybridsn_classroom.ipynb</a:t>
            </a:r>
            <a:endParaRPr lang="en-US" sz="1300" dirty="0"/>
          </a:p>
        </p:txBody>
      </p:sp>
      <p:sp>
        <p:nvSpPr>
          <p:cNvPr id="18" name="Text 16"/>
          <p:cNvSpPr txBox="1"/>
          <p:nvPr/>
        </p:nvSpPr>
        <p:spPr>
          <a:xfrm>
            <a:off x="4383938" y="5074920"/>
            <a:ext cx="342381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spc="100" kern="0" dirty="0">
                <a:solidFill>
                  <a:srgbClr val="5F6E8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定位 CELL</a:t>
            </a:r>
            <a:endParaRPr lang="en-US" sz="1300" dirty="0"/>
          </a:p>
        </p:txBody>
      </p:sp>
      <p:sp>
        <p:nvSpPr>
          <p:cNvPr id="19" name="Text 17"/>
          <p:cNvSpPr txBox="1"/>
          <p:nvPr/>
        </p:nvSpPr>
        <p:spPr>
          <a:xfrm>
            <a:off x="4383938" y="5440680"/>
            <a:ext cx="3423818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300" dirty="0">
                <a:solidFill>
                  <a:srgbClr val="14233A"/>
                </a:solidFill>
                <a:latin typeface="Consolas" pitchFamily="34" charset="0"/>
                <a:ea typeface="Microsoft YaHei" pitchFamily="34" charset="-122"/>
                <a:cs typeface="Consolas" pitchFamily="34" charset="-120"/>
              </a:rPr>
              <a:t>toy-patches · reshape-check</a:t>
            </a:r>
            <a:endParaRPr lang="en-US" sz="1300" dirty="0"/>
          </a:p>
        </p:txBody>
      </p:sp>
      <p:sp>
        <p:nvSpPr>
          <p:cNvPr id="20" name="Text 18"/>
          <p:cNvSpPr txBox="1"/>
          <p:nvPr/>
        </p:nvSpPr>
        <p:spPr>
          <a:xfrm>
            <a:off x="8082077" y="5074920"/>
            <a:ext cx="342381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spc="100" kern="0" dirty="0">
                <a:solidFill>
                  <a:srgbClr val="5F6E8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作业</a:t>
            </a:r>
            <a:endParaRPr lang="en-US" sz="1300" dirty="0"/>
          </a:p>
        </p:txBody>
      </p:sp>
      <p:sp>
        <p:nvSpPr>
          <p:cNvPr id="21" name="Text 19"/>
          <p:cNvSpPr txBox="1"/>
          <p:nvPr/>
        </p:nvSpPr>
        <p:spPr>
          <a:xfrm>
            <a:off x="8082077" y="5440680"/>
            <a:ext cx="3423818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500" dirty="0">
                <a:solidFill>
                  <a:srgbClr val="14233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A03 · 完整示例 / 填空 / 迁移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682935" y="384048"/>
            <a:ext cx="8229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 anchor="ctr"/>
          <a:lstStyle>
            <a:lvl1pPr>
              <a:defRPr sz="1100">
                <a:solidFill>
                  <a:srgbClr val="5F6E80"/>
                </a:solidFill>
                <a:latin typeface="Microsoft YaHei"/>
                <a:ea typeface="Microsoft YaHei"/>
                <a:cs typeface="Microsoft YaHei"/>
              </a:defRPr>
            </a:lvl1pPr>
          </a:lstStyle>
          <a:p>
            <a:pPr algn="r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3"/>
          <p:cNvSpPr/>
          <p:nvPr>
            <p:ph idx="103" type="title" hasCustomPrompt="1"/>
          </p:nvPr>
        </p:nvSpPr>
        <p:spPr>
          <a:xfrm>
            <a:off x="685800" y="868680"/>
            <a:ext cx="1082009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14233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邻域是输入，中心是监督</a:t>
            </a:r>
            <a:endParaRPr lang="en-US" sz="3000" dirty="0"/>
          </a:p>
        </p:txBody>
      </p:sp>
      <p:sp>
        <p:nvSpPr>
          <p:cNvPr id="3" name="figure frame"/>
          <p:cNvSpPr/>
          <p:nvPr/>
        </p:nvSpPr>
        <p:spPr>
          <a:xfrm>
            <a:off x="685800" y="1874520"/>
            <a:ext cx="10820095" cy="2684126"/>
          </a:xfrm>
          <a:prstGeom prst="roundRect">
            <a:avLst>
              <a:gd name="adj" fmla="val 2725"/>
            </a:avLst>
          </a:prstGeom>
          <a:solidFill>
            <a:srgbClr val="F2F5F9"/>
          </a:solidFill>
          <a:ln/>
        </p:spPr>
      </p:sp>
      <p:pic>
        <p:nvPicPr>
          <p:cNvPr id="4" name="Image 0" descr="11_patch_hybridsn_classroom-toy-patches-0-cc6dc127fb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50392" y="2039112"/>
            <a:ext cx="10490911" cy="2354942"/>
          </a:xfrm>
          <a:prstGeom prst="rect">
            <a:avLst/>
          </a:prstGeom>
        </p:spPr>
      </p:pic>
      <p:sp>
        <p:nvSpPr>
          <p:cNvPr id="5" name="chip 01"/>
          <p:cNvSpPr/>
          <p:nvPr/>
        </p:nvSpPr>
        <p:spPr>
          <a:xfrm>
            <a:off x="685800" y="4915262"/>
            <a:ext cx="365760" cy="365760"/>
          </a:xfrm>
          <a:prstGeom prst="roundRect">
            <a:avLst>
              <a:gd name="adj" fmla="val 22500"/>
            </a:avLst>
          </a:prstGeom>
          <a:solidFill>
            <a:srgbClr val="5B3FA0"/>
          </a:solidFill>
          <a:ln/>
        </p:spPr>
      </p:sp>
      <p:sp>
        <p:nvSpPr>
          <p:cNvPr id="6" name="Text 3"/>
          <p:cNvSpPr txBox="1"/>
          <p:nvPr/>
        </p:nvSpPr>
        <p:spPr>
          <a:xfrm>
            <a:off x="685800" y="491526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01</a:t>
            </a:r>
            <a:endParaRPr lang="en-US" sz="1300" dirty="0"/>
          </a:p>
        </p:txBody>
      </p:sp>
      <p:sp>
        <p:nvSpPr>
          <p:cNvPr id="7" name="Text 4"/>
          <p:cNvSpPr txBox="1"/>
          <p:nvPr/>
        </p:nvSpPr>
        <p:spPr>
          <a:xfrm>
            <a:off x="1197864" y="4878686"/>
            <a:ext cx="2881274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600" dirty="0">
                <a:solidFill>
                  <a:srgbClr val="14233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编号toy数组可手算</a:t>
            </a:r>
            <a:endParaRPr lang="en-US" sz="1600" dirty="0"/>
          </a:p>
        </p:txBody>
      </p:sp>
      <p:sp>
        <p:nvSpPr>
          <p:cNvPr id="8" name="chip 02"/>
          <p:cNvSpPr/>
          <p:nvPr/>
        </p:nvSpPr>
        <p:spPr>
          <a:xfrm>
            <a:off x="4399178" y="4915262"/>
            <a:ext cx="365760" cy="365760"/>
          </a:xfrm>
          <a:prstGeom prst="roundRect">
            <a:avLst>
              <a:gd name="adj" fmla="val 22500"/>
            </a:avLst>
          </a:prstGeom>
          <a:solidFill>
            <a:srgbClr val="2E9E4F"/>
          </a:solidFill>
          <a:ln/>
        </p:spPr>
      </p:sp>
      <p:sp>
        <p:nvSpPr>
          <p:cNvPr id="9" name="Text 6"/>
          <p:cNvSpPr txBox="1"/>
          <p:nvPr/>
        </p:nvSpPr>
        <p:spPr>
          <a:xfrm>
            <a:off x="4399178" y="491526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02</a:t>
            </a:r>
            <a:endParaRPr lang="en-US" sz="1300" dirty="0"/>
          </a:p>
        </p:txBody>
      </p:sp>
      <p:sp>
        <p:nvSpPr>
          <p:cNvPr id="10" name="Text 7"/>
          <p:cNvSpPr txBox="1"/>
          <p:nvPr/>
        </p:nvSpPr>
        <p:spPr>
          <a:xfrm>
            <a:off x="4911242" y="4878686"/>
            <a:ext cx="2881274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600" dirty="0">
                <a:solidFill>
                  <a:srgbClr val="14233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中心标签随原坐标保持</a:t>
            </a:r>
            <a:endParaRPr lang="en-US" sz="1600" dirty="0"/>
          </a:p>
        </p:txBody>
      </p:sp>
      <p:sp>
        <p:nvSpPr>
          <p:cNvPr id="11" name="chip 03"/>
          <p:cNvSpPr/>
          <p:nvPr/>
        </p:nvSpPr>
        <p:spPr>
          <a:xfrm>
            <a:off x="8112557" y="4915262"/>
            <a:ext cx="365760" cy="365760"/>
          </a:xfrm>
          <a:prstGeom prst="roundRect">
            <a:avLst>
              <a:gd name="adj" fmla="val 22500"/>
            </a:avLst>
          </a:prstGeom>
          <a:solidFill>
            <a:srgbClr val="D33A2C"/>
          </a:solidFill>
          <a:ln/>
        </p:spPr>
      </p:sp>
      <p:sp>
        <p:nvSpPr>
          <p:cNvPr id="12" name="Text 9"/>
          <p:cNvSpPr txBox="1"/>
          <p:nvPr/>
        </p:nvSpPr>
        <p:spPr>
          <a:xfrm>
            <a:off x="8112557" y="491526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03</a:t>
            </a:r>
            <a:endParaRPr lang="en-US" sz="1300" dirty="0"/>
          </a:p>
        </p:txBody>
      </p:sp>
      <p:sp>
        <p:nvSpPr>
          <p:cNvPr id="13" name="Text 10"/>
          <p:cNvSpPr txBox="1"/>
          <p:nvPr/>
        </p:nvSpPr>
        <p:spPr>
          <a:xfrm>
            <a:off x="8624621" y="4878686"/>
            <a:ext cx="2881274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600" dirty="0">
                <a:solidFill>
                  <a:srgbClr val="14233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四角缺失观测使用明确padding</a:t>
            </a:r>
            <a:endParaRPr lang="en-US" sz="1600" dirty="0"/>
          </a:p>
        </p:txBody>
      </p:sp>
      <p:sp>
        <p:nvSpPr>
          <p:cNvPr id="14" name="Text 11"/>
          <p:cNvSpPr txBox="1"/>
          <p:nvPr/>
        </p:nvSpPr>
        <p:spPr>
          <a:xfrm>
            <a:off x="685800" y="6400800"/>
            <a:ext cx="10820095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5F6E80"/>
                </a:solidFill>
                <a:latin typeface="Consolas" pitchFamily="34" charset="0"/>
                <a:ea typeface="Microsoft YaHei" pitchFamily="34" charset="-122"/>
                <a:cs typeface="Consolas" pitchFamily="34" charset="-120"/>
              </a:rPr>
              <a:t>11_patch_hybridsn_classroom.ipynb  ·  cell toy-patches</a:t>
            </a:r>
            <a:endParaRPr lang="en-US" sz="9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682935" y="384048"/>
            <a:ext cx="8229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 anchor="ctr"/>
          <a:lstStyle>
            <a:lvl1pPr>
              <a:defRPr sz="1100">
                <a:solidFill>
                  <a:srgbClr val="5F6E80"/>
                </a:solidFill>
                <a:latin typeface="Microsoft YaHei"/>
                <a:ea typeface="Microsoft YaHei"/>
                <a:cs typeface="Microsoft YaHei"/>
              </a:defRPr>
            </a:lvl1pPr>
          </a:lstStyle>
          <a:p>
            <a:pPr algn="r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3"/>
          <p:cNvSpPr/>
          <p:nvPr>
            <p:ph idx="103" type="title" hasCustomPrompt="1"/>
          </p:nvPr>
        </p:nvSpPr>
        <p:spPr>
          <a:xfrm>
            <a:off x="685800" y="868680"/>
            <a:ext cx="1082009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14233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先在toy数组上手算</a:t>
            </a:r>
            <a:endParaRPr lang="en-US" sz="3000" dirty="0"/>
          </a:p>
        </p:txBody>
      </p:sp>
      <p:sp>
        <p:nvSpPr>
          <p:cNvPr id="3" name="chip 01"/>
          <p:cNvSpPr/>
          <p:nvPr/>
        </p:nvSpPr>
        <p:spPr>
          <a:xfrm>
            <a:off x="685800" y="2002536"/>
            <a:ext cx="420624" cy="420624"/>
          </a:xfrm>
          <a:prstGeom prst="roundRect">
            <a:avLst>
              <a:gd name="adj" fmla="val 19565"/>
            </a:avLst>
          </a:prstGeom>
          <a:solidFill>
            <a:srgbClr val="5B3FA0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685800" y="2002536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01</a:t>
            </a:r>
            <a:endParaRPr lang="en-US" sz="1300" dirty="0"/>
          </a:p>
        </p:txBody>
      </p:sp>
      <p:sp>
        <p:nvSpPr>
          <p:cNvPr id="5" name="Text 3"/>
          <p:cNvSpPr txBox="1"/>
          <p:nvPr/>
        </p:nvSpPr>
        <p:spPr>
          <a:xfrm>
            <a:off x="1307592" y="1965960"/>
            <a:ext cx="4270248" cy="8808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900" dirty="0">
                <a:solidFill>
                  <a:srgbClr val="14233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5×5数组按行编号</a:t>
            </a:r>
            <a:endParaRPr lang="en-US" sz="1900" dirty="0"/>
          </a:p>
        </p:txBody>
      </p:sp>
      <p:sp>
        <p:nvSpPr>
          <p:cNvPr id="6" name="chip 02"/>
          <p:cNvSpPr/>
          <p:nvPr/>
        </p:nvSpPr>
        <p:spPr>
          <a:xfrm>
            <a:off x="685800" y="2993136"/>
            <a:ext cx="420624" cy="420624"/>
          </a:xfrm>
          <a:prstGeom prst="roundRect">
            <a:avLst>
              <a:gd name="adj" fmla="val 19565"/>
            </a:avLst>
          </a:prstGeom>
          <a:solidFill>
            <a:srgbClr val="2E9E4F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685800" y="2993136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02</a:t>
            </a:r>
            <a:endParaRPr lang="en-US" sz="1300" dirty="0"/>
          </a:p>
        </p:txBody>
      </p:sp>
      <p:sp>
        <p:nvSpPr>
          <p:cNvPr id="8" name="Text 6"/>
          <p:cNvSpPr txBox="1"/>
          <p:nvPr/>
        </p:nvSpPr>
        <p:spPr>
          <a:xfrm>
            <a:off x="1307592" y="2956560"/>
            <a:ext cx="4270248" cy="8808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900" dirty="0">
                <a:solidFill>
                  <a:srgbClr val="14233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中心(2,2)切3×3</a:t>
            </a:r>
            <a:endParaRPr lang="en-US" sz="1900" dirty="0"/>
          </a:p>
        </p:txBody>
      </p:sp>
      <p:sp>
        <p:nvSpPr>
          <p:cNvPr id="9" name="chip 03"/>
          <p:cNvSpPr/>
          <p:nvPr/>
        </p:nvSpPr>
        <p:spPr>
          <a:xfrm>
            <a:off x="685800" y="3983736"/>
            <a:ext cx="420624" cy="420624"/>
          </a:xfrm>
          <a:prstGeom prst="roundRect">
            <a:avLst>
              <a:gd name="adj" fmla="val 19565"/>
            </a:avLst>
          </a:prstGeom>
          <a:solidFill>
            <a:srgbClr val="D33A2C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685800" y="3983736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03</a:t>
            </a:r>
            <a:endParaRPr lang="en-US" sz="1300" dirty="0"/>
          </a:p>
        </p:txBody>
      </p:sp>
      <p:sp>
        <p:nvSpPr>
          <p:cNvPr id="11" name="Text 9"/>
          <p:cNvSpPr txBox="1"/>
          <p:nvPr/>
        </p:nvSpPr>
        <p:spPr>
          <a:xfrm>
            <a:off x="1307592" y="3947160"/>
            <a:ext cx="4270248" cy="8808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900" dirty="0">
                <a:solidFill>
                  <a:srgbClr val="14233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边角需要明确padding规则</a:t>
            </a:r>
            <a:endParaRPr lang="en-US" sz="1900" dirty="0"/>
          </a:p>
        </p:txBody>
      </p:sp>
      <p:sp>
        <p:nvSpPr>
          <p:cNvPr id="12" name="formula card"/>
          <p:cNvSpPr/>
          <p:nvPr/>
        </p:nvSpPr>
        <p:spPr>
          <a:xfrm>
            <a:off x="5989320" y="1874520"/>
            <a:ext cx="5513832" cy="3017520"/>
          </a:xfrm>
          <a:prstGeom prst="roundRect">
            <a:avLst>
              <a:gd name="adj" fmla="val 3030"/>
            </a:avLst>
          </a:prstGeom>
          <a:solidFill>
            <a:srgbClr val="F2F5F9"/>
          </a:solidFill>
          <a:ln/>
        </p:spPr>
      </p:sp>
      <p:pic>
        <p:nvPicPr>
          <p:cNvPr id="13" name="Image 0" descr="formula: p = \frac{s-1}{2} \qquad \mathrm{center} = (r{+}p,\ c{+}p)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277356" y="3162721"/>
            <a:ext cx="4937760" cy="441118"/>
          </a:xfrm>
          <a:prstGeom prst="rect">
            <a:avLst/>
          </a:prstGeom>
        </p:spPr>
      </p:pic>
      <p:sp>
        <p:nvSpPr>
          <p:cNvPr id="14" name="run panel"/>
          <p:cNvSpPr/>
          <p:nvPr/>
        </p:nvSpPr>
        <p:spPr>
          <a:xfrm>
            <a:off x="685800" y="5285232"/>
            <a:ext cx="10820095" cy="987552"/>
          </a:xfrm>
          <a:prstGeom prst="roundRect">
            <a:avLst>
              <a:gd name="adj" fmla="val 9259"/>
            </a:avLst>
          </a:prstGeom>
          <a:solidFill>
            <a:srgbClr val="0D1B2E"/>
          </a:solidFill>
          <a:ln/>
        </p:spPr>
      </p:sp>
      <p:sp>
        <p:nvSpPr>
          <p:cNvPr id="15" name="Text 12"/>
          <p:cNvSpPr txBox="1"/>
          <p:nvPr/>
        </p:nvSpPr>
        <p:spPr>
          <a:xfrm>
            <a:off x="1005840" y="5440680"/>
            <a:ext cx="10180015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F5B54A"/>
                </a:solidFill>
                <a:latin typeface="Consolas" pitchFamily="34" charset="0"/>
                <a:ea typeface="Microsoft YaHei" pitchFamily="34" charset="-122"/>
                <a:cs typeface="Consolas" pitchFamily="34" charset="-120"/>
              </a:rPr>
              <a:t>&gt;&gt;&gt; </a:t>
            </a:r>
            <a:pPr indent="0" marL="0">
              <a:buNone/>
            </a:pPr>
            <a:r>
              <a:rPr lang="en-US" sz="1600" dirty="0">
                <a:solidFill>
                  <a:srgbClr val="D7E3F0"/>
                </a:solidFill>
                <a:latin typeface="Consolas" pitchFamily="34" charset="0"/>
                <a:ea typeface="Microsoft YaHei" pitchFamily="34" charset="-122"/>
                <a:cs typeface="Consolas" pitchFamily="34" charset="-120"/>
              </a:rPr>
              <a:t>patches[2,0,1,1].item()</a:t>
            </a:r>
            <a:endParaRPr lang="en-US" sz="1600" dirty="0"/>
          </a:p>
        </p:txBody>
      </p:sp>
      <p:sp>
        <p:nvSpPr>
          <p:cNvPr id="16" name="Text 13"/>
          <p:cNvSpPr txBox="1"/>
          <p:nvPr/>
        </p:nvSpPr>
        <p:spPr>
          <a:xfrm>
            <a:off x="1005840" y="5815584"/>
            <a:ext cx="10180015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F5B54A"/>
                </a:solidFill>
                <a:latin typeface="Consolas" pitchFamily="34" charset="0"/>
                <a:ea typeface="Microsoft YaHei" pitchFamily="34" charset="-122"/>
                <a:cs typeface="Consolas" pitchFamily="34" charset="-120"/>
              </a:rPr>
              <a:t>12.0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682935" y="384048"/>
            <a:ext cx="8229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 anchor="ctr"/>
          <a:lstStyle>
            <a:lvl1pPr>
              <a:defRPr sz="1100">
                <a:solidFill>
                  <a:srgbClr val="5F6E80"/>
                </a:solidFill>
                <a:latin typeface="Microsoft YaHei"/>
                <a:ea typeface="Microsoft YaHei"/>
                <a:cs typeface="Microsoft YaHei"/>
              </a:defRPr>
            </a:lvl1pPr>
          </a:lstStyle>
          <a:p>
            <a:pPr algn="r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3"/>
          <p:cNvSpPr/>
          <p:nvPr>
            <p:ph idx="103" type="title" hasCustomPrompt="1"/>
          </p:nvPr>
        </p:nvSpPr>
        <p:spPr>
          <a:xfrm>
            <a:off x="685800" y="868680"/>
            <a:ext cx="1082009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14233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三次shape变化</a:t>
            </a:r>
            <a:endParaRPr lang="en-US" sz="3000" dirty="0"/>
          </a:p>
        </p:txBody>
      </p:sp>
      <p:sp>
        <p:nvSpPr>
          <p:cNvPr id="3" name="chip 01"/>
          <p:cNvSpPr/>
          <p:nvPr/>
        </p:nvSpPr>
        <p:spPr>
          <a:xfrm>
            <a:off x="685800" y="2002536"/>
            <a:ext cx="420624" cy="420624"/>
          </a:xfrm>
          <a:prstGeom prst="roundRect">
            <a:avLst>
              <a:gd name="adj" fmla="val 19565"/>
            </a:avLst>
          </a:prstGeom>
          <a:solidFill>
            <a:srgbClr val="5B3FA0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685800" y="2002536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01</a:t>
            </a:r>
            <a:endParaRPr lang="en-US" sz="1300" dirty="0"/>
          </a:p>
        </p:txBody>
      </p:sp>
      <p:sp>
        <p:nvSpPr>
          <p:cNvPr id="5" name="Text 3"/>
          <p:cNvSpPr txBox="1"/>
          <p:nvPr/>
        </p:nvSpPr>
        <p:spPr>
          <a:xfrm>
            <a:off x="1307592" y="1965960"/>
            <a:ext cx="5779008" cy="8808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2100" dirty="0">
                <a:solidFill>
                  <a:srgbClr val="14233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HWC是数据读取布局</a:t>
            </a:r>
            <a:endParaRPr lang="en-US" sz="2100" dirty="0"/>
          </a:p>
        </p:txBody>
      </p:sp>
      <p:sp>
        <p:nvSpPr>
          <p:cNvPr id="6" name="chip 02"/>
          <p:cNvSpPr/>
          <p:nvPr/>
        </p:nvSpPr>
        <p:spPr>
          <a:xfrm>
            <a:off x="685800" y="2993136"/>
            <a:ext cx="420624" cy="420624"/>
          </a:xfrm>
          <a:prstGeom prst="roundRect">
            <a:avLst>
              <a:gd name="adj" fmla="val 19565"/>
            </a:avLst>
          </a:prstGeom>
          <a:solidFill>
            <a:srgbClr val="2E9E4F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685800" y="2993136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02</a:t>
            </a:r>
            <a:endParaRPr lang="en-US" sz="1300" dirty="0"/>
          </a:p>
        </p:txBody>
      </p:sp>
      <p:sp>
        <p:nvSpPr>
          <p:cNvPr id="8" name="Text 6"/>
          <p:cNvSpPr txBox="1"/>
          <p:nvPr/>
        </p:nvSpPr>
        <p:spPr>
          <a:xfrm>
            <a:off x="1307592" y="2956560"/>
            <a:ext cx="5779008" cy="8808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2100" dirty="0">
                <a:solidFill>
                  <a:srgbClr val="14233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CHW是2D卷积布局</a:t>
            </a:r>
            <a:endParaRPr lang="en-US" sz="2100" dirty="0"/>
          </a:p>
        </p:txBody>
      </p:sp>
      <p:sp>
        <p:nvSpPr>
          <p:cNvPr id="9" name="chip 03"/>
          <p:cNvSpPr/>
          <p:nvPr/>
        </p:nvSpPr>
        <p:spPr>
          <a:xfrm>
            <a:off x="685800" y="3983736"/>
            <a:ext cx="420624" cy="420624"/>
          </a:xfrm>
          <a:prstGeom prst="roundRect">
            <a:avLst>
              <a:gd name="adj" fmla="val 19565"/>
            </a:avLst>
          </a:prstGeom>
          <a:solidFill>
            <a:srgbClr val="D33A2C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685800" y="3983736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03</a:t>
            </a:r>
            <a:endParaRPr lang="en-US" sz="1300" dirty="0"/>
          </a:p>
        </p:txBody>
      </p:sp>
      <p:sp>
        <p:nvSpPr>
          <p:cNvPr id="11" name="Text 9"/>
          <p:cNvSpPr txBox="1"/>
          <p:nvPr/>
        </p:nvSpPr>
        <p:spPr>
          <a:xfrm>
            <a:off x="1307592" y="3947160"/>
            <a:ext cx="5779008" cy="8808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2100" dirty="0">
                <a:solidFill>
                  <a:srgbClr val="14233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batch维由loader增加</a:t>
            </a:r>
            <a:endParaRPr lang="en-US" sz="2100" dirty="0"/>
          </a:p>
        </p:txBody>
      </p:sp>
      <p:sp>
        <p:nvSpPr>
          <p:cNvPr id="12" name="keywords"/>
          <p:cNvSpPr/>
          <p:nvPr/>
        </p:nvSpPr>
        <p:spPr>
          <a:xfrm>
            <a:off x="7635240" y="1874520"/>
            <a:ext cx="3867912" cy="3154680"/>
          </a:xfrm>
          <a:prstGeom prst="roundRect">
            <a:avLst>
              <a:gd name="adj" fmla="val 2899"/>
            </a:avLst>
          </a:prstGeom>
          <a:solidFill>
            <a:srgbClr val="F2F5F9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7955280" y="2148840"/>
            <a:ext cx="3200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spc="100" kern="0" dirty="0">
                <a:solidFill>
                  <a:srgbClr val="2F5BB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关键词</a:t>
            </a:r>
            <a:endParaRPr lang="en-US" sz="1300" dirty="0"/>
          </a:p>
        </p:txBody>
      </p:sp>
      <p:sp>
        <p:nvSpPr>
          <p:cNvPr id="14" name="Shape 12"/>
          <p:cNvSpPr/>
          <p:nvPr/>
        </p:nvSpPr>
        <p:spPr>
          <a:xfrm>
            <a:off x="8101584" y="3017520"/>
            <a:ext cx="0" cy="1554480"/>
          </a:xfrm>
          <a:prstGeom prst="line">
            <a:avLst/>
          </a:prstGeom>
          <a:noFill/>
          <a:ln w="19050">
            <a:solidFill>
              <a:srgbClr val="DCE3EA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8010144" y="2926080"/>
            <a:ext cx="182880" cy="182880"/>
          </a:xfrm>
          <a:prstGeom prst="ellipse">
            <a:avLst/>
          </a:prstGeom>
          <a:solidFill>
            <a:srgbClr val="5B3FA0"/>
          </a:solidFill>
          <a:ln w="25400">
            <a:solidFill>
              <a:srgbClr val="F2F5F9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8412480" y="2834640"/>
            <a:ext cx="2926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4233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(9,9,12)</a:t>
            </a:r>
            <a:endParaRPr lang="en-US" sz="1600" dirty="0"/>
          </a:p>
        </p:txBody>
      </p:sp>
      <p:sp>
        <p:nvSpPr>
          <p:cNvPr id="17" name="Shape 15"/>
          <p:cNvSpPr/>
          <p:nvPr/>
        </p:nvSpPr>
        <p:spPr>
          <a:xfrm>
            <a:off x="8010144" y="3703320"/>
            <a:ext cx="182880" cy="182880"/>
          </a:xfrm>
          <a:prstGeom prst="ellipse">
            <a:avLst/>
          </a:prstGeom>
          <a:solidFill>
            <a:srgbClr val="2E9E4F"/>
          </a:solidFill>
          <a:ln w="25400">
            <a:solidFill>
              <a:srgbClr val="F2F5F9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8412480" y="3611880"/>
            <a:ext cx="2926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4233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(12,9,9)</a:t>
            </a:r>
            <a:endParaRPr lang="en-US" sz="1600" dirty="0"/>
          </a:p>
        </p:txBody>
      </p:sp>
      <p:sp>
        <p:nvSpPr>
          <p:cNvPr id="19" name="Shape 17"/>
          <p:cNvSpPr/>
          <p:nvPr/>
        </p:nvSpPr>
        <p:spPr>
          <a:xfrm>
            <a:off x="8010144" y="4480560"/>
            <a:ext cx="182880" cy="182880"/>
          </a:xfrm>
          <a:prstGeom prst="ellipse">
            <a:avLst/>
          </a:prstGeom>
          <a:solidFill>
            <a:srgbClr val="D33A2C"/>
          </a:solidFill>
          <a:ln w="25400">
            <a:solidFill>
              <a:srgbClr val="F2F5F9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8412480" y="4389120"/>
            <a:ext cx="2926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4233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(B,12,9,9)</a:t>
            </a:r>
            <a:endParaRPr lang="en-US" sz="1600" dirty="0"/>
          </a:p>
        </p:txBody>
      </p:sp>
      <p:sp>
        <p:nvSpPr>
          <p:cNvPr id="21" name="run panel"/>
          <p:cNvSpPr/>
          <p:nvPr/>
        </p:nvSpPr>
        <p:spPr>
          <a:xfrm>
            <a:off x="685800" y="5285232"/>
            <a:ext cx="10820095" cy="987552"/>
          </a:xfrm>
          <a:prstGeom prst="roundRect">
            <a:avLst>
              <a:gd name="adj" fmla="val 9259"/>
            </a:avLst>
          </a:prstGeom>
          <a:solidFill>
            <a:srgbClr val="0D1B2E"/>
          </a:solidFill>
          <a:ln/>
        </p:spPr>
      </p:sp>
      <p:sp>
        <p:nvSpPr>
          <p:cNvPr id="22" name="Text 20"/>
          <p:cNvSpPr txBox="1"/>
          <p:nvPr/>
        </p:nvSpPr>
        <p:spPr>
          <a:xfrm>
            <a:off x="1005840" y="5440680"/>
            <a:ext cx="10180015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F5B54A"/>
                </a:solidFill>
                <a:latin typeface="Consolas" pitchFamily="34" charset="0"/>
                <a:ea typeface="Microsoft YaHei" pitchFamily="34" charset="-122"/>
                <a:cs typeface="Consolas" pitchFamily="34" charset="-120"/>
              </a:rPr>
              <a:t>&gt;&gt;&gt; </a:t>
            </a:r>
            <a:pPr indent="0" marL="0">
              <a:buNone/>
            </a:pPr>
            <a:r>
              <a:rPr lang="en-US" sz="1600" dirty="0">
                <a:solidFill>
                  <a:srgbClr val="D7E3F0"/>
                </a:solidFill>
                <a:latin typeface="Consolas" pitchFamily="34" charset="0"/>
                <a:ea typeface="Microsoft YaHei" pitchFamily="34" charset="-122"/>
                <a:cs typeface="Consolas" pitchFamily="34" charset="-120"/>
              </a:rPr>
              <a:t>np.zeros((9,9,12)).transpose(2,0,1).shape</a:t>
            </a:r>
            <a:endParaRPr lang="en-US" sz="1600" dirty="0"/>
          </a:p>
        </p:txBody>
      </p:sp>
      <p:sp>
        <p:nvSpPr>
          <p:cNvPr id="23" name="Text 21"/>
          <p:cNvSpPr txBox="1"/>
          <p:nvPr/>
        </p:nvSpPr>
        <p:spPr>
          <a:xfrm>
            <a:off x="1005840" y="5815584"/>
            <a:ext cx="10180015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F5B54A"/>
                </a:solidFill>
                <a:latin typeface="Consolas" pitchFamily="34" charset="0"/>
                <a:ea typeface="Microsoft YaHei" pitchFamily="34" charset="-122"/>
                <a:cs typeface="Consolas" pitchFamily="34" charset="-120"/>
              </a:rPr>
              <a:t>(12, 9, 9)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682935" y="384048"/>
            <a:ext cx="8229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 anchor="ctr"/>
          <a:lstStyle>
            <a:lvl1pPr>
              <a:defRPr sz="1100">
                <a:solidFill>
                  <a:srgbClr val="5F6E80"/>
                </a:solidFill>
                <a:latin typeface="Microsoft YaHei"/>
                <a:ea typeface="Microsoft YaHei"/>
                <a:cs typeface="Microsoft YaHei"/>
              </a:defRPr>
            </a:lvl1pPr>
          </a:lstStyle>
          <a:p>
            <a:pPr algn="r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3"/>
          <p:cNvSpPr/>
          <p:nvPr>
            <p:ph idx="103" type="title" hasCustomPrompt="1"/>
          </p:nvPr>
        </p:nvSpPr>
        <p:spPr>
          <a:xfrm>
            <a:off x="685800" y="868680"/>
            <a:ext cx="1082009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14233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零填充不是零反射率地物</a:t>
            </a:r>
            <a:endParaRPr lang="en-US" sz="3000" dirty="0"/>
          </a:p>
        </p:txBody>
      </p:sp>
      <p:sp>
        <p:nvSpPr>
          <p:cNvPr id="3" name="chip 01"/>
          <p:cNvSpPr/>
          <p:nvPr/>
        </p:nvSpPr>
        <p:spPr>
          <a:xfrm>
            <a:off x="685800" y="2002536"/>
            <a:ext cx="420624" cy="420624"/>
          </a:xfrm>
          <a:prstGeom prst="roundRect">
            <a:avLst>
              <a:gd name="adj" fmla="val 19565"/>
            </a:avLst>
          </a:prstGeom>
          <a:solidFill>
            <a:srgbClr val="5B3FA0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685800" y="2002536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01</a:t>
            </a:r>
            <a:endParaRPr lang="en-US" sz="1300" dirty="0"/>
          </a:p>
        </p:txBody>
      </p:sp>
      <p:sp>
        <p:nvSpPr>
          <p:cNvPr id="5" name="Text 3"/>
          <p:cNvSpPr txBox="1"/>
          <p:nvPr/>
        </p:nvSpPr>
        <p:spPr>
          <a:xfrm>
            <a:off x="1307592" y="1965960"/>
            <a:ext cx="5779008" cy="13228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2100" dirty="0">
                <a:solidFill>
                  <a:srgbClr val="14233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边缘观测缺失需要约定</a:t>
            </a:r>
            <a:endParaRPr lang="en-US" sz="2100" dirty="0"/>
          </a:p>
        </p:txBody>
      </p:sp>
      <p:sp>
        <p:nvSpPr>
          <p:cNvPr id="6" name="chip 02"/>
          <p:cNvSpPr/>
          <p:nvPr/>
        </p:nvSpPr>
        <p:spPr>
          <a:xfrm>
            <a:off x="685800" y="3435096"/>
            <a:ext cx="420624" cy="420624"/>
          </a:xfrm>
          <a:prstGeom prst="roundRect">
            <a:avLst>
              <a:gd name="adj" fmla="val 19565"/>
            </a:avLst>
          </a:prstGeom>
          <a:solidFill>
            <a:srgbClr val="2E9E4F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685800" y="3435096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02</a:t>
            </a:r>
            <a:endParaRPr lang="en-US" sz="1300" dirty="0"/>
          </a:p>
        </p:txBody>
      </p:sp>
      <p:sp>
        <p:nvSpPr>
          <p:cNvPr id="8" name="Text 6"/>
          <p:cNvSpPr txBox="1"/>
          <p:nvPr/>
        </p:nvSpPr>
        <p:spPr>
          <a:xfrm>
            <a:off x="1307592" y="3398520"/>
            <a:ext cx="5779008" cy="13228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2100" dirty="0">
                <a:solidFill>
                  <a:srgbClr val="14233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PCA后0表示变换空间原点</a:t>
            </a:r>
            <a:endParaRPr lang="en-US" sz="2100" dirty="0"/>
          </a:p>
        </p:txBody>
      </p:sp>
      <p:sp>
        <p:nvSpPr>
          <p:cNvPr id="9" name="chip 03"/>
          <p:cNvSpPr/>
          <p:nvPr/>
        </p:nvSpPr>
        <p:spPr>
          <a:xfrm>
            <a:off x="685800" y="4867656"/>
            <a:ext cx="420624" cy="420624"/>
          </a:xfrm>
          <a:prstGeom prst="roundRect">
            <a:avLst>
              <a:gd name="adj" fmla="val 19565"/>
            </a:avLst>
          </a:prstGeom>
          <a:solidFill>
            <a:srgbClr val="D33A2C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685800" y="4867656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03</a:t>
            </a:r>
            <a:endParaRPr lang="en-US" sz="1300" dirty="0"/>
          </a:p>
        </p:txBody>
      </p:sp>
      <p:sp>
        <p:nvSpPr>
          <p:cNvPr id="11" name="Text 9"/>
          <p:cNvSpPr txBox="1"/>
          <p:nvPr/>
        </p:nvSpPr>
        <p:spPr>
          <a:xfrm>
            <a:off x="1307592" y="4831080"/>
            <a:ext cx="5779008" cy="13228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2100" dirty="0">
                <a:solidFill>
                  <a:srgbClr val="14233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更换reflect是实验变量</a:t>
            </a:r>
            <a:endParaRPr lang="en-US" sz="2100" dirty="0"/>
          </a:p>
        </p:txBody>
      </p:sp>
      <p:sp>
        <p:nvSpPr>
          <p:cNvPr id="12" name="keywords"/>
          <p:cNvSpPr/>
          <p:nvPr/>
        </p:nvSpPr>
        <p:spPr>
          <a:xfrm>
            <a:off x="7635240" y="1874520"/>
            <a:ext cx="3867912" cy="4480560"/>
          </a:xfrm>
          <a:prstGeom prst="roundRect">
            <a:avLst>
              <a:gd name="adj" fmla="val 2364"/>
            </a:avLst>
          </a:prstGeom>
          <a:solidFill>
            <a:srgbClr val="F2F5F9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7955280" y="2148840"/>
            <a:ext cx="3200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spc="100" kern="0" dirty="0">
                <a:solidFill>
                  <a:srgbClr val="2F5BB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关键词</a:t>
            </a:r>
            <a:endParaRPr lang="en-US" sz="1300" dirty="0"/>
          </a:p>
        </p:txBody>
      </p:sp>
      <p:sp>
        <p:nvSpPr>
          <p:cNvPr id="14" name="Shape 12"/>
          <p:cNvSpPr/>
          <p:nvPr/>
        </p:nvSpPr>
        <p:spPr>
          <a:xfrm>
            <a:off x="8101584" y="3680460"/>
            <a:ext cx="0" cy="1554480"/>
          </a:xfrm>
          <a:prstGeom prst="line">
            <a:avLst/>
          </a:prstGeom>
          <a:noFill/>
          <a:ln w="19050">
            <a:solidFill>
              <a:srgbClr val="DCE3EA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8010144" y="3589020"/>
            <a:ext cx="182880" cy="182880"/>
          </a:xfrm>
          <a:prstGeom prst="ellipse">
            <a:avLst/>
          </a:prstGeom>
          <a:solidFill>
            <a:srgbClr val="5B3FA0"/>
          </a:solidFill>
          <a:ln w="25400">
            <a:solidFill>
              <a:srgbClr val="F2F5F9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8412480" y="3497580"/>
            <a:ext cx="2926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4233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Constant</a:t>
            </a:r>
            <a:endParaRPr lang="en-US" sz="1600" dirty="0"/>
          </a:p>
        </p:txBody>
      </p:sp>
      <p:sp>
        <p:nvSpPr>
          <p:cNvPr id="17" name="Shape 15"/>
          <p:cNvSpPr/>
          <p:nvPr/>
        </p:nvSpPr>
        <p:spPr>
          <a:xfrm>
            <a:off x="8010144" y="4366260"/>
            <a:ext cx="182880" cy="182880"/>
          </a:xfrm>
          <a:prstGeom prst="ellipse">
            <a:avLst/>
          </a:prstGeom>
          <a:solidFill>
            <a:srgbClr val="2E9E4F"/>
          </a:solidFill>
          <a:ln w="25400">
            <a:solidFill>
              <a:srgbClr val="F2F5F9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8412480" y="4274820"/>
            <a:ext cx="2926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4233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Reflect</a:t>
            </a:r>
            <a:endParaRPr lang="en-US" sz="1600" dirty="0"/>
          </a:p>
        </p:txBody>
      </p:sp>
      <p:sp>
        <p:nvSpPr>
          <p:cNvPr id="19" name="Shape 17"/>
          <p:cNvSpPr/>
          <p:nvPr/>
        </p:nvSpPr>
        <p:spPr>
          <a:xfrm>
            <a:off x="8010144" y="5143500"/>
            <a:ext cx="182880" cy="182880"/>
          </a:xfrm>
          <a:prstGeom prst="ellipse">
            <a:avLst/>
          </a:prstGeom>
          <a:solidFill>
            <a:srgbClr val="D33A2C"/>
          </a:solidFill>
          <a:ln w="25400">
            <a:solidFill>
              <a:srgbClr val="F2F5F9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8412480" y="5052060"/>
            <a:ext cx="2926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4233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Controlled comparison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682935" y="384048"/>
            <a:ext cx="8229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 anchor="ctr"/>
          <a:lstStyle>
            <a:lvl1pPr>
              <a:defRPr sz="1100">
                <a:solidFill>
                  <a:srgbClr val="5F6E80"/>
                </a:solidFill>
                <a:latin typeface="Microsoft YaHei"/>
                <a:ea typeface="Microsoft YaHei"/>
                <a:cs typeface="Microsoft YaHei"/>
              </a:defRPr>
            </a:lvl1pPr>
          </a:lstStyle>
          <a:p>
            <a:pPr algn="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3"/>
          <p:cNvSpPr/>
          <p:nvPr>
            <p:ph idx="103" type="title" hasCustomPrompt="1"/>
          </p:nvPr>
        </p:nvSpPr>
        <p:spPr>
          <a:xfrm>
            <a:off x="685800" y="868680"/>
            <a:ext cx="1082009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14233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回贴map必须有位置证据</a:t>
            </a:r>
            <a:endParaRPr lang="en-US" sz="3000" dirty="0"/>
          </a:p>
        </p:txBody>
      </p:sp>
      <p:sp>
        <p:nvSpPr>
          <p:cNvPr id="3" name="figure frame"/>
          <p:cNvSpPr/>
          <p:nvPr/>
        </p:nvSpPr>
        <p:spPr>
          <a:xfrm>
            <a:off x="685800" y="1874520"/>
            <a:ext cx="6720840" cy="4480560"/>
          </a:xfrm>
          <a:prstGeom prst="roundRect">
            <a:avLst>
              <a:gd name="adj" fmla="val 1633"/>
            </a:avLst>
          </a:prstGeom>
          <a:solidFill>
            <a:srgbClr val="F2F5F9"/>
          </a:solidFill>
          <a:ln/>
        </p:spPr>
      </p:sp>
      <p:pic>
        <p:nvPicPr>
          <p:cNvPr id="4" name="Image 0" descr="02_svm_baseline-maps-0-5c5ae10056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50392" y="2373603"/>
            <a:ext cx="6391656" cy="3482393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7772400" y="1920240"/>
            <a:ext cx="373075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spc="100" kern="0" dirty="0">
                <a:solidFill>
                  <a:srgbClr val="2F5BB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怎么读这张图</a:t>
            </a:r>
            <a:endParaRPr lang="en-US" sz="1300" dirty="0"/>
          </a:p>
        </p:txBody>
      </p:sp>
      <p:sp>
        <p:nvSpPr>
          <p:cNvPr id="6" name="chip 01"/>
          <p:cNvSpPr/>
          <p:nvPr/>
        </p:nvSpPr>
        <p:spPr>
          <a:xfrm>
            <a:off x="7772400" y="2459736"/>
            <a:ext cx="420624" cy="420624"/>
          </a:xfrm>
          <a:prstGeom prst="roundRect">
            <a:avLst>
              <a:gd name="adj" fmla="val 19565"/>
            </a:avLst>
          </a:prstGeom>
          <a:solidFill>
            <a:srgbClr val="5B3FA0"/>
          </a:solidFill>
          <a:ln/>
        </p:spPr>
      </p:sp>
      <p:sp>
        <p:nvSpPr>
          <p:cNvPr id="7" name="Text 4"/>
          <p:cNvSpPr txBox="1"/>
          <p:nvPr/>
        </p:nvSpPr>
        <p:spPr>
          <a:xfrm>
            <a:off x="7772400" y="2459736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01</a:t>
            </a:r>
            <a:endParaRPr lang="en-US" sz="1300" dirty="0"/>
          </a:p>
        </p:txBody>
      </p:sp>
      <p:sp>
        <p:nvSpPr>
          <p:cNvPr id="8" name="Text 5"/>
          <p:cNvSpPr txBox="1"/>
          <p:nvPr/>
        </p:nvSpPr>
        <p:spPr>
          <a:xfrm>
            <a:off x="8394192" y="2423160"/>
            <a:ext cx="3108960" cy="9875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700" dirty="0">
                <a:solidFill>
                  <a:srgbClr val="14233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预测按原坐标写回</a:t>
            </a:r>
            <a:endParaRPr lang="en-US" sz="1700" dirty="0"/>
          </a:p>
        </p:txBody>
      </p:sp>
      <p:sp>
        <p:nvSpPr>
          <p:cNvPr id="9" name="chip 02"/>
          <p:cNvSpPr/>
          <p:nvPr/>
        </p:nvSpPr>
        <p:spPr>
          <a:xfrm>
            <a:off x="7772400" y="3557016"/>
            <a:ext cx="420624" cy="420624"/>
          </a:xfrm>
          <a:prstGeom prst="roundRect">
            <a:avLst>
              <a:gd name="adj" fmla="val 19565"/>
            </a:avLst>
          </a:prstGeom>
          <a:solidFill>
            <a:srgbClr val="2E9E4F"/>
          </a:solidFill>
          <a:ln/>
        </p:spPr>
      </p:sp>
      <p:sp>
        <p:nvSpPr>
          <p:cNvPr id="10" name="Text 7"/>
          <p:cNvSpPr txBox="1"/>
          <p:nvPr/>
        </p:nvSpPr>
        <p:spPr>
          <a:xfrm>
            <a:off x="7772400" y="3557016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02</a:t>
            </a:r>
            <a:endParaRPr lang="en-US" sz="1300" dirty="0"/>
          </a:p>
        </p:txBody>
      </p:sp>
      <p:sp>
        <p:nvSpPr>
          <p:cNvPr id="11" name="Text 8"/>
          <p:cNvSpPr txBox="1"/>
          <p:nvPr/>
        </p:nvSpPr>
        <p:spPr>
          <a:xfrm>
            <a:off x="8394192" y="3520440"/>
            <a:ext cx="3108960" cy="9875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700" dirty="0">
                <a:solidFill>
                  <a:srgbClr val="14233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背景不评估，显示为黑色</a:t>
            </a:r>
            <a:endParaRPr lang="en-US" sz="1700" dirty="0"/>
          </a:p>
        </p:txBody>
      </p:sp>
      <p:sp>
        <p:nvSpPr>
          <p:cNvPr id="12" name="chip 03"/>
          <p:cNvSpPr/>
          <p:nvPr/>
        </p:nvSpPr>
        <p:spPr>
          <a:xfrm>
            <a:off x="7772400" y="4654296"/>
            <a:ext cx="420624" cy="420624"/>
          </a:xfrm>
          <a:prstGeom prst="roundRect">
            <a:avLst>
              <a:gd name="adj" fmla="val 19565"/>
            </a:avLst>
          </a:prstGeom>
          <a:solidFill>
            <a:srgbClr val="D33A2C"/>
          </a:solidFill>
          <a:ln/>
        </p:spPr>
      </p:sp>
      <p:sp>
        <p:nvSpPr>
          <p:cNvPr id="13" name="Text 10"/>
          <p:cNvSpPr txBox="1"/>
          <p:nvPr/>
        </p:nvSpPr>
        <p:spPr>
          <a:xfrm>
            <a:off x="7772400" y="4654296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03</a:t>
            </a:r>
            <a:endParaRPr lang="en-US" sz="1300" dirty="0"/>
          </a:p>
        </p:txBody>
      </p:sp>
      <p:sp>
        <p:nvSpPr>
          <p:cNvPr id="14" name="Text 11"/>
          <p:cNvSpPr txBox="1"/>
          <p:nvPr/>
        </p:nvSpPr>
        <p:spPr>
          <a:xfrm>
            <a:off x="8394192" y="4617720"/>
            <a:ext cx="3108960" cy="9875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700" dirty="0">
                <a:solidFill>
                  <a:srgbClr val="14233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全图显示不等于测试成绩</a:t>
            </a:r>
            <a:endParaRPr lang="en-US" sz="1700" dirty="0"/>
          </a:p>
        </p:txBody>
      </p:sp>
      <p:sp>
        <p:nvSpPr>
          <p:cNvPr id="15" name="Text 12"/>
          <p:cNvSpPr txBox="1"/>
          <p:nvPr/>
        </p:nvSpPr>
        <p:spPr>
          <a:xfrm>
            <a:off x="7772400" y="5897880"/>
            <a:ext cx="373075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5F6E80"/>
                </a:solidFill>
                <a:latin typeface="Consolas" pitchFamily="34" charset="0"/>
                <a:ea typeface="Microsoft YaHei" pitchFamily="34" charset="-122"/>
                <a:cs typeface="Consolas" pitchFamily="34" charset="-120"/>
              </a:rPr>
              <a:t>02_svm_baseline.ipynb  ·  cell maps</a:t>
            </a:r>
            <a:endParaRPr lang="en-US" sz="9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682935" y="384048"/>
            <a:ext cx="8229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 anchor="ctr"/>
          <a:lstStyle>
            <a:lvl1pPr>
              <a:defRPr sz="1100">
                <a:solidFill>
                  <a:srgbClr val="5F6E80"/>
                </a:solidFill>
                <a:latin typeface="Microsoft YaHei"/>
                <a:ea typeface="Microsoft YaHei"/>
                <a:cs typeface="Microsoft YaHei"/>
              </a:defRPr>
            </a:lvl1pPr>
          </a:lstStyle>
          <a:p>
            <a:pPr algn="r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3"/>
          <p:cNvSpPr/>
          <p:nvPr>
            <p:ph idx="103" type="title" hasCustomPrompt="1"/>
          </p:nvPr>
        </p:nvSpPr>
        <p:spPr>
          <a:xfrm>
            <a:off x="685800" y="868680"/>
            <a:ext cx="1082009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14233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patch 重叠：这不是小事</a:t>
            </a:r>
            <a:endParaRPr lang="en-US" sz="3000" dirty="0"/>
          </a:p>
        </p:txBody>
      </p:sp>
      <p:sp>
        <p:nvSpPr>
          <p:cNvPr id="3" name="chip 01"/>
          <p:cNvSpPr/>
          <p:nvPr/>
        </p:nvSpPr>
        <p:spPr>
          <a:xfrm>
            <a:off x="685800" y="2002536"/>
            <a:ext cx="420624" cy="420624"/>
          </a:xfrm>
          <a:prstGeom prst="roundRect">
            <a:avLst>
              <a:gd name="adj" fmla="val 19565"/>
            </a:avLst>
          </a:prstGeom>
          <a:solidFill>
            <a:srgbClr val="5B3FA0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685800" y="2002536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01</a:t>
            </a:r>
            <a:endParaRPr lang="en-US" sz="1300" dirty="0"/>
          </a:p>
        </p:txBody>
      </p:sp>
      <p:sp>
        <p:nvSpPr>
          <p:cNvPr id="5" name="Text 3"/>
          <p:cNvSpPr txBox="1"/>
          <p:nvPr/>
        </p:nvSpPr>
        <p:spPr>
          <a:xfrm>
            <a:off x="1307592" y="1965960"/>
            <a:ext cx="5779008" cy="8808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2100" dirty="0">
                <a:solidFill>
                  <a:srgbClr val="14233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横移1像元的9×9窗口共享72/81</a:t>
            </a:r>
            <a:endParaRPr lang="en-US" sz="2100" dirty="0"/>
          </a:p>
        </p:txBody>
      </p:sp>
      <p:sp>
        <p:nvSpPr>
          <p:cNvPr id="6" name="chip 02"/>
          <p:cNvSpPr/>
          <p:nvPr/>
        </p:nvSpPr>
        <p:spPr>
          <a:xfrm>
            <a:off x="685800" y="2993136"/>
            <a:ext cx="420624" cy="420624"/>
          </a:xfrm>
          <a:prstGeom prst="roundRect">
            <a:avLst>
              <a:gd name="adj" fmla="val 19565"/>
            </a:avLst>
          </a:prstGeom>
          <a:solidFill>
            <a:srgbClr val="2E9E4F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685800" y="2993136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02</a:t>
            </a:r>
            <a:endParaRPr lang="en-US" sz="1300" dirty="0"/>
          </a:p>
        </p:txBody>
      </p:sp>
      <p:sp>
        <p:nvSpPr>
          <p:cNvPr id="8" name="Text 6"/>
          <p:cNvSpPr txBox="1"/>
          <p:nvPr/>
        </p:nvSpPr>
        <p:spPr>
          <a:xfrm>
            <a:off x="1307592" y="2956560"/>
            <a:ext cx="5779008" cy="8808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2100" dirty="0">
                <a:solidFill>
                  <a:srgbClr val="14233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这个数只描述一对窗口</a:t>
            </a:r>
            <a:endParaRPr lang="en-US" sz="2100" dirty="0"/>
          </a:p>
        </p:txBody>
      </p:sp>
      <p:sp>
        <p:nvSpPr>
          <p:cNvPr id="9" name="chip 03"/>
          <p:cNvSpPr/>
          <p:nvPr/>
        </p:nvSpPr>
        <p:spPr>
          <a:xfrm>
            <a:off x="685800" y="3983736"/>
            <a:ext cx="420624" cy="420624"/>
          </a:xfrm>
          <a:prstGeom prst="roundRect">
            <a:avLst>
              <a:gd name="adj" fmla="val 19565"/>
            </a:avLst>
          </a:prstGeom>
          <a:solidFill>
            <a:srgbClr val="D33A2C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685800" y="3983736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03</a:t>
            </a:r>
            <a:endParaRPr lang="en-US" sz="1300" dirty="0"/>
          </a:p>
        </p:txBody>
      </p:sp>
      <p:sp>
        <p:nvSpPr>
          <p:cNvPr id="11" name="Text 9"/>
          <p:cNvSpPr txBox="1"/>
          <p:nvPr/>
        </p:nvSpPr>
        <p:spPr>
          <a:xfrm>
            <a:off x="1307592" y="3947160"/>
            <a:ext cx="5779008" cy="8808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2100" dirty="0">
                <a:solidFill>
                  <a:srgbClr val="14233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全数据重叠需结合采样位置统计</a:t>
            </a:r>
            <a:endParaRPr lang="en-US" sz="2100" dirty="0"/>
          </a:p>
        </p:txBody>
      </p:sp>
      <p:sp>
        <p:nvSpPr>
          <p:cNvPr id="12" name="keywords"/>
          <p:cNvSpPr/>
          <p:nvPr/>
        </p:nvSpPr>
        <p:spPr>
          <a:xfrm>
            <a:off x="7635240" y="1874520"/>
            <a:ext cx="3867912" cy="3154680"/>
          </a:xfrm>
          <a:prstGeom prst="roundRect">
            <a:avLst>
              <a:gd name="adj" fmla="val 2899"/>
            </a:avLst>
          </a:prstGeom>
          <a:solidFill>
            <a:srgbClr val="F2F5F9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7955280" y="2148840"/>
            <a:ext cx="3200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spc="100" kern="0" dirty="0">
                <a:solidFill>
                  <a:srgbClr val="2F5BB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关键词</a:t>
            </a:r>
            <a:endParaRPr lang="en-US" sz="1300" dirty="0"/>
          </a:p>
        </p:txBody>
      </p:sp>
      <p:sp>
        <p:nvSpPr>
          <p:cNvPr id="14" name="Shape 12"/>
          <p:cNvSpPr/>
          <p:nvPr/>
        </p:nvSpPr>
        <p:spPr>
          <a:xfrm>
            <a:off x="8101584" y="3017520"/>
            <a:ext cx="0" cy="1554480"/>
          </a:xfrm>
          <a:prstGeom prst="line">
            <a:avLst/>
          </a:prstGeom>
          <a:noFill/>
          <a:ln w="19050">
            <a:solidFill>
              <a:srgbClr val="DCE3EA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8010144" y="2926080"/>
            <a:ext cx="182880" cy="182880"/>
          </a:xfrm>
          <a:prstGeom prst="ellipse">
            <a:avLst/>
          </a:prstGeom>
          <a:solidFill>
            <a:srgbClr val="5B3FA0"/>
          </a:solidFill>
          <a:ln w="25400">
            <a:solidFill>
              <a:srgbClr val="F2F5F9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8412480" y="2834640"/>
            <a:ext cx="2926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4233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Pair overlap 72/81</a:t>
            </a:r>
            <a:endParaRPr lang="en-US" sz="1600" dirty="0"/>
          </a:p>
        </p:txBody>
      </p:sp>
      <p:sp>
        <p:nvSpPr>
          <p:cNvPr id="17" name="Shape 15"/>
          <p:cNvSpPr/>
          <p:nvPr/>
        </p:nvSpPr>
        <p:spPr>
          <a:xfrm>
            <a:off x="8010144" y="3703320"/>
            <a:ext cx="182880" cy="182880"/>
          </a:xfrm>
          <a:prstGeom prst="ellipse">
            <a:avLst/>
          </a:prstGeom>
          <a:solidFill>
            <a:srgbClr val="2E9E4F"/>
          </a:solidFill>
          <a:ln w="25400">
            <a:solidFill>
              <a:srgbClr val="F2F5F9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8412480" y="3611880"/>
            <a:ext cx="2926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4233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Sampling positions</a:t>
            </a:r>
            <a:endParaRPr lang="en-US" sz="1600" dirty="0"/>
          </a:p>
        </p:txBody>
      </p:sp>
      <p:sp>
        <p:nvSpPr>
          <p:cNvPr id="19" name="Shape 17"/>
          <p:cNvSpPr/>
          <p:nvPr/>
        </p:nvSpPr>
        <p:spPr>
          <a:xfrm>
            <a:off x="8010144" y="4480560"/>
            <a:ext cx="182880" cy="182880"/>
          </a:xfrm>
          <a:prstGeom prst="ellipse">
            <a:avLst/>
          </a:prstGeom>
          <a:solidFill>
            <a:srgbClr val="D33A2C"/>
          </a:solidFill>
          <a:ln w="25400">
            <a:solidFill>
              <a:srgbClr val="F2F5F9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8412480" y="4389120"/>
            <a:ext cx="2926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4233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Observed dependence</a:t>
            </a:r>
            <a:endParaRPr lang="en-US" sz="1600" dirty="0"/>
          </a:p>
        </p:txBody>
      </p:sp>
      <p:sp>
        <p:nvSpPr>
          <p:cNvPr id="21" name="run panel"/>
          <p:cNvSpPr/>
          <p:nvPr/>
        </p:nvSpPr>
        <p:spPr>
          <a:xfrm>
            <a:off x="685800" y="5285232"/>
            <a:ext cx="10820095" cy="987552"/>
          </a:xfrm>
          <a:prstGeom prst="roundRect">
            <a:avLst>
              <a:gd name="adj" fmla="val 9259"/>
            </a:avLst>
          </a:prstGeom>
          <a:solidFill>
            <a:srgbClr val="0D1B2E"/>
          </a:solidFill>
          <a:ln/>
        </p:spPr>
      </p:sp>
      <p:sp>
        <p:nvSpPr>
          <p:cNvPr id="22" name="Text 20"/>
          <p:cNvSpPr txBox="1"/>
          <p:nvPr/>
        </p:nvSpPr>
        <p:spPr>
          <a:xfrm>
            <a:off x="1005840" y="5440680"/>
            <a:ext cx="10180015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F5B54A"/>
                </a:solidFill>
                <a:latin typeface="Consolas" pitchFamily="34" charset="0"/>
                <a:ea typeface="Microsoft YaHei" pitchFamily="34" charset="-122"/>
                <a:cs typeface="Consolas" pitchFamily="34" charset="-120"/>
              </a:rPr>
              <a:t>&gt;&gt;&gt; </a:t>
            </a:r>
            <a:pPr indent="0" marL="0">
              <a:buNone/>
            </a:pPr>
            <a:r>
              <a:rPr lang="en-US" sz="1600" dirty="0">
                <a:solidFill>
                  <a:srgbClr val="D7E3F0"/>
                </a:solidFill>
                <a:latin typeface="Consolas" pitchFamily="34" charset="0"/>
                <a:ea typeface="Microsoft YaHei" pitchFamily="34" charset="-122"/>
                <a:cs typeface="Consolas" pitchFamily="34" charset="-120"/>
              </a:rPr>
              <a:t>8*9/81  # 相邻窗口共享比例</a:t>
            </a:r>
            <a:endParaRPr lang="en-US" sz="1600" dirty="0"/>
          </a:p>
        </p:txBody>
      </p:sp>
      <p:sp>
        <p:nvSpPr>
          <p:cNvPr id="23" name="Text 21"/>
          <p:cNvSpPr txBox="1"/>
          <p:nvPr/>
        </p:nvSpPr>
        <p:spPr>
          <a:xfrm>
            <a:off x="1005840" y="5815584"/>
            <a:ext cx="10180015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F5B54A"/>
                </a:solidFill>
                <a:latin typeface="Consolas" pitchFamily="34" charset="0"/>
                <a:ea typeface="Microsoft YaHei" pitchFamily="34" charset="-122"/>
                <a:cs typeface="Consolas" pitchFamily="34" charset="-120"/>
              </a:rPr>
              <a:t>0.889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682935" y="384048"/>
            <a:ext cx="8229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 anchor="ctr"/>
          <a:lstStyle>
            <a:lvl1pPr>
              <a:defRPr sz="1100">
                <a:solidFill>
                  <a:srgbClr val="5F6E80"/>
                </a:solidFill>
                <a:latin typeface="Microsoft YaHei"/>
                <a:ea typeface="Microsoft YaHei"/>
                <a:cs typeface="Microsoft YaHei"/>
              </a:defRPr>
            </a:lvl1pPr>
          </a:lstStyle>
          <a:p>
            <a:pPr algn="r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3"/>
          <p:cNvSpPr/>
          <p:nvPr>
            <p:ph idx="103" type="title" hasCustomPrompt="1"/>
          </p:nvPr>
        </p:nvSpPr>
        <p:spPr>
          <a:xfrm>
            <a:off x="685800" y="868680"/>
            <a:ext cx="1082009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14233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带缓冲区的空间划分</a:t>
            </a:r>
            <a:endParaRPr lang="en-US" sz="3000" dirty="0"/>
          </a:p>
        </p:txBody>
      </p:sp>
      <p:sp>
        <p:nvSpPr>
          <p:cNvPr id="3" name="chip 01"/>
          <p:cNvSpPr/>
          <p:nvPr/>
        </p:nvSpPr>
        <p:spPr>
          <a:xfrm>
            <a:off x="685800" y="2002536"/>
            <a:ext cx="420624" cy="420624"/>
          </a:xfrm>
          <a:prstGeom prst="roundRect">
            <a:avLst>
              <a:gd name="adj" fmla="val 19565"/>
            </a:avLst>
          </a:prstGeom>
          <a:solidFill>
            <a:srgbClr val="5B3FA0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685800" y="2002536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01</a:t>
            </a:r>
            <a:endParaRPr lang="en-US" sz="1300" dirty="0"/>
          </a:p>
        </p:txBody>
      </p:sp>
      <p:sp>
        <p:nvSpPr>
          <p:cNvPr id="5" name="Text 3"/>
          <p:cNvSpPr txBox="1"/>
          <p:nvPr/>
        </p:nvSpPr>
        <p:spPr>
          <a:xfrm>
            <a:off x="1307592" y="1965960"/>
            <a:ext cx="4498848" cy="13228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2000" dirty="0">
                <a:solidFill>
                  <a:srgbClr val="14233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边界两侧各留patch半径</a:t>
            </a:r>
            <a:endParaRPr lang="en-US" sz="2000" dirty="0"/>
          </a:p>
        </p:txBody>
      </p:sp>
      <p:sp>
        <p:nvSpPr>
          <p:cNvPr id="6" name="chip 02"/>
          <p:cNvSpPr/>
          <p:nvPr/>
        </p:nvSpPr>
        <p:spPr>
          <a:xfrm>
            <a:off x="685800" y="3435096"/>
            <a:ext cx="420624" cy="420624"/>
          </a:xfrm>
          <a:prstGeom prst="roundRect">
            <a:avLst>
              <a:gd name="adj" fmla="val 19565"/>
            </a:avLst>
          </a:prstGeom>
          <a:solidFill>
            <a:srgbClr val="2E9E4F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685800" y="3435096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02</a:t>
            </a:r>
            <a:endParaRPr lang="en-US" sz="1300" dirty="0"/>
          </a:p>
        </p:txBody>
      </p:sp>
      <p:sp>
        <p:nvSpPr>
          <p:cNvPr id="8" name="Text 6"/>
          <p:cNvSpPr txBox="1"/>
          <p:nvPr/>
        </p:nvSpPr>
        <p:spPr>
          <a:xfrm>
            <a:off x="1307592" y="3398520"/>
            <a:ext cx="4498848" cy="13228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2000" dirty="0">
                <a:solidFill>
                  <a:srgbClr val="14233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直接检查输入窗口是否共享像元</a:t>
            </a:r>
            <a:endParaRPr lang="en-US" sz="2000" dirty="0"/>
          </a:p>
        </p:txBody>
      </p:sp>
      <p:sp>
        <p:nvSpPr>
          <p:cNvPr id="9" name="chip 03"/>
          <p:cNvSpPr/>
          <p:nvPr/>
        </p:nvSpPr>
        <p:spPr>
          <a:xfrm>
            <a:off x="685800" y="4867656"/>
            <a:ext cx="420624" cy="420624"/>
          </a:xfrm>
          <a:prstGeom prst="roundRect">
            <a:avLst>
              <a:gd name="adj" fmla="val 19565"/>
            </a:avLst>
          </a:prstGeom>
          <a:solidFill>
            <a:srgbClr val="D33A2C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685800" y="4867656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03</a:t>
            </a:r>
            <a:endParaRPr lang="en-US" sz="1300" dirty="0"/>
          </a:p>
        </p:txBody>
      </p:sp>
      <p:sp>
        <p:nvSpPr>
          <p:cNvPr id="11" name="Text 9"/>
          <p:cNvSpPr txBox="1"/>
          <p:nvPr/>
        </p:nvSpPr>
        <p:spPr>
          <a:xfrm>
            <a:off x="1307592" y="4831080"/>
            <a:ext cx="4498848" cy="13228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2000" dirty="0">
                <a:solidFill>
                  <a:srgbClr val="14233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先报告每个区域缺席的类别</a:t>
            </a:r>
            <a:endParaRPr lang="en-US" sz="2000" dirty="0"/>
          </a:p>
        </p:txBody>
      </p:sp>
      <p:sp>
        <p:nvSpPr>
          <p:cNvPr id="12" name="step 1"/>
          <p:cNvSpPr/>
          <p:nvPr/>
        </p:nvSpPr>
        <p:spPr>
          <a:xfrm>
            <a:off x="6400800" y="2596896"/>
            <a:ext cx="5102352" cy="841248"/>
          </a:xfrm>
          <a:prstGeom prst="roundRect">
            <a:avLst>
              <a:gd name="adj" fmla="val 8696"/>
            </a:avLst>
          </a:prstGeom>
          <a:solidFill>
            <a:srgbClr val="F2F5F9"/>
          </a:solidFill>
          <a:ln/>
        </p:spPr>
      </p:sp>
      <p:sp>
        <p:nvSpPr>
          <p:cNvPr id="13" name="chip 01"/>
          <p:cNvSpPr/>
          <p:nvPr/>
        </p:nvSpPr>
        <p:spPr>
          <a:xfrm>
            <a:off x="6601968" y="2807208"/>
            <a:ext cx="420624" cy="420624"/>
          </a:xfrm>
          <a:prstGeom prst="roundRect">
            <a:avLst>
              <a:gd name="adj" fmla="val 19565"/>
            </a:avLst>
          </a:prstGeom>
          <a:solidFill>
            <a:srgbClr val="5B3FA0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6601968" y="2807208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01</a:t>
            </a:r>
            <a:endParaRPr lang="en-US" sz="1300" dirty="0"/>
          </a:p>
        </p:txBody>
      </p:sp>
      <p:sp>
        <p:nvSpPr>
          <p:cNvPr id="15" name="Text 13"/>
          <p:cNvSpPr txBox="1"/>
          <p:nvPr/>
        </p:nvSpPr>
        <p:spPr>
          <a:xfrm>
            <a:off x="7205472" y="2596896"/>
            <a:ext cx="4142232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4233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Train region</a:t>
            </a:r>
            <a:endParaRPr lang="en-US" sz="1800" dirty="0"/>
          </a:p>
        </p:txBody>
      </p:sp>
      <p:sp>
        <p:nvSpPr>
          <p:cNvPr id="16" name="Shape 14"/>
          <p:cNvSpPr/>
          <p:nvPr/>
        </p:nvSpPr>
        <p:spPr>
          <a:xfrm>
            <a:off x="6812280" y="3438144"/>
            <a:ext cx="0" cy="256032"/>
          </a:xfrm>
          <a:prstGeom prst="line">
            <a:avLst/>
          </a:prstGeom>
          <a:noFill/>
          <a:ln w="15875">
            <a:solidFill>
              <a:srgbClr val="5F6E80"/>
            </a:solidFill>
            <a:prstDash val="solid"/>
            <a:tailEnd type="triangle"/>
          </a:ln>
        </p:spPr>
      </p:sp>
      <p:sp>
        <p:nvSpPr>
          <p:cNvPr id="17" name="step 2"/>
          <p:cNvSpPr/>
          <p:nvPr/>
        </p:nvSpPr>
        <p:spPr>
          <a:xfrm>
            <a:off x="6400800" y="3694176"/>
            <a:ext cx="5102352" cy="841248"/>
          </a:xfrm>
          <a:prstGeom prst="roundRect">
            <a:avLst>
              <a:gd name="adj" fmla="val 8696"/>
            </a:avLst>
          </a:prstGeom>
          <a:solidFill>
            <a:srgbClr val="F2F5F9"/>
          </a:solidFill>
          <a:ln/>
        </p:spPr>
      </p:sp>
      <p:sp>
        <p:nvSpPr>
          <p:cNvPr id="18" name="chip 02"/>
          <p:cNvSpPr/>
          <p:nvPr/>
        </p:nvSpPr>
        <p:spPr>
          <a:xfrm>
            <a:off x="6601968" y="3904488"/>
            <a:ext cx="420624" cy="420624"/>
          </a:xfrm>
          <a:prstGeom prst="roundRect">
            <a:avLst>
              <a:gd name="adj" fmla="val 19565"/>
            </a:avLst>
          </a:prstGeom>
          <a:solidFill>
            <a:srgbClr val="2E9E4F"/>
          </a:solidFill>
          <a:ln/>
        </p:spPr>
      </p:sp>
      <p:sp>
        <p:nvSpPr>
          <p:cNvPr id="19" name="Text 17"/>
          <p:cNvSpPr txBox="1"/>
          <p:nvPr/>
        </p:nvSpPr>
        <p:spPr>
          <a:xfrm>
            <a:off x="6601968" y="3904488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02</a:t>
            </a:r>
            <a:endParaRPr lang="en-US" sz="1300" dirty="0"/>
          </a:p>
        </p:txBody>
      </p:sp>
      <p:sp>
        <p:nvSpPr>
          <p:cNvPr id="20" name="Text 18"/>
          <p:cNvSpPr txBox="1"/>
          <p:nvPr/>
        </p:nvSpPr>
        <p:spPr>
          <a:xfrm>
            <a:off x="7205472" y="3694176"/>
            <a:ext cx="4142232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4233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Radius margins</a:t>
            </a:r>
            <a:endParaRPr lang="en-US" sz="1800" dirty="0"/>
          </a:p>
        </p:txBody>
      </p:sp>
      <p:sp>
        <p:nvSpPr>
          <p:cNvPr id="21" name="Shape 19"/>
          <p:cNvSpPr/>
          <p:nvPr/>
        </p:nvSpPr>
        <p:spPr>
          <a:xfrm>
            <a:off x="6812280" y="4535424"/>
            <a:ext cx="0" cy="256032"/>
          </a:xfrm>
          <a:prstGeom prst="line">
            <a:avLst/>
          </a:prstGeom>
          <a:noFill/>
          <a:ln w="15875">
            <a:solidFill>
              <a:srgbClr val="5F6E80"/>
            </a:solidFill>
            <a:prstDash val="solid"/>
            <a:tailEnd type="triangle"/>
          </a:ln>
        </p:spPr>
      </p:sp>
      <p:sp>
        <p:nvSpPr>
          <p:cNvPr id="22" name="step 3"/>
          <p:cNvSpPr/>
          <p:nvPr/>
        </p:nvSpPr>
        <p:spPr>
          <a:xfrm>
            <a:off x="6400800" y="4791456"/>
            <a:ext cx="5102352" cy="841248"/>
          </a:xfrm>
          <a:prstGeom prst="roundRect">
            <a:avLst>
              <a:gd name="adj" fmla="val 8696"/>
            </a:avLst>
          </a:prstGeom>
          <a:solidFill>
            <a:srgbClr val="F2F5F9"/>
          </a:solidFill>
          <a:ln/>
        </p:spPr>
      </p:sp>
      <p:sp>
        <p:nvSpPr>
          <p:cNvPr id="23" name="chip 03"/>
          <p:cNvSpPr/>
          <p:nvPr/>
        </p:nvSpPr>
        <p:spPr>
          <a:xfrm>
            <a:off x="6601968" y="5001768"/>
            <a:ext cx="420624" cy="420624"/>
          </a:xfrm>
          <a:prstGeom prst="roundRect">
            <a:avLst>
              <a:gd name="adj" fmla="val 19565"/>
            </a:avLst>
          </a:prstGeom>
          <a:solidFill>
            <a:srgbClr val="D33A2C"/>
          </a:solidFill>
          <a:ln/>
        </p:spPr>
      </p:sp>
      <p:sp>
        <p:nvSpPr>
          <p:cNvPr id="24" name="Text 22"/>
          <p:cNvSpPr txBox="1"/>
          <p:nvPr/>
        </p:nvSpPr>
        <p:spPr>
          <a:xfrm>
            <a:off x="6601968" y="5001768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03</a:t>
            </a:r>
            <a:endParaRPr lang="en-US" sz="1300" dirty="0"/>
          </a:p>
        </p:txBody>
      </p:sp>
      <p:sp>
        <p:nvSpPr>
          <p:cNvPr id="25" name="Text 23"/>
          <p:cNvSpPr txBox="1"/>
          <p:nvPr/>
        </p:nvSpPr>
        <p:spPr>
          <a:xfrm>
            <a:off x="7205472" y="4791456"/>
            <a:ext cx="4142232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4233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Val / test region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682935" y="384048"/>
            <a:ext cx="8229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 anchor="ctr"/>
          <a:lstStyle>
            <a:lvl1pPr>
              <a:defRPr sz="1100">
                <a:solidFill>
                  <a:srgbClr val="5F6E80"/>
                </a:solidFill>
                <a:latin typeface="Microsoft YaHei"/>
                <a:ea typeface="Microsoft YaHei"/>
                <a:cs typeface="Microsoft YaHei"/>
              </a:defRPr>
            </a:lvl1pPr>
          </a:lstStyle>
          <a:p>
            <a:pPr algn="r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3"/>
          <p:cNvSpPr/>
          <p:nvPr>
            <p:ph idx="103" type="title" hasCustomPrompt="1"/>
          </p:nvPr>
        </p:nvSpPr>
        <p:spPr>
          <a:xfrm>
            <a:off x="685800" y="868680"/>
            <a:ext cx="1082009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14233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让代码验证你的判断</a:t>
            </a:r>
            <a:endParaRPr lang="en-US" sz="3000" dirty="0"/>
          </a:p>
        </p:txBody>
      </p:sp>
      <p:sp>
        <p:nvSpPr>
          <p:cNvPr id="3" name="code panel"/>
          <p:cNvSpPr/>
          <p:nvPr/>
        </p:nvSpPr>
        <p:spPr>
          <a:xfrm>
            <a:off x="685800" y="1874520"/>
            <a:ext cx="7406640" cy="3749040"/>
          </a:xfrm>
          <a:prstGeom prst="roundRect">
            <a:avLst>
              <a:gd name="adj" fmla="val 2439"/>
            </a:avLst>
          </a:prstGeom>
          <a:solidFill>
            <a:srgbClr val="0D1B2E"/>
          </a:solidFill>
          <a:ln/>
        </p:spPr>
      </p:sp>
      <p:sp>
        <p:nvSpPr>
          <p:cNvPr id="4" name="Shape 2"/>
          <p:cNvSpPr/>
          <p:nvPr/>
        </p:nvSpPr>
        <p:spPr>
          <a:xfrm>
            <a:off x="960120" y="2075688"/>
            <a:ext cx="118872" cy="118872"/>
          </a:xfrm>
          <a:prstGeom prst="ellipse">
            <a:avLst/>
          </a:prstGeom>
          <a:solidFill>
            <a:srgbClr val="D33A2C"/>
          </a:solidFill>
          <a:ln/>
        </p:spPr>
      </p:sp>
      <p:sp>
        <p:nvSpPr>
          <p:cNvPr id="5" name="Shape 3"/>
          <p:cNvSpPr/>
          <p:nvPr/>
        </p:nvSpPr>
        <p:spPr>
          <a:xfrm>
            <a:off x="1179576" y="2075688"/>
            <a:ext cx="118872" cy="118872"/>
          </a:xfrm>
          <a:prstGeom prst="ellipse">
            <a:avLst/>
          </a:prstGeom>
          <a:solidFill>
            <a:srgbClr val="F2C316"/>
          </a:solidFill>
          <a:ln/>
        </p:spPr>
      </p:sp>
      <p:sp>
        <p:nvSpPr>
          <p:cNvPr id="6" name="Shape 4"/>
          <p:cNvSpPr/>
          <p:nvPr/>
        </p:nvSpPr>
        <p:spPr>
          <a:xfrm>
            <a:off x="1399032" y="2075688"/>
            <a:ext cx="118872" cy="118872"/>
          </a:xfrm>
          <a:prstGeom prst="ellipse">
            <a:avLst/>
          </a:prstGeom>
          <a:solidFill>
            <a:srgbClr val="2E9E4F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1051560" y="2423160"/>
            <a:ext cx="6675120" cy="3017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45000"/>
              </a:lnSpc>
              <a:buNone/>
            </a:pPr>
            <a:r>
              <a:rPr lang="en-US" sz="1500" dirty="0">
                <a:solidFill>
                  <a:srgbClr val="D7E3F0"/>
                </a:solidFill>
                <a:latin typeface="Consolas" pitchFamily="34" charset="0"/>
                <a:ea typeface="Microsoft YaHei" pitchFamily="34" charset="-122"/>
                <a:cs typeface="Consolas" pitchFamily="34" charset="-120"/>
              </a:rPr>
              <a:t>assert patches.shape == (5,1,3,3)</a:t>
            </a:r>
            <a:endParaRPr lang="en-US" sz="1500" dirty="0"/>
          </a:p>
          <a:p>
            <a:pPr indent="0" marL="0">
              <a:lnSpc>
                <a:spcPct val="145000"/>
              </a:lnSpc>
              <a:buNone/>
            </a:pPr>
            <a:r>
              <a:rPr lang="en-US" sz="1500" dirty="0">
                <a:solidFill>
                  <a:srgbClr val="D7E3F0"/>
                </a:solidFill>
                <a:latin typeface="Consolas" pitchFamily="34" charset="0"/>
                <a:ea typeface="Microsoft YaHei" pitchFamily="34" charset="-122"/>
                <a:cs typeface="Consolas" pitchFamily="34" charset="-120"/>
              </a:rPr>
              <a:t>np.testing.assert_array_equal(</a:t>
            </a:r>
            <a:endParaRPr lang="en-US" sz="1500" dirty="0"/>
          </a:p>
          <a:p>
            <a:pPr indent="0" marL="0">
              <a:lnSpc>
                <a:spcPct val="145000"/>
              </a:lnSpc>
              <a:buNone/>
            </a:pPr>
            <a:r>
              <a:rPr lang="en-US" sz="1500" dirty="0">
                <a:solidFill>
                  <a:srgbClr val="D7E3F0"/>
                </a:solidFill>
                <a:latin typeface="Consolas" pitchFamily="34" charset="0"/>
                <a:ea typeface="Microsoft YaHei" pitchFamily="34" charset="-122"/>
                <a:cs typeface="Consolas" pitchFamily="34" charset="-120"/>
              </a:rPr>
              <a:t>    patches[:,0,1,1].numpy(), toy.ravel()[ids])</a:t>
            </a:r>
            <a:endParaRPr lang="en-US" sz="1500" dirty="0"/>
          </a:p>
          <a:p>
            <a:pPr indent="0" marL="0">
              <a:lnSpc>
                <a:spcPct val="145000"/>
              </a:lnSpc>
              <a:buNone/>
            </a:pPr>
            <a:pPr indent="0" marL="0">
              <a:lnSpc>
                <a:spcPct val="145000"/>
              </a:lnSpc>
              <a:buNone/>
            </a:pPr>
            <a:r>
              <a:rPr lang="en-US" sz="1500" dirty="0">
                <a:solidFill>
                  <a:srgbClr val="7E99AD"/>
                </a:solidFill>
                <a:latin typeface="Consolas" pitchFamily="34" charset="0"/>
                <a:ea typeface="Microsoft YaHei" pitchFamily="34" charset="-122"/>
                <a:cs typeface="Consolas" pitchFamily="34" charset="-120"/>
              </a:rPr>
              <a:t># Preserve center ids when predictions are reordered.</a:t>
            </a:r>
            <a:endParaRPr lang="en-US" sz="1500" dirty="0"/>
          </a:p>
        </p:txBody>
      </p:sp>
      <p:sp>
        <p:nvSpPr>
          <p:cNvPr id="8" name="Text 6"/>
          <p:cNvSpPr txBox="1"/>
          <p:nvPr/>
        </p:nvSpPr>
        <p:spPr>
          <a:xfrm>
            <a:off x="8458200" y="1920240"/>
            <a:ext cx="304495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spc="100" kern="0" dirty="0">
                <a:solidFill>
                  <a:srgbClr val="5F6E8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打开</a:t>
            </a:r>
            <a:endParaRPr lang="en-US" sz="1300" dirty="0"/>
          </a:p>
        </p:txBody>
      </p:sp>
      <p:sp>
        <p:nvSpPr>
          <p:cNvPr id="9" name="Text 7"/>
          <p:cNvSpPr txBox="1"/>
          <p:nvPr/>
        </p:nvSpPr>
        <p:spPr>
          <a:xfrm>
            <a:off x="8458200" y="2240280"/>
            <a:ext cx="304495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14233A"/>
                </a:solidFill>
                <a:latin typeface="Consolas" pitchFamily="34" charset="0"/>
                <a:ea typeface="Microsoft YaHei" pitchFamily="34" charset="-122"/>
                <a:cs typeface="Consolas" pitchFamily="34" charset="-120"/>
              </a:rPr>
              <a:t>11_patch_hybridsn_classroom.ipynb</a:t>
            </a:r>
            <a:endParaRPr lang="en-US" sz="1300" dirty="0"/>
          </a:p>
        </p:txBody>
      </p:sp>
      <p:sp>
        <p:nvSpPr>
          <p:cNvPr id="10" name="Text 8"/>
          <p:cNvSpPr txBox="1"/>
          <p:nvPr/>
        </p:nvSpPr>
        <p:spPr>
          <a:xfrm>
            <a:off x="8458200" y="3108960"/>
            <a:ext cx="304495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spc="100" kern="0" dirty="0">
                <a:solidFill>
                  <a:srgbClr val="5F6E8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定位 cell</a:t>
            </a:r>
            <a:endParaRPr lang="en-US" sz="1300" dirty="0"/>
          </a:p>
        </p:txBody>
      </p:sp>
      <p:sp>
        <p:nvSpPr>
          <p:cNvPr id="11" name="cell toy-patches"/>
          <p:cNvSpPr/>
          <p:nvPr/>
        </p:nvSpPr>
        <p:spPr>
          <a:xfrm>
            <a:off x="8458200" y="3474720"/>
            <a:ext cx="3044952" cy="365760"/>
          </a:xfrm>
          <a:prstGeom prst="roundRect">
            <a:avLst>
              <a:gd name="adj" fmla="val 15000"/>
            </a:avLst>
          </a:prstGeom>
          <a:ln w="9525">
            <a:solidFill>
              <a:srgbClr val="DCE3EA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8595360" y="3474720"/>
            <a:ext cx="2834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2F5BB7"/>
                </a:solidFill>
                <a:latin typeface="Consolas" pitchFamily="34" charset="0"/>
                <a:ea typeface="Microsoft YaHei" pitchFamily="34" charset="-122"/>
                <a:cs typeface="Consolas" pitchFamily="34" charset="-120"/>
              </a:rPr>
              <a:t>toy-patches</a:t>
            </a:r>
            <a:endParaRPr lang="en-US" sz="1200" dirty="0"/>
          </a:p>
        </p:txBody>
      </p:sp>
      <p:sp>
        <p:nvSpPr>
          <p:cNvPr id="13" name="cell reshape-check"/>
          <p:cNvSpPr/>
          <p:nvPr/>
        </p:nvSpPr>
        <p:spPr>
          <a:xfrm>
            <a:off x="8458200" y="3950208"/>
            <a:ext cx="3044952" cy="365760"/>
          </a:xfrm>
          <a:prstGeom prst="roundRect">
            <a:avLst>
              <a:gd name="adj" fmla="val 15000"/>
            </a:avLst>
          </a:prstGeom>
          <a:ln w="9525">
            <a:solidFill>
              <a:srgbClr val="DCE3EA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8595360" y="3950208"/>
            <a:ext cx="2834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2F5BB7"/>
                </a:solidFill>
                <a:latin typeface="Consolas" pitchFamily="34" charset="0"/>
                <a:ea typeface="Microsoft YaHei" pitchFamily="34" charset="-122"/>
                <a:cs typeface="Consolas" pitchFamily="34" charset="-120"/>
              </a:rPr>
              <a:t>reshape-check</a:t>
            </a:r>
            <a:endParaRPr lang="en-US" sz="1200" dirty="0"/>
          </a:p>
        </p:txBody>
      </p:sp>
      <p:sp>
        <p:nvSpPr>
          <p:cNvPr id="15" name="Text 13"/>
          <p:cNvSpPr txBox="1"/>
          <p:nvPr/>
        </p:nvSpPr>
        <p:spPr>
          <a:xfrm>
            <a:off x="685800" y="5852160"/>
            <a:ext cx="1082009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dirty="0">
                <a:solidFill>
                  <a:srgbClr val="5F6E8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先预测输出，再运行对应单元格。</a:t>
            </a:r>
            <a:endParaRPr lang="en-US" sz="17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682935" y="384048"/>
            <a:ext cx="8229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 anchor="ctr"/>
          <a:lstStyle>
            <a:lvl1pPr>
              <a:defRPr sz="1100">
                <a:solidFill>
                  <a:srgbClr val="5F6E80"/>
                </a:solidFill>
                <a:latin typeface="Microsoft YaHei"/>
                <a:ea typeface="Microsoft YaHei"/>
                <a:cs typeface="Microsoft YaHei"/>
              </a:defRPr>
            </a:lvl1pPr>
          </a:lstStyle>
          <a:p>
            <a:pPr algn="r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3"/>
          <p:cNvSpPr/>
          <p:nvPr>
            <p:ph idx="103" type="title" hasCustomPrompt="1"/>
          </p:nvPr>
        </p:nvSpPr>
        <p:spPr>
          <a:xfrm>
            <a:off x="685800" y="868680"/>
            <a:ext cx="1082009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14233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停下来，做一次判断</a:t>
            </a:r>
            <a:endParaRPr lang="en-US" sz="3000" dirty="0"/>
          </a:p>
        </p:txBody>
      </p:sp>
      <p:sp>
        <p:nvSpPr>
          <p:cNvPr id="3" name="prediction card"/>
          <p:cNvSpPr/>
          <p:nvPr/>
        </p:nvSpPr>
        <p:spPr>
          <a:xfrm>
            <a:off x="685800" y="1874520"/>
            <a:ext cx="6355080" cy="4343400"/>
          </a:xfrm>
          <a:prstGeom prst="roundRect">
            <a:avLst>
              <a:gd name="adj" fmla="val 2105"/>
            </a:avLst>
          </a:prstGeom>
          <a:solidFill>
            <a:srgbClr val="F2F5F9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1097280" y="2240280"/>
            <a:ext cx="5486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spc="100" kern="0" dirty="0">
                <a:solidFill>
                  <a:srgbClr val="2F5BB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课堂预测</a:t>
            </a:r>
            <a:endParaRPr lang="en-US" sz="1300" dirty="0"/>
          </a:p>
        </p:txBody>
      </p:sp>
      <p:sp>
        <p:nvSpPr>
          <p:cNvPr id="5" name="Text 3"/>
          <p:cNvSpPr txBox="1"/>
          <p:nvPr/>
        </p:nvSpPr>
        <p:spPr>
          <a:xfrm>
            <a:off x="1097280" y="2697480"/>
            <a:ext cx="553212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2400" dirty="0">
                <a:solidFill>
                  <a:srgbClr val="14233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检查四个角、中心、奇数size；偶数输入应报错或明确中心定义。</a:t>
            </a:r>
            <a:endParaRPr lang="en-US" sz="2400" dirty="0"/>
          </a:p>
        </p:txBody>
      </p:sp>
      <p:sp>
        <p:nvSpPr>
          <p:cNvPr id="6" name="Text 4"/>
          <p:cNvSpPr txBox="1"/>
          <p:nvPr/>
        </p:nvSpPr>
        <p:spPr>
          <a:xfrm>
            <a:off x="1097280" y="5532120"/>
            <a:ext cx="5532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5F6E8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作业 A03  ·  完整示例 / 填空 / 迁移</a:t>
            </a:r>
            <a:endParaRPr lang="en-US" sz="1400" dirty="0"/>
          </a:p>
        </p:txBody>
      </p:sp>
      <p:sp>
        <p:nvSpPr>
          <p:cNvPr id="7" name="exit question card"/>
          <p:cNvSpPr/>
          <p:nvPr/>
        </p:nvSpPr>
        <p:spPr>
          <a:xfrm>
            <a:off x="7315200" y="1874520"/>
            <a:ext cx="4187952" cy="4343400"/>
          </a:xfrm>
          <a:prstGeom prst="roundRect">
            <a:avLst>
              <a:gd name="adj" fmla="val 2183"/>
            </a:avLst>
          </a:prstGeom>
          <a:solidFill>
            <a:srgbClr val="0D1B2E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7726680" y="2240280"/>
            <a:ext cx="33832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spc="100" kern="0" dirty="0">
                <a:solidFill>
                  <a:srgbClr val="F5B54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退出题</a:t>
            </a:r>
            <a:endParaRPr lang="en-US" sz="1300" dirty="0"/>
          </a:p>
        </p:txBody>
      </p:sp>
      <p:sp>
        <p:nvSpPr>
          <p:cNvPr id="9" name="Text 7"/>
          <p:cNvSpPr txBox="1"/>
          <p:nvPr/>
        </p:nvSpPr>
        <p:spPr>
          <a:xfrm>
            <a:off x="7726680" y="2697480"/>
            <a:ext cx="3383280" cy="3108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24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shuffle后如何保证预测回到原坐标？</a:t>
            </a:r>
            <a:endParaRPr lang="en-US" sz="2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682935" y="384048"/>
            <a:ext cx="8229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 anchor="ctr"/>
          <a:lstStyle>
            <a:lvl1pPr>
              <a:defRPr sz="1100">
                <a:solidFill>
                  <a:srgbClr val="5F6E80"/>
                </a:solidFill>
                <a:latin typeface="Microsoft YaHei"/>
                <a:ea typeface="Microsoft YaHei"/>
                <a:cs typeface="Microsoft YaHei"/>
              </a:defRPr>
            </a:lvl1pPr>
          </a:lstStyle>
          <a:p>
            <a:pPr algn="r"/>
            <a:fld id="{F7021451-1387-4CA6-816F-3879F97B5CBC}" type="slidenum">
              <a:rPr b="0" lang="en-US"/>
              <a:t>11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3"/>
          <p:cNvSpPr/>
          <p:nvPr>
            <p:ph idx="104" type="title" hasCustomPrompt="1"/>
          </p:nvPr>
        </p:nvSpPr>
        <p:spPr>
          <a:xfrm>
            <a:off x="685800" y="868680"/>
            <a:ext cx="1082009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结论要有边界</a:t>
            </a:r>
            <a:endParaRPr lang="en-US" sz="3000" dirty="0"/>
          </a:p>
        </p:txBody>
      </p:sp>
      <p:sp>
        <p:nvSpPr>
          <p:cNvPr id="3" name="known"/>
          <p:cNvSpPr/>
          <p:nvPr/>
        </p:nvSpPr>
        <p:spPr>
          <a:xfrm>
            <a:off x="685800" y="1920240"/>
            <a:ext cx="5272888" cy="2743200"/>
          </a:xfrm>
          <a:prstGeom prst="roundRect">
            <a:avLst>
              <a:gd name="adj" fmla="val 3333"/>
            </a:avLst>
          </a:prstGeom>
          <a:solidFill>
            <a:srgbClr val="16294A"/>
          </a:solidFill>
          <a:ln/>
        </p:spPr>
      </p:sp>
      <p:sp>
        <p:nvSpPr>
          <p:cNvPr id="4" name="tag"/>
          <p:cNvSpPr/>
          <p:nvPr/>
        </p:nvSpPr>
        <p:spPr>
          <a:xfrm>
            <a:off x="1051560" y="2286000"/>
            <a:ext cx="786384" cy="347472"/>
          </a:xfrm>
          <a:prstGeom prst="roundRect">
            <a:avLst>
              <a:gd name="adj" fmla="val 18421"/>
            </a:avLst>
          </a:prstGeom>
          <a:solidFill>
            <a:srgbClr val="1F8FB8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1051560" y="2286000"/>
            <a:ext cx="786384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已知</a:t>
            </a:r>
            <a:endParaRPr lang="en-US" sz="1400" dirty="0"/>
          </a:p>
        </p:txBody>
      </p:sp>
      <p:sp>
        <p:nvSpPr>
          <p:cNvPr id="6" name="Text 4"/>
          <p:cNvSpPr txBox="1"/>
          <p:nvPr/>
        </p:nvSpPr>
        <p:spPr>
          <a:xfrm>
            <a:off x="1051560" y="2926080"/>
            <a:ext cx="4541368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24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patch重叠改变评估问题</a:t>
            </a:r>
            <a:endParaRPr lang="en-US" sz="2400" dirty="0"/>
          </a:p>
        </p:txBody>
      </p:sp>
      <p:sp>
        <p:nvSpPr>
          <p:cNvPr id="7" name="boundary"/>
          <p:cNvSpPr/>
          <p:nvPr/>
        </p:nvSpPr>
        <p:spPr>
          <a:xfrm>
            <a:off x="6233008" y="1920240"/>
            <a:ext cx="5272888" cy="2743200"/>
          </a:xfrm>
          <a:prstGeom prst="roundRect">
            <a:avLst>
              <a:gd name="adj" fmla="val 3333"/>
            </a:avLst>
          </a:prstGeom>
          <a:solidFill>
            <a:srgbClr val="16294A"/>
          </a:solidFill>
          <a:ln/>
        </p:spPr>
      </p:sp>
      <p:sp>
        <p:nvSpPr>
          <p:cNvPr id="8" name="tag"/>
          <p:cNvSpPr/>
          <p:nvPr/>
        </p:nvSpPr>
        <p:spPr>
          <a:xfrm>
            <a:off x="6598768" y="2286000"/>
            <a:ext cx="786384" cy="347472"/>
          </a:xfrm>
          <a:prstGeom prst="roundRect">
            <a:avLst>
              <a:gd name="adj" fmla="val 18421"/>
            </a:avLst>
          </a:prstGeom>
          <a:solidFill>
            <a:srgbClr val="E8752A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6598768" y="2286000"/>
            <a:ext cx="786384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边界</a:t>
            </a:r>
            <a:endParaRPr lang="en-US" sz="1400" dirty="0"/>
          </a:p>
        </p:txBody>
      </p:sp>
      <p:sp>
        <p:nvSpPr>
          <p:cNvPr id="10" name="Text 8"/>
          <p:cNvSpPr txBox="1"/>
          <p:nvPr/>
        </p:nvSpPr>
        <p:spPr>
          <a:xfrm>
            <a:off x="6598768" y="2926080"/>
            <a:ext cx="4541368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24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更大窗口不保证更好</a:t>
            </a:r>
            <a:endParaRPr lang="en-US" sz="2400" dirty="0"/>
          </a:p>
        </p:txBody>
      </p:sp>
      <p:sp>
        <p:nvSpPr>
          <p:cNvPr id="11" name="Text 9"/>
          <p:cNvSpPr txBox="1"/>
          <p:nvPr/>
        </p:nvSpPr>
        <p:spPr>
          <a:xfrm>
            <a:off x="685800" y="5230368"/>
            <a:ext cx="1082009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A9BAC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来源、复现入口与辅助提示见讲者备注。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682935" y="384048"/>
            <a:ext cx="8229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 anchor="ctr"/>
          <a:lstStyle>
            <a:lvl1pPr>
              <a:defRPr sz="1100">
                <a:solidFill>
                  <a:srgbClr val="A9BACD"/>
                </a:solidFill>
                <a:latin typeface="Microsoft YaHei"/>
                <a:ea typeface="Microsoft YaHei"/>
                <a:cs typeface="Microsoft YaHei"/>
              </a:defRPr>
            </a:lvl1pPr>
          </a:lstStyle>
          <a:p>
            <a:pPr algn="r"/>
            <a:fld id="{F7021451-1387-4CA6-816F-3879F97B5CBC}" type="slidenum">
              <a:rPr b="0" lang="en-US"/>
              <a:t>12</a:t>
            </a:fld>
            <a:endParaRPr 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HSI-Learning Spectral">
      <a:dk1>
        <a:srgbClr val="14233A"/>
      </a:dk1>
      <a:lt1>
        <a:srgbClr val="FFFFFF"/>
      </a:lt1>
      <a:dk2>
        <a:srgbClr val="0D1B2E"/>
      </a:dk2>
      <a:lt2>
        <a:srgbClr val="F2F5F9"/>
      </a:lt2>
      <a:accent1>
        <a:srgbClr val="2F5BB7"/>
      </a:accent1>
      <a:accent2>
        <a:srgbClr val="1F8FB8"/>
      </a:accent2>
      <a:accent3>
        <a:srgbClr val="2E9E4F"/>
      </a:accent3>
      <a:accent4>
        <a:srgbClr val="E8752A"/>
      </a:accent4>
      <a:accent5>
        <a:srgbClr val="5B3FA0"/>
      </a:accent5>
      <a:accent6>
        <a:srgbClr val="D33A2C"/>
      </a:accent6>
      <a:hlink>
        <a:srgbClr val="2F5BB7"/>
      </a:hlink>
      <a:folHlink>
        <a:srgbClr val="5B3FA0"/>
      </a:folHlink>
    </a:clrScheme>
    <a:fontScheme name="Office">
      <a:majorFont>
        <a:latin typeface="Microsoft YaHei"/>
        <a:ea typeface="Microsoft YaHei"/>
        <a:cs typeface=""/>
        <a:font script="Jpan" typeface="游ゴシック Light"/>
        <a:font script="Hang" typeface="맑은 고딕"/>
        <a:font script="Hans" typeface="Microsoft YaHei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Microsoft YaHei"/>
        <a:ea typeface="Microsoft YaHei"/>
        <a:cs typeface=""/>
        <a:font script="Jpan" typeface="游ゴシック"/>
        <a:font script="Hang" typeface="맑은 고딕"/>
        <a:font script="Hans" typeface="Microsoft YaHei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12</Slides>
  <Notes>12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5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L04 一个像元怎样变成模型输入？</dc:title>
  <dc:subject>PptxGenJS Presentation</dc:subject>
  <dc:creator>HSI-Learning</dc:creator>
  <cp:lastModifiedBy>HSI-Learning</cp:lastModifiedBy>
  <cp:revision>1</cp:revision>
  <dcterms:created xsi:type="dcterms:W3CDTF">2026-10-10T13:42:18Z</dcterms:created>
  <dcterms:modified xsi:type="dcterms:W3CDTF">2026-10-10T13:42:18Z</dcterms:modified>
</cp:coreProperties>
</file>