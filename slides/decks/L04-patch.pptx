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7998738374565" /><Relationship Type="http://schemas.openxmlformats.org/officeDocument/2006/relationships/extended-properties" Target="/docProps/app.xml" Id="Rd62b1efb4afb4279" /><Relationship Type="http://schemas.openxmlformats.org/officeDocument/2006/relationships/officeDocument" Target="/ppt/presentation.xml" Id="Rf84dca388438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d3038a6224808"/>
  </p:sldMasterIdLst>
  <p:notesMasterIdLst>
    <p:notesMasterId xmlns:r="http://schemas.openxmlformats.org/officeDocument/2006/relationships" r:id="Rc1a9b46567cb4fe1"/>
  </p:notesMasterIdLst>
  <p:sldIdLst>
    <p:sldId xmlns:r="http://schemas.openxmlformats.org/officeDocument/2006/relationships" id="256" r:id="R4c8eab912a6a4df9"/>
    <p:sldId xmlns:r="http://schemas.openxmlformats.org/officeDocument/2006/relationships" id="257" r:id="Raa00e3555df54cd7"/>
    <p:sldId xmlns:r="http://schemas.openxmlformats.org/officeDocument/2006/relationships" id="258" r:id="Ra6dac1459e8b4cf3"/>
    <p:sldId xmlns:r="http://schemas.openxmlformats.org/officeDocument/2006/relationships" id="259" r:id="Re25720d58d784034"/>
    <p:sldId xmlns:r="http://schemas.openxmlformats.org/officeDocument/2006/relationships" id="260" r:id="R61a6ac75bf464955"/>
    <p:sldId xmlns:r="http://schemas.openxmlformats.org/officeDocument/2006/relationships" id="261" r:id="R8b2c2442dbaf494d"/>
    <p:sldId xmlns:r="http://schemas.openxmlformats.org/officeDocument/2006/relationships" id="262" r:id="R95a2ca3a7fe84ec4"/>
    <p:sldId xmlns:r="http://schemas.openxmlformats.org/officeDocument/2006/relationships" id="263" r:id="R66dfc3d1a04a40fe"/>
    <p:sldId xmlns:r="http://schemas.openxmlformats.org/officeDocument/2006/relationships" id="264" r:id="R9d1180e9d0fb4ad7"/>
    <p:sldId xmlns:r="http://schemas.openxmlformats.org/officeDocument/2006/relationships" id="265" r:id="Rc62887efb95f46c1"/>
    <p:sldId xmlns:r="http://schemas.openxmlformats.org/officeDocument/2006/relationships" id="266" r:id="R318a3acdd84b4f75"/>
    <p:sldId xmlns:r="http://schemas.openxmlformats.org/officeDocument/2006/relationships" id="267" r:id="R0fb05c10998f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d6aab5d18a4b7f" /><Relationship Type="http://schemas.openxmlformats.org/officeDocument/2006/relationships/slideMaster" Target="/ppt/slideMasters/slideMaster1.xml" Id="R02dd3038a6224808" /><Relationship Type="http://schemas.openxmlformats.org/officeDocument/2006/relationships/notesMaster" Target="/ppt/notesMasters/notesMaster1.xml" Id="Rc1a9b46567cb4fe1" /><Relationship Type="http://schemas.openxmlformats.org/officeDocument/2006/relationships/presProps" Target="/ppt/presProps.xml" Id="Rd6404a0bd7444a42" /><Relationship Type="http://schemas.openxmlformats.org/officeDocument/2006/relationships/tableStyles" Target="/ppt/tableStyles.xml" Id="Rc1fb49bdfcb44fe4" /><Relationship Type="http://schemas.openxmlformats.org/officeDocument/2006/relationships/slide" Target="/ppt/slides/slide1.xml" Id="R4c8eab912a6a4df9" /><Relationship Type="http://schemas.openxmlformats.org/officeDocument/2006/relationships/slide" Target="/ppt/slides/slide2.xml" Id="Raa00e3555df54cd7" /><Relationship Type="http://schemas.openxmlformats.org/officeDocument/2006/relationships/slide" Target="/ppt/slides/slide3.xml" Id="Ra6dac1459e8b4cf3" /><Relationship Type="http://schemas.openxmlformats.org/officeDocument/2006/relationships/slide" Target="/ppt/slides/slide4.xml" Id="Re25720d58d784034" /><Relationship Type="http://schemas.openxmlformats.org/officeDocument/2006/relationships/slide" Target="/ppt/slides/slide5.xml" Id="R61a6ac75bf464955" /><Relationship Type="http://schemas.openxmlformats.org/officeDocument/2006/relationships/slide" Target="/ppt/slides/slide6.xml" Id="R8b2c2442dbaf494d" /><Relationship Type="http://schemas.openxmlformats.org/officeDocument/2006/relationships/slide" Target="/ppt/slides/slide7.xml" Id="R95a2ca3a7fe84ec4" /><Relationship Type="http://schemas.openxmlformats.org/officeDocument/2006/relationships/slide" Target="/ppt/slides/slide8.xml" Id="R66dfc3d1a04a40fe" /><Relationship Type="http://schemas.openxmlformats.org/officeDocument/2006/relationships/slide" Target="/ppt/slides/slide9.xml" Id="R9d1180e9d0fb4ad7" /><Relationship Type="http://schemas.openxmlformats.org/officeDocument/2006/relationships/slide" Target="/ppt/slides/slide10.xml" Id="Rc62887efb95f46c1" /><Relationship Type="http://schemas.openxmlformats.org/officeDocument/2006/relationships/slide" Target="/ppt/slides/slide11.xml" Id="R318a3acdd84b4f75" /><Relationship Type="http://schemas.openxmlformats.org/officeDocument/2006/relationships/slide" Target="/ppt/slides/slide12.xml" Id="R0fb05c10998f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3be64c838941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90ac622724736" /><Relationship Type="http://schemas.openxmlformats.org/officeDocument/2006/relationships/notesMaster" Target="/ppt/notesMasters/notesMaster1.xml" Id="Rd8dcdaf9066c49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7910fab34485f" /><Relationship Type="http://schemas.openxmlformats.org/officeDocument/2006/relationships/notesMaster" Target="/ppt/notesMasters/notesMaster1.xml" Id="Racbfe7271a9541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5adb04afb4362" /><Relationship Type="http://schemas.openxmlformats.org/officeDocument/2006/relationships/notesMaster" Target="/ppt/notesMasters/notesMaster1.xml" Id="R5cd9c918965f4a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35c92d974746c3" /><Relationship Type="http://schemas.openxmlformats.org/officeDocument/2006/relationships/notesMaster" Target="/ppt/notesMasters/notesMaster1.xml" Id="Ra6ec9123d66943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3fc8c0b56541ff" /><Relationship Type="http://schemas.openxmlformats.org/officeDocument/2006/relationships/notesMaster" Target="/ppt/notesMasters/notesMaster1.xml" Id="R8ba0e28d0e2848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c247700be4454" /><Relationship Type="http://schemas.openxmlformats.org/officeDocument/2006/relationships/notesMaster" Target="/ppt/notesMasters/notesMaster1.xml" Id="R65ea5fd49de142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0ee4c92f3b456e" /><Relationship Type="http://schemas.openxmlformats.org/officeDocument/2006/relationships/notesMaster" Target="/ppt/notesMasters/notesMaster1.xml" Id="Ra789f6873ed94d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c9524761f64258" /><Relationship Type="http://schemas.openxmlformats.org/officeDocument/2006/relationships/notesMaster" Target="/ppt/notesMasters/notesMaster1.xml" Id="R30eae789fd0542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21c83c019446d1" /><Relationship Type="http://schemas.openxmlformats.org/officeDocument/2006/relationships/notesMaster" Target="/ppt/notesMasters/notesMaster1.xml" Id="R5afe91ea7cad40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35f9aee4364b52" /><Relationship Type="http://schemas.openxmlformats.org/officeDocument/2006/relationships/notesMaster" Target="/ppt/notesMasters/notesMaster1.xml" Id="R90e3cbf743fa45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1348703acc478d" /><Relationship Type="http://schemas.openxmlformats.org/officeDocument/2006/relationships/notesMaster" Target="/ppt/notesMasters/notesMaster1.xml" Id="R999fde4c698d4b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b0f74ea6cd4a90" /><Relationship Type="http://schemas.openxmlformats.org/officeDocument/2006/relationships/notesMaster" Target="/ppt/notesMasters/notesMaster1.xml" Id="R8594057f3d84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开场问题：shuffle后如何保证预测回到原坐标？</a:t>
            </a:r>
          </a:p>
          <a:p xmlns:a="http://schemas.openxmlformats.org/drawingml/2006/main">
            <a:r>
              <a:t>原标题：一个像元怎样变成模型输入？</a:t>
            </a:r>
          </a:p>
          <a:p xmlns:a="http://schemas.openxmlformats.org/drawingml/2006/main">
            <a:r>
              <a:t>参考节奏：5分钟回顾，10分钟手算，10分钟代码，12分钟练习，5分钟错误分析，3分钟退出题。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  <a:p xmlns:a="http://schemas.openxmlformats.org/drawingml/2006/main">
            <a:r>
              <a:t>封面图源：11_patch_hybridsn_classroom.ipynb / toy-patches / 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交付物以代码、配置、输出和解释为准。先做完整示例，再做填空与迁移任务。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图来自当前toy-patches：中心及四角的padding数值逐格核对。</a:t>
            </a:r>
          </a:p>
          <a:p xmlns:a="http://schemas.openxmlformats.org/drawingml/2006/main">
            <a:r>
              <a:t>Center label / Neighborhood / Unlabeled background</a:t>
            </a:r>
          </a:p>
          <a:p xmlns:a="http://schemas.openxmlformats.org/drawingml/2006/main">
            <a:r>
              <a:t>图源：11_patch_hybridsn_classroom.ipynb / toy-patches / 0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让学生读出中心值12，检查切片中间也是12。</a:t>
            </a:r>
          </a:p>
          <a:p xmlns:a="http://schemas.openxmlformats.org/drawingml/2006/main">
            <a:r>
              <a:t>Coordinate / Radius 1 / 3×3 patch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transpose不是随意reshape；数值位置必须对应。</a:t>
            </a:r>
          </a:p>
          <a:p xmlns:a="http://schemas.openxmlformats.org/drawingml/2006/main">
            <a:r>
              <a:t>(9,9,12) / (12,9,9) / (B,12,9,9)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同一中心位置对比两种padding，不能把更漂亮的边界当性能证明。</a:t>
            </a:r>
          </a:p>
          <a:p xmlns:a="http://schemas.openxmlformats.org/drawingml/2006/main">
            <a:r>
              <a:t>Constant / Reflect / Controlled comparison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当前协议E的SVM全图显示；test错误图另看maps的第二张输出。</a:t>
            </a:r>
          </a:p>
          <a:p xmlns:a="http://schemas.openxmlformats.org/drawingml/2006/main">
            <a:r>
              <a:t>Prediction map / Background masked / Test metrics separate</a:t>
            </a:r>
          </a:p>
          <a:p xmlns:a="http://schemas.openxmlformats.org/drawingml/2006/main">
            <a:r>
              <a:t>图源：02_svm_baseline.ipynb / maps / 0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不能把89%说成总体泄漏量或性能增益。</a:t>
            </a:r>
          </a:p>
          <a:p xmlns:a="http://schemas.openxmlformats.org/drawingml/2006/main">
            <a:r>
              <a:t>Pair overlap 72/81 / Sampling positions / Observed dependence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Notebook02 spatial-split给出位置清单。空间划分同时改变覆盖和难度，不称净泄漏效应。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只运行指定短cell；完整训练已在课前完成。缺资产时使用已执行输出备用并说明。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停下来收集预测，发现错误后重新解释；不等到课后作业才知道学生没理解。</a:t>
            </a:r>
          </a:p>
          <a:p xmlns:a="http://schemas.openxmlformats.org/drawingml/2006/main">
            <a:r>
              <a:t>作业：A03；完整示例 / 填空 / 迁移；提交代码、配置、结果和限制。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区分已观察事实、候选解释与下一项检验。</a:t>
            </a:r>
          </a:p>
          <a:p xmlns:a="http://schemas.openxmlformats.org/drawingml/2006/main">
            <a:r>
              <a:t>退出题：shuffle后如何保证预测回到原坐标？</a:t>
            </a:r>
          </a:p>
          <a:p xmlns:a="http://schemas.openxmlformats.org/drawingml/2006/main">
            <a:r>
              <a:t>课堂入口: 11_patch_hybridsn_classroom.ipynb</a:t>
            </a:r>
          </a:p>
          <a:p xmlns:a="http://schemas.openxmlformats.org/drawingml/2006/main">
            <a:r>
              <a:t>定位: toy-patches, reshape-check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AI辅助：为这个patch函数设计边界测试，用5×5可手算数组。给出输入、期望值和断言；不要用被测函数自身生成期望答案。</a:t>
            </a:r>
          </a:p>
          <a:p xmlns:a="http://schemas.openxmlformats.org/drawingml/2006/main">
            <a:r>
              <a:t>人工核验：手算首末坐标和中心值，确保测试不是循环证明。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23f9ca470747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d0c2b233246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6c7b79c634b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99c9e0bb442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e9b77570846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c7544d51e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59C027-74D7-4AF6-8BE5-AC897CA95F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024B70-EF61-42A3-BFCF-8D1EF6E211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D1AF08-743F-4582-98FB-9B36732E0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637E67-B98A-4F59-AD46-7C9044EB1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81409A-A012-4A90-82F9-CD8B518505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FEE326-B801-4933-BC57-B3A97A00E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6DD80-D3FD-45AD-B353-C9D5AB695B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B613F8-F9DA-45B0-9E3D-206B4AD19B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B40DAB-B9E1-4D86-BC42-FE31BFF7BF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9B4AEE-3851-47F0-9481-6BCCA2B9C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50468a07c4c91" /><Relationship Type="http://schemas.openxmlformats.org/officeDocument/2006/relationships/slideLayout" Target="/ppt/slideLayouts/slideLayout1.xml" Id="R9434382742d94ce3" /><Relationship Type="http://schemas.openxmlformats.org/officeDocument/2006/relationships/slideLayout" Target="/ppt/slideLayouts/slideLayout2.xml" Id="Rc13f559caa0e4034" /><Relationship Type="http://schemas.openxmlformats.org/officeDocument/2006/relationships/slideLayout" Target="/ppt/slideLayouts/slideLayout3.xml" Id="R612f5eeacfc54386" /><Relationship Type="http://schemas.openxmlformats.org/officeDocument/2006/relationships/slideLayout" Target="/ppt/slideLayouts/slideLayout4.xml" Id="R181af2ff67504c45" /><Relationship Type="http://schemas.openxmlformats.org/officeDocument/2006/relationships/slideLayout" Target="/ppt/slideLayouts/slideLayout5.xml" Id="R0ba91d0c621f48ef" /><Relationship Type="http://schemas.openxmlformats.org/officeDocument/2006/relationships/slideLayout" Target="/ppt/slideLayouts/slideLayout6.xml" Id="R1c0916bc003c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4382742d94ce3"/>
    <p:sldLayoutId xmlns:r="http://schemas.openxmlformats.org/officeDocument/2006/relationships" id="2147483650" r:id="Rc13f559caa0e4034"/>
    <p:sldLayoutId xmlns:r="http://schemas.openxmlformats.org/officeDocument/2006/relationships" id="2147483651" r:id="R612f5eeacfc54386"/>
    <p:sldLayoutId xmlns:r="http://schemas.openxmlformats.org/officeDocument/2006/relationships" id="2147483652" r:id="R181af2ff67504c45"/>
    <p:sldLayoutId xmlns:r="http://schemas.openxmlformats.org/officeDocument/2006/relationships" id="2147483653" r:id="R0ba91d0c621f48ef"/>
    <p:sldLayoutId xmlns:r="http://schemas.openxmlformats.org/officeDocument/2006/relationships" id="2147483654" r:id="R1c0916bc003c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8a192c58b4d0f" /><Relationship Type="http://schemas.openxmlformats.org/officeDocument/2006/relationships/image" Target="/ppt/media/image.png" Id="Rf575106e99f84e2d" /><Relationship Type="http://schemas.openxmlformats.org/officeDocument/2006/relationships/notesSlide" Target="/ppt/notesSlides/notesSlide1.xml" Id="R318871267ae34b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9cae6bee24821" /><Relationship Type="http://schemas.openxmlformats.org/officeDocument/2006/relationships/notesSlide" Target="/ppt/notesSlides/notesSlide2.xml" Id="Rdfdf74241487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64f70ca6e4a32" /><Relationship Type="http://schemas.openxmlformats.org/officeDocument/2006/relationships/image" Target="/ppt/media/image2.png" Id="R0631e337930f47cd" /><Relationship Type="http://schemas.openxmlformats.org/officeDocument/2006/relationships/notesSlide" Target="/ppt/notesSlides/notesSlide3.xml" Id="Rca246327068a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88f7d0fe44807" /><Relationship Type="http://schemas.openxmlformats.org/officeDocument/2006/relationships/image" Target="/ppt/media/image3.png" Id="Re9ca2820dd1240ff" /><Relationship Type="http://schemas.openxmlformats.org/officeDocument/2006/relationships/notesSlide" Target="/ppt/notesSlides/notesSlide4.xml" Id="R84c016652d8b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8c8bfad2c468a" /><Relationship Type="http://schemas.openxmlformats.org/officeDocument/2006/relationships/notesSlide" Target="/ppt/notesSlides/notesSlide5.xml" Id="Ref864825bc0944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2652d0c9249ca" /><Relationship Type="http://schemas.openxmlformats.org/officeDocument/2006/relationships/notesSlide" Target="/ppt/notesSlides/notesSlide6.xml" Id="R00a2e11e66fe4e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8f923981d4546" /><Relationship Type="http://schemas.openxmlformats.org/officeDocument/2006/relationships/image" Target="/ppt/media/image4.png" Id="Rb872c6ba29d74be3" /><Relationship Type="http://schemas.openxmlformats.org/officeDocument/2006/relationships/notesSlide" Target="/ppt/notesSlides/notesSlide7.xml" Id="R4ea028aede8444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11741a9bd4c37" /><Relationship Type="http://schemas.openxmlformats.org/officeDocument/2006/relationships/notesSlide" Target="/ppt/notesSlides/notesSlide8.xml" Id="R69e78b32a1cf4a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2c7b49a764d35" /><Relationship Type="http://schemas.openxmlformats.org/officeDocument/2006/relationships/notesSlide" Target="/ppt/notesSlides/notesSlide9.xml" Id="Re65aac5686a04b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02a377e0d4e87" /><Relationship Type="http://schemas.openxmlformats.org/officeDocument/2006/relationships/notesSlide" Target="/ppt/notesSlides/notesSlide10.xml" Id="R924b662d656541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47052985f479e" /><Relationship Type="http://schemas.openxmlformats.org/officeDocument/2006/relationships/notesSlide" Target="/ppt/notesSlides/notesSlide11.xml" Id="R65c457f790a448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e9446bab94129" /><Relationship Type="http://schemas.openxmlformats.org/officeDocument/2006/relationships/notesSlide" Target="/ppt/notesSlides/notesSlide12.xml" Id="R14653e2f7031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2A2DDEC3-5FF7-4C60-AAC5-FB1A3B70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78F085F-F318-42B2-AEB2-E259F77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7AB16-C252-441D-8612-5E3F51B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745AC-F11A-4B96-87C0-2A414EB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从像元&#10;构建 Patch">
            <a:extLst xmlns:a="http://schemas.openxmlformats.org/drawingml/2006/main">
              <a:ext uri="{FF2B5EF4-FFF2-40B4-BE49-F238E27FC236}">
                <a16:creationId xmlns:a16="http://schemas.microsoft.com/office/drawing/2014/main" id="{1C91BC49-E3D0-44A6-BEF2-7DD787D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从像元</a:t>
            </a:r>
          </a:p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构建 Patch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17A25-446B-4F4A-859A-7BAF9DE55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5106e99f84e2d"/>
          <a:stretch xmlns:a="http://schemas.openxmlformats.org/drawingml/2006/main"/>
        </p:blipFill>
        <p:spPr>
          <a:xfrm xmlns:a="http://schemas.openxmlformats.org/drawingml/2006/main">
            <a:off x="6591300" y="2639240"/>
            <a:ext cx="4914900" cy="110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3FF78-8C86-40BB-813C-689FC06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中心、邻域、padding与坐标">
            <a:extLst xmlns:a="http://schemas.openxmlformats.org/drawingml/2006/main">
              <a:ext uri="{FF2B5EF4-FFF2-40B4-BE49-F238E27FC236}">
                <a16:creationId xmlns:a16="http://schemas.microsoft.com/office/drawing/2014/main" id="{9AE76232-8B48-4E84-AE56-1A35001E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中心、邻域、padding与坐标</a:t>
            </a:r>
          </a:p>
        </p:txBody>
      </p:sp>
      <p:sp>
        <p:nvSpPr>
          <p:cNvPr id="9" name="先修  /  L01/L02">
            <a:extLst xmlns:a="http://schemas.openxmlformats.org/drawingml/2006/main">
              <a:ext uri="{FF2B5EF4-FFF2-40B4-BE49-F238E27FC236}">
                <a16:creationId xmlns:a16="http://schemas.microsoft.com/office/drawing/2014/main" id="{B7CD707F-C846-49CC-A7CD-60909CB2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先修  /  L01/L02</a:t>
            </a:r>
          </a:p>
        </p:txBody>
      </p:sp>
    </p:spTree>
    <p:extLst>
      <p:ext uri="{BB962C8B-B14F-4D97-AF65-F5344CB8AC3E}">
        <p14:creationId xmlns:p14="http://schemas.microsoft.com/office/powerpoint/2010/main" val="1411736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8727A745-ABD5-4710-ACE8-F436B65C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D43A61F1-B1A8-48D6-977B-0CC18F8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这节课，你将完成什么">
            <a:extLst xmlns:a="http://schemas.openxmlformats.org/drawingml/2006/main">
              <a:ext uri="{FF2B5EF4-FFF2-40B4-BE49-F238E27FC236}">
                <a16:creationId xmlns:a16="http://schemas.microsoft.com/office/drawing/2014/main" id="{93214E5F-AC79-4711-874C-0F4BF8C5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这节课，你将完成什么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0ADAD-D40F-47E0-B7CD-6F15097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C3A63DE-7908-4F13-BE80-C2D9987E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tch提取断言">
            <a:extLst xmlns:a="http://schemas.openxmlformats.org/drawingml/2006/main">
              <a:ext uri="{FF2B5EF4-FFF2-40B4-BE49-F238E27FC236}">
                <a16:creationId xmlns:a16="http://schemas.microsoft.com/office/drawing/2014/main" id="{AF6B89A0-7995-4475-9E69-6673F865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patch提取断言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5EE2D-C355-4FE1-9D0A-B6EA9E1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19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B0143676-D7A0-4EE8-9892-8117DC72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输入shape表">
            <a:extLst xmlns:a="http://schemas.openxmlformats.org/drawingml/2006/main">
              <a:ext uri="{FF2B5EF4-FFF2-40B4-BE49-F238E27FC236}">
                <a16:creationId xmlns:a16="http://schemas.microsoft.com/office/drawing/2014/main" id="{22B49CD2-A276-4CCD-B434-F522C040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997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输入shape表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DCE31-DD22-43F9-AE91-6204BAFF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BE17FFA6-79C0-4859-90D4-D6E2421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空间重叠说明">
            <a:extLst xmlns:a="http://schemas.openxmlformats.org/drawingml/2006/main">
              <a:ext uri="{FF2B5EF4-FFF2-40B4-BE49-F238E27FC236}">
                <a16:creationId xmlns:a16="http://schemas.microsoft.com/office/drawing/2014/main" id="{4236942C-E2AA-489A-AAB9-52E5979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空间重叠说明</a:t>
            </a:r>
          </a:p>
        </p:txBody>
      </p:sp>
    </p:spTree>
    <p:extLst>
      <p:ext uri="{BB962C8B-B14F-4D97-AF65-F5344CB8AC3E}">
        <p14:creationId xmlns:p14="http://schemas.microsoft.com/office/powerpoint/2010/main" val="686794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535957C1-2253-470C-8539-3418F0E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C9CF3C6B-C0E9-4051-A6CC-66002EF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邻域是输入，中心是监督">
            <a:extLst xmlns:a="http://schemas.openxmlformats.org/drawingml/2006/main">
              <a:ext uri="{FF2B5EF4-FFF2-40B4-BE49-F238E27FC236}">
                <a16:creationId xmlns:a16="http://schemas.microsoft.com/office/drawing/2014/main" id="{7B39D0BF-FA7C-4D53-81DA-3689120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邻域是输入，中心是监督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66518-4334-4C31-A354-66053CF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65983-2878-4DC1-9843-C6A5EC7E38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1e337930f47cd"/>
          <a:stretch xmlns:a="http://schemas.openxmlformats.org/drawingml/2006/main"/>
        </p:blipFill>
        <p:spPr>
          <a:xfrm xmlns:a="http://schemas.openxmlformats.org/drawingml/2006/main">
            <a:off x="685800" y="2757473"/>
            <a:ext cx="10820400" cy="242890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397F5-F767-4FAD-8B34-1D1016F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编号toy数组可手算">
            <a:extLst xmlns:a="http://schemas.openxmlformats.org/drawingml/2006/main">
              <a:ext uri="{FF2B5EF4-FFF2-40B4-BE49-F238E27FC236}">
                <a16:creationId xmlns:a16="http://schemas.microsoft.com/office/drawing/2014/main" id="{917F1E3F-9E46-4921-9071-BC318083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编号toy数组可手算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5E178-F224-4493-9A48-A1E1220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中心标签随原坐标保持">
            <a:extLst xmlns:a="http://schemas.openxmlformats.org/drawingml/2006/main">
              <a:ext uri="{FF2B5EF4-FFF2-40B4-BE49-F238E27FC236}">
                <a16:creationId xmlns:a16="http://schemas.microsoft.com/office/drawing/2014/main" id="{2F27A1B0-97D0-440E-87D4-C631139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中心标签随原坐标保持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491C8-E2D9-48F9-89C7-5FC1427B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四角缺失观测使用明确padding">
            <a:extLst xmlns:a="http://schemas.openxmlformats.org/drawingml/2006/main">
              <a:ext uri="{FF2B5EF4-FFF2-40B4-BE49-F238E27FC236}">
                <a16:creationId xmlns:a16="http://schemas.microsoft.com/office/drawing/2014/main" id="{407E0016-7CE1-4ADF-9050-FAFB5C44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四角缺失观测使用明确padding</a:t>
            </a:r>
          </a:p>
        </p:txBody>
      </p:sp>
    </p:spTree>
    <p:extLst>
      <p:ext uri="{BB962C8B-B14F-4D97-AF65-F5344CB8AC3E}">
        <p14:creationId xmlns:p14="http://schemas.microsoft.com/office/powerpoint/2010/main" val="415543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31DC9CC2-1AAB-4B46-A6FF-2A882A4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70F0E78-BE86-46C7-99C4-4932E803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先在toy数组上手算">
            <a:extLst xmlns:a="http://schemas.openxmlformats.org/drawingml/2006/main">
              <a:ext uri="{FF2B5EF4-FFF2-40B4-BE49-F238E27FC236}">
                <a16:creationId xmlns:a16="http://schemas.microsoft.com/office/drawing/2014/main" id="{E102DF24-9C42-4B1D-BD09-853E1D8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先在toy数组上手算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82E0E-5601-4C75-87F2-399E04E5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5×5数组按行编号">
            <a:extLst xmlns:a="http://schemas.openxmlformats.org/drawingml/2006/main">
              <a:ext uri="{FF2B5EF4-FFF2-40B4-BE49-F238E27FC236}">
                <a16:creationId xmlns:a16="http://schemas.microsoft.com/office/drawing/2014/main" id="{03001BB4-9A7F-4F11-8AF2-A6CAD58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5×5数组按行编号</a:t>
            </a:r>
          </a:p>
        </p:txBody>
      </p:sp>
      <p:sp>
        <p:nvSpPr>
          <p:cNvPr id="6" name="中心(2,2)切3×3">
            <a:extLst xmlns:a="http://schemas.openxmlformats.org/drawingml/2006/main">
              <a:ext uri="{FF2B5EF4-FFF2-40B4-BE49-F238E27FC236}">
                <a16:creationId xmlns:a16="http://schemas.microsoft.com/office/drawing/2014/main" id="{C1006E9D-B952-4904-8454-4CC7C047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中心(2,2)切3×3</a:t>
            </a:r>
          </a:p>
        </p:txBody>
      </p:sp>
      <p:sp>
        <p:nvSpPr>
          <p:cNvPr id="7" name="边角需要明确padding规则">
            <a:extLst xmlns:a="http://schemas.openxmlformats.org/drawingml/2006/main">
              <a:ext uri="{FF2B5EF4-FFF2-40B4-BE49-F238E27FC236}">
                <a16:creationId xmlns:a16="http://schemas.microsoft.com/office/drawing/2014/main" id="{958FD764-5CAD-4E49-B71C-55FAA81C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7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边角需要明确padding规则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3240-E063-487C-9EC9-542F0A133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a2820dd1240ff"/>
          <a:stretch xmlns:a="http://schemas.openxmlformats.org/drawingml/2006/main"/>
        </p:blipFill>
        <p:spPr>
          <a:xfrm xmlns:a="http://schemas.openxmlformats.org/drawingml/2006/main">
            <a:off x="6096000" y="3144476"/>
            <a:ext cx="5410200" cy="4833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B5728-A5E9-4E42-8518-4405565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0" name="&gt;&gt;&gt; patches[2,0,1,1].item()">
            <a:extLst xmlns:a="http://schemas.openxmlformats.org/drawingml/2006/main">
              <a:ext uri="{FF2B5EF4-FFF2-40B4-BE49-F238E27FC236}">
                <a16:creationId xmlns:a16="http://schemas.microsoft.com/office/drawing/2014/main" id="{7685500F-0DBA-4209-957C-006E02DC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2E5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2E50"/>
                </a:solidFill>
                <a:latin typeface="Consolas"/>
                <a:ea typeface="Consolas"/>
                <a:cs typeface="Consolas"/>
              </a:rPr>
              <a:t>&gt;&gt;&gt; patches[2,0,1,1].item()</a:t>
            </a:r>
          </a:p>
        </p:txBody>
      </p:sp>
      <p:sp>
        <p:nvSpPr>
          <p:cNvPr id="11" name="12.0">
            <a:extLst xmlns:a="http://schemas.openxmlformats.org/drawingml/2006/main">
              <a:ext uri="{FF2B5EF4-FFF2-40B4-BE49-F238E27FC236}">
                <a16:creationId xmlns:a16="http://schemas.microsoft.com/office/drawing/2014/main" id="{D81C0986-99B9-465A-9067-159BB75F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12.0</a:t>
            </a:r>
          </a:p>
        </p:txBody>
      </p:sp>
    </p:spTree>
    <p:extLst>
      <p:ext uri="{BB962C8B-B14F-4D97-AF65-F5344CB8AC3E}">
        <p14:creationId xmlns:p14="http://schemas.microsoft.com/office/powerpoint/2010/main" val="1709396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3C6990A2-D39E-4779-B5B9-C005DE5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6B00AF88-C1A9-4F19-BC69-731E394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三次shape变化">
            <a:extLst xmlns:a="http://schemas.openxmlformats.org/drawingml/2006/main">
              <a:ext uri="{FF2B5EF4-FFF2-40B4-BE49-F238E27FC236}">
                <a16:creationId xmlns:a16="http://schemas.microsoft.com/office/drawing/2014/main" id="{478D2343-2038-4D0D-A573-9855F12E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三次shape变化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8169-D889-4314-A514-A9F5EFD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453F186-EE8D-4865-A2AE-51D2084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HWC是数据读取布局">
            <a:extLst xmlns:a="http://schemas.openxmlformats.org/drawingml/2006/main">
              <a:ext uri="{FF2B5EF4-FFF2-40B4-BE49-F238E27FC236}">
                <a16:creationId xmlns:a16="http://schemas.microsoft.com/office/drawing/2014/main" id="{54B09CAF-805B-4D13-9F59-455D114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HWC是数据读取布局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97761C6B-7336-423C-99E6-DF0A7E9A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CHW是2D卷积布局">
            <a:extLst xmlns:a="http://schemas.openxmlformats.org/drawingml/2006/main">
              <a:ext uri="{FF2B5EF4-FFF2-40B4-BE49-F238E27FC236}">
                <a16:creationId xmlns:a16="http://schemas.microsoft.com/office/drawing/2014/main" id="{80DB0799-CD85-4F41-B1D3-EEA68739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CHW是2D卷积布局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F810227-40BF-4579-BC53-064A7804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batch维由loader增加">
            <a:extLst xmlns:a="http://schemas.openxmlformats.org/drawingml/2006/main">
              <a:ext uri="{FF2B5EF4-FFF2-40B4-BE49-F238E27FC236}">
                <a16:creationId xmlns:a16="http://schemas.microsoft.com/office/drawing/2014/main" id="{F9B43F26-4F6B-4FF3-A56E-7DA5C591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batch维由loader增加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6316E-7AFA-4C31-A86B-06269A6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2" name="&gt;&gt;&gt; np.zeros((9,9,12)).transpo">
            <a:extLst xmlns:a="http://schemas.openxmlformats.org/drawingml/2006/main">
              <a:ext uri="{FF2B5EF4-FFF2-40B4-BE49-F238E27FC236}">
                <a16:creationId xmlns:a16="http://schemas.microsoft.com/office/drawing/2014/main" id="{D27F09FC-5891-4AEF-953F-96A995A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40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&gt;&gt;&gt; np.zeros((9,9,12)).transpose(2,0,1).shape</a:t>
            </a:r>
          </a:p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(12, 9, 9)</a:t>
            </a:r>
          </a:p>
        </p:txBody>
      </p:sp>
    </p:spTree>
    <p:extLst>
      <p:ext uri="{BB962C8B-B14F-4D97-AF65-F5344CB8AC3E}">
        <p14:creationId xmlns:p14="http://schemas.microsoft.com/office/powerpoint/2010/main" val="106323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6E6B4277-84E1-433A-BE10-4B73BE4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AF3FA38F-3832-4E9C-9B46-95AB5A01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零填充不是零反射率地物">
            <a:extLst xmlns:a="http://schemas.openxmlformats.org/drawingml/2006/main">
              <a:ext uri="{FF2B5EF4-FFF2-40B4-BE49-F238E27FC236}">
                <a16:creationId xmlns:a16="http://schemas.microsoft.com/office/drawing/2014/main" id="{6E3697ED-22BD-4FE7-BB23-6B43E6AD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零填充不是零反射率地物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F14BC-4C00-4BCC-9139-01BC7728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18C2D3F-EB80-48D8-A24C-2D172362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边缘观测缺失需要约定">
            <a:extLst xmlns:a="http://schemas.openxmlformats.org/drawingml/2006/main">
              <a:ext uri="{FF2B5EF4-FFF2-40B4-BE49-F238E27FC236}">
                <a16:creationId xmlns:a16="http://schemas.microsoft.com/office/drawing/2014/main" id="{B75748EF-9EA1-46DF-8553-7566FEA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边缘观测缺失需要约定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9CB4C2D-5FA0-483C-9696-8335268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PCA后0表示变换空间原点">
            <a:extLst xmlns:a="http://schemas.openxmlformats.org/drawingml/2006/main">
              <a:ext uri="{FF2B5EF4-FFF2-40B4-BE49-F238E27FC236}">
                <a16:creationId xmlns:a16="http://schemas.microsoft.com/office/drawing/2014/main" id="{14767E98-E957-4794-9CC9-B357AD6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PCA后0表示变换空间原点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2082B43-010B-4CD2-A1F9-E727EBCE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更换reflect是实验变量">
            <a:extLst xmlns:a="http://schemas.openxmlformats.org/drawingml/2006/main">
              <a:ext uri="{FF2B5EF4-FFF2-40B4-BE49-F238E27FC236}">
                <a16:creationId xmlns:a16="http://schemas.microsoft.com/office/drawing/2014/main" id="{A52A90E5-2255-4B29-8D1B-E7ED620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更换reflect是实验变量</a:t>
            </a:r>
          </a:p>
        </p:txBody>
      </p:sp>
    </p:spTree>
    <p:extLst>
      <p:ext uri="{BB962C8B-B14F-4D97-AF65-F5344CB8AC3E}">
        <p14:creationId xmlns:p14="http://schemas.microsoft.com/office/powerpoint/2010/main" val="2062666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6DAFBB8A-8599-4598-A188-CB2302EC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4E765774-0F5B-46AB-A531-E8A6FB17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回贴map必须有位置证据">
            <a:extLst xmlns:a="http://schemas.openxmlformats.org/drawingml/2006/main">
              <a:ext uri="{FF2B5EF4-FFF2-40B4-BE49-F238E27FC236}">
                <a16:creationId xmlns:a16="http://schemas.microsoft.com/office/drawing/2014/main" id="{3126878A-E4E0-44E2-B617-DEE8F0E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回贴map必须有位置证据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C0154-9796-4516-AE3A-EFEA33D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2B7B8-9076-43B1-9897-E03CBBC75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2c6ba29d74be3"/>
          <a:stretch xmlns:a="http://schemas.openxmlformats.org/drawingml/2006/main"/>
        </p:blipFill>
        <p:spPr>
          <a:xfrm xmlns:a="http://schemas.openxmlformats.org/drawingml/2006/main">
            <a:off x="2512112" y="2019300"/>
            <a:ext cx="7167775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4E281-5BA6-4465-BDBD-CE0D56C7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7" name="预测按原坐标写回">
            <a:extLst xmlns:a="http://schemas.openxmlformats.org/drawingml/2006/main">
              <a:ext uri="{FF2B5EF4-FFF2-40B4-BE49-F238E27FC236}">
                <a16:creationId xmlns:a16="http://schemas.microsoft.com/office/drawing/2014/main" id="{E46DA8A9-7ADA-4043-BFAD-E586F3C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预测按原坐标写回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D1C2F-BED5-46B8-B5FF-1057E8CA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9" name="背景不评估，显示为黑色">
            <a:extLst xmlns:a="http://schemas.openxmlformats.org/drawingml/2006/main">
              <a:ext uri="{FF2B5EF4-FFF2-40B4-BE49-F238E27FC236}">
                <a16:creationId xmlns:a16="http://schemas.microsoft.com/office/drawing/2014/main" id="{D2D12F1E-3652-48E1-89DE-BBA82EBC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背景不评估，显示为黑色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6D973-4175-426F-8CFD-9CC89B3A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972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11" name="全图显示不等于测试成绩">
            <a:extLst xmlns:a="http://schemas.openxmlformats.org/drawingml/2006/main">
              <a:ext uri="{FF2B5EF4-FFF2-40B4-BE49-F238E27FC236}">
                <a16:creationId xmlns:a16="http://schemas.microsoft.com/office/drawing/2014/main" id="{50A74EFB-BA51-4D06-AD5B-371C7ED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6096000"/>
            <a:ext cx="334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全图显示不等于测试成绩</a:t>
            </a:r>
          </a:p>
        </p:txBody>
      </p:sp>
    </p:spTree>
    <p:extLst>
      <p:ext uri="{BB962C8B-B14F-4D97-AF65-F5344CB8AC3E}">
        <p14:creationId xmlns:p14="http://schemas.microsoft.com/office/powerpoint/2010/main" val="1592862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681A2AA2-11AF-413D-856C-6C8900F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4F250A16-85D0-4E0F-A0A9-825885EA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patch 重叠：这不是小事">
            <a:extLst xmlns:a="http://schemas.openxmlformats.org/drawingml/2006/main">
              <a:ext uri="{FF2B5EF4-FFF2-40B4-BE49-F238E27FC236}">
                <a16:creationId xmlns:a16="http://schemas.microsoft.com/office/drawing/2014/main" id="{B13BEF0E-920A-4760-9EBB-01F3ACF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patch 重叠：这不是小事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AA759-1EBB-4374-8916-9BCFEF01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08882FCD-C1B2-416C-A48F-2F9B9DD2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横移1像元的9×9窗口共享72/81">
            <a:extLst xmlns:a="http://schemas.openxmlformats.org/drawingml/2006/main">
              <a:ext uri="{FF2B5EF4-FFF2-40B4-BE49-F238E27FC236}">
                <a16:creationId xmlns:a16="http://schemas.microsoft.com/office/drawing/2014/main" id="{81AF8C25-1BAE-4536-9E2F-53ABA99C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横移1像元的9×9窗口共享72/81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5A8C05C-E532-4289-94ED-9EA2F815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这个数只描述一对窗口">
            <a:extLst xmlns:a="http://schemas.openxmlformats.org/drawingml/2006/main">
              <a:ext uri="{FF2B5EF4-FFF2-40B4-BE49-F238E27FC236}">
                <a16:creationId xmlns:a16="http://schemas.microsoft.com/office/drawing/2014/main" id="{775A150F-9C76-4430-ACEC-770EB3D3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这个数只描述一对窗口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EF95A191-06BA-4CD8-B837-37E6D269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全数据重叠需结合采样位置统计">
            <a:extLst xmlns:a="http://schemas.openxmlformats.org/drawingml/2006/main">
              <a:ext uri="{FF2B5EF4-FFF2-40B4-BE49-F238E27FC236}">
                <a16:creationId xmlns:a16="http://schemas.microsoft.com/office/drawing/2014/main" id="{BE3206CD-91B7-4618-A144-9DC76E1C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全数据重叠需结合采样位置统计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6C997-64DD-416A-A92F-3D3EFE4C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2" name="&gt;&gt;&gt; 8*9/81  # 相邻窗口共享比例&#10;0.889">
            <a:extLst xmlns:a="http://schemas.openxmlformats.org/drawingml/2006/main">
              <a:ext uri="{FF2B5EF4-FFF2-40B4-BE49-F238E27FC236}">
                <a16:creationId xmlns:a16="http://schemas.microsoft.com/office/drawing/2014/main" id="{87F35E5B-2B9C-46E2-A186-0AA80C1C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40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&gt;&gt;&gt; 8*9/81  # 相邻窗口共享比例</a:t>
            </a:r>
          </a:p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315DAB"/>
                </a:solidFill>
                <a:latin typeface="Consolas"/>
                <a:ea typeface="Consolas"/>
                <a:cs typeface="Consolas"/>
              </a:rPr>
              <a:t>0.889</a:t>
            </a:r>
          </a:p>
        </p:txBody>
      </p:sp>
    </p:spTree>
    <p:extLst>
      <p:ext uri="{BB962C8B-B14F-4D97-AF65-F5344CB8AC3E}">
        <p14:creationId xmlns:p14="http://schemas.microsoft.com/office/powerpoint/2010/main" val="1893202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D9A2B8F4-9AF8-4445-907F-33CFCA8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3AE70DB2-98D7-4A01-AA85-F58E2DC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带缓冲区的空间划分">
            <a:extLst xmlns:a="http://schemas.openxmlformats.org/drawingml/2006/main">
              <a:ext uri="{FF2B5EF4-FFF2-40B4-BE49-F238E27FC236}">
                <a16:creationId xmlns:a16="http://schemas.microsoft.com/office/drawing/2014/main" id="{75FD3A1C-168F-4F4F-9C36-48FDCD5C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带缓冲区的空间划分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15931-A228-4DD6-8690-EA4CB501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边界两侧各留patch半径">
            <a:extLst xmlns:a="http://schemas.openxmlformats.org/drawingml/2006/main">
              <a:ext uri="{FF2B5EF4-FFF2-40B4-BE49-F238E27FC236}">
                <a16:creationId xmlns:a16="http://schemas.microsoft.com/office/drawing/2014/main" id="{3C6E8F23-851B-4C74-A338-FDB2CE9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边界两侧各留patch半径</a:t>
            </a:r>
          </a:p>
        </p:txBody>
      </p:sp>
      <p:sp>
        <p:nvSpPr>
          <p:cNvPr id="6" name="直接检查输入窗口是否共享像元">
            <a:extLst xmlns:a="http://schemas.openxmlformats.org/drawingml/2006/main">
              <a:ext uri="{FF2B5EF4-FFF2-40B4-BE49-F238E27FC236}">
                <a16:creationId xmlns:a16="http://schemas.microsoft.com/office/drawing/2014/main" id="{9281A947-789B-4782-AB77-210814D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直接检查输入窗口是否共享像元</a:t>
            </a:r>
          </a:p>
        </p:txBody>
      </p:sp>
      <p:sp>
        <p:nvSpPr>
          <p:cNvPr id="7" name="先报告每个区域缺席的类别">
            <a:extLst xmlns:a="http://schemas.openxmlformats.org/drawingml/2006/main">
              <a:ext uri="{FF2B5EF4-FFF2-40B4-BE49-F238E27FC236}">
                <a16:creationId xmlns:a16="http://schemas.microsoft.com/office/drawing/2014/main" id="{286F976B-4AA3-4F74-B1DC-E34EF3F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先报告每个区域缺席的类别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C2A7F3B6-3590-49A9-9291-EDA8226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rain region">
            <a:extLst xmlns:a="http://schemas.openxmlformats.org/drawingml/2006/main">
              <a:ext uri="{FF2B5EF4-FFF2-40B4-BE49-F238E27FC236}">
                <a16:creationId xmlns:a16="http://schemas.microsoft.com/office/drawing/2014/main" id="{7BA1FC04-0AE2-430B-A138-26C4DBC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Train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30310-313C-44C6-9D25-8A987802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3EED30A0-D2EC-4BA6-94DA-E2F87414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680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adius margins">
            <a:extLst xmlns:a="http://schemas.openxmlformats.org/drawingml/2006/main">
              <a:ext uri="{FF2B5EF4-FFF2-40B4-BE49-F238E27FC236}">
                <a16:creationId xmlns:a16="http://schemas.microsoft.com/office/drawing/2014/main" id="{BDE9879B-C94B-4D49-B5EE-EFE9D5C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680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Radius margins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BB578-756B-4313-A899-3ADB41F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257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C86544D9-A6F5-4916-906B-08FEA26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85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Val / test region">
            <a:extLst xmlns:a="http://schemas.openxmlformats.org/drawingml/2006/main">
              <a:ext uri="{FF2B5EF4-FFF2-40B4-BE49-F238E27FC236}">
                <a16:creationId xmlns:a16="http://schemas.microsoft.com/office/drawing/2014/main" id="{5246DF0B-D6C7-49A9-A939-847F3253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085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Val / test region</a:t>
            </a:r>
          </a:p>
        </p:txBody>
      </p:sp>
    </p:spTree>
    <p:extLst>
      <p:ext uri="{BB962C8B-B14F-4D97-AF65-F5344CB8AC3E}">
        <p14:creationId xmlns:p14="http://schemas.microsoft.com/office/powerpoint/2010/main" val="2216364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F8D3C9C9-E2C2-4971-94F2-37D26F2A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05EC3278-C9B1-4105-BA2B-B1ED26E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让代码验证你的判断">
            <a:extLst xmlns:a="http://schemas.openxmlformats.org/drawingml/2006/main">
              <a:ext uri="{FF2B5EF4-FFF2-40B4-BE49-F238E27FC236}">
                <a16:creationId xmlns:a16="http://schemas.microsoft.com/office/drawing/2014/main" id="{89ED8763-CF69-4FAE-9D4C-9F797CDD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让代码验证你的判断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479F1-C51E-419F-B871-7DF90AF4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40A55-5D9B-4ED9-A424-FAB23505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E3C"/>
          </a:solidFill>
          <a:ln xmlns:a="http://schemas.openxmlformats.org/drawingml/2006/main" w="0">
            <a:noFill/>
          </a:ln>
        </p:spPr>
      </p:sp>
      <p:sp>
        <p:nvSpPr>
          <p:cNvPr id="6" name="assert patches.shape == (5,1,3">
            <a:extLst xmlns:a="http://schemas.openxmlformats.org/drawingml/2006/main">
              <a:ext uri="{FF2B5EF4-FFF2-40B4-BE49-F238E27FC236}">
                <a16:creationId xmlns:a16="http://schemas.microsoft.com/office/drawing/2014/main" id="{AF9F1E3F-F9EE-4FDA-95D5-49006AE7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assert patches.shape == (5,1,3,3)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np.testing.assert_array_equal(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    patches[:,0,1,1].numpy(), toy.ravel()[ids])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# Preserve center ids when predictions are reordered.</a:t>
            </a:r>
          </a:p>
        </p:txBody>
      </p:sp>
      <p:sp>
        <p:nvSpPr>
          <p:cNvPr id="7" name="先预测输出，再运行对应单元格。">
            <a:extLst xmlns:a="http://schemas.openxmlformats.org/drawingml/2006/main">
              <a:ext uri="{FF2B5EF4-FFF2-40B4-BE49-F238E27FC236}">
                <a16:creationId xmlns:a16="http://schemas.microsoft.com/office/drawing/2014/main" id="{63CCE3BC-9780-4ACB-B6BF-145C68D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先预测输出，再运行对应单元格。</a:t>
            </a:r>
          </a:p>
        </p:txBody>
      </p:sp>
    </p:spTree>
    <p:extLst>
      <p:ext uri="{BB962C8B-B14F-4D97-AF65-F5344CB8AC3E}">
        <p14:creationId xmlns:p14="http://schemas.microsoft.com/office/powerpoint/2010/main" val="198217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9A0107B2-2192-48A3-A0A4-134A3BFA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2C3324FC-2CC6-4296-A85E-691F7B75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停下来，做一次判断">
            <a:extLst xmlns:a="http://schemas.openxmlformats.org/drawingml/2006/main">
              <a:ext uri="{FF2B5EF4-FFF2-40B4-BE49-F238E27FC236}">
                <a16:creationId xmlns:a16="http://schemas.microsoft.com/office/drawing/2014/main" id="{53A548B2-3583-4E62-92D8-9E32E3DB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停下来，做一次判断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C84B8-AEC7-4F81-89FA-A0C6F3E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课堂预测">
            <a:extLst xmlns:a="http://schemas.openxmlformats.org/drawingml/2006/main">
              <a:ext uri="{FF2B5EF4-FFF2-40B4-BE49-F238E27FC236}">
                <a16:creationId xmlns:a16="http://schemas.microsoft.com/office/drawing/2014/main" id="{F9D44591-E7F4-42CA-BCBF-271A726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课堂预测</a:t>
            </a:r>
          </a:p>
        </p:txBody>
      </p:sp>
      <p:sp>
        <p:nvSpPr>
          <p:cNvPr id="6" name="检查四个角、中心、奇数size；偶数输入应报错或明确中心定义">
            <a:extLst xmlns:a="http://schemas.openxmlformats.org/drawingml/2006/main">
              <a:ext uri="{FF2B5EF4-FFF2-40B4-BE49-F238E27FC236}">
                <a16:creationId xmlns:a16="http://schemas.microsoft.com/office/drawing/2014/main" id="{1DD9DBF0-3F23-414A-BEE9-FCED108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检查四个角、中心、奇数size；偶数输入应报错或明确中心定义。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6375F-8A25-4E0C-9496-9894319D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退出题">
            <a:extLst xmlns:a="http://schemas.openxmlformats.org/drawingml/2006/main">
              <a:ext uri="{FF2B5EF4-FFF2-40B4-BE49-F238E27FC236}">
                <a16:creationId xmlns:a16="http://schemas.microsoft.com/office/drawing/2014/main" id="{71095024-B485-4488-80C2-3A3CC573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退出题</a:t>
            </a:r>
          </a:p>
        </p:txBody>
      </p:sp>
      <p:sp>
        <p:nvSpPr>
          <p:cNvPr id="9" name="shuffle后如何保证预测回到原坐标？">
            <a:extLst xmlns:a="http://schemas.openxmlformats.org/drawingml/2006/main">
              <a:ext uri="{FF2B5EF4-FFF2-40B4-BE49-F238E27FC236}">
                <a16:creationId xmlns:a16="http://schemas.microsoft.com/office/drawing/2014/main" id="{39D77283-EBC3-4AFE-9B10-5374301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shuffle后如何保证预测回到原坐标？</a:t>
            </a:r>
          </a:p>
        </p:txBody>
      </p:sp>
    </p:spTree>
    <p:extLst>
      <p:ext uri="{BB962C8B-B14F-4D97-AF65-F5344CB8AC3E}">
        <p14:creationId xmlns:p14="http://schemas.microsoft.com/office/powerpoint/2010/main" val="2417743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4  /  HSI LEARNING">
            <a:extLst xmlns:a="http://schemas.openxmlformats.org/drawingml/2006/main">
              <a:ext uri="{FF2B5EF4-FFF2-40B4-BE49-F238E27FC236}">
                <a16:creationId xmlns:a16="http://schemas.microsoft.com/office/drawing/2014/main" id="{83D11289-03F1-4B61-958E-2AB447BB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L04  /  HSI LEARNING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197F344-198F-4316-BD30-BAB9A80B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结论要有边界">
            <a:extLst xmlns:a="http://schemas.openxmlformats.org/drawingml/2006/main">
              <a:ext uri="{FF2B5EF4-FFF2-40B4-BE49-F238E27FC236}">
                <a16:creationId xmlns:a16="http://schemas.microsoft.com/office/drawing/2014/main" id="{A287E567-DD02-4483-B110-1FB7C44F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结论要有边界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840F4-B32C-49AA-8D2F-5310C384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">
            <a:extLst xmlns:a="http://schemas.openxmlformats.org/drawingml/2006/main">
              <a:ext uri="{FF2B5EF4-FFF2-40B4-BE49-F238E27FC236}">
                <a16:creationId xmlns:a16="http://schemas.microsoft.com/office/drawing/2014/main" id="{B8CD387C-769D-4D95-9D25-0AE12C2D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" name="patch重叠改变评估问题">
            <a:extLst xmlns:a="http://schemas.openxmlformats.org/drawingml/2006/main">
              <a:ext uri="{FF2B5EF4-FFF2-40B4-BE49-F238E27FC236}">
                <a16:creationId xmlns:a16="http://schemas.microsoft.com/office/drawing/2014/main" id="{DC8B259D-B3BB-434F-958E-78A50AD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patch重叠改变评估问题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F843-57D7-41E5-889A-BED5D98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28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边界">
            <a:extLst xmlns:a="http://schemas.openxmlformats.org/drawingml/2006/main">
              <a:ext uri="{FF2B5EF4-FFF2-40B4-BE49-F238E27FC236}">
                <a16:creationId xmlns:a16="http://schemas.microsoft.com/office/drawing/2014/main" id="{CD3300B9-9BA9-4B10-9A8A-58BE1D1B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9" name="更大窗口不保证更好">
            <a:extLst xmlns:a="http://schemas.openxmlformats.org/drawingml/2006/main">
              <a:ext uri="{FF2B5EF4-FFF2-40B4-BE49-F238E27FC236}">
                <a16:creationId xmlns:a16="http://schemas.microsoft.com/office/drawing/2014/main" id="{F8C202ED-D6E0-4E93-9239-16D9518B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0025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更大窗口不保证更好</a:t>
            </a:r>
          </a:p>
        </p:txBody>
      </p:sp>
      <p:sp>
        <p:nvSpPr>
          <p:cNvPr id="10" name="来源、复现入口与辅助提示见讲者备注。">
            <a:extLst xmlns:a="http://schemas.openxmlformats.org/drawingml/2006/main">
              <a:ext uri="{FF2B5EF4-FFF2-40B4-BE49-F238E27FC236}">
                <a16:creationId xmlns:a16="http://schemas.microsoft.com/office/drawing/2014/main" id="{435E5BE8-439A-4F73-A47E-455DE7E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来源、复现入口与辅助提示见讲者备注。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1070070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2026-10-09T03:34:25.9310000Z</dcterms:created>
  <dcterms:modified xsi:type="dcterms:W3CDTF">2026-10-09T03:34:25.9310000Z</dcterms:modified>
</coreProperties>
</file>