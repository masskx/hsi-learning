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e10786df11a4082" /><Relationship Type="http://schemas.openxmlformats.org/officeDocument/2006/relationships/extended-properties" Target="/docProps/app.xml" Id="R2a6e0d9292194692" /><Relationship Type="http://schemas.openxmlformats.org/officeDocument/2006/relationships/officeDocument" Target="/ppt/presentation.xml" Id="R6f761da71c6d41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0d8a572af0b4a69"/>
  </p:sldMasterIdLst>
  <p:notesMasterIdLst>
    <p:notesMasterId xmlns:r="http://schemas.openxmlformats.org/officeDocument/2006/relationships" r:id="R157399bc01bd43f9"/>
  </p:notesMasterIdLst>
  <p:sldIdLst>
    <p:sldId xmlns:r="http://schemas.openxmlformats.org/officeDocument/2006/relationships" id="256" r:id="Rd6ce7dc5c602443b"/>
    <p:sldId xmlns:r="http://schemas.openxmlformats.org/officeDocument/2006/relationships" id="257" r:id="R31974267e3ef4bcc"/>
    <p:sldId xmlns:r="http://schemas.openxmlformats.org/officeDocument/2006/relationships" id="258" r:id="R4ef8cfa0aa43487d"/>
    <p:sldId xmlns:r="http://schemas.openxmlformats.org/officeDocument/2006/relationships" id="259" r:id="R5c166bbb91454b20"/>
    <p:sldId xmlns:r="http://schemas.openxmlformats.org/officeDocument/2006/relationships" id="260" r:id="R23e98fb36dfb4b9d"/>
    <p:sldId xmlns:r="http://schemas.openxmlformats.org/officeDocument/2006/relationships" id="261" r:id="R119a42a093df40dc"/>
    <p:sldId xmlns:r="http://schemas.openxmlformats.org/officeDocument/2006/relationships" id="262" r:id="Ra04caa64fd0c473d"/>
    <p:sldId xmlns:r="http://schemas.openxmlformats.org/officeDocument/2006/relationships" id="263" r:id="R98c27bfb4b6f41e5"/>
    <p:sldId xmlns:r="http://schemas.openxmlformats.org/officeDocument/2006/relationships" id="264" r:id="Rbfd14b1b832b47d4"/>
    <p:sldId xmlns:r="http://schemas.openxmlformats.org/officeDocument/2006/relationships" id="265" r:id="R7b16a507b81b427e"/>
    <p:sldId xmlns:r="http://schemas.openxmlformats.org/officeDocument/2006/relationships" id="266" r:id="R35d9b3d221aa4de6"/>
    <p:sldId xmlns:r="http://schemas.openxmlformats.org/officeDocument/2006/relationships" id="267" r:id="R2a7b8fc4a65544b0"/>
    <p:sldId xmlns:r="http://schemas.openxmlformats.org/officeDocument/2006/relationships" id="268" r:id="Re8fd500c409d4d63"/>
    <p:sldId xmlns:r="http://schemas.openxmlformats.org/officeDocument/2006/relationships" id="269" r:id="R18759a8b005d400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4a865b5a4ed40be" /><Relationship Type="http://schemas.openxmlformats.org/officeDocument/2006/relationships/slideMaster" Target="/ppt/slideMasters/slideMaster1.xml" Id="Re0d8a572af0b4a69" /><Relationship Type="http://schemas.openxmlformats.org/officeDocument/2006/relationships/notesMaster" Target="/ppt/notesMasters/notesMaster1.xml" Id="R157399bc01bd43f9" /><Relationship Type="http://schemas.openxmlformats.org/officeDocument/2006/relationships/presProps" Target="/ppt/presProps.xml" Id="R5f312ad92c844fc3" /><Relationship Type="http://schemas.openxmlformats.org/officeDocument/2006/relationships/tableStyles" Target="/ppt/tableStyles.xml" Id="Rfddcfc9894504b4c" /><Relationship Type="http://schemas.openxmlformats.org/officeDocument/2006/relationships/slide" Target="/ppt/slides/slide1.xml" Id="Rd6ce7dc5c602443b" /><Relationship Type="http://schemas.openxmlformats.org/officeDocument/2006/relationships/slide" Target="/ppt/slides/slide2.xml" Id="R31974267e3ef4bcc" /><Relationship Type="http://schemas.openxmlformats.org/officeDocument/2006/relationships/slide" Target="/ppt/slides/slide3.xml" Id="R4ef8cfa0aa43487d" /><Relationship Type="http://schemas.openxmlformats.org/officeDocument/2006/relationships/slide" Target="/ppt/slides/slide4.xml" Id="R5c166bbb91454b20" /><Relationship Type="http://schemas.openxmlformats.org/officeDocument/2006/relationships/slide" Target="/ppt/slides/slide5.xml" Id="R23e98fb36dfb4b9d" /><Relationship Type="http://schemas.openxmlformats.org/officeDocument/2006/relationships/slide" Target="/ppt/slides/slide6.xml" Id="R119a42a093df40dc" /><Relationship Type="http://schemas.openxmlformats.org/officeDocument/2006/relationships/slide" Target="/ppt/slides/slide7.xml" Id="Ra04caa64fd0c473d" /><Relationship Type="http://schemas.openxmlformats.org/officeDocument/2006/relationships/slide" Target="/ppt/slides/slide8.xml" Id="R98c27bfb4b6f41e5" /><Relationship Type="http://schemas.openxmlformats.org/officeDocument/2006/relationships/slide" Target="/ppt/slides/slide9.xml" Id="Rbfd14b1b832b47d4" /><Relationship Type="http://schemas.openxmlformats.org/officeDocument/2006/relationships/slide" Target="/ppt/slides/slide10.xml" Id="R7b16a507b81b427e" /><Relationship Type="http://schemas.openxmlformats.org/officeDocument/2006/relationships/slide" Target="/ppt/slides/slide11.xml" Id="R35d9b3d221aa4de6" /><Relationship Type="http://schemas.openxmlformats.org/officeDocument/2006/relationships/slide" Target="/ppt/slides/slide12.xml" Id="R2a7b8fc4a65544b0" /><Relationship Type="http://schemas.openxmlformats.org/officeDocument/2006/relationships/slide" Target="/ppt/slides/slide13.xml" Id="Re8fd500c409d4d63" /><Relationship Type="http://schemas.openxmlformats.org/officeDocument/2006/relationships/slide" Target="/ppt/slides/slide14.xml" Id="R18759a8b005d400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cd0909b5b9241f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22507d678fc4f27" /><Relationship Type="http://schemas.openxmlformats.org/officeDocument/2006/relationships/notesMaster" Target="/ppt/notesMasters/notesMaster1.xml" Id="R18317b2728bb40c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2995d28e2484885" /><Relationship Type="http://schemas.openxmlformats.org/officeDocument/2006/relationships/notesMaster" Target="/ppt/notesMasters/notesMaster1.xml" Id="R687cc54771f849a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f70a1e8ec9646cf" /><Relationship Type="http://schemas.openxmlformats.org/officeDocument/2006/relationships/notesMaster" Target="/ppt/notesMasters/notesMaster1.xml" Id="R701f113b68c54be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acdd1ed0e684d2a" /><Relationship Type="http://schemas.openxmlformats.org/officeDocument/2006/relationships/notesMaster" Target="/ppt/notesMasters/notesMaster1.xml" Id="R66ed5efadee5479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6caf7abf1b34dea" /><Relationship Type="http://schemas.openxmlformats.org/officeDocument/2006/relationships/notesMaster" Target="/ppt/notesMasters/notesMaster1.xml" Id="R6782c1b56b3d488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994e0ad6b9544cd" /><Relationship Type="http://schemas.openxmlformats.org/officeDocument/2006/relationships/notesMaster" Target="/ppt/notesMasters/notesMaster1.xml" Id="Rf205dd017a80487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d760fa212654b3e" /><Relationship Type="http://schemas.openxmlformats.org/officeDocument/2006/relationships/notesMaster" Target="/ppt/notesMasters/notesMaster1.xml" Id="R554ccfa7568343a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161043c5f404a83" /><Relationship Type="http://schemas.openxmlformats.org/officeDocument/2006/relationships/notesMaster" Target="/ppt/notesMasters/notesMaster1.xml" Id="R3cd59291b12e440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5736bdb02b24919" /><Relationship Type="http://schemas.openxmlformats.org/officeDocument/2006/relationships/notesMaster" Target="/ppt/notesMasters/notesMaster1.xml" Id="R10c824157ec349e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b22992c8d1e4170" /><Relationship Type="http://schemas.openxmlformats.org/officeDocument/2006/relationships/notesMaster" Target="/ppt/notesMasters/notesMaster1.xml" Id="Ref54c0b3bc5945f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c343681ac06405f" /><Relationship Type="http://schemas.openxmlformats.org/officeDocument/2006/relationships/notesMaster" Target="/ppt/notesMasters/notesMaster1.xml" Id="R5b2a46ce16f3422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b648f50a52d4ef7" /><Relationship Type="http://schemas.openxmlformats.org/officeDocument/2006/relationships/notesMaster" Target="/ppt/notesMasters/notesMaster1.xml" Id="R7694b4070b2c444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0507693e5434c30" /><Relationship Type="http://schemas.openxmlformats.org/officeDocument/2006/relationships/notesMaster" Target="/ppt/notesMasters/notesMaster1.xml" Id="R82f30db9638d410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57951b94d094bdd" /><Relationship Type="http://schemas.openxmlformats.org/officeDocument/2006/relationships/notesMaster" Target="/ppt/notesMasters/notesMaster1.xml" Id="R0b674c2d81ca4a2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开场问题：未知召回100%是否足以说明系统可用？</a:t>
            </a:r>
          </a:p>
          <a:p xmlns:a="http://schemas.openxmlformats.org/drawingml/2006/main">
            <a:r>
              <a:t>原标题：模型能学会说“我不知道”吗？</a:t>
            </a:r>
          </a:p>
          <a:p xmlns:a="http://schemas.openxmlformats.org/drawingml/2006/main">
            <a:r>
              <a:t>参考节奏：5分钟回顾，10分钟手算，10分钟代码，12分钟练习，5分钟错误分析，3分钟退出题。</a:t>
            </a:r>
          </a:p>
          <a:p xmlns:a="http://schemas.openxmlformats.org/drawingml/2006/main">
            <a:r>
              <a:t>课堂入口: 17_openset_teaching.ipynb</a:t>
            </a:r>
          </a:p>
          <a:p xmlns:a="http://schemas.openxmlformats.org/drawingml/2006/main">
            <a:r>
              <a:t>定位: protocol, scores, calibration, evaluation, maps, threshold-exercise</a:t>
            </a:r>
          </a:p>
          <a:p xmlns:a="http://schemas.openxmlformats.org/drawingml/2006/main">
            <a:r>
              <a:t>先预测，再运行；答错时回到手算例。</a:t>
            </a:r>
          </a:p>
          <a:p xmlns:a="http://schemas.openxmlformats.org/drawingml/2006/main">
            <a:r>
              <a:t>AI辅助：检查这段开集代码的数据流：哪些量只能由train或val计算？为每个阈值写来源；禁止从test标签、AUROC最佳点选择部署阈值。</a:t>
            </a:r>
          </a:p>
          <a:p xmlns:a="http://schemas.openxmlformats.org/drawingml/2006/main">
            <a:r>
              <a:t>人工核验：固定test前冻结阈值；核对类映射及unknown score方向。</a:t>
            </a:r>
          </a:p>
          <a:p xmlns:a="http://schemas.openxmlformats.org/drawingml/2006/main">
            <a:r>
              <a:t>Hendrycks &amp; Gimpel: detection baseline, 2017</a:t>
            </a:r>
          </a:p>
          <a:p xmlns:a="http://schemas.openxmlformats.org/drawingml/2006/main">
            <a:r>
              <a:t>https://arxiv.org/abs/1610.02136</a:t>
            </a:r>
          </a:p>
          <a:p xmlns:a="http://schemas.openxmlformats.org/drawingml/2006/main">
            <a:r>
              <a:t>Bendale &amp; Boult: Towards Open Set Deep Networks, 2016</a:t>
            </a:r>
          </a:p>
          <a:p xmlns:a="http://schemas.openxmlformats.org/drawingml/2006/main">
            <a:r>
              <a:t>https://arxiv.org/abs/1511.06233</a:t>
            </a:r>
          </a:p>
          <a:p xmlns:a="http://schemas.openxmlformats.org/drawingml/2006/main">
            <a:r>
              <a:t>运行配置、数据哈希和结果：artifacts/teaching/classroom-facts.json</a:t>
            </a:r>
          </a:p>
          <a:p xmlns:a="http://schemas.openxmlformats.org/drawingml/2006/main">
            <a:r>
              <a:t>封面图源：17_openset_teaching.ipynb / evaluation / 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交付物以代码、配置、输出和解释为准。先做完整示例，再做填空与迁移任务。</a:t>
            </a:r>
          </a:p>
          <a:p xmlns:a="http://schemas.openxmlformats.org/drawingml/2006/main">
            <a:r>
              <a:t>课堂入口: 17_openset_teaching.ipynb</a:t>
            </a:r>
          </a:p>
          <a:p xmlns:a="http://schemas.openxmlformats.org/drawingml/2006/main">
            <a:r>
              <a:t>定位: protocol, scores, calibration, evaluation, maps, threshold-exercise</a:t>
            </a:r>
          </a:p>
          <a:p xmlns:a="http://schemas.openxmlformats.org/drawingml/2006/main">
            <a:r>
              <a:t>先预测，再运行；答错时回到手算例。</a:t>
            </a:r>
          </a:p>
          <a:p xmlns:a="http://schemas.openxmlformats.org/drawingml/2006/main">
            <a:r>
              <a:t>AI辅助：检查这段开集代码的数据流：哪些量只能由train或val计算？为每个阈值写来源；禁止从test标签、AUROC最佳点选择部署阈值。</a:t>
            </a:r>
          </a:p>
          <a:p xmlns:a="http://schemas.openxmlformats.org/drawingml/2006/main">
            <a:r>
              <a:t>人工核验：固定test前冻结阈值；核对类映射及unknown score方向。</a:t>
            </a:r>
          </a:p>
          <a:p xmlns:a="http://schemas.openxmlformats.org/drawingml/2006/main">
            <a:r>
              <a:t>Hendrycks &amp; Gimpel: detection baseline, 2017</a:t>
            </a:r>
          </a:p>
          <a:p xmlns:a="http://schemas.openxmlformats.org/drawingml/2006/main">
            <a:r>
              <a:t>https://arxiv.org/abs/1610.02136</a:t>
            </a:r>
          </a:p>
          <a:p xmlns:a="http://schemas.openxmlformats.org/drawingml/2006/main">
            <a:r>
              <a:t>Bendale &amp; Boult: Towards Open Set Deep Networks, 2016</a:t>
            </a:r>
          </a:p>
          <a:p xmlns:a="http://schemas.openxmlformats.org/drawingml/2006/main">
            <a:r>
              <a:t>https://arxiv.org/abs/1511.06233</a:t>
            </a:r>
          </a:p>
          <a:p xmlns:a="http://schemas.openxmlformats.org/drawingml/2006/main">
            <a:r>
              <a:t>运行配置、数据哈希和结果：artifacts/teaching/classroom-facts.json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默认稀有类留出只是教学split，不能代表所有未知地物。</a:t>
            </a:r>
          </a:p>
          <a:p xmlns:a="http://schemas.openxmlformats.org/drawingml/2006/main">
            <a:r>
              <a:t>Known classes / Held-out unknown / Unlabeled background</a:t>
            </a:r>
          </a:p>
          <a:p xmlns:a="http://schemas.openxmlformats.org/drawingml/2006/main">
            <a:r>
              <a:t>课堂入口: 17_openset_teaching.ipynb</a:t>
            </a:r>
          </a:p>
          <a:p xmlns:a="http://schemas.openxmlformats.org/drawingml/2006/main">
            <a:r>
              <a:t>定位: protocol, scores, calibration, evaluation, maps, threshold-exercise</a:t>
            </a:r>
          </a:p>
          <a:p xmlns:a="http://schemas.openxmlformats.org/drawingml/2006/main">
            <a:r>
              <a:t>先预测，再运行；答错时回到手算例。</a:t>
            </a:r>
          </a:p>
          <a:p xmlns:a="http://schemas.openxmlformats.org/drawingml/2006/main">
            <a:r>
              <a:t>AI辅助：检查这段开集代码的数据流：哪些量只能由train或val计算？为每个阈值写来源；禁止从test标签、AUROC最佳点选择部署阈值。</a:t>
            </a:r>
          </a:p>
          <a:p xmlns:a="http://schemas.openxmlformats.org/drawingml/2006/main">
            <a:r>
              <a:t>人工核验：固定test前冻结阈值；核对类映射及unknown score方向。</a:t>
            </a:r>
          </a:p>
          <a:p xmlns:a="http://schemas.openxmlformats.org/drawingml/2006/main">
            <a:r>
              <a:t>Hendrycks &amp; Gimpel: detection baseline, 2017</a:t>
            </a:r>
          </a:p>
          <a:p xmlns:a="http://schemas.openxmlformats.org/drawingml/2006/main">
            <a:r>
              <a:t>https://arxiv.org/abs/1610.02136</a:t>
            </a:r>
          </a:p>
          <a:p xmlns:a="http://schemas.openxmlformats.org/drawingml/2006/main">
            <a:r>
              <a:t>Bendale &amp; Boult: Towards Open Set Deep Networks, 2016</a:t>
            </a:r>
          </a:p>
          <a:p xmlns:a="http://schemas.openxmlformats.org/drawingml/2006/main">
            <a:r>
              <a:t>https://arxiv.org/abs/1511.06233</a:t>
            </a:r>
          </a:p>
          <a:p xmlns:a="http://schemas.openxmlformats.org/drawingml/2006/main">
            <a:r>
              <a:t>运行配置、数据哈希和结果：artifacts/teaching/classroom-facts.json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阈值来自当前run_config，已知validation校准；更换接受率必须重算指标与地图。</a:t>
            </a:r>
          </a:p>
          <a:p xmlns:a="http://schemas.openxmlformats.org/drawingml/2006/main">
            <a:r>
              <a:t>Known logits / Softmax / Max probability</a:t>
            </a:r>
          </a:p>
          <a:p xmlns:a="http://schemas.openxmlformats.org/drawingml/2006/main">
            <a:r>
              <a:t>课堂入口: 17_openset_teaching.ipynb</a:t>
            </a:r>
          </a:p>
          <a:p xmlns:a="http://schemas.openxmlformats.org/drawingml/2006/main">
            <a:r>
              <a:t>定位: protocol, scores, calibration, evaluation, maps, threshold-exercise</a:t>
            </a:r>
          </a:p>
          <a:p xmlns:a="http://schemas.openxmlformats.org/drawingml/2006/main">
            <a:r>
              <a:t>先预测，再运行；答错时回到手算例。</a:t>
            </a:r>
          </a:p>
          <a:p xmlns:a="http://schemas.openxmlformats.org/drawingml/2006/main">
            <a:r>
              <a:t>AI辅助：检查这段开集代码的数据流：哪些量只能由train或val计算？为每个阈值写来源；禁止从test标签、AUROC最佳点选择部署阈值。</a:t>
            </a:r>
          </a:p>
          <a:p xmlns:a="http://schemas.openxmlformats.org/drawingml/2006/main">
            <a:r>
              <a:t>人工核验：固定test前冻结阈值；核对类映射及unknown score方向。</a:t>
            </a:r>
          </a:p>
          <a:p xmlns:a="http://schemas.openxmlformats.org/drawingml/2006/main">
            <a:r>
              <a:t>Hendrycks &amp; Gimpel: detection baseline, 2017</a:t>
            </a:r>
          </a:p>
          <a:p xmlns:a="http://schemas.openxmlformats.org/drawingml/2006/main">
            <a:r>
              <a:t>https://arxiv.org/abs/1610.02136</a:t>
            </a:r>
          </a:p>
          <a:p xmlns:a="http://schemas.openxmlformats.org/drawingml/2006/main">
            <a:r>
              <a:t>Bendale &amp; Boult: Towards Open Set Deep Networks, 2016</a:t>
            </a:r>
          </a:p>
          <a:p xmlns:a="http://schemas.openxmlformats.org/drawingml/2006/main">
            <a:r>
              <a:t>https://arxiv.org/abs/1511.06233</a:t>
            </a:r>
          </a:p>
          <a:p xmlns:a="http://schemas.openxmlformats.org/drawingml/2006/main">
            <a:r>
              <a:t>运行配置、数据哈希和结果：artifacts/teaching/classroom-facts.json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阈值来自当前run_config，已知validation校准；更换接受率必须重算指标与地图。</a:t>
            </a:r>
          </a:p>
          <a:p xmlns:a="http://schemas.openxmlformats.org/drawingml/2006/main">
            <a:r>
              <a:t>Training embeddings / Class means / Nearest distance</a:t>
            </a:r>
          </a:p>
          <a:p xmlns:a="http://schemas.openxmlformats.org/drawingml/2006/main">
            <a:r>
              <a:t>课堂入口: 17_openset_teaching.ipynb</a:t>
            </a:r>
          </a:p>
          <a:p xmlns:a="http://schemas.openxmlformats.org/drawingml/2006/main">
            <a:r>
              <a:t>定位: protocol, scores, calibration, evaluation, maps, threshold-exercise</a:t>
            </a:r>
          </a:p>
          <a:p xmlns:a="http://schemas.openxmlformats.org/drawingml/2006/main">
            <a:r>
              <a:t>先预测，再运行；答错时回到手算例。</a:t>
            </a:r>
          </a:p>
          <a:p xmlns:a="http://schemas.openxmlformats.org/drawingml/2006/main">
            <a:r>
              <a:t>AI辅助：检查这段开集代码的数据流：哪些量只能由train或val计算？为每个阈值写来源；禁止从test标签、AUROC最佳点选择部署阈值。</a:t>
            </a:r>
          </a:p>
          <a:p xmlns:a="http://schemas.openxmlformats.org/drawingml/2006/main">
            <a:r>
              <a:t>人工核验：固定test前冻结阈值；核对类映射及unknown score方向。</a:t>
            </a:r>
          </a:p>
          <a:p xmlns:a="http://schemas.openxmlformats.org/drawingml/2006/main">
            <a:r>
              <a:t>Hendrycks &amp; Gimpel: detection baseline, 2017</a:t>
            </a:r>
          </a:p>
          <a:p xmlns:a="http://schemas.openxmlformats.org/drawingml/2006/main">
            <a:r>
              <a:t>https://arxiv.org/abs/1610.02136</a:t>
            </a:r>
          </a:p>
          <a:p xmlns:a="http://schemas.openxmlformats.org/drawingml/2006/main">
            <a:r>
              <a:t>Bendale &amp; Boult: Towards Open Set Deep Networks, 2016</a:t>
            </a:r>
          </a:p>
          <a:p xmlns:a="http://schemas.openxmlformats.org/drawingml/2006/main">
            <a:r>
              <a:t>https://arxiv.org/abs/1511.06233</a:t>
            </a:r>
          </a:p>
          <a:p xmlns:a="http://schemas.openxmlformats.org/drawingml/2006/main">
            <a:r>
              <a:t>运行配置、数据哈希和结果：artifacts/teaching/classroom-facts.json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本课模型选择与校准共享val需披露，不声称独立校准保证。</a:t>
            </a:r>
          </a:p>
          <a:p xmlns:a="http://schemas.openxmlformats.org/drawingml/2006/main">
            <a:r>
              <a:t>Train model / Val threshold / Frozen test</a:t>
            </a:r>
          </a:p>
          <a:p xmlns:a="http://schemas.openxmlformats.org/drawingml/2006/main">
            <a:r>
              <a:t>课堂入口: 17_openset_teaching.ipynb</a:t>
            </a:r>
          </a:p>
          <a:p xmlns:a="http://schemas.openxmlformats.org/drawingml/2006/main">
            <a:r>
              <a:t>定位: protocol, scores, calibration, evaluation, maps, threshold-exercise</a:t>
            </a:r>
          </a:p>
          <a:p xmlns:a="http://schemas.openxmlformats.org/drawingml/2006/main">
            <a:r>
              <a:t>先预测，再运行；答错时回到手算例。</a:t>
            </a:r>
          </a:p>
          <a:p xmlns:a="http://schemas.openxmlformats.org/drawingml/2006/main">
            <a:r>
              <a:t>AI辅助：检查这段开集代码的数据流：哪些量只能由train或val计算？为每个阈值写来源；禁止从test标签、AUROC最佳点选择部署阈值。</a:t>
            </a:r>
          </a:p>
          <a:p xmlns:a="http://schemas.openxmlformats.org/drawingml/2006/main">
            <a:r>
              <a:t>人工核验：固定test前冻结阈值；核对类映射及unknown score方向。</a:t>
            </a:r>
          </a:p>
          <a:p xmlns:a="http://schemas.openxmlformats.org/drawingml/2006/main">
            <a:r>
              <a:t>Hendrycks &amp; Gimpel: detection baseline, 2017</a:t>
            </a:r>
          </a:p>
          <a:p xmlns:a="http://schemas.openxmlformats.org/drawingml/2006/main">
            <a:r>
              <a:t>https://arxiv.org/abs/1610.02136</a:t>
            </a:r>
          </a:p>
          <a:p xmlns:a="http://schemas.openxmlformats.org/drawingml/2006/main">
            <a:r>
              <a:t>Bendale &amp; Boult: Towards Open Set Deep Networks, 2016</a:t>
            </a:r>
          </a:p>
          <a:p xmlns:a="http://schemas.openxmlformats.org/drawingml/2006/main">
            <a:r>
              <a:t>https://arxiv.org/abs/1511.06233</a:t>
            </a:r>
          </a:p>
          <a:p xmlns:a="http://schemas.openxmlformats.org/drawingml/2006/main">
            <a:r>
              <a:t>运行配置、数据哈希和结果：artifacts/teaching/classroom-facts.json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数值来自当前openset metrics；AUROC与阈值代价分别报告。</a:t>
            </a:r>
          </a:p>
          <a:p xmlns:a="http://schemas.openxmlformats.org/drawingml/2006/main">
            <a:r>
              <a:t>AUROC / Known utility / Unknown recall</a:t>
            </a:r>
          </a:p>
          <a:p xmlns:a="http://schemas.openxmlformats.org/drawingml/2006/main">
            <a:r>
              <a:t>图源：17_openset_teaching.ipynb / evaluation / 0</a:t>
            </a:r>
          </a:p>
          <a:p xmlns:a="http://schemas.openxmlformats.org/drawingml/2006/main">
            <a:r>
              <a:t>课堂入口: 17_openset_teaching.ipynb</a:t>
            </a:r>
          </a:p>
          <a:p xmlns:a="http://schemas.openxmlformats.org/drawingml/2006/main">
            <a:r>
              <a:t>定位: protocol, scores, calibration, evaluation, maps, threshold-exercise</a:t>
            </a:r>
          </a:p>
          <a:p xmlns:a="http://schemas.openxmlformats.org/drawingml/2006/main">
            <a:r>
              <a:t>先预测，再运行；答错时回到手算例。</a:t>
            </a:r>
          </a:p>
          <a:p xmlns:a="http://schemas.openxmlformats.org/drawingml/2006/main">
            <a:r>
              <a:t>AI辅助：检查这段开集代码的数据流：哪些量只能由train或val计算？为每个阈值写来源；禁止从test标签、AUROC最佳点选择部署阈值。</a:t>
            </a:r>
          </a:p>
          <a:p xmlns:a="http://schemas.openxmlformats.org/drawingml/2006/main">
            <a:r>
              <a:t>人工核验：固定test前冻结阈值；核对类映射及unknown score方向。</a:t>
            </a:r>
          </a:p>
          <a:p xmlns:a="http://schemas.openxmlformats.org/drawingml/2006/main">
            <a:r>
              <a:t>Hendrycks &amp; Gimpel: detection baseline, 2017</a:t>
            </a:r>
          </a:p>
          <a:p xmlns:a="http://schemas.openxmlformats.org/drawingml/2006/main">
            <a:r>
              <a:t>https://arxiv.org/abs/1610.02136</a:t>
            </a:r>
          </a:p>
          <a:p xmlns:a="http://schemas.openxmlformats.org/drawingml/2006/main">
            <a:r>
              <a:t>Bendale &amp; Boult: Towards Open Set Deep Networks, 2016</a:t>
            </a:r>
          </a:p>
          <a:p xmlns:a="http://schemas.openxmlformats.org/drawingml/2006/main">
            <a:r>
              <a:t>https://arxiv.org/abs/1511.06233</a:t>
            </a:r>
          </a:p>
          <a:p xmlns:a="http://schemas.openxmlformats.org/drawingml/2006/main">
            <a:r>
              <a:t>运行配置、数据哈希和结果：artifacts/teaching/classroom-facts.json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先看图，再解释known false rejection与unknown miss。</a:t>
            </a:r>
          </a:p>
          <a:p xmlns:a="http://schemas.openxmlformats.org/drawingml/2006/main">
            <a:r>
              <a:t>Open-set GT / MSP map / Distance map</a:t>
            </a:r>
          </a:p>
          <a:p xmlns:a="http://schemas.openxmlformats.org/drawingml/2006/main">
            <a:r>
              <a:t>图源：17_openset_teaching.ipynb / maps / 0</a:t>
            </a:r>
          </a:p>
          <a:p xmlns:a="http://schemas.openxmlformats.org/drawingml/2006/main">
            <a:r>
              <a:t>课堂入口: 17_openset_teaching.ipynb</a:t>
            </a:r>
          </a:p>
          <a:p xmlns:a="http://schemas.openxmlformats.org/drawingml/2006/main">
            <a:r>
              <a:t>定位: protocol, scores, calibration, evaluation, maps, threshold-exercise</a:t>
            </a:r>
          </a:p>
          <a:p xmlns:a="http://schemas.openxmlformats.org/drawingml/2006/main">
            <a:r>
              <a:t>先预测，再运行；答错时回到手算例。</a:t>
            </a:r>
          </a:p>
          <a:p xmlns:a="http://schemas.openxmlformats.org/drawingml/2006/main">
            <a:r>
              <a:t>AI辅助：检查这段开集代码的数据流：哪些量只能由train或val计算？为每个阈值写来源；禁止从test标签、AUROC最佳点选择部署阈值。</a:t>
            </a:r>
          </a:p>
          <a:p xmlns:a="http://schemas.openxmlformats.org/drawingml/2006/main">
            <a:r>
              <a:t>人工核验：固定test前冻结阈值；核对类映射及unknown score方向。</a:t>
            </a:r>
          </a:p>
          <a:p xmlns:a="http://schemas.openxmlformats.org/drawingml/2006/main">
            <a:r>
              <a:t>Hendrycks &amp; Gimpel: detection baseline, 2017</a:t>
            </a:r>
          </a:p>
          <a:p xmlns:a="http://schemas.openxmlformats.org/drawingml/2006/main">
            <a:r>
              <a:t>https://arxiv.org/abs/1610.02136</a:t>
            </a:r>
          </a:p>
          <a:p xmlns:a="http://schemas.openxmlformats.org/drawingml/2006/main">
            <a:r>
              <a:t>Bendale &amp; Boult: Towards Open Set Deep Networks, 2016</a:t>
            </a:r>
          </a:p>
          <a:p xmlns:a="http://schemas.openxmlformats.org/drawingml/2006/main">
            <a:r>
              <a:t>https://arxiv.org/abs/1511.06233</a:t>
            </a:r>
          </a:p>
          <a:p xmlns:a="http://schemas.openxmlformats.org/drawingml/2006/main">
            <a:r>
              <a:t>运行配置、数据哈希和结果：artifacts/teaching/classroom-facts.json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深蓝=指定错误；灰色=未评估。计数来自固定测试集合。</a:t>
            </a:r>
          </a:p>
          <a:p xmlns:a="http://schemas.openxmlformats.org/drawingml/2006/main">
            <a:r>
              <a:t>False rejection / Unknown miss / Known wrong class</a:t>
            </a:r>
          </a:p>
          <a:p xmlns:a="http://schemas.openxmlformats.org/drawingml/2006/main">
            <a:r>
              <a:t>图源：17_openset_teaching.ipynb / maps / 1</a:t>
            </a:r>
          </a:p>
          <a:p xmlns:a="http://schemas.openxmlformats.org/drawingml/2006/main">
            <a:r>
              <a:t>课堂入口: 17_openset_teaching.ipynb</a:t>
            </a:r>
          </a:p>
          <a:p xmlns:a="http://schemas.openxmlformats.org/drawingml/2006/main">
            <a:r>
              <a:t>定位: protocol, scores, calibration, evaluation, maps, threshold-exercise</a:t>
            </a:r>
          </a:p>
          <a:p xmlns:a="http://schemas.openxmlformats.org/drawingml/2006/main">
            <a:r>
              <a:t>先预测，再运行；答错时回到手算例。</a:t>
            </a:r>
          </a:p>
          <a:p xmlns:a="http://schemas.openxmlformats.org/drawingml/2006/main">
            <a:r>
              <a:t>AI辅助：检查这段开集代码的数据流：哪些量只能由train或val计算？为每个阈值写来源；禁止从test标签、AUROC最佳点选择部署阈值。</a:t>
            </a:r>
          </a:p>
          <a:p xmlns:a="http://schemas.openxmlformats.org/drawingml/2006/main">
            <a:r>
              <a:t>人工核验：固定test前冻结阈值；核对类映射及unknown score方向。</a:t>
            </a:r>
          </a:p>
          <a:p xmlns:a="http://schemas.openxmlformats.org/drawingml/2006/main">
            <a:r>
              <a:t>Hendrycks &amp; Gimpel: detection baseline, 2017</a:t>
            </a:r>
          </a:p>
          <a:p xmlns:a="http://schemas.openxmlformats.org/drawingml/2006/main">
            <a:r>
              <a:t>https://arxiv.org/abs/1610.02136</a:t>
            </a:r>
          </a:p>
          <a:p xmlns:a="http://schemas.openxmlformats.org/drawingml/2006/main">
            <a:r>
              <a:t>Bendale &amp; Boult: Towards Open Set Deep Networks, 2016</a:t>
            </a:r>
          </a:p>
          <a:p xmlns:a="http://schemas.openxmlformats.org/drawingml/2006/main">
            <a:r>
              <a:t>https://arxiv.org/abs/1511.06233</a:t>
            </a:r>
          </a:p>
          <a:p xmlns:a="http://schemas.openxmlformats.org/drawingml/2006/main">
            <a:r>
              <a:t>运行配置、数据哈希和结果：artifacts/teaching/classroom-facts.json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正确接受不是接受后条件准确率。known_correct+known_wrong+known_false_rejection=1。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课堂入口: 17_openset_teaching.ipynb</a:t>
            </a:r>
          </a:p>
          <a:p xmlns:a="http://schemas.openxmlformats.org/drawingml/2006/main">
            <a:r>
              <a:t>定位: protocol, scores, calibration, evaluation, maps, threshold-exercise</a:t>
            </a:r>
          </a:p>
          <a:p xmlns:a="http://schemas.openxmlformats.org/drawingml/2006/main">
            <a:r>
              <a:t>先预测，再运行；答错时回到手算例。</a:t>
            </a:r>
          </a:p>
          <a:p xmlns:a="http://schemas.openxmlformats.org/drawingml/2006/main">
            <a:r>
              <a:t>AI辅助：检查这段开集代码的数据流：哪些量只能由train或val计算？为每个阈值写来源；禁止从test标签、AUROC最佳点选择部署阈值。</a:t>
            </a:r>
          </a:p>
          <a:p xmlns:a="http://schemas.openxmlformats.org/drawingml/2006/main">
            <a:r>
              <a:t>人工核验：固定test前冻结阈值；核对类映射及unknown score方向。</a:t>
            </a:r>
          </a:p>
          <a:p xmlns:a="http://schemas.openxmlformats.org/drawingml/2006/main">
            <a:r>
              <a:t>Hendrycks &amp; Gimpel: detection baseline, 2017</a:t>
            </a:r>
          </a:p>
          <a:p xmlns:a="http://schemas.openxmlformats.org/drawingml/2006/main">
            <a:r>
              <a:t>https://arxiv.org/abs/1610.02136</a:t>
            </a:r>
          </a:p>
          <a:p xmlns:a="http://schemas.openxmlformats.org/drawingml/2006/main">
            <a:r>
              <a:t>Bendale &amp; Boult: Towards Open Set Deep Networks, 2016</a:t>
            </a:r>
          </a:p>
          <a:p xmlns:a="http://schemas.openxmlformats.org/drawingml/2006/main">
            <a:r>
              <a:t>https://arxiv.org/abs/1511.06233</a:t>
            </a:r>
          </a:p>
          <a:p xmlns:a="http://schemas.openxmlformats.org/drawingml/2006/main">
            <a:r>
              <a:t>运行配置、数据哈希和结果：artifacts/teaching/classroom-facts.json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threshold-exercise不再断言新阈值等于旧阈值；原演示包不修改。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课堂入口: 17_openset_teaching.ipynb</a:t>
            </a:r>
          </a:p>
          <a:p xmlns:a="http://schemas.openxmlformats.org/drawingml/2006/main">
            <a:r>
              <a:t>定位: protocol, scores, calibration, evaluation, maps, threshold-exercise</a:t>
            </a:r>
          </a:p>
          <a:p xmlns:a="http://schemas.openxmlformats.org/drawingml/2006/main">
            <a:r>
              <a:t>先预测，再运行；答错时回到手算例。</a:t>
            </a:r>
          </a:p>
          <a:p xmlns:a="http://schemas.openxmlformats.org/drawingml/2006/main">
            <a:r>
              <a:t>AI辅助：检查这段开集代码的数据流：哪些量只能由train或val计算？为每个阈值写来源；禁止从test标签、AUROC最佳点选择部署阈值。</a:t>
            </a:r>
          </a:p>
          <a:p xmlns:a="http://schemas.openxmlformats.org/drawingml/2006/main">
            <a:r>
              <a:t>人工核验：固定test前冻结阈值；核对类映射及unknown score方向。</a:t>
            </a:r>
          </a:p>
          <a:p xmlns:a="http://schemas.openxmlformats.org/drawingml/2006/main">
            <a:r>
              <a:t>Hendrycks &amp; Gimpel: detection baseline, 2017</a:t>
            </a:r>
          </a:p>
          <a:p xmlns:a="http://schemas.openxmlformats.org/drawingml/2006/main">
            <a:r>
              <a:t>https://arxiv.org/abs/1610.02136</a:t>
            </a:r>
          </a:p>
          <a:p xmlns:a="http://schemas.openxmlformats.org/drawingml/2006/main">
            <a:r>
              <a:t>Bendale &amp; Boult: Towards Open Set Deep Networks, 2016</a:t>
            </a:r>
          </a:p>
          <a:p xmlns:a="http://schemas.openxmlformats.org/drawingml/2006/main">
            <a:r>
              <a:t>https://arxiv.org/abs/1511.06233</a:t>
            </a:r>
          </a:p>
          <a:p xmlns:a="http://schemas.openxmlformats.org/drawingml/2006/main">
            <a:r>
              <a:t>运行配置、数据哈希和结果：artifacts/teaching/classroom-facts.json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只运行指定短cell；完整训练已在课前完成。缺资产时使用已执行输出备用并说明。</a:t>
            </a:r>
          </a:p>
          <a:p xmlns:a="http://schemas.openxmlformats.org/drawingml/2006/main">
            <a:r>
              <a:t>课堂入口: 17_openset_teaching.ipynb</a:t>
            </a:r>
          </a:p>
          <a:p xmlns:a="http://schemas.openxmlformats.org/drawingml/2006/main">
            <a:r>
              <a:t>定位: protocol, scores, calibration, evaluation, maps, threshold-exercise</a:t>
            </a:r>
          </a:p>
          <a:p xmlns:a="http://schemas.openxmlformats.org/drawingml/2006/main">
            <a:r>
              <a:t>先预测，再运行；答错时回到手算例。</a:t>
            </a:r>
          </a:p>
          <a:p xmlns:a="http://schemas.openxmlformats.org/drawingml/2006/main">
            <a:r>
              <a:t>AI辅助：检查这段开集代码的数据流：哪些量只能由train或val计算？为每个阈值写来源；禁止从test标签、AUROC最佳点选择部署阈值。</a:t>
            </a:r>
          </a:p>
          <a:p xmlns:a="http://schemas.openxmlformats.org/drawingml/2006/main">
            <a:r>
              <a:t>人工核验：固定test前冻结阈值；核对类映射及unknown score方向。</a:t>
            </a:r>
          </a:p>
          <a:p xmlns:a="http://schemas.openxmlformats.org/drawingml/2006/main">
            <a:r>
              <a:t>Hendrycks &amp; Gimpel: detection baseline, 2017</a:t>
            </a:r>
          </a:p>
          <a:p xmlns:a="http://schemas.openxmlformats.org/drawingml/2006/main">
            <a:r>
              <a:t>https://arxiv.org/abs/1610.02136</a:t>
            </a:r>
          </a:p>
          <a:p xmlns:a="http://schemas.openxmlformats.org/drawingml/2006/main">
            <a:r>
              <a:t>Bendale &amp; Boult: Towards Open Set Deep Networks, 2016</a:t>
            </a:r>
          </a:p>
          <a:p xmlns:a="http://schemas.openxmlformats.org/drawingml/2006/main">
            <a:r>
              <a:t>https://arxiv.org/abs/1511.06233</a:t>
            </a:r>
          </a:p>
          <a:p xmlns:a="http://schemas.openxmlformats.org/drawingml/2006/main">
            <a:r>
              <a:t>运行配置、数据哈希和结果：artifacts/teaching/classroom-facts.json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停下来收集预测，发现错误后重新解释；不等到课后作业才知道学生没理解。</a:t>
            </a:r>
          </a:p>
          <a:p xmlns:a="http://schemas.openxmlformats.org/drawingml/2006/main">
            <a:r>
              <a:t>作业：A06；完整示例 / 填空 / 迁移；提交代码、配置、结果和限制。</a:t>
            </a:r>
          </a:p>
          <a:p xmlns:a="http://schemas.openxmlformats.org/drawingml/2006/main">
            <a:r>
              <a:t>课堂入口: 17_openset_teaching.ipynb</a:t>
            </a:r>
          </a:p>
          <a:p xmlns:a="http://schemas.openxmlformats.org/drawingml/2006/main">
            <a:r>
              <a:t>定位: protocol, scores, calibration, evaluation, maps, threshold-exercise</a:t>
            </a:r>
          </a:p>
          <a:p xmlns:a="http://schemas.openxmlformats.org/drawingml/2006/main">
            <a:r>
              <a:t>先预测，再运行；答错时回到手算例。</a:t>
            </a:r>
          </a:p>
          <a:p xmlns:a="http://schemas.openxmlformats.org/drawingml/2006/main">
            <a:r>
              <a:t>AI辅助：检查这段开集代码的数据流：哪些量只能由train或val计算？为每个阈值写来源；禁止从test标签、AUROC最佳点选择部署阈值。</a:t>
            </a:r>
          </a:p>
          <a:p xmlns:a="http://schemas.openxmlformats.org/drawingml/2006/main">
            <a:r>
              <a:t>人工核验：固定test前冻结阈值；核对类映射及unknown score方向。</a:t>
            </a:r>
          </a:p>
          <a:p xmlns:a="http://schemas.openxmlformats.org/drawingml/2006/main">
            <a:r>
              <a:t>Hendrycks &amp; Gimpel: detection baseline, 2017</a:t>
            </a:r>
          </a:p>
          <a:p xmlns:a="http://schemas.openxmlformats.org/drawingml/2006/main">
            <a:r>
              <a:t>https://arxiv.org/abs/1610.02136</a:t>
            </a:r>
          </a:p>
          <a:p xmlns:a="http://schemas.openxmlformats.org/drawingml/2006/main">
            <a:r>
              <a:t>Bendale &amp; Boult: Towards Open Set Deep Networks, 2016</a:t>
            </a:r>
          </a:p>
          <a:p xmlns:a="http://schemas.openxmlformats.org/drawingml/2006/main">
            <a:r>
              <a:t>https://arxiv.org/abs/1511.06233</a:t>
            </a:r>
          </a:p>
          <a:p xmlns:a="http://schemas.openxmlformats.org/drawingml/2006/main">
            <a:r>
              <a:t>运行配置、数据哈希和结果：artifacts/teaching/classroom-facts.json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区分已观察事实、候选解释与下一项检验。</a:t>
            </a:r>
          </a:p>
          <a:p xmlns:a="http://schemas.openxmlformats.org/drawingml/2006/main">
            <a:r>
              <a:t>退出题：未知召回100%是否足以说明系统可用？</a:t>
            </a:r>
          </a:p>
          <a:p xmlns:a="http://schemas.openxmlformats.org/drawingml/2006/main">
            <a:r>
              <a:t>课堂入口: 17_openset_teaching.ipynb</a:t>
            </a:r>
          </a:p>
          <a:p xmlns:a="http://schemas.openxmlformats.org/drawingml/2006/main">
            <a:r>
              <a:t>定位: protocol, scores, calibration, evaluation, maps, threshold-exercise</a:t>
            </a:r>
          </a:p>
          <a:p xmlns:a="http://schemas.openxmlformats.org/drawingml/2006/main">
            <a:r>
              <a:t>先预测，再运行；答错时回到手算例。</a:t>
            </a:r>
          </a:p>
          <a:p xmlns:a="http://schemas.openxmlformats.org/drawingml/2006/main">
            <a:r>
              <a:t>AI辅助：检查这段开集代码的数据流：哪些量只能由train或val计算？为每个阈值写来源；禁止从test标签、AUROC最佳点选择部署阈值。</a:t>
            </a:r>
          </a:p>
          <a:p xmlns:a="http://schemas.openxmlformats.org/drawingml/2006/main">
            <a:r>
              <a:t>人工核验：固定test前冻结阈值；核对类映射及unknown score方向。</a:t>
            </a:r>
          </a:p>
          <a:p xmlns:a="http://schemas.openxmlformats.org/drawingml/2006/main">
            <a:r>
              <a:t>Hendrycks &amp; Gimpel: detection baseline, 2017</a:t>
            </a:r>
          </a:p>
          <a:p xmlns:a="http://schemas.openxmlformats.org/drawingml/2006/main">
            <a:r>
              <a:t>https://arxiv.org/abs/1610.02136</a:t>
            </a:r>
          </a:p>
          <a:p xmlns:a="http://schemas.openxmlformats.org/drawingml/2006/main">
            <a:r>
              <a:t>Bendale &amp; Boult: Towards Open Set Deep Networks, 2016</a:t>
            </a:r>
          </a:p>
          <a:p xmlns:a="http://schemas.openxmlformats.org/drawingml/2006/main">
            <a:r>
              <a:t>https://arxiv.org/abs/1511.06233</a:t>
            </a:r>
          </a:p>
          <a:p xmlns:a="http://schemas.openxmlformats.org/drawingml/2006/main">
            <a:r>
              <a:t>运行配置、数据哈希和结果：artifacts/teaching/classroom-facts.json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b76ed5784b450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19ec5905aa4fa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750751d5714a8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499b7ea9a74fc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b2a867740a484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886f5d24ae4ef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2D9A659-8584-4481-90C7-9E486B3B1A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4575550-BB84-4EAD-A5EC-9A61310F1BE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4726743-BD34-4E37-98B1-647157DA8B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C5E20D1-CF8D-420D-A7DD-47596DF6A6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EF4D3B1-3737-4BC0-BE46-FF1D728254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F3A1369-2F8B-462F-9687-8C31572442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C59A396-CC53-4B5E-BE73-DA89DB18D5A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2062134-2CE2-41DE-BBF7-91A4ED7CA89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BF665EB-3891-445A-A8D5-0B8EAF10CD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57E80B0-C7B6-4791-83EB-C070759475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daa579e98d4fa3" /><Relationship Type="http://schemas.openxmlformats.org/officeDocument/2006/relationships/slideLayout" Target="/ppt/slideLayouts/slideLayout1.xml" Id="Rabc4c925210e46d6" /><Relationship Type="http://schemas.openxmlformats.org/officeDocument/2006/relationships/slideLayout" Target="/ppt/slideLayouts/slideLayout2.xml" Id="R6e0c65675fa64b19" /><Relationship Type="http://schemas.openxmlformats.org/officeDocument/2006/relationships/slideLayout" Target="/ppt/slideLayouts/slideLayout3.xml" Id="R41f9c3ca2b214433" /><Relationship Type="http://schemas.openxmlformats.org/officeDocument/2006/relationships/slideLayout" Target="/ppt/slideLayouts/slideLayout4.xml" Id="Ra28d9a87822746fc" /><Relationship Type="http://schemas.openxmlformats.org/officeDocument/2006/relationships/slideLayout" Target="/ppt/slideLayouts/slideLayout5.xml" Id="Re162d56a45a54c96" /><Relationship Type="http://schemas.openxmlformats.org/officeDocument/2006/relationships/slideLayout" Target="/ppt/slideLayouts/slideLayout6.xml" Id="R5566cb0f97e6400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bc4c925210e46d6"/>
    <p:sldLayoutId xmlns:r="http://schemas.openxmlformats.org/officeDocument/2006/relationships" id="2147483650" r:id="R6e0c65675fa64b19"/>
    <p:sldLayoutId xmlns:r="http://schemas.openxmlformats.org/officeDocument/2006/relationships" id="2147483651" r:id="R41f9c3ca2b214433"/>
    <p:sldLayoutId xmlns:r="http://schemas.openxmlformats.org/officeDocument/2006/relationships" id="2147483652" r:id="Ra28d9a87822746fc"/>
    <p:sldLayoutId xmlns:r="http://schemas.openxmlformats.org/officeDocument/2006/relationships" id="2147483653" r:id="Re162d56a45a54c96"/>
    <p:sldLayoutId xmlns:r="http://schemas.openxmlformats.org/officeDocument/2006/relationships" id="2147483654" r:id="R5566cb0f97e6400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bc7e704dda4c65" /><Relationship Type="http://schemas.openxmlformats.org/officeDocument/2006/relationships/image" Target="/ppt/media/image.png" Id="R3bf96f3e5acb4be0" /><Relationship Type="http://schemas.openxmlformats.org/officeDocument/2006/relationships/notesSlide" Target="/ppt/notesSlides/notesSlide1.xml" Id="R8fca8ca0933f4d2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92059b70964894" /><Relationship Type="http://schemas.openxmlformats.org/officeDocument/2006/relationships/notesSlide" Target="/ppt/notesSlides/notesSlide2.xml" Id="R60748afe9e3e4af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8dca6dd5d04a50" /><Relationship Type="http://schemas.openxmlformats.org/officeDocument/2006/relationships/notesSlide" Target="/ppt/notesSlides/notesSlide3.xml" Id="Rf1860712aa62421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6e0242b2674c15" /><Relationship Type="http://schemas.openxmlformats.org/officeDocument/2006/relationships/image" Target="/ppt/media/image2.png" Id="R1ad3f9ff01e54472" /><Relationship Type="http://schemas.openxmlformats.org/officeDocument/2006/relationships/notesSlide" Target="/ppt/notesSlides/notesSlide4.xml" Id="R473da4125b92473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5f04dcdea74b11" /><Relationship Type="http://schemas.openxmlformats.org/officeDocument/2006/relationships/image" Target="/ppt/media/image3.png" Id="Re9c53226214648b8" /><Relationship Type="http://schemas.openxmlformats.org/officeDocument/2006/relationships/notesSlide" Target="/ppt/notesSlides/notesSlide5.xml" Id="R61d2ef8a6da44fa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a95ce58e0c44a4" /><Relationship Type="http://schemas.openxmlformats.org/officeDocument/2006/relationships/image" Target="/ppt/media/image4.png" Id="R4db9c4e43dcd4e32" /><Relationship Type="http://schemas.openxmlformats.org/officeDocument/2006/relationships/notesSlide" Target="/ppt/notesSlides/notesSlide6.xml" Id="R001709cd86e84ad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86ea890711495f" /><Relationship Type="http://schemas.openxmlformats.org/officeDocument/2006/relationships/image" Target="/ppt/media/image5.png" Id="Raa6676f85ecc40b9" /><Relationship Type="http://schemas.openxmlformats.org/officeDocument/2006/relationships/notesSlide" Target="/ppt/notesSlides/notesSlide7.xml" Id="R10871a70059c42d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ab489353524b0b" /><Relationship Type="http://schemas.openxmlformats.org/officeDocument/2006/relationships/image" Target="/ppt/media/image6.png" Id="R2ef2e2260e124696" /><Relationship Type="http://schemas.openxmlformats.org/officeDocument/2006/relationships/notesSlide" Target="/ppt/notesSlides/notesSlide8.xml" Id="R1591ef610187415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04231f88f14aff" /><Relationship Type="http://schemas.openxmlformats.org/officeDocument/2006/relationships/image" Target="/ppt/media/image7.png" Id="Rc3617aed599448cf" /><Relationship Type="http://schemas.openxmlformats.org/officeDocument/2006/relationships/notesSlide" Target="/ppt/notesSlides/notesSlide9.xml" Id="R62cfaa64e6a7478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7ae0250a5a404f" /><Relationship Type="http://schemas.openxmlformats.org/officeDocument/2006/relationships/notesSlide" Target="/ppt/notesSlides/notesSlide10.xml" Id="R864e6d85a2d3467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533857dfda48d6" /><Relationship Type="http://schemas.openxmlformats.org/officeDocument/2006/relationships/notesSlide" Target="/ppt/notesSlides/notesSlide11.xml" Id="R6a034aef70904bd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6d92b9e86b4bfc" /><Relationship Type="http://schemas.openxmlformats.org/officeDocument/2006/relationships/notesSlide" Target="/ppt/notesSlides/notesSlide12.xml" Id="R7bf2088ad5d54a9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a6646dd4204471" /><Relationship Type="http://schemas.openxmlformats.org/officeDocument/2006/relationships/notesSlide" Target="/ppt/notesSlides/notesSlide13.xml" Id="R3f7c7da560fe49a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0930a701004e55" /><Relationship Type="http://schemas.openxmlformats.org/officeDocument/2006/relationships/notesSlide" Target="/ppt/notesSlides/notesSlide14.xml" Id="R8dc6b69a220c4fa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L09  /  HSI LEARNING">
            <a:extLst xmlns:a="http://schemas.openxmlformats.org/drawingml/2006/main">
              <a:ext uri="{FF2B5EF4-FFF2-40B4-BE49-F238E27FC236}">
                <a16:creationId xmlns:a16="http://schemas.microsoft.com/office/drawing/2014/main" id="{79F7DC92-E859-44E7-B6C3-DBFE25C48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L09  /  HSI LEARNING</a:t>
            </a:r>
          </a:p>
        </p:txBody>
      </p:sp>
      <p:sp>
        <p:nvSpPr>
          <p:cNvPr id="2" name="01">
            <a:extLst xmlns:a="http://schemas.openxmlformats.org/drawingml/2006/main">
              <a:ext uri="{FF2B5EF4-FFF2-40B4-BE49-F238E27FC236}">
                <a16:creationId xmlns:a16="http://schemas.microsoft.com/office/drawing/2014/main" id="{32FFFAFA-FD0E-46E6-93E9-9B36AF8CE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71FBF5-348E-4105-B638-F10B0FD2D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E6976F-C940-4F98-B888-E10C9F4E5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AB"/>
          </a:solidFill>
          <a:ln xmlns:a="http://schemas.openxmlformats.org/drawingml/2006/main" w="0">
            <a:noFill/>
          </a:ln>
        </p:spPr>
      </p:sp>
      <p:sp>
        <p:nvSpPr>
          <p:cNvPr id="5" name="未知类&#10;与拒识决策">
            <a:extLst xmlns:a="http://schemas.openxmlformats.org/drawingml/2006/main">
              <a:ext uri="{FF2B5EF4-FFF2-40B4-BE49-F238E27FC236}">
                <a16:creationId xmlns:a16="http://schemas.microsoft.com/office/drawing/2014/main" id="{95E9D78D-8E29-494A-9476-964AF45EC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5524500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51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51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未知类</a:t>
            </a:r>
          </a:p>
          <a:p xmlns:a="http://schemas.openxmlformats.org/drawingml/2006/main">
            <a:pPr>
              <a:defRPr sz="51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与拒识决策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4E7C07-9E8F-4EB2-B4A1-EE475CDDA5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f96f3e5acb4be0"/>
          <a:stretch xmlns:a="http://schemas.openxmlformats.org/drawingml/2006/main"/>
        </p:blipFill>
        <p:spPr>
          <a:xfrm xmlns:a="http://schemas.openxmlformats.org/drawingml/2006/main">
            <a:off x="6591300" y="2475174"/>
            <a:ext cx="4914900" cy="143140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86E043-9108-4FD0-A475-4D3A7B6AF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9"/>
          </a:solidFill>
          <a:ln xmlns:a="http://schemas.openxmlformats.org/drawingml/2006/main" w="0">
            <a:noFill/>
          </a:ln>
        </p:spPr>
      </p:sp>
      <p:sp>
        <p:nvSpPr>
          <p:cNvPr id="8" name="分数、阈值、拒识地图与代价">
            <a:extLst xmlns:a="http://schemas.openxmlformats.org/drawingml/2006/main">
              <a:ext uri="{FF2B5EF4-FFF2-40B4-BE49-F238E27FC236}">
                <a16:creationId xmlns:a16="http://schemas.microsoft.com/office/drawing/2014/main" id="{1EAE6871-646D-4D08-810D-F40B9E2EF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3392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95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分数、阈值、拒识地图与代价</a:t>
            </a:r>
          </a:p>
        </p:txBody>
      </p:sp>
      <p:sp>
        <p:nvSpPr>
          <p:cNvPr id="9" name="先修  /  L02/L05；原型概念">
            <a:extLst xmlns:a="http://schemas.openxmlformats.org/drawingml/2006/main">
              <a:ext uri="{FF2B5EF4-FFF2-40B4-BE49-F238E27FC236}">
                <a16:creationId xmlns:a16="http://schemas.microsoft.com/office/drawing/2014/main" id="{6946D182-4A83-4A52-B286-C12A6572C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245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先修  /  L02/L05；原型概念</a:t>
            </a:r>
          </a:p>
        </p:txBody>
      </p:sp>
    </p:spTree>
    <p:extLst>
      <p:ext uri="{BB962C8B-B14F-4D97-AF65-F5344CB8AC3E}">
        <p14:creationId xmlns:p14="http://schemas.microsoft.com/office/powerpoint/2010/main" val="25159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L09  /  HSI LEARNING">
            <a:extLst xmlns:a="http://schemas.openxmlformats.org/drawingml/2006/main">
              <a:ext uri="{FF2B5EF4-FFF2-40B4-BE49-F238E27FC236}">
                <a16:creationId xmlns:a16="http://schemas.microsoft.com/office/drawing/2014/main" id="{DE199B75-6F32-42FC-98D7-D0023E1C1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L09  /  HSI LEARNING</a:t>
            </a:r>
          </a:p>
        </p:txBody>
      </p:sp>
      <p:sp>
        <p:nvSpPr>
          <p:cNvPr id="2" name="02">
            <a:extLst xmlns:a="http://schemas.openxmlformats.org/drawingml/2006/main">
              <a:ext uri="{FF2B5EF4-FFF2-40B4-BE49-F238E27FC236}">
                <a16:creationId xmlns:a16="http://schemas.microsoft.com/office/drawing/2014/main" id="{363B4AE7-28EE-40D6-A908-F7B844C7A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这节课，你将完成什么">
            <a:extLst xmlns:a="http://schemas.openxmlformats.org/drawingml/2006/main">
              <a:ext uri="{FF2B5EF4-FFF2-40B4-BE49-F238E27FC236}">
                <a16:creationId xmlns:a16="http://schemas.microsoft.com/office/drawing/2014/main" id="{BDEFE2A8-9E04-4544-BB94-027AC84D9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这节课，你将完成什么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9CD525-7929-49B0-8F2B-8CBF602E9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AB"/>
          </a:solidFill>
          <a:ln xmlns:a="http://schemas.openxmlformats.org/drawingml/2006/main" w="0">
            <a:noFill/>
          </a:ln>
        </p:spPr>
      </p:sp>
      <p:sp>
        <p:nvSpPr>
          <p:cNvPr id="5" name="01">
            <a:extLst xmlns:a="http://schemas.openxmlformats.org/drawingml/2006/main">
              <a:ext uri="{FF2B5EF4-FFF2-40B4-BE49-F238E27FC236}">
                <a16:creationId xmlns:a16="http://schemas.microsoft.com/office/drawing/2014/main" id="{D92FF651-3BBE-4FBD-A577-25932C915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76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70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验证阈值配置">
            <a:extLst xmlns:a="http://schemas.openxmlformats.org/drawingml/2006/main">
              <a:ext uri="{FF2B5EF4-FFF2-40B4-BE49-F238E27FC236}">
                <a16:creationId xmlns:a16="http://schemas.microsoft.com/office/drawing/2014/main" id="{2D1E3323-B4D9-4A1C-B59B-07D62D037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419350"/>
            <a:ext cx="952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验证阈值配置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A59EF6-C40D-4956-87AF-65263EDCA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19475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9"/>
          </a:solidFill>
          <a:ln xmlns:a="http://schemas.openxmlformats.org/drawingml/2006/main" w="0">
            <a:noFill/>
          </a:ln>
        </p:spPr>
      </p:sp>
      <p:sp>
        <p:nvSpPr>
          <p:cNvPr id="8" name="02">
            <a:extLst xmlns:a="http://schemas.openxmlformats.org/drawingml/2006/main">
              <a:ext uri="{FF2B5EF4-FFF2-40B4-BE49-F238E27FC236}">
                <a16:creationId xmlns:a16="http://schemas.microsoft.com/office/drawing/2014/main" id="{FA8705B1-9712-4614-BAA8-32D71B43F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9975"/>
            <a:ext cx="76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70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白色未知map">
            <a:extLst xmlns:a="http://schemas.openxmlformats.org/drawingml/2006/main">
              <a:ext uri="{FF2B5EF4-FFF2-40B4-BE49-F238E27FC236}">
                <a16:creationId xmlns:a16="http://schemas.microsoft.com/office/drawing/2014/main" id="{004C26C6-3288-46B7-8BD5-B1D6AD0CE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609975"/>
            <a:ext cx="952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白色未知map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988C4E-A977-472F-BDB0-0938E7121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6101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9"/>
          </a:solidFill>
          <a:ln xmlns:a="http://schemas.openxmlformats.org/drawingml/2006/main" w="0">
            <a:noFill/>
          </a:ln>
        </p:spPr>
      </p:sp>
      <p:sp>
        <p:nvSpPr>
          <p:cNvPr id="11" name="03">
            <a:extLst xmlns:a="http://schemas.openxmlformats.org/drawingml/2006/main">
              <a:ext uri="{FF2B5EF4-FFF2-40B4-BE49-F238E27FC236}">
                <a16:creationId xmlns:a16="http://schemas.microsoft.com/office/drawing/2014/main" id="{B22B6F40-5B8B-44ED-BFE1-6FBC8C972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76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70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2" name="误拒/漏检和已知可用性报告">
            <a:extLst xmlns:a="http://schemas.openxmlformats.org/drawingml/2006/main">
              <a:ext uri="{FF2B5EF4-FFF2-40B4-BE49-F238E27FC236}">
                <a16:creationId xmlns:a16="http://schemas.microsoft.com/office/drawing/2014/main" id="{22FD65BC-B8F7-4DB6-96F8-65EFD6330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800600"/>
            <a:ext cx="952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误拒/漏检和已知可用性报告</a:t>
            </a:r>
          </a:p>
        </p:txBody>
      </p:sp>
    </p:spTree>
    <p:extLst>
      <p:ext uri="{BB962C8B-B14F-4D97-AF65-F5344CB8AC3E}">
        <p14:creationId xmlns:p14="http://schemas.microsoft.com/office/powerpoint/2010/main" val="13112146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L09  /  HSI LEARNING">
            <a:extLst xmlns:a="http://schemas.openxmlformats.org/drawingml/2006/main">
              <a:ext uri="{FF2B5EF4-FFF2-40B4-BE49-F238E27FC236}">
                <a16:creationId xmlns:a16="http://schemas.microsoft.com/office/drawing/2014/main" id="{14454C0B-5C4E-492B-90B3-BD82613AC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L09  /  HSI LEARNING</a:t>
            </a:r>
          </a:p>
        </p:txBody>
      </p:sp>
      <p:sp>
        <p:nvSpPr>
          <p:cNvPr id="2" name="03">
            <a:extLst xmlns:a="http://schemas.openxmlformats.org/drawingml/2006/main">
              <a:ext uri="{FF2B5EF4-FFF2-40B4-BE49-F238E27FC236}">
                <a16:creationId xmlns:a16="http://schemas.microsoft.com/office/drawing/2014/main" id="{7AC77F91-7044-4195-BF9D-126435064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未知、背景、难样本不是同一个概念">
            <a:extLst xmlns:a="http://schemas.openxmlformats.org/drawingml/2006/main">
              <a:ext uri="{FF2B5EF4-FFF2-40B4-BE49-F238E27FC236}">
                <a16:creationId xmlns:a16="http://schemas.microsoft.com/office/drawing/2014/main" id="{28DBA22B-5F5A-4B4A-9490-32BCE5232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未知、背景、难样本不是同一个概念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5D076A-6F06-4038-A286-57CE0BB79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AB"/>
          </a:solidFill>
          <a:ln xmlns:a="http://schemas.openxmlformats.org/drawingml/2006/main" w="0">
            <a:noFill/>
          </a:ln>
        </p:spPr>
      </p:sp>
      <p:sp>
        <p:nvSpPr>
          <p:cNvPr id="5" name="01">
            <a:extLst xmlns:a="http://schemas.openxmlformats.org/drawingml/2006/main">
              <a:ext uri="{FF2B5EF4-FFF2-40B4-BE49-F238E27FC236}">
                <a16:creationId xmlns:a16="http://schemas.microsoft.com/office/drawing/2014/main" id="{6E20543F-8E86-4152-BBCE-B7BA0B2D8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未知：训练未监督的类别">
            <a:extLst xmlns:a="http://schemas.openxmlformats.org/drawingml/2006/main">
              <a:ext uri="{FF2B5EF4-FFF2-40B4-BE49-F238E27FC236}">
                <a16:creationId xmlns:a16="http://schemas.microsoft.com/office/drawing/2014/main" id="{1331F13A-9208-4DD0-AB80-E74399DAE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257425"/>
            <a:ext cx="952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未知：训练未监督的类别</a:t>
            </a:r>
          </a:p>
        </p:txBody>
      </p:sp>
      <p:sp>
        <p:nvSpPr>
          <p:cNvPr id="7" name="02">
            <a:extLst xmlns:a="http://schemas.openxmlformats.org/drawingml/2006/main">
              <a:ext uri="{FF2B5EF4-FFF2-40B4-BE49-F238E27FC236}">
                <a16:creationId xmlns:a16="http://schemas.microsoft.com/office/drawing/2014/main" id="{0668CC3E-660F-4ACA-8539-01BC70C20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背景：没有标签的像元">
            <a:extLst xmlns:a="http://schemas.openxmlformats.org/drawingml/2006/main">
              <a:ext uri="{FF2B5EF4-FFF2-40B4-BE49-F238E27FC236}">
                <a16:creationId xmlns:a16="http://schemas.microsoft.com/office/drawing/2014/main" id="{E5740D64-CD12-488F-8925-5F1CDDB58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76625"/>
            <a:ext cx="952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背景：没有标签的像元</a:t>
            </a:r>
          </a:p>
        </p:txBody>
      </p:sp>
      <p:sp>
        <p:nvSpPr>
          <p:cNvPr id="9" name="03">
            <a:extLst xmlns:a="http://schemas.openxmlformats.org/drawingml/2006/main">
              <a:ext uri="{FF2B5EF4-FFF2-40B4-BE49-F238E27FC236}">
                <a16:creationId xmlns:a16="http://schemas.microsoft.com/office/drawing/2014/main" id="{5BA2846E-F8C0-4649-81D7-C10FC9829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9107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0" name="难样本：也可能属于已知类">
            <a:extLst xmlns:a="http://schemas.openxmlformats.org/drawingml/2006/main">
              <a:ext uri="{FF2B5EF4-FFF2-40B4-BE49-F238E27FC236}">
                <a16:creationId xmlns:a16="http://schemas.microsoft.com/office/drawing/2014/main" id="{D5F6D0F9-DC67-4E3D-ABC0-D65B5B473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695825"/>
            <a:ext cx="952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难样本：也可能属于已知类</a:t>
            </a:r>
          </a:p>
        </p:txBody>
      </p:sp>
    </p:spTree>
    <p:extLst>
      <p:ext uri="{BB962C8B-B14F-4D97-AF65-F5344CB8AC3E}">
        <p14:creationId xmlns:p14="http://schemas.microsoft.com/office/powerpoint/2010/main" val="6717301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L09  /  HSI LEARNING">
            <a:extLst xmlns:a="http://schemas.openxmlformats.org/drawingml/2006/main">
              <a:ext uri="{FF2B5EF4-FFF2-40B4-BE49-F238E27FC236}">
                <a16:creationId xmlns:a16="http://schemas.microsoft.com/office/drawing/2014/main" id="{112BD4D4-8B59-4A56-9FFF-975D073B5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L09  /  HSI LEARNING</a:t>
            </a:r>
          </a:p>
        </p:txBody>
      </p:sp>
      <p:sp>
        <p:nvSpPr>
          <p:cNvPr id="2" name="04">
            <a:extLst xmlns:a="http://schemas.openxmlformats.org/drawingml/2006/main">
              <a:ext uri="{FF2B5EF4-FFF2-40B4-BE49-F238E27FC236}">
                <a16:creationId xmlns:a16="http://schemas.microsoft.com/office/drawing/2014/main" id="{C193289E-C908-4704-B648-E6BE3A278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Softmax没有未知输出槽">
            <a:extLst xmlns:a="http://schemas.openxmlformats.org/drawingml/2006/main">
              <a:ext uri="{FF2B5EF4-FFF2-40B4-BE49-F238E27FC236}">
                <a16:creationId xmlns:a16="http://schemas.microsoft.com/office/drawing/2014/main" id="{DFB9CA76-A9FA-40A5-85EE-AA983CD8F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Softmax没有未知输出槽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389549-F197-4D23-9D21-3C3DEEC8C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AB"/>
          </a:solidFill>
          <a:ln xmlns:a="http://schemas.openxmlformats.org/drawingml/2006/main" w="0">
            <a:noFill/>
          </a:ln>
        </p:spPr>
      </p:sp>
      <p:sp>
        <p:nvSpPr>
          <p:cNvPr id="5" name="已知logits永远归一化">
            <a:extLst xmlns:a="http://schemas.openxmlformats.org/drawingml/2006/main">
              <a:ext uri="{FF2B5EF4-FFF2-40B4-BE49-F238E27FC236}">
                <a16:creationId xmlns:a16="http://schemas.microsoft.com/office/drawing/2014/main" id="{D6F6D36A-CBA3-4672-813A-9E6C95840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49720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已知logits永远归一化</a:t>
            </a:r>
          </a:p>
        </p:txBody>
      </p:sp>
      <p:sp>
        <p:nvSpPr>
          <p:cNvPr id="6" name="高置信度不保证已知">
            <a:extLst xmlns:a="http://schemas.openxmlformats.org/drawingml/2006/main">
              <a:ext uri="{FF2B5EF4-FFF2-40B4-BE49-F238E27FC236}">
                <a16:creationId xmlns:a16="http://schemas.microsoft.com/office/drawing/2014/main" id="{9B1F0105-4BE9-400C-866D-11456174B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49720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高置信度不保证已知</a:t>
            </a:r>
          </a:p>
        </p:txBody>
      </p:sp>
      <p:sp>
        <p:nvSpPr>
          <p:cNvPr id="7" name="仍可以用其分数做检测">
            <a:extLst xmlns:a="http://schemas.openxmlformats.org/drawingml/2006/main">
              <a:ext uri="{FF2B5EF4-FFF2-40B4-BE49-F238E27FC236}">
                <a16:creationId xmlns:a16="http://schemas.microsoft.com/office/drawing/2014/main" id="{879FB400-024C-4A26-9579-85139A07B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9720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仍可以用其分数做检测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C41A71-8049-487F-9CD8-75EF48C7D2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d3f9ff01e54472"/>
          <a:stretch xmlns:a="http://schemas.openxmlformats.org/drawingml/2006/main"/>
        </p:blipFill>
        <p:spPr>
          <a:xfrm xmlns:a="http://schemas.openxmlformats.org/drawingml/2006/main">
            <a:off x="6096000" y="3172811"/>
            <a:ext cx="5410200" cy="426653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63E068-2C8A-47BA-9227-53331B4DA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108204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</a:ln>
        </p:spPr>
      </p:sp>
      <p:sp>
        <p:nvSpPr>
          <p:cNvPr id="10" name="&gt;&gt;&gt; thresholds['msp']">
            <a:extLst xmlns:a="http://schemas.openxmlformats.org/drawingml/2006/main">
              <a:ext uri="{FF2B5EF4-FFF2-40B4-BE49-F238E27FC236}">
                <a16:creationId xmlns:a16="http://schemas.microsoft.com/office/drawing/2014/main" id="{6027E5D2-78B3-4A8C-A448-D5B66A97C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15000"/>
            <a:ext cx="1040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500" b="0">
                <a:solidFill>
                  <a:srgbClr val="152E5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52E5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52E50"/>
                </a:solidFill>
                <a:latin typeface="Consolas"/>
                <a:ea typeface="Consolas"/>
                <a:cs typeface="Consolas"/>
              </a:rPr>
              <a:t>&gt;&gt;&gt; thresholds['msp']</a:t>
            </a:r>
          </a:p>
        </p:txBody>
      </p:sp>
      <p:sp>
        <p:nvSpPr>
          <p:cNvPr id="11" name="0.2238">
            <a:extLst xmlns:a="http://schemas.openxmlformats.org/drawingml/2006/main">
              <a:ext uri="{FF2B5EF4-FFF2-40B4-BE49-F238E27FC236}">
                <a16:creationId xmlns:a16="http://schemas.microsoft.com/office/drawing/2014/main" id="{F401A709-47E7-4992-9DDC-2D5DA7AD9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05525"/>
            <a:ext cx="1040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725" b="1">
                <a:solidFill>
                  <a:srgbClr val="315DAB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315DAB"/>
                </a:solidFill>
                <a:latin typeface="Consolas"/>
                <a:ea typeface="Consolas"/>
                <a:cs typeface="Consolas"/>
              </a:defRPr>
            </a:pPr>
            <a:r>
              <a:rPr sz="1725" b="1">
                <a:solidFill>
                  <a:srgbClr val="315DAB"/>
                </a:solidFill>
                <a:latin typeface="Consolas"/>
                <a:ea typeface="Consolas"/>
                <a:cs typeface="Consolas"/>
              </a:rPr>
              <a:t>0.2238</a:t>
            </a:r>
          </a:p>
        </p:txBody>
      </p:sp>
    </p:spTree>
    <p:extLst>
      <p:ext uri="{BB962C8B-B14F-4D97-AF65-F5344CB8AC3E}">
        <p14:creationId xmlns:p14="http://schemas.microsoft.com/office/powerpoint/2010/main" val="2567382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L09  /  HSI LEARNING">
            <a:extLst xmlns:a="http://schemas.openxmlformats.org/drawingml/2006/main">
              <a:ext uri="{FF2B5EF4-FFF2-40B4-BE49-F238E27FC236}">
                <a16:creationId xmlns:a16="http://schemas.microsoft.com/office/drawing/2014/main" id="{257337BE-ADE3-45D6-8FE8-7BA21657C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L09  /  HSI LEARNING</a:t>
            </a:r>
          </a:p>
        </p:txBody>
      </p:sp>
      <p:sp>
        <p:nvSpPr>
          <p:cNvPr id="2" name="05">
            <a:extLst xmlns:a="http://schemas.openxmlformats.org/drawingml/2006/main">
              <a:ext uri="{FF2B5EF4-FFF2-40B4-BE49-F238E27FC236}">
                <a16:creationId xmlns:a16="http://schemas.microsoft.com/office/drawing/2014/main" id="{2F249A6C-8D17-4B80-AF4B-F4D774EA1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" name="距离是另一种读模型的方式">
            <a:extLst xmlns:a="http://schemas.openxmlformats.org/drawingml/2006/main">
              <a:ext uri="{FF2B5EF4-FFF2-40B4-BE49-F238E27FC236}">
                <a16:creationId xmlns:a16="http://schemas.microsoft.com/office/drawing/2014/main" id="{31CBC918-FCC5-4A0F-A339-6239C26C7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距离是另一种读模型的方式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E2DCA2-41E3-4EB3-ADB7-ACFFBA68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AB"/>
          </a:solidFill>
          <a:ln xmlns:a="http://schemas.openxmlformats.org/drawingml/2006/main" w="0">
            <a:noFill/>
          </a:ln>
        </p:spPr>
      </p:sp>
      <p:sp>
        <p:nvSpPr>
          <p:cNvPr id="5" name="用已知训练类建原型">
            <a:extLst xmlns:a="http://schemas.openxmlformats.org/drawingml/2006/main">
              <a:ext uri="{FF2B5EF4-FFF2-40B4-BE49-F238E27FC236}">
                <a16:creationId xmlns:a16="http://schemas.microsoft.com/office/drawing/2014/main" id="{988A25CF-98C4-4DA7-975F-D7F523D3C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49720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用已知训练类建原型</a:t>
            </a:r>
          </a:p>
        </p:txBody>
      </p:sp>
      <p:sp>
        <p:nvSpPr>
          <p:cNvPr id="6" name="特征与标签保持配对">
            <a:extLst xmlns:a="http://schemas.openxmlformats.org/drawingml/2006/main">
              <a:ext uri="{FF2B5EF4-FFF2-40B4-BE49-F238E27FC236}">
                <a16:creationId xmlns:a16="http://schemas.microsoft.com/office/drawing/2014/main" id="{A8203DC0-5016-4A3D-A5EE-026B752F3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49720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特征与标签保持配对</a:t>
            </a:r>
          </a:p>
        </p:txBody>
      </p:sp>
      <p:sp>
        <p:nvSpPr>
          <p:cNvPr id="7" name="最近原型距离越大越未知">
            <a:extLst xmlns:a="http://schemas.openxmlformats.org/drawingml/2006/main">
              <a:ext uri="{FF2B5EF4-FFF2-40B4-BE49-F238E27FC236}">
                <a16:creationId xmlns:a16="http://schemas.microsoft.com/office/drawing/2014/main" id="{0C714291-D1D7-41E3-88B9-F97A1631F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9720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最近原型距离越大越未知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A08874-027F-440D-8DE4-B558A4D49A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c53226214648b8"/>
          <a:stretch xmlns:a="http://schemas.openxmlformats.org/drawingml/2006/main"/>
        </p:blipFill>
        <p:spPr>
          <a:xfrm xmlns:a="http://schemas.openxmlformats.org/drawingml/2006/main">
            <a:off x="6096000" y="3012630"/>
            <a:ext cx="5410200" cy="74701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48BBC4-D8D8-4326-A940-DF5F45217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108204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</a:ln>
        </p:spPr>
      </p:sp>
      <p:sp>
        <p:nvSpPr>
          <p:cNvPr id="10" name="&gt;&gt;&gt; thresholds['distance']">
            <a:extLst xmlns:a="http://schemas.openxmlformats.org/drawingml/2006/main">
              <a:ext uri="{FF2B5EF4-FFF2-40B4-BE49-F238E27FC236}">
                <a16:creationId xmlns:a16="http://schemas.microsoft.com/office/drawing/2014/main" id="{B925DA9A-48AF-4BD4-867D-86997395E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15000"/>
            <a:ext cx="1040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500" b="0">
                <a:solidFill>
                  <a:srgbClr val="152E5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52E5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52E50"/>
                </a:solidFill>
                <a:latin typeface="Consolas"/>
                <a:ea typeface="Consolas"/>
                <a:cs typeface="Consolas"/>
              </a:rPr>
              <a:t>&gt;&gt;&gt; thresholds['distance']</a:t>
            </a:r>
          </a:p>
        </p:txBody>
      </p:sp>
      <p:sp>
        <p:nvSpPr>
          <p:cNvPr id="11" name="5.3389">
            <a:extLst xmlns:a="http://schemas.openxmlformats.org/drawingml/2006/main">
              <a:ext uri="{FF2B5EF4-FFF2-40B4-BE49-F238E27FC236}">
                <a16:creationId xmlns:a16="http://schemas.microsoft.com/office/drawing/2014/main" id="{D62D696C-ED00-4F47-8F84-6F5FA9037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05525"/>
            <a:ext cx="1040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725" b="1">
                <a:solidFill>
                  <a:srgbClr val="315DAB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315DAB"/>
                </a:solidFill>
                <a:latin typeface="Consolas"/>
                <a:ea typeface="Consolas"/>
                <a:cs typeface="Consolas"/>
              </a:defRPr>
            </a:pPr>
            <a:r>
              <a:rPr sz="1725" b="1">
                <a:solidFill>
                  <a:srgbClr val="315DAB"/>
                </a:solidFill>
                <a:latin typeface="Consolas"/>
                <a:ea typeface="Consolas"/>
                <a:cs typeface="Consolas"/>
              </a:rPr>
              <a:t>5.3389</a:t>
            </a:r>
          </a:p>
        </p:txBody>
      </p:sp>
    </p:spTree>
    <p:extLst>
      <p:ext uri="{BB962C8B-B14F-4D97-AF65-F5344CB8AC3E}">
        <p14:creationId xmlns:p14="http://schemas.microsoft.com/office/powerpoint/2010/main" val="11715516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L09  /  HSI LEARNING">
            <a:extLst xmlns:a="http://schemas.openxmlformats.org/drawingml/2006/main">
              <a:ext uri="{FF2B5EF4-FFF2-40B4-BE49-F238E27FC236}">
                <a16:creationId xmlns:a16="http://schemas.microsoft.com/office/drawing/2014/main" id="{0AF178B7-3B8F-4855-8C60-46F21C1D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L09  /  HSI LEARNING</a:t>
            </a:r>
          </a:p>
        </p:txBody>
      </p:sp>
      <p:sp>
        <p:nvSpPr>
          <p:cNvPr id="2" name="06">
            <a:extLst xmlns:a="http://schemas.openxmlformats.org/drawingml/2006/main">
              <a:ext uri="{FF2B5EF4-FFF2-40B4-BE49-F238E27FC236}">
                <a16:creationId xmlns:a16="http://schemas.microsoft.com/office/drawing/2014/main" id="{C5413944-BD56-4A7F-80B8-5CAE2906D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" name="阈值在测试前冻结">
            <a:extLst xmlns:a="http://schemas.openxmlformats.org/drawingml/2006/main">
              <a:ext uri="{FF2B5EF4-FFF2-40B4-BE49-F238E27FC236}">
                <a16:creationId xmlns:a16="http://schemas.microsoft.com/office/drawing/2014/main" id="{712FF35F-19C6-4214-A968-31CBBBB47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阈值在测试前冻结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2AEB7B-9E9F-4B46-95D5-8B67A60B1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AB"/>
          </a:solidFill>
          <a:ln xmlns:a="http://schemas.openxmlformats.org/drawingml/2006/main" w="0">
            <a:noFill/>
          </a:ln>
        </p:spPr>
      </p:sp>
      <p:sp>
        <p:nvSpPr>
          <p:cNvPr id="5" name="known validation校准95%接受率">
            <a:extLst xmlns:a="http://schemas.openxmlformats.org/drawingml/2006/main">
              <a:ext uri="{FF2B5EF4-FFF2-40B4-BE49-F238E27FC236}">
                <a16:creationId xmlns:a16="http://schemas.microsoft.com/office/drawing/2014/main" id="{687A1F18-679C-4579-8404-7E19A791B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49720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known validation校准95%接受率</a:t>
            </a:r>
          </a:p>
        </p:txBody>
      </p:sp>
      <p:sp>
        <p:nvSpPr>
          <p:cNvPr id="6" name="不使用unknown test选阈值">
            <a:extLst xmlns:a="http://schemas.openxmlformats.org/drawingml/2006/main">
              <a:ext uri="{FF2B5EF4-FFF2-40B4-BE49-F238E27FC236}">
                <a16:creationId xmlns:a16="http://schemas.microsoft.com/office/drawing/2014/main" id="{835EA380-19FE-4EC5-9115-27105B353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49720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不使用unknown test选阈值</a:t>
            </a:r>
          </a:p>
        </p:txBody>
      </p:sp>
      <p:sp>
        <p:nvSpPr>
          <p:cNvPr id="7" name="目标接受率不保证实际测试值">
            <a:extLst xmlns:a="http://schemas.openxmlformats.org/drawingml/2006/main">
              <a:ext uri="{FF2B5EF4-FFF2-40B4-BE49-F238E27FC236}">
                <a16:creationId xmlns:a16="http://schemas.microsoft.com/office/drawing/2014/main" id="{95F50B07-7C8D-4AD3-95B4-CE3E11822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9720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目标接受率不保证实际测试值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271483-F7E1-4E66-9E5F-3B7D45383E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b9c4e43dcd4e32"/>
          <a:stretch xmlns:a="http://schemas.openxmlformats.org/drawingml/2006/main"/>
        </p:blipFill>
        <p:spPr>
          <a:xfrm xmlns:a="http://schemas.openxmlformats.org/drawingml/2006/main">
            <a:off x="6096000" y="3647768"/>
            <a:ext cx="5410200" cy="42923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6426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L09  /  HSI LEARNING">
            <a:extLst xmlns:a="http://schemas.openxmlformats.org/drawingml/2006/main">
              <a:ext uri="{FF2B5EF4-FFF2-40B4-BE49-F238E27FC236}">
                <a16:creationId xmlns:a16="http://schemas.microsoft.com/office/drawing/2014/main" id="{BECF7002-02E0-40B3-9224-0F9FC9F4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L09  /  HSI LEARNING</a:t>
            </a:r>
          </a:p>
        </p:txBody>
      </p:sp>
      <p:sp>
        <p:nvSpPr>
          <p:cNvPr id="2" name="07">
            <a:extLst xmlns:a="http://schemas.openxmlformats.org/drawingml/2006/main">
              <a:ext uri="{FF2B5EF4-FFF2-40B4-BE49-F238E27FC236}">
                <a16:creationId xmlns:a16="http://schemas.microsoft.com/office/drawing/2014/main" id="{678D01C9-BE88-464B-BF18-265EB30E7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" name="排序能力不等于部署准确率">
            <a:extLst xmlns:a="http://schemas.openxmlformats.org/drawingml/2006/main">
              <a:ext uri="{FF2B5EF4-FFF2-40B4-BE49-F238E27FC236}">
                <a16:creationId xmlns:a16="http://schemas.microsoft.com/office/drawing/2014/main" id="{7331B3E7-4F6D-4044-996F-1464B2848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排序能力不等于部署准确率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4E4F6C-B717-4931-88C7-7D0ADBFDC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AB"/>
          </a:solidFill>
          <a:ln xmlns:a="http://schemas.openxmlformats.org/drawingml/2006/main" w="0">
            <a:noFill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E541FE-AB8D-4CD2-831C-1608D0C6E0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6676f85ecc40b9"/>
          <a:stretch xmlns:a="http://schemas.openxmlformats.org/drawingml/2006/main"/>
        </p:blipFill>
        <p:spPr>
          <a:xfrm xmlns:a="http://schemas.openxmlformats.org/drawingml/2006/main">
            <a:off x="685800" y="2396274"/>
            <a:ext cx="10820400" cy="315130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FCB9F2-043B-4F6F-9EF3-E5E194B1C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72175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AB"/>
          </a:solidFill>
          <a:ln xmlns:a="http://schemas.openxmlformats.org/drawingml/2006/main" w="0">
            <a:noFill/>
          </a:ln>
        </p:spPr>
      </p:sp>
      <p:sp>
        <p:nvSpPr>
          <p:cNvPr id="7" name="当前AUROC MSP：0.891">
            <a:extLst xmlns:a="http://schemas.openxmlformats.org/drawingml/2006/main">
              <a:ext uri="{FF2B5EF4-FFF2-40B4-BE49-F238E27FC236}">
                <a16:creationId xmlns:a16="http://schemas.microsoft.com/office/drawing/2014/main" id="{1EE3855F-0B70-47FD-9253-A4E574276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3340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725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当前AUROC MSP：0.891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12DB76-FB55-4FEE-A0D4-035C63550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2600" y="5972175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AB"/>
          </a:solidFill>
          <a:ln xmlns:a="http://schemas.openxmlformats.org/drawingml/2006/main" w="0">
            <a:noFill/>
          </a:ln>
        </p:spPr>
      </p:sp>
      <p:sp>
        <p:nvSpPr>
          <p:cNvPr id="9" name="当前AUROC distance：0.877">
            <a:extLst xmlns:a="http://schemas.openxmlformats.org/drawingml/2006/main">
              <a:ext uri="{FF2B5EF4-FFF2-40B4-BE49-F238E27FC236}">
                <a16:creationId xmlns:a16="http://schemas.microsoft.com/office/drawing/2014/main" id="{C90B6F8C-9249-472B-A1B7-C73E95735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2600" y="6096000"/>
            <a:ext cx="3340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725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当前AUROC distance：0.877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ACF269-3382-4F8E-8276-0E028894A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9400" y="5972175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AB"/>
          </a:solidFill>
          <a:ln xmlns:a="http://schemas.openxmlformats.org/drawingml/2006/main" w="0">
            <a:noFill/>
          </a:ln>
        </p:spPr>
      </p:sp>
      <p:sp>
        <p:nvSpPr>
          <p:cNvPr id="11" name="比较固定阈值的误拒与漏检代价">
            <a:extLst xmlns:a="http://schemas.openxmlformats.org/drawingml/2006/main">
              <a:ext uri="{FF2B5EF4-FFF2-40B4-BE49-F238E27FC236}">
                <a16:creationId xmlns:a16="http://schemas.microsoft.com/office/drawing/2014/main" id="{D0F49C4E-22CE-45F2-B084-07C2B5314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9400" y="6096000"/>
            <a:ext cx="3340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725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比较固定阈值的误拒与漏检代价</a:t>
            </a:r>
          </a:p>
        </p:txBody>
      </p:sp>
    </p:spTree>
    <p:extLst>
      <p:ext uri="{BB962C8B-B14F-4D97-AF65-F5344CB8AC3E}">
        <p14:creationId xmlns:p14="http://schemas.microsoft.com/office/powerpoint/2010/main" val="568796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L09  /  HSI LEARNING">
            <a:extLst xmlns:a="http://schemas.openxmlformats.org/drawingml/2006/main">
              <a:ext uri="{FF2B5EF4-FFF2-40B4-BE49-F238E27FC236}">
                <a16:creationId xmlns:a16="http://schemas.microsoft.com/office/drawing/2014/main" id="{B2BB9E02-406E-493C-BA14-576156F1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L09  /  HSI LEARNING</a:t>
            </a:r>
          </a:p>
        </p:txBody>
      </p:sp>
      <p:sp>
        <p:nvSpPr>
          <p:cNvPr id="2" name="08">
            <a:extLst xmlns:a="http://schemas.openxmlformats.org/drawingml/2006/main">
              <a:ext uri="{FF2B5EF4-FFF2-40B4-BE49-F238E27FC236}">
                <a16:creationId xmlns:a16="http://schemas.microsoft.com/office/drawing/2014/main" id="{B820AEF0-D285-429E-A0B0-0EF4DD03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" name="白色越多，不一定越好">
            <a:extLst xmlns:a="http://schemas.openxmlformats.org/drawingml/2006/main">
              <a:ext uri="{FF2B5EF4-FFF2-40B4-BE49-F238E27FC236}">
                <a16:creationId xmlns:a16="http://schemas.microsoft.com/office/drawing/2014/main" id="{F434FDFA-F0F1-491E-B752-5C779BBDD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白色越多，不一定越好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B376BF-ED7E-4C56-BD6D-A4B4733D7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AB"/>
          </a:solidFill>
          <a:ln xmlns:a="http://schemas.openxmlformats.org/drawingml/2006/main" w="0">
            <a:noFill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E31EDD-174C-4A42-AE8C-1F037C27CA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f2e2260e124696"/>
          <a:stretch xmlns:a="http://schemas.openxmlformats.org/drawingml/2006/main"/>
        </p:blipFill>
        <p:spPr>
          <a:xfrm xmlns:a="http://schemas.openxmlformats.org/drawingml/2006/main">
            <a:off x="685800" y="2052952"/>
            <a:ext cx="10820400" cy="3837946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B68AE5-9CA0-49EF-A13D-BCDD2599B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72175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AB"/>
          </a:solidFill>
          <a:ln xmlns:a="http://schemas.openxmlformats.org/drawingml/2006/main" w="0">
            <a:noFill/>
          </a:ln>
        </p:spPr>
      </p:sp>
      <p:sp>
        <p:nvSpPr>
          <p:cNvPr id="7" name="白色表示拒识，不保证正确">
            <a:extLst xmlns:a="http://schemas.openxmlformats.org/drawingml/2006/main">
              <a:ext uri="{FF2B5EF4-FFF2-40B4-BE49-F238E27FC236}">
                <a16:creationId xmlns:a16="http://schemas.microsoft.com/office/drawing/2014/main" id="{375F540D-426D-4DA4-B7CE-E1327A0C1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3340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725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白色表示拒识，不保证正确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6BEE57-A3BD-44C9-A26A-5622E4AE2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2600" y="5972175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AB"/>
          </a:solidFill>
          <a:ln xmlns:a="http://schemas.openxmlformats.org/drawingml/2006/main" w="0">
            <a:noFill/>
          </a:ln>
        </p:spPr>
      </p:sp>
      <p:sp>
        <p:nvSpPr>
          <p:cNvPr id="9" name="黑色是未标注背景">
            <a:extLst xmlns:a="http://schemas.openxmlformats.org/drawingml/2006/main">
              <a:ext uri="{FF2B5EF4-FFF2-40B4-BE49-F238E27FC236}">
                <a16:creationId xmlns:a16="http://schemas.microsoft.com/office/drawing/2014/main" id="{5F29FE30-79B4-438C-BD47-139572ADA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2600" y="6096000"/>
            <a:ext cx="3340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725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黑色是未标注背景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D636D3-FB6E-4622-8E41-FAA9DCC86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9400" y="5972175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AB"/>
          </a:solidFill>
          <a:ln xmlns:a="http://schemas.openxmlformats.org/drawingml/2006/main" w="0">
            <a:noFill/>
          </a:ln>
        </p:spPr>
      </p:sp>
      <p:sp>
        <p:nvSpPr>
          <p:cNvPr id="11" name="对照未知GT和错误图">
            <a:extLst xmlns:a="http://schemas.openxmlformats.org/drawingml/2006/main">
              <a:ext uri="{FF2B5EF4-FFF2-40B4-BE49-F238E27FC236}">
                <a16:creationId xmlns:a16="http://schemas.microsoft.com/office/drawing/2014/main" id="{D1E1F739-8045-461F-BD4C-2CE824B4D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9400" y="6096000"/>
            <a:ext cx="3340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725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对照未知GT和错误图</a:t>
            </a:r>
          </a:p>
        </p:txBody>
      </p:sp>
    </p:spTree>
    <p:extLst>
      <p:ext uri="{BB962C8B-B14F-4D97-AF65-F5344CB8AC3E}">
        <p14:creationId xmlns:p14="http://schemas.microsoft.com/office/powerpoint/2010/main" val="157730359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L09  /  HSI LEARNING">
            <a:extLst xmlns:a="http://schemas.openxmlformats.org/drawingml/2006/main">
              <a:ext uri="{FF2B5EF4-FFF2-40B4-BE49-F238E27FC236}">
                <a16:creationId xmlns:a16="http://schemas.microsoft.com/office/drawing/2014/main" id="{371E6D51-3910-4D38-8E23-6A7FB244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L09  /  HSI LEARNING</a:t>
            </a:r>
          </a:p>
        </p:txBody>
      </p:sp>
      <p:sp>
        <p:nvSpPr>
          <p:cNvPr id="2" name="09">
            <a:extLst xmlns:a="http://schemas.openxmlformats.org/drawingml/2006/main">
              <a:ext uri="{FF2B5EF4-FFF2-40B4-BE49-F238E27FC236}">
                <a16:creationId xmlns:a16="http://schemas.microsoft.com/office/drawing/2014/main" id="{65F05602-C88C-4027-942F-B8219BF3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" name="把误拒、漏检、错分拆开">
            <a:extLst xmlns:a="http://schemas.openxmlformats.org/drawingml/2006/main">
              <a:ext uri="{FF2B5EF4-FFF2-40B4-BE49-F238E27FC236}">
                <a16:creationId xmlns:a16="http://schemas.microsoft.com/office/drawing/2014/main" id="{9FC072F2-F8F4-44F7-9AC3-6EBF35980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把误拒、漏检、错分拆开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E70A5A-36B0-463D-9F9D-8982D2D29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AB"/>
          </a:solidFill>
          <a:ln xmlns:a="http://schemas.openxmlformats.org/drawingml/2006/main" w="0">
            <a:noFill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64AF4D-5D68-46F1-B970-215815C451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617aed599448cf"/>
          <a:stretch xmlns:a="http://schemas.openxmlformats.org/drawingml/2006/main"/>
        </p:blipFill>
        <p:spPr>
          <a:xfrm xmlns:a="http://schemas.openxmlformats.org/drawingml/2006/main">
            <a:off x="3313125" y="2019300"/>
            <a:ext cx="5565750" cy="3905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75103E-3C48-4565-8A7A-3364D3385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72175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AB"/>
          </a:solidFill>
          <a:ln xmlns:a="http://schemas.openxmlformats.org/drawingml/2006/main" w="0">
            <a:noFill/>
          </a:ln>
        </p:spPr>
      </p:sp>
      <p:sp>
        <p:nvSpPr>
          <p:cNvPr id="7" name="全部拒绝会损失已知可用性">
            <a:extLst xmlns:a="http://schemas.openxmlformats.org/drawingml/2006/main">
              <a:ext uri="{FF2B5EF4-FFF2-40B4-BE49-F238E27FC236}">
                <a16:creationId xmlns:a16="http://schemas.microsoft.com/office/drawing/2014/main" id="{EDC321E1-A7AB-44FC-B413-612A12162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3340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725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全部拒绝会损失已知可用性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42E45A-3F64-41F5-AACE-750188B8A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2600" y="5972175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AB"/>
          </a:solidFill>
          <a:ln xmlns:a="http://schemas.openxmlformats.org/drawingml/2006/main" w="0">
            <a:noFill/>
          </a:ln>
        </p:spPr>
      </p:sp>
      <p:sp>
        <p:nvSpPr>
          <p:cNvPr id="9" name="未知漏检会被强制命名">
            <a:extLst xmlns:a="http://schemas.openxmlformats.org/drawingml/2006/main">
              <a:ext uri="{FF2B5EF4-FFF2-40B4-BE49-F238E27FC236}">
                <a16:creationId xmlns:a16="http://schemas.microsoft.com/office/drawing/2014/main" id="{35435DCC-10C1-4494-B4E6-96E2A9302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2600" y="6096000"/>
            <a:ext cx="3340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725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未知漏检会被强制命名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6AD770-E0DA-474D-86F1-B4CECBA91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9400" y="5972175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AB"/>
          </a:solidFill>
          <a:ln xmlns:a="http://schemas.openxmlformats.org/drawingml/2006/main" w="0">
            <a:noFill/>
          </a:ln>
        </p:spPr>
      </p:sp>
      <p:sp>
        <p:nvSpPr>
          <p:cNvPr id="11" name="必须同时报告三种代价">
            <a:extLst xmlns:a="http://schemas.openxmlformats.org/drawingml/2006/main">
              <a:ext uri="{FF2B5EF4-FFF2-40B4-BE49-F238E27FC236}">
                <a16:creationId xmlns:a16="http://schemas.microsoft.com/office/drawing/2014/main" id="{9A831D6B-E577-4E80-83C8-1C55C3CF7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9400" y="6096000"/>
            <a:ext cx="3340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725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必须同时报告三种代价</a:t>
            </a:r>
          </a:p>
        </p:txBody>
      </p:sp>
    </p:spTree>
    <p:extLst>
      <p:ext uri="{BB962C8B-B14F-4D97-AF65-F5344CB8AC3E}">
        <p14:creationId xmlns:p14="http://schemas.microsoft.com/office/powerpoint/2010/main" val="60706046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L09  /  HSI LEARNING">
            <a:extLst xmlns:a="http://schemas.openxmlformats.org/drawingml/2006/main">
              <a:ext uri="{FF2B5EF4-FFF2-40B4-BE49-F238E27FC236}">
                <a16:creationId xmlns:a16="http://schemas.microsoft.com/office/drawing/2014/main" id="{E2AEAD7F-1E99-4693-A951-5002386CF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L09  /  HSI LEARNING</a:t>
            </a:r>
          </a:p>
        </p:txBody>
      </p:sp>
      <p:sp>
        <p:nvSpPr>
          <p:cNvPr id="2" name="10">
            <a:extLst xmlns:a="http://schemas.openxmlformats.org/drawingml/2006/main">
              <a:ext uri="{FF2B5EF4-FFF2-40B4-BE49-F238E27FC236}">
                <a16:creationId xmlns:a16="http://schemas.microsoft.com/office/drawing/2014/main" id="{2BCE1FCB-E1E2-4C93-9DEC-0B642681E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" name="接受、正确接受与误拒的分母">
            <a:extLst xmlns:a="http://schemas.openxmlformats.org/drawingml/2006/main">
              <a:ext uri="{FF2B5EF4-FFF2-40B4-BE49-F238E27FC236}">
                <a16:creationId xmlns:a16="http://schemas.microsoft.com/office/drawing/2014/main" id="{D6A4FC55-05A2-455B-989A-D6FE65223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接受、正确接受与误拒的分母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E61162-3869-4C74-9CE8-99182994A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AB"/>
          </a:solidFill>
          <a:ln xmlns:a="http://schemas.openxmlformats.org/drawingml/2006/main" w="0">
            <a:noFill/>
          </a:ln>
        </p:spPr>
      </p:sp>
      <p:sp>
        <p:nvSpPr>
          <p:cNvPr id="5" name="已知误拒：拒掉的已知/所有已知test  ·  已知正确接受">
            <a:extLst xmlns:a="http://schemas.openxmlformats.org/drawingml/2006/main">
              <a:ext uri="{FF2B5EF4-FFF2-40B4-BE49-F238E27FC236}">
                <a16:creationId xmlns:a16="http://schemas.microsoft.com/office/drawing/2014/main" id="{F5575395-A511-404D-B4F9-B90D4EAF8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已知误拒：拒掉的已知/所有已知test  ·  已知正确接受：接受且分对/所有已知test  ·  未知召回：拒掉的未知/所有未知test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7DCE65-EA46-4378-8BEA-DA82C8E16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E5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30B261-7FDA-46ED-994D-FC783D1B0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9"/>
          </a:solidFill>
          <a:ln xmlns:a="http://schemas.openxmlformats.org/drawingml/2006/main" w="0">
            <a:noFill/>
          </a:ln>
        </p:spPr>
      </p:sp>
      <p:sp>
        <p:nvSpPr>
          <p:cNvPr id="8" name="已知test去向">
            <a:extLst xmlns:a="http://schemas.openxmlformats.org/drawingml/2006/main">
              <a:ext uri="{FF2B5EF4-FFF2-40B4-BE49-F238E27FC236}">
                <a16:creationId xmlns:a16="http://schemas.microsoft.com/office/drawing/2014/main" id="{25D453F1-FB69-4160-AE15-3270E5F17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43275"/>
            <a:ext cx="5143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75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已知test去向</a:t>
            </a:r>
          </a:p>
        </p:txBody>
      </p:sp>
      <p:sp>
        <p:nvSpPr>
          <p:cNvPr id="9" name="含义">
            <a:extLst xmlns:a="http://schemas.openxmlformats.org/drawingml/2006/main">
              <a:ext uri="{FF2B5EF4-FFF2-40B4-BE49-F238E27FC236}">
                <a16:creationId xmlns:a16="http://schemas.microsoft.com/office/drawing/2014/main" id="{8899BEEA-2554-46CA-86D3-B6244E66C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343275"/>
            <a:ext cx="5143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75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含义</a:t>
            </a:r>
          </a:p>
        </p:txBody>
      </p:sp>
      <p:sp>
        <p:nvSpPr>
          <p:cNvPr id="10" name="拒绝">
            <a:extLst xmlns:a="http://schemas.openxmlformats.org/drawingml/2006/main">
              <a:ext uri="{FF2B5EF4-FFF2-40B4-BE49-F238E27FC236}">
                <a16:creationId xmlns:a16="http://schemas.microsoft.com/office/drawing/2014/main" id="{197492F9-4FD2-426D-AB43-2E1821FB7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57650"/>
            <a:ext cx="5143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拒绝</a:t>
            </a:r>
          </a:p>
        </p:txBody>
      </p:sp>
      <p:sp>
        <p:nvSpPr>
          <p:cNvPr id="11" name="known false rejection">
            <a:extLst xmlns:a="http://schemas.openxmlformats.org/drawingml/2006/main">
              <a:ext uri="{FF2B5EF4-FFF2-40B4-BE49-F238E27FC236}">
                <a16:creationId xmlns:a16="http://schemas.microsoft.com/office/drawing/2014/main" id="{014606CE-63E1-4412-8F1D-0F4115BC7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57650"/>
            <a:ext cx="5143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known false rejection</a:t>
            </a:r>
          </a:p>
        </p:txBody>
      </p:sp>
      <p:sp>
        <p:nvSpPr>
          <p:cNvPr id="12" name="接受且正确">
            <a:extLst xmlns:a="http://schemas.openxmlformats.org/drawingml/2006/main">
              <a:ext uri="{FF2B5EF4-FFF2-40B4-BE49-F238E27FC236}">
                <a16:creationId xmlns:a16="http://schemas.microsoft.com/office/drawing/2014/main" id="{1B958A1C-6397-4A82-9EEE-3796CDB92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72025"/>
            <a:ext cx="5143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接受且正确</a:t>
            </a:r>
          </a:p>
        </p:txBody>
      </p:sp>
      <p:sp>
        <p:nvSpPr>
          <p:cNvPr id="13" name="known correct acceptance">
            <a:extLst xmlns:a="http://schemas.openxmlformats.org/drawingml/2006/main">
              <a:ext uri="{FF2B5EF4-FFF2-40B4-BE49-F238E27FC236}">
                <a16:creationId xmlns:a16="http://schemas.microsoft.com/office/drawing/2014/main" id="{4D0EBDF2-2471-4284-9A21-676AD12F4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772025"/>
            <a:ext cx="5143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known correct acceptance</a:t>
            </a:r>
          </a:p>
        </p:txBody>
      </p:sp>
      <p:sp>
        <p:nvSpPr>
          <p:cNvPr id="14" name="接受但错类">
            <a:extLst xmlns:a="http://schemas.openxmlformats.org/drawingml/2006/main">
              <a:ext uri="{FF2B5EF4-FFF2-40B4-BE49-F238E27FC236}">
                <a16:creationId xmlns:a16="http://schemas.microsoft.com/office/drawing/2014/main" id="{F2C5E7D4-92B8-448D-B045-81502CA6B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86400"/>
            <a:ext cx="5143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接受但错类</a:t>
            </a:r>
          </a:p>
        </p:txBody>
      </p:sp>
      <p:sp>
        <p:nvSpPr>
          <p:cNvPr id="15" name="known wrong acceptance">
            <a:extLst xmlns:a="http://schemas.openxmlformats.org/drawingml/2006/main">
              <a:ext uri="{FF2B5EF4-FFF2-40B4-BE49-F238E27FC236}">
                <a16:creationId xmlns:a16="http://schemas.microsoft.com/office/drawing/2014/main" id="{32E1E278-179E-4904-9CB9-FE17927C7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486400"/>
            <a:ext cx="5143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known wrong acceptance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0C7E56-06ED-48AA-8F46-20F2ADD48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436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E5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34487087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L09  /  HSI LEARNING">
            <a:extLst xmlns:a="http://schemas.openxmlformats.org/drawingml/2006/main">
              <a:ext uri="{FF2B5EF4-FFF2-40B4-BE49-F238E27FC236}">
                <a16:creationId xmlns:a16="http://schemas.microsoft.com/office/drawing/2014/main" id="{EE8626B0-7BE1-4AFC-849F-32AC1AC9F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L09  /  HSI LEARNING</a:t>
            </a:r>
          </a:p>
        </p:txBody>
      </p:sp>
      <p:sp>
        <p:nvSpPr>
          <p:cNvPr id="2" name="11">
            <a:extLst xmlns:a="http://schemas.openxmlformats.org/drawingml/2006/main">
              <a:ext uri="{FF2B5EF4-FFF2-40B4-BE49-F238E27FC236}">
                <a16:creationId xmlns:a16="http://schemas.microsoft.com/office/drawing/2014/main" id="{5AEF6B0F-F18C-42EB-A397-CA02E8676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3" name="验证集参数练习">
            <a:extLst xmlns:a="http://schemas.openxmlformats.org/drawingml/2006/main">
              <a:ext uri="{FF2B5EF4-FFF2-40B4-BE49-F238E27FC236}">
                <a16:creationId xmlns:a16="http://schemas.microsoft.com/office/drawing/2014/main" id="{923693CF-9098-4DDA-9B99-171B8C868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验证集参数练习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CC4C63-C674-4C2B-B29A-B347B3BDA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AB"/>
          </a:solidFill>
          <a:ln xmlns:a="http://schemas.openxmlformats.org/drawingml/2006/main" w="0">
            <a:noFill/>
          </a:ln>
        </p:spPr>
      </p:sp>
      <p:sp>
        <p:nvSpPr>
          <p:cNvPr id="5" name="01">
            <a:extLst xmlns:a="http://schemas.openxmlformats.org/drawingml/2006/main">
              <a:ext uri="{FF2B5EF4-FFF2-40B4-BE49-F238E27FC236}">
                <a16:creationId xmlns:a16="http://schemas.microsoft.com/office/drawing/2014/main" id="{9F502617-9EB2-43E5-B643-7FE77BB44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先选目标接受率，再查看test指标">
            <a:extLst xmlns:a="http://schemas.openxmlformats.org/drawingml/2006/main">
              <a:ext uri="{FF2B5EF4-FFF2-40B4-BE49-F238E27FC236}">
                <a16:creationId xmlns:a16="http://schemas.microsoft.com/office/drawing/2014/main" id="{4930304D-48AC-499F-B62C-89E6ECAED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257425"/>
            <a:ext cx="952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先选目标接受率，再查看test指标</a:t>
            </a:r>
          </a:p>
        </p:txBody>
      </p:sp>
      <p:sp>
        <p:nvSpPr>
          <p:cNvPr id="7" name="02">
            <a:extLst xmlns:a="http://schemas.openxmlformats.org/drawingml/2006/main">
              <a:ext uri="{FF2B5EF4-FFF2-40B4-BE49-F238E27FC236}">
                <a16:creationId xmlns:a16="http://schemas.microsoft.com/office/drawing/2014/main" id="{67BDAC72-FE15-40B3-9A9D-3CB3EC0FA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重新校准后重算预测与错误图">
            <a:extLst xmlns:a="http://schemas.openxmlformats.org/drawingml/2006/main">
              <a:ext uri="{FF2B5EF4-FFF2-40B4-BE49-F238E27FC236}">
                <a16:creationId xmlns:a16="http://schemas.microsoft.com/office/drawing/2014/main" id="{CE78F36B-9291-40A1-BEF9-0D6698BA4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76625"/>
            <a:ext cx="952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重新校准后重算预测与错误图</a:t>
            </a:r>
          </a:p>
        </p:txBody>
      </p:sp>
      <p:sp>
        <p:nvSpPr>
          <p:cNvPr id="9" name="03">
            <a:extLst xmlns:a="http://schemas.openxmlformats.org/drawingml/2006/main">
              <a:ext uri="{FF2B5EF4-FFF2-40B4-BE49-F238E27FC236}">
                <a16:creationId xmlns:a16="http://schemas.microsoft.com/office/drawing/2014/main" id="{1B2B7B71-86DD-4718-9C17-4940BE519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9107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0" name="AUROC不随同一分数的阈值改变">
            <a:extLst xmlns:a="http://schemas.openxmlformats.org/drawingml/2006/main">
              <a:ext uri="{FF2B5EF4-FFF2-40B4-BE49-F238E27FC236}">
                <a16:creationId xmlns:a16="http://schemas.microsoft.com/office/drawing/2014/main" id="{67B587D5-5A05-41C0-A431-8C56A328A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695825"/>
            <a:ext cx="952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AUROC不随同一分数的阈值改变</a:t>
            </a:r>
          </a:p>
        </p:txBody>
      </p:sp>
    </p:spTree>
    <p:extLst>
      <p:ext uri="{BB962C8B-B14F-4D97-AF65-F5344CB8AC3E}">
        <p14:creationId xmlns:p14="http://schemas.microsoft.com/office/powerpoint/2010/main" val="7746135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L09  /  HSI LEARNING">
            <a:extLst xmlns:a="http://schemas.openxmlformats.org/drawingml/2006/main">
              <a:ext uri="{FF2B5EF4-FFF2-40B4-BE49-F238E27FC236}">
                <a16:creationId xmlns:a16="http://schemas.microsoft.com/office/drawing/2014/main" id="{04CCDAA9-F2EE-4C91-96E6-C0ECBD038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L09  /  HSI LEARNING</a:t>
            </a:r>
          </a:p>
        </p:txBody>
      </p:sp>
      <p:sp>
        <p:nvSpPr>
          <p:cNvPr id="2" name="12">
            <a:extLst xmlns:a="http://schemas.openxmlformats.org/drawingml/2006/main">
              <a:ext uri="{FF2B5EF4-FFF2-40B4-BE49-F238E27FC236}">
                <a16:creationId xmlns:a16="http://schemas.microsoft.com/office/drawing/2014/main" id="{B3CAFFEB-7A73-404B-A3E2-FDC81C8A2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3" name="让代码验证你的判断">
            <a:extLst xmlns:a="http://schemas.openxmlformats.org/drawingml/2006/main">
              <a:ext uri="{FF2B5EF4-FFF2-40B4-BE49-F238E27FC236}">
                <a16:creationId xmlns:a16="http://schemas.microsoft.com/office/drawing/2014/main" id="{528D4805-D273-4164-BAB9-830FCF713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让代码验证你的判断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DE3CA4-EA70-49CF-B584-FBAB2AA5E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A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16B117-3145-437C-A5F8-53BF3A369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082040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E3C"/>
          </a:solidFill>
          <a:ln xmlns:a="http://schemas.openxmlformats.org/drawingml/2006/main" w="0">
            <a:noFill/>
          </a:ln>
        </p:spPr>
      </p:sp>
      <p:sp>
        <p:nvSpPr>
          <p:cNvPr id="6" name="new_tau, new_metrics, outputs ">
            <a:extLst xmlns:a="http://schemas.openxmlformats.org/drawingml/2006/main">
              <a:ext uri="{FF2B5EF4-FFF2-40B4-BE49-F238E27FC236}">
                <a16:creationId xmlns:a16="http://schemas.microsoft.com/office/drawing/2014/main" id="{445AB321-D70D-4BEC-B074-7BC0E5849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28875"/>
            <a:ext cx="102870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EAF0F7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EAF0F7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EAF0F7"/>
                </a:solidFill>
                <a:latin typeface="Consolas"/>
                <a:ea typeface="Consolas"/>
                <a:cs typeface="Consolas"/>
              </a:rPr>
              <a:t>new_tau, new_metrics, outputs = threshold_experiment(</a:t>
            </a:r>
          </a:p>
          <a:p xmlns:a="http://schemas.openxmlformats.org/drawingml/2006/main">
            <a:pPr>
              <a:defRPr sz="1875" b="0">
                <a:solidFill>
                  <a:srgbClr val="EAF0F7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EAF0F7"/>
                </a:solidFill>
                <a:latin typeface="Consolas"/>
                <a:ea typeface="Consolas"/>
                <a:cs typeface="Consolas"/>
              </a:rPr>
              <a:t>    true, predicted, test_dict, classes, val_dict, .90)</a:t>
            </a:r>
          </a:p>
          <a:p xmlns:a="http://schemas.openxmlformats.org/drawingml/2006/main">
            <a:pPr>
              <a:defRPr sz="1875" b="0">
                <a:solidFill>
                  <a:srgbClr val="EAF0F7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EAF0F7"/>
                </a:solidFill>
                <a:latin typeface="Consolas"/>
                <a:ea typeface="Consolas"/>
                <a:cs typeface="Consolas"/>
              </a:rPr>
              <a:t># Update a COPY of cfg before drawing new maps.</a:t>
            </a:r>
          </a:p>
        </p:txBody>
      </p:sp>
      <p:sp>
        <p:nvSpPr>
          <p:cNvPr id="7" name="先预测输出，再运行对应单元格。">
            <a:extLst xmlns:a="http://schemas.openxmlformats.org/drawingml/2006/main">
              <a:ext uri="{FF2B5EF4-FFF2-40B4-BE49-F238E27FC236}">
                <a16:creationId xmlns:a16="http://schemas.microsoft.com/office/drawing/2014/main" id="{50CCBF65-3385-434F-A985-3D798B497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先预测输出，再运行对应单元格。</a:t>
            </a:r>
          </a:p>
        </p:txBody>
      </p:sp>
    </p:spTree>
    <p:extLst>
      <p:ext uri="{BB962C8B-B14F-4D97-AF65-F5344CB8AC3E}">
        <p14:creationId xmlns:p14="http://schemas.microsoft.com/office/powerpoint/2010/main" val="11540407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L09  /  HSI LEARNING">
            <a:extLst xmlns:a="http://schemas.openxmlformats.org/drawingml/2006/main">
              <a:ext uri="{FF2B5EF4-FFF2-40B4-BE49-F238E27FC236}">
                <a16:creationId xmlns:a16="http://schemas.microsoft.com/office/drawing/2014/main" id="{70BDCDFE-4011-4BAD-AFC6-1E73CD154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L09  /  HSI LEARNING</a:t>
            </a:r>
          </a:p>
        </p:txBody>
      </p:sp>
      <p:sp>
        <p:nvSpPr>
          <p:cNvPr id="2" name="13">
            <a:extLst xmlns:a="http://schemas.openxmlformats.org/drawingml/2006/main">
              <a:ext uri="{FF2B5EF4-FFF2-40B4-BE49-F238E27FC236}">
                <a16:creationId xmlns:a16="http://schemas.microsoft.com/office/drawing/2014/main" id="{1D628B49-FEB7-436C-A26E-9C0AD090B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3" name="停下来，做一次判断">
            <a:extLst xmlns:a="http://schemas.openxmlformats.org/drawingml/2006/main">
              <a:ext uri="{FF2B5EF4-FFF2-40B4-BE49-F238E27FC236}">
                <a16:creationId xmlns:a16="http://schemas.microsoft.com/office/drawing/2014/main" id="{B0A3BCD0-B92D-48F0-9575-EA2953F66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停下来，做一次判断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CD97A7-F6CE-46AF-BFA6-286DEECA1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AB"/>
          </a:solidFill>
          <a:ln xmlns:a="http://schemas.openxmlformats.org/drawingml/2006/main" w="0">
            <a:noFill/>
          </a:ln>
        </p:spPr>
      </p:sp>
      <p:sp>
        <p:nvSpPr>
          <p:cNvPr id="5" name="课堂预测">
            <a:extLst xmlns:a="http://schemas.openxmlformats.org/drawingml/2006/main">
              <a:ext uri="{FF2B5EF4-FFF2-40B4-BE49-F238E27FC236}">
                <a16:creationId xmlns:a16="http://schemas.microsoft.com/office/drawing/2014/main" id="{0AB197AF-4724-46EA-9ACE-258D5CFA1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0275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5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课堂预测</a:t>
            </a:r>
          </a:p>
        </p:txBody>
      </p:sp>
      <p:sp>
        <p:nvSpPr>
          <p:cNvPr id="6" name="接受率.95改.90，只用validation重新校准，先预">
            <a:extLst xmlns:a="http://schemas.openxmlformats.org/drawingml/2006/main">
              <a:ext uri="{FF2B5EF4-FFF2-40B4-BE49-F238E27FC236}">
                <a16:creationId xmlns:a16="http://schemas.microsoft.com/office/drawing/2014/main" id="{CABBE562-A87E-4BC4-AF04-585AC999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108204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475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接受率.95改.90，只用validation重新校准，先预测误拒与漏检方向。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1646B0-399F-43F1-A4C5-CCEE2743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9"/>
          </a:solidFill>
          <a:ln xmlns:a="http://schemas.openxmlformats.org/drawingml/2006/main" w="0">
            <a:noFill/>
          </a:ln>
        </p:spPr>
      </p:sp>
      <p:sp>
        <p:nvSpPr>
          <p:cNvPr id="8" name="退出题">
            <a:extLst xmlns:a="http://schemas.openxmlformats.org/drawingml/2006/main">
              <a:ext uri="{FF2B5EF4-FFF2-40B4-BE49-F238E27FC236}">
                <a16:creationId xmlns:a16="http://schemas.microsoft.com/office/drawing/2014/main" id="{5C08DD33-A10A-4738-8FAF-4E135ED28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5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退出题</a:t>
            </a:r>
          </a:p>
        </p:txBody>
      </p:sp>
      <p:sp>
        <p:nvSpPr>
          <p:cNvPr id="9" name="未知召回100%是否足以说明系统可用？">
            <a:extLst xmlns:a="http://schemas.openxmlformats.org/drawingml/2006/main">
              <a:ext uri="{FF2B5EF4-FFF2-40B4-BE49-F238E27FC236}">
                <a16:creationId xmlns:a16="http://schemas.microsoft.com/office/drawing/2014/main" id="{562BF3FB-F923-4433-9513-806B6BD13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29225"/>
            <a:ext cx="108204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400" b="1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rPr>
              <a:t>未知召回100%是否足以说明系统可用？</a:t>
            </a:r>
          </a:p>
        </p:txBody>
      </p:sp>
    </p:spTree>
    <p:extLst>
      <p:ext uri="{BB962C8B-B14F-4D97-AF65-F5344CB8AC3E}">
        <p14:creationId xmlns:p14="http://schemas.microsoft.com/office/powerpoint/2010/main" val="204251263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L09  /  HSI LEARNING">
            <a:extLst xmlns:a="http://schemas.openxmlformats.org/drawingml/2006/main">
              <a:ext uri="{FF2B5EF4-FFF2-40B4-BE49-F238E27FC236}">
                <a16:creationId xmlns:a16="http://schemas.microsoft.com/office/drawing/2014/main" id="{C72D3334-6080-4450-A79B-C4021854E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L09  /  HSI LEARNING</a:t>
            </a:r>
          </a:p>
        </p:txBody>
      </p:sp>
      <p:sp>
        <p:nvSpPr>
          <p:cNvPr id="2" name="14">
            <a:extLst xmlns:a="http://schemas.openxmlformats.org/drawingml/2006/main">
              <a:ext uri="{FF2B5EF4-FFF2-40B4-BE49-F238E27FC236}">
                <a16:creationId xmlns:a16="http://schemas.microsoft.com/office/drawing/2014/main" id="{26165DBE-45CD-4726-9655-436C8F557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3" name="结论要有边界">
            <a:extLst xmlns:a="http://schemas.openxmlformats.org/drawingml/2006/main">
              <a:ext uri="{FF2B5EF4-FFF2-40B4-BE49-F238E27FC236}">
                <a16:creationId xmlns:a16="http://schemas.microsoft.com/office/drawing/2014/main" id="{BE6BE53D-52D9-497F-B0D2-C6A9DAE2C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结论要有边界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D680A0-493E-4CA3-A655-ECA4D6393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AB"/>
          </a:solidFill>
          <a:ln xmlns:a="http://schemas.openxmlformats.org/drawingml/2006/main" w="0">
            <a:noFill/>
          </a:ln>
        </p:spPr>
      </p:sp>
      <p:sp>
        <p:nvSpPr>
          <p:cNvPr id="5" name="已知">
            <a:extLst xmlns:a="http://schemas.openxmlformats.org/drawingml/2006/main">
              <a:ext uri="{FF2B5EF4-FFF2-40B4-BE49-F238E27FC236}">
                <a16:creationId xmlns:a16="http://schemas.microsoft.com/office/drawing/2014/main" id="{A21C7177-C065-467F-82BB-B91AFE77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66975"/>
            <a:ext cx="90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rPr>
              <a:t>已知</a:t>
            </a:r>
          </a:p>
        </p:txBody>
      </p:sp>
      <p:sp>
        <p:nvSpPr>
          <p:cNvPr id="6" name="高AUROC不保证选定阈值好用">
            <a:extLst xmlns:a="http://schemas.openxmlformats.org/drawingml/2006/main">
              <a:ext uri="{FF2B5EF4-FFF2-40B4-BE49-F238E27FC236}">
                <a16:creationId xmlns:a16="http://schemas.microsoft.com/office/drawing/2014/main" id="{E9C498CC-9D95-4879-BC05-D631332DC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266950"/>
            <a:ext cx="9296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55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高AUROC不保证选定阈值好用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1EEABD-5C00-47D2-9BE9-FA33B471B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752850"/>
            <a:ext cx="9296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9"/>
          </a:solidFill>
          <a:ln xmlns:a="http://schemas.openxmlformats.org/drawingml/2006/main" w="0">
            <a:noFill/>
          </a:ln>
        </p:spPr>
      </p:sp>
      <p:sp>
        <p:nvSpPr>
          <p:cNvPr id="8" name="边界">
            <a:extLst xmlns:a="http://schemas.openxmlformats.org/drawingml/2006/main">
              <a:ext uri="{FF2B5EF4-FFF2-40B4-BE49-F238E27FC236}">
                <a16:creationId xmlns:a16="http://schemas.microsoft.com/office/drawing/2014/main" id="{BEA9F27F-0F1E-4B50-9006-D01D5D888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90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9" name="OpenMax为概念扩展，未冒称本课已复现">
            <a:extLst xmlns:a="http://schemas.openxmlformats.org/drawingml/2006/main">
              <a:ext uri="{FF2B5EF4-FFF2-40B4-BE49-F238E27FC236}">
                <a16:creationId xmlns:a16="http://schemas.microsoft.com/office/drawing/2014/main" id="{70EEE518-23AE-4F78-83E1-CBEE516F3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010025"/>
            <a:ext cx="9296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55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OpenMax为概念扩展，未冒称本课已复现</a:t>
            </a:r>
          </a:p>
        </p:txBody>
      </p:sp>
      <p:sp>
        <p:nvSpPr>
          <p:cNvPr id="10" name="来源、复现入口与辅助提示见讲者备注。">
            <a:extLst xmlns:a="http://schemas.openxmlformats.org/drawingml/2006/main">
              <a:ext uri="{FF2B5EF4-FFF2-40B4-BE49-F238E27FC236}">
                <a16:creationId xmlns:a16="http://schemas.microsoft.com/office/drawing/2014/main" id="{E27D8FC8-6BD0-461A-A012-DB782BE5F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10820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35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来源、复现入口与辅助提示见讲者备注。</a:t>
            </a:r>
          </a:p>
        </p:txBody>
      </p:sp>
    </p:spTree>
    <p:extLst>
      <p:ext uri="{BB962C8B-B14F-4D97-AF65-F5344CB8AC3E}">
        <p14:creationId xmlns:p14="http://schemas.microsoft.com/office/powerpoint/2010/main" val="16706698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2026-10-09T03:34:51.4190000Z</dcterms:created>
  <dcterms:modified xsi:type="dcterms:W3CDTF">2026-10-09T03:34:51.4190000Z</dcterms:modified>
</coreProperties>
</file>