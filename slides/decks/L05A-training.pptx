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9fe726abb24a34" /><Relationship Type="http://schemas.openxmlformats.org/officeDocument/2006/relationships/extended-properties" Target="/docProps/app.xml" Id="Rd2baaacc331b481d" /><Relationship Type="http://schemas.openxmlformats.org/officeDocument/2006/relationships/officeDocument" Target="/ppt/presentation.xml" Id="R74419b36600c4a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36c64f957949a6"/>
  </p:sldMasterIdLst>
  <p:notesMasterIdLst>
    <p:notesMasterId xmlns:r="http://schemas.openxmlformats.org/officeDocument/2006/relationships" r:id="Ra7ad97f38c82425a"/>
  </p:notesMasterIdLst>
  <p:sldIdLst>
    <p:sldId xmlns:r="http://schemas.openxmlformats.org/officeDocument/2006/relationships" id="256" r:id="R7b06815df1df4f28"/>
    <p:sldId xmlns:r="http://schemas.openxmlformats.org/officeDocument/2006/relationships" id="257" r:id="R6079fe7a00cd49f3"/>
    <p:sldId xmlns:r="http://schemas.openxmlformats.org/officeDocument/2006/relationships" id="258" r:id="R6634600090324f02"/>
    <p:sldId xmlns:r="http://schemas.openxmlformats.org/officeDocument/2006/relationships" id="259" r:id="R92bd0a41aa39425e"/>
    <p:sldId xmlns:r="http://schemas.openxmlformats.org/officeDocument/2006/relationships" id="260" r:id="Rbcdeb06d747d4b4a"/>
    <p:sldId xmlns:r="http://schemas.openxmlformats.org/officeDocument/2006/relationships" id="261" r:id="R7d307f5525994d62"/>
    <p:sldId xmlns:r="http://schemas.openxmlformats.org/officeDocument/2006/relationships" id="262" r:id="R77b73e896b2c411b"/>
    <p:sldId xmlns:r="http://schemas.openxmlformats.org/officeDocument/2006/relationships" id="263" r:id="Raf47a2c8dc7746f9"/>
    <p:sldId xmlns:r="http://schemas.openxmlformats.org/officeDocument/2006/relationships" id="264" r:id="Rf0d5351e57824797"/>
    <p:sldId xmlns:r="http://schemas.openxmlformats.org/officeDocument/2006/relationships" id="265" r:id="R6099d433c9b34e1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409fe6d4c54867" /><Relationship Type="http://schemas.openxmlformats.org/officeDocument/2006/relationships/slideMaster" Target="/ppt/slideMasters/slideMaster1.xml" Id="R8c36c64f957949a6" /><Relationship Type="http://schemas.openxmlformats.org/officeDocument/2006/relationships/notesMaster" Target="/ppt/notesMasters/notesMaster1.xml" Id="Ra7ad97f38c82425a" /><Relationship Type="http://schemas.openxmlformats.org/officeDocument/2006/relationships/presProps" Target="/ppt/presProps.xml" Id="Rd4a9ed3605a74f9f" /><Relationship Type="http://schemas.openxmlformats.org/officeDocument/2006/relationships/tableStyles" Target="/ppt/tableStyles.xml" Id="R1ffbc24e39054ba3" /><Relationship Type="http://schemas.openxmlformats.org/officeDocument/2006/relationships/slide" Target="/ppt/slides/slide1.xml" Id="R7b06815df1df4f28" /><Relationship Type="http://schemas.openxmlformats.org/officeDocument/2006/relationships/slide" Target="/ppt/slides/slide2.xml" Id="R6079fe7a00cd49f3" /><Relationship Type="http://schemas.openxmlformats.org/officeDocument/2006/relationships/slide" Target="/ppt/slides/slide3.xml" Id="R6634600090324f02" /><Relationship Type="http://schemas.openxmlformats.org/officeDocument/2006/relationships/slide" Target="/ppt/slides/slide4.xml" Id="R92bd0a41aa39425e" /><Relationship Type="http://schemas.openxmlformats.org/officeDocument/2006/relationships/slide" Target="/ppt/slides/slide5.xml" Id="Rbcdeb06d747d4b4a" /><Relationship Type="http://schemas.openxmlformats.org/officeDocument/2006/relationships/slide" Target="/ppt/slides/slide6.xml" Id="R7d307f5525994d62" /><Relationship Type="http://schemas.openxmlformats.org/officeDocument/2006/relationships/slide" Target="/ppt/slides/slide7.xml" Id="R77b73e896b2c411b" /><Relationship Type="http://schemas.openxmlformats.org/officeDocument/2006/relationships/slide" Target="/ppt/slides/slide8.xml" Id="Raf47a2c8dc7746f9" /><Relationship Type="http://schemas.openxmlformats.org/officeDocument/2006/relationships/slide" Target="/ppt/slides/slide9.xml" Id="Rf0d5351e57824797" /><Relationship Type="http://schemas.openxmlformats.org/officeDocument/2006/relationships/slide" Target="/ppt/slides/slide10.xml" Id="R6099d433c9b34e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113ec4934046f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f0974d5f0047f2" /><Relationship Type="http://schemas.openxmlformats.org/officeDocument/2006/relationships/notesMaster" Target="/ppt/notesMasters/notesMaster1.xml" Id="Rea22e8fde1b541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5e64934d2c4344" /><Relationship Type="http://schemas.openxmlformats.org/officeDocument/2006/relationships/notesMaster" Target="/ppt/notesMasters/notesMaster1.xml" Id="R8e5ba3ea639c46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06836c95654ced" /><Relationship Type="http://schemas.openxmlformats.org/officeDocument/2006/relationships/notesMaster" Target="/ppt/notesMasters/notesMaster1.xml" Id="R743c6eb2a7b740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aa29a496a94ce8" /><Relationship Type="http://schemas.openxmlformats.org/officeDocument/2006/relationships/notesMaster" Target="/ppt/notesMasters/notesMaster1.xml" Id="Rcb9bd4a92f8648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0229e1951d4882" /><Relationship Type="http://schemas.openxmlformats.org/officeDocument/2006/relationships/notesMaster" Target="/ppt/notesMasters/notesMaster1.xml" Id="R8623984b7d7843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41227eb14948e2" /><Relationship Type="http://schemas.openxmlformats.org/officeDocument/2006/relationships/notesMaster" Target="/ppt/notesMasters/notesMaster1.xml" Id="R259f6503427043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612ea84b1c4206" /><Relationship Type="http://schemas.openxmlformats.org/officeDocument/2006/relationships/notesMaster" Target="/ppt/notesMasters/notesMaster1.xml" Id="R7ad720ed053d4d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a4f0d193ba4993" /><Relationship Type="http://schemas.openxmlformats.org/officeDocument/2006/relationships/notesMaster" Target="/ppt/notesMasters/notesMaster1.xml" Id="R2484a6986cd941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260dbb1488a4836" /><Relationship Type="http://schemas.openxmlformats.org/officeDocument/2006/relationships/notesMaster" Target="/ppt/notesMasters/notesMaster1.xml" Id="Rde65d8dc8e38499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e43d6f03784d20" /><Relationship Type="http://schemas.openxmlformats.org/officeDocument/2006/relationships/notesMaster" Target="/ppt/notesMasters/notesMaster1.xml" Id="R6b166930c9af49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开场问题：eval模式是否一定没有梯度？</a:t>
            </a:r>
          </a:p>
          <a:p xmlns:a="http://schemas.openxmlformats.org/drawingml/2006/main">
            <a:r>
              <a:t>原标题：模型怎样完成一次参数更新？</a:t>
            </a:r>
          </a:p>
          <a:p xmlns:a="http://schemas.openxmlformats.org/drawingml/2006/main">
            <a:r>
              <a:t>参考节奏：5分钟回顾，10分钟手算，10分钟代码，12分钟练习，5分钟错误分析，3分钟退出题。</a:t>
            </a:r>
          </a:p>
          <a:p xmlns:a="http://schemas.openxmlformats.org/drawingml/2006/main">
            <a:r>
              <a:t>课堂入口: 10_training_step_classroom.ipynb</a:t>
            </a:r>
          </a:p>
          <a:p xmlns:a="http://schemas.openxmlformats.org/drawingml/2006/main">
            <a:r>
              <a:t>定位: batch, forward-loss, one-update, mode-gradient, checkpoint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AI辅助：根据给定batch代码标注输入、参数、梯度和优化器状态；为每个shape写出来源。</a:t>
            </a:r>
          </a:p>
          <a:p xmlns:a="http://schemas.openxmlformats.org/drawingml/2006/main">
            <a:r>
              <a:t>人工核验：检查目标范围、梯度存在、原演示权重未改变。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  <a:p xmlns:a="http://schemas.openxmlformats.org/drawingml/2006/main">
            <a:r>
              <a:t>封面图源：01_data_reading_and_visualization.ipynb / spectral-comparison / 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交付物以代码、配置、输出和解释为准。先做完整示例，再做填空与迁移任务。</a:t>
            </a:r>
          </a:p>
          <a:p xmlns:a="http://schemas.openxmlformats.org/drawingml/2006/main">
            <a:r>
              <a:t>课堂入口: 10_training_step_classroom.ipynb</a:t>
            </a:r>
          </a:p>
          <a:p xmlns:a="http://schemas.openxmlformats.org/drawingml/2006/main">
            <a:r>
              <a:t>定位: batch, forward-loss, one-update, mode-gradient, checkpoint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AI辅助：根据给定batch代码标注输入、参数、梯度和优化器状态；为每个shape写出来源。</a:t>
            </a:r>
          </a:p>
          <a:p xmlns:a="http://schemas.openxmlformats.org/drawingml/2006/main">
            <a:r>
              <a:t>人工核验：检查目标范围、梯度存在、原演示权重未改变。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课堂入口: 10_training_step_classroom.ipynb</a:t>
            </a:r>
          </a:p>
          <a:p xmlns:a="http://schemas.openxmlformats.org/drawingml/2006/main">
            <a:r>
              <a:t>定位: batch, forward-loss, one-update, mode-gradient, checkpoint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AI辅助：根据给定batch代码标注输入、参数、梯度和优化器状态；为每个shape写出来源。</a:t>
            </a:r>
          </a:p>
          <a:p xmlns:a="http://schemas.openxmlformats.org/drawingml/2006/main">
            <a:r>
              <a:t>人工核验：检查目标范围、梯度存在、原演示权重未改变。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用logits[2,1]手算分类0的CE约0.3133。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课堂入口: 10_training_step_classroom.ipynb</a:t>
            </a:r>
          </a:p>
          <a:p xmlns:a="http://schemas.openxmlformats.org/drawingml/2006/main">
            <a:r>
              <a:t>定位: batch, forward-loss, one-update, mode-gradient, checkpoint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AI辅助：根据给定batch代码标注输入、参数、梯度和优化器状态；为每个shape写出来源。</a:t>
            </a:r>
          </a:p>
          <a:p xmlns:a="http://schemas.openxmlformats.org/drawingml/2006/main">
            <a:r>
              <a:t>人工核验：检查目标范围、梯度存在、原演示权重未改变。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课堂入口: 10_training_step_classroom.ipynb</a:t>
            </a:r>
          </a:p>
          <a:p xmlns:a="http://schemas.openxmlformats.org/drawingml/2006/main">
            <a:r>
              <a:t>定位: batch, forward-loss, one-update, mode-gradient, checkpoint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AI辅助：根据给定batch代码标注输入、参数、梯度和优化器状态；为每个shape写出来源。</a:t>
            </a:r>
          </a:p>
          <a:p xmlns:a="http://schemas.openxmlformats.org/drawingml/2006/main">
            <a:r>
              <a:t>人工核验：检查目标范围、梯度存在、原演示权重未改变。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课堂入口: 10_training_step_classroom.ipynb</a:t>
            </a:r>
          </a:p>
          <a:p xmlns:a="http://schemas.openxmlformats.org/drawingml/2006/main">
            <a:r>
              <a:t>定位: batch, forward-loss, one-update, mode-gradient, checkpoint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AI辅助：根据给定batch代码标注输入、参数、梯度和优化器状态；为每个shape写出来源。</a:t>
            </a:r>
          </a:p>
          <a:p xmlns:a="http://schemas.openxmlformats.org/drawingml/2006/main">
            <a:r>
              <a:t>人工核验：检查目标范围、梯度存在、原演示权重未改变。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课堂入口: 10_training_step_classroom.ipynb</a:t>
            </a:r>
          </a:p>
          <a:p xmlns:a="http://schemas.openxmlformats.org/drawingml/2006/main">
            <a:r>
              <a:t>定位: batch, forward-loss, one-update, mode-gradient, checkpoint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AI辅助：根据给定batch代码标注输入、参数、梯度和优化器状态；为每个shape写出来源。</a:t>
            </a:r>
          </a:p>
          <a:p xmlns:a="http://schemas.openxmlformats.org/drawingml/2006/main">
            <a:r>
              <a:t>人工核验：检查目标范围、梯度存在、原演示权重未改变。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只运行指定短cell；完整训练已在课前完成。缺资产时使用已执行输出备用并说明。</a:t>
            </a:r>
          </a:p>
          <a:p xmlns:a="http://schemas.openxmlformats.org/drawingml/2006/main">
            <a:r>
              <a:t>课堂入口: 10_training_step_classroom.ipynb</a:t>
            </a:r>
          </a:p>
          <a:p xmlns:a="http://schemas.openxmlformats.org/drawingml/2006/main">
            <a:r>
              <a:t>定位: batch, forward-loss, one-update, mode-gradient, checkpoint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AI辅助：根据给定batch代码标注输入、参数、梯度和优化器状态；为每个shape写出来源。</a:t>
            </a:r>
          </a:p>
          <a:p xmlns:a="http://schemas.openxmlformats.org/drawingml/2006/main">
            <a:r>
              <a:t>人工核验：检查目标范围、梯度存在、原演示权重未改变。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停下来收集预测，发现错误后重新解释；不等到课后作业才知道学生没理解。</a:t>
            </a:r>
          </a:p>
          <a:p xmlns:a="http://schemas.openxmlformats.org/drawingml/2006/main">
            <a:r>
              <a:t>作业：A03；完整示例 / 填空 / 迁移；提交代码、配置、结果和限制。</a:t>
            </a:r>
          </a:p>
          <a:p xmlns:a="http://schemas.openxmlformats.org/drawingml/2006/main">
            <a:r>
              <a:t>课堂入口: 10_training_step_classroom.ipynb</a:t>
            </a:r>
          </a:p>
          <a:p xmlns:a="http://schemas.openxmlformats.org/drawingml/2006/main">
            <a:r>
              <a:t>定位: batch, forward-loss, one-update, mode-gradient, checkpoint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AI辅助：根据给定batch代码标注输入、参数、梯度和优化器状态；为每个shape写出来源。</a:t>
            </a:r>
          </a:p>
          <a:p xmlns:a="http://schemas.openxmlformats.org/drawingml/2006/main">
            <a:r>
              <a:t>人工核验：检查目标范围、梯度存在、原演示权重未改变。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区分已观察事实、候选解释与下一项检验。</a:t>
            </a:r>
          </a:p>
          <a:p xmlns:a="http://schemas.openxmlformats.org/drawingml/2006/main">
            <a:r>
              <a:t>退出题：eval模式是否一定没有梯度？</a:t>
            </a:r>
          </a:p>
          <a:p xmlns:a="http://schemas.openxmlformats.org/drawingml/2006/main">
            <a:r>
              <a:t>课堂入口: 10_training_step_classroom.ipynb</a:t>
            </a:r>
          </a:p>
          <a:p xmlns:a="http://schemas.openxmlformats.org/drawingml/2006/main">
            <a:r>
              <a:t>定位: batch, forward-loss, one-update, mode-gradient, checkpoint</a:t>
            </a:r>
          </a:p>
          <a:p xmlns:a="http://schemas.openxmlformats.org/drawingml/2006/main">
            <a:r>
              <a:t>先预测，再运行；答错时回到手算例。</a:t>
            </a:r>
          </a:p>
          <a:p xmlns:a="http://schemas.openxmlformats.org/drawingml/2006/main">
            <a:r>
              <a:t>AI辅助：根据给定batch代码标注输入、参数、梯度和优化器状态；为每个shape写出来源。</a:t>
            </a:r>
          </a:p>
          <a:p xmlns:a="http://schemas.openxmlformats.org/drawingml/2006/main">
            <a:r>
              <a:t>人工核验：检查目标范围、梯度存在、原演示权重未改变。</a:t>
            </a:r>
          </a:p>
          <a:p xmlns:a="http://schemas.openxmlformats.org/drawingml/2006/main">
            <a:r>
              <a:t>PyTorch documentation</a:t>
            </a:r>
          </a:p>
          <a:p xmlns:a="http://schemas.openxmlformats.org/drawingml/2006/main">
            <a:r>
              <a:t>https://docs.pytorch.org/docs/stable/index.html</a:t>
            </a:r>
          </a:p>
          <a:p xmlns:a="http://schemas.openxmlformats.org/drawingml/2006/main">
            <a:r>
              <a:t>scikit-learn: model evaluation</a:t>
            </a:r>
          </a:p>
          <a:p xmlns:a="http://schemas.openxmlformats.org/drawingml/2006/main">
            <a:r>
              <a:t>https://scikit-learn.org/stable/modules/model_evaluation.html</a:t>
            </a:r>
          </a:p>
          <a:p xmlns:a="http://schemas.openxmlformats.org/drawingml/2006/main">
            <a:r>
              <a:t>运行配置、数据哈希和结果：artifacts/teaching/classroom-facts.json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d346ab0c342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afac6db34f4eb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89474cb0640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7a56a8305a4b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ab10b3e7764c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189a47e6a24d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78B594-A449-4516-AC64-6E2205F4F4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F35F2D-0F1F-45A2-A02C-ADB2A9B20B1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F76957D-1FE2-440A-9312-8811EA3916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2C128C-75AF-4DE5-A11F-6C02B4C9C6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14FD529-EC9D-47F1-9166-97AC906A05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62CCAC7-5D18-4833-9891-02EFB218EC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F10FBE-8788-41E5-B48C-D0C8B9D647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FA5A863-7859-4C7D-954F-2D475DC41D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370C97-1ACE-410B-8C16-080B752097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45A89C-557F-4284-9CB6-9D2D6BD49F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22d099c9404ae0" /><Relationship Type="http://schemas.openxmlformats.org/officeDocument/2006/relationships/slideLayout" Target="/ppt/slideLayouts/slideLayout1.xml" Id="Rd8ddab4bd5424648" /><Relationship Type="http://schemas.openxmlformats.org/officeDocument/2006/relationships/slideLayout" Target="/ppt/slideLayouts/slideLayout2.xml" Id="R344374c4429b4c21" /><Relationship Type="http://schemas.openxmlformats.org/officeDocument/2006/relationships/slideLayout" Target="/ppt/slideLayouts/slideLayout3.xml" Id="Rc492e0d3e642473f" /><Relationship Type="http://schemas.openxmlformats.org/officeDocument/2006/relationships/slideLayout" Target="/ppt/slideLayouts/slideLayout4.xml" Id="R0b5ed998ec444ed9" /><Relationship Type="http://schemas.openxmlformats.org/officeDocument/2006/relationships/slideLayout" Target="/ppt/slideLayouts/slideLayout5.xml" Id="R2ba0db40e0ce4dff" /><Relationship Type="http://schemas.openxmlformats.org/officeDocument/2006/relationships/slideLayout" Target="/ppt/slideLayouts/slideLayout6.xml" Id="R06ad77f7e1d346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ddab4bd5424648"/>
    <p:sldLayoutId xmlns:r="http://schemas.openxmlformats.org/officeDocument/2006/relationships" id="2147483650" r:id="R344374c4429b4c21"/>
    <p:sldLayoutId xmlns:r="http://schemas.openxmlformats.org/officeDocument/2006/relationships" id="2147483651" r:id="Rc492e0d3e642473f"/>
    <p:sldLayoutId xmlns:r="http://schemas.openxmlformats.org/officeDocument/2006/relationships" id="2147483652" r:id="R0b5ed998ec444ed9"/>
    <p:sldLayoutId xmlns:r="http://schemas.openxmlformats.org/officeDocument/2006/relationships" id="2147483653" r:id="R2ba0db40e0ce4dff"/>
    <p:sldLayoutId xmlns:r="http://schemas.openxmlformats.org/officeDocument/2006/relationships" id="2147483654" r:id="R06ad77f7e1d346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938fb9feeb4e11" /><Relationship Type="http://schemas.openxmlformats.org/officeDocument/2006/relationships/image" Target="/ppt/media/image.png" Id="R1a1e7a1b84434730" /><Relationship Type="http://schemas.openxmlformats.org/officeDocument/2006/relationships/notesSlide" Target="/ppt/notesSlides/notesSlide1.xml" Id="R5f214e69ec4a48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b2db7bcbb54c3b" /><Relationship Type="http://schemas.openxmlformats.org/officeDocument/2006/relationships/notesSlide" Target="/ppt/notesSlides/notesSlide2.xml" Id="Rd0ba6e2c19ab48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6eaebfaa894e53" /><Relationship Type="http://schemas.openxmlformats.org/officeDocument/2006/relationships/notesSlide" Target="/ppt/notesSlides/notesSlide3.xml" Id="R0d9bfe4b62804a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2068efb90645cf" /><Relationship Type="http://schemas.openxmlformats.org/officeDocument/2006/relationships/notesSlide" Target="/ppt/notesSlides/notesSlide4.xml" Id="R464a6e54d1b34a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d0dfb5e1314c0d" /><Relationship Type="http://schemas.openxmlformats.org/officeDocument/2006/relationships/notesSlide" Target="/ppt/notesSlides/notesSlide5.xml" Id="R2e95e49e72f345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e06d675fbf4e33" /><Relationship Type="http://schemas.openxmlformats.org/officeDocument/2006/relationships/notesSlide" Target="/ppt/notesSlides/notesSlide6.xml" Id="R49aa41439d344a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11ac767a0640a1" /><Relationship Type="http://schemas.openxmlformats.org/officeDocument/2006/relationships/notesSlide" Target="/ppt/notesSlides/notesSlide7.xml" Id="R675c2308d1bc4c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0794612c224c74" /><Relationship Type="http://schemas.openxmlformats.org/officeDocument/2006/relationships/notesSlide" Target="/ppt/notesSlides/notesSlide8.xml" Id="R38ebb4a0620240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7da9ede7384a3b" /><Relationship Type="http://schemas.openxmlformats.org/officeDocument/2006/relationships/notesSlide" Target="/ppt/notesSlides/notesSlide9.xml" Id="R6fe9fb1c2bee4a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733218e7064e5c" /><Relationship Type="http://schemas.openxmlformats.org/officeDocument/2006/relationships/notesSlide" Target="/ppt/notesSlides/notesSlide10.xml" Id="R48ac6ca9baac48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05A  /  HSI LEARNING">
            <a:extLst xmlns:a="http://schemas.openxmlformats.org/drawingml/2006/main">
              <a:ext uri="{FF2B5EF4-FFF2-40B4-BE49-F238E27FC236}">
                <a16:creationId xmlns:a16="http://schemas.microsoft.com/office/drawing/2014/main" id="{A74F392A-3FDC-469D-8C38-FB40BE7C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L05A  /  HSI LEARNING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D208940E-3962-48EC-A477-B00B6527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862CC-F01C-49CC-966A-134DE8A5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F73C2-9230-43DB-8628-23B4342B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模型的一次&#10;参数更新">
            <a:extLst xmlns:a="http://schemas.openxmlformats.org/drawingml/2006/main">
              <a:ext uri="{FF2B5EF4-FFF2-40B4-BE49-F238E27FC236}">
                <a16:creationId xmlns:a16="http://schemas.microsoft.com/office/drawing/2014/main" id="{D9D6109F-0731-43F6-8941-3373BF95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5245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模型的一次</a:t>
            </a:r>
          </a:p>
          <a:p xmlns:a="http://schemas.openxmlformats.org/drawingml/2006/main">
            <a:pPr>
              <a:def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参数更新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C6F08F-6DE2-4507-A85D-E59AD9232D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1e7a1b84434730"/>
          <a:stretch xmlns:a="http://schemas.openxmlformats.org/drawingml/2006/main"/>
        </p:blipFill>
        <p:spPr>
          <a:xfrm xmlns:a="http://schemas.openxmlformats.org/drawingml/2006/main">
            <a:off x="6591300" y="2082325"/>
            <a:ext cx="4914900" cy="221710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EA506-476B-455D-83B6-3405B4E6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标签、logits、loss与梯度">
            <a:extLst xmlns:a="http://schemas.openxmlformats.org/drawingml/2006/main">
              <a:ext uri="{FF2B5EF4-FFF2-40B4-BE49-F238E27FC236}">
                <a16:creationId xmlns:a16="http://schemas.microsoft.com/office/drawing/2014/main" id="{07C98D47-91F3-4B54-A416-047C74EF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3925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标签、logits、loss与梯度</a:t>
            </a:r>
          </a:p>
        </p:txBody>
      </p:sp>
      <p:sp>
        <p:nvSpPr>
          <p:cNvPr id="9" name="先修  /  L04；会读张量shape">
            <a:extLst xmlns:a="http://schemas.openxmlformats.org/drawingml/2006/main">
              <a:ext uri="{FF2B5EF4-FFF2-40B4-BE49-F238E27FC236}">
                <a16:creationId xmlns:a16="http://schemas.microsoft.com/office/drawing/2014/main" id="{38B59006-582B-4E04-A6CE-C96F6801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先修  /  L04；会读张量shape</a:t>
            </a:r>
          </a:p>
        </p:txBody>
      </p:sp>
    </p:spTree>
    <p:extLst>
      <p:ext uri="{BB962C8B-B14F-4D97-AF65-F5344CB8AC3E}">
        <p14:creationId xmlns:p14="http://schemas.microsoft.com/office/powerpoint/2010/main" val="9523366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05A  /  HSI LEARNING">
            <a:extLst xmlns:a="http://schemas.openxmlformats.org/drawingml/2006/main">
              <a:ext uri="{FF2B5EF4-FFF2-40B4-BE49-F238E27FC236}">
                <a16:creationId xmlns:a16="http://schemas.microsoft.com/office/drawing/2014/main" id="{66DBC2EF-3EA6-42C4-89FA-45DDEC97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L05A  /  HSI LEARNING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415EA5B2-DA59-467F-A35C-75411520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这节课，你将完成什么">
            <a:extLst xmlns:a="http://schemas.openxmlformats.org/drawingml/2006/main">
              <a:ext uri="{FF2B5EF4-FFF2-40B4-BE49-F238E27FC236}">
                <a16:creationId xmlns:a16="http://schemas.microsoft.com/office/drawing/2014/main" id="{AFAC4F8A-A36A-41C7-B45C-CCD00EAC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这节课，你将完成什么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C6C28-7C72-4B63-A5D3-79F9DCF8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4BB47010-B250-4D61-8BBB-2E67B2F1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一个batch的数据流">
            <a:extLst xmlns:a="http://schemas.openxmlformats.org/drawingml/2006/main">
              <a:ext uri="{FF2B5EF4-FFF2-40B4-BE49-F238E27FC236}">
                <a16:creationId xmlns:a16="http://schemas.microsoft.com/office/drawing/2014/main" id="{46B83BB7-B08D-42EB-AA76-9325CDDE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4193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一个batch的数据流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A55AE-8934-49FA-A8D8-5132B3F1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19475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8232E2D4-C442-4D46-8E4D-3F5E8E88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参数更新证据">
            <a:extLst xmlns:a="http://schemas.openxmlformats.org/drawingml/2006/main">
              <a:ext uri="{FF2B5EF4-FFF2-40B4-BE49-F238E27FC236}">
                <a16:creationId xmlns:a16="http://schemas.microsoft.com/office/drawing/2014/main" id="{A10744D1-A5AE-4254-8380-B9CD427F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09975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参数更新证据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5389B-F0DC-4310-A407-BF169A9D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10100"/>
            <a:ext cx="952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4BA1DC3F-CF96-4F9C-A229-BF90C36C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76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验证checkpoint规则">
            <a:extLst xmlns:a="http://schemas.openxmlformats.org/drawingml/2006/main">
              <a:ext uri="{FF2B5EF4-FFF2-40B4-BE49-F238E27FC236}">
                <a16:creationId xmlns:a16="http://schemas.microsoft.com/office/drawing/2014/main" id="{A5391928-711F-4776-90C2-9F3FFFBA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80060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验证checkpoint规则</a:t>
            </a:r>
          </a:p>
        </p:txBody>
      </p:sp>
    </p:spTree>
    <p:extLst>
      <p:ext uri="{BB962C8B-B14F-4D97-AF65-F5344CB8AC3E}">
        <p14:creationId xmlns:p14="http://schemas.microsoft.com/office/powerpoint/2010/main" val="1523243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L05A  /  HSI LEARNING">
            <a:extLst xmlns:a="http://schemas.openxmlformats.org/drawingml/2006/main">
              <a:ext uri="{FF2B5EF4-FFF2-40B4-BE49-F238E27FC236}">
                <a16:creationId xmlns:a16="http://schemas.microsoft.com/office/drawing/2014/main" id="{228E7DFD-0C3B-4AEF-966E-F20057C6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L05A  /  HSI LEARNING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7CF1A9EF-6EF0-4FAC-AF2B-70446697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从中心标签到模型target">
            <a:extLst xmlns:a="http://schemas.openxmlformats.org/drawingml/2006/main">
              <a:ext uri="{FF2B5EF4-FFF2-40B4-BE49-F238E27FC236}">
                <a16:creationId xmlns:a16="http://schemas.microsoft.com/office/drawing/2014/main" id="{1AF9C1FA-6969-4C26-8598-AAD92BA3C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从中心标签到模型target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FEC2F-284E-4A54-BD21-DA86093E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原始类别1…16">
            <a:extLst xmlns:a="http://schemas.openxmlformats.org/drawingml/2006/main">
              <a:ext uri="{FF2B5EF4-FFF2-40B4-BE49-F238E27FC236}">
                <a16:creationId xmlns:a16="http://schemas.microsoft.com/office/drawing/2014/main" id="{B53C4F8E-CED0-445E-8488-2DCEBB5E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487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原始类别1…16</a:t>
            </a:r>
          </a:p>
        </p:txBody>
      </p:sp>
      <p:sp>
        <p:nvSpPr>
          <p:cNvPr id="6" name="损失target为0…15">
            <a:extLst xmlns:a="http://schemas.openxmlformats.org/drawingml/2006/main">
              <a:ext uri="{FF2B5EF4-FFF2-40B4-BE49-F238E27FC236}">
                <a16:creationId xmlns:a16="http://schemas.microsoft.com/office/drawing/2014/main" id="{28F44A0C-4648-4447-B038-AE71C596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487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损失target为0…15</a:t>
            </a:r>
          </a:p>
        </p:txBody>
      </p:sp>
      <p:sp>
        <p:nvSpPr>
          <p:cNvPr id="7" name="背景0不进入监督样本">
            <a:extLst xmlns:a="http://schemas.openxmlformats.org/drawingml/2006/main">
              <a:ext uri="{FF2B5EF4-FFF2-40B4-BE49-F238E27FC236}">
                <a16:creationId xmlns:a16="http://schemas.microsoft.com/office/drawing/2014/main" id="{3CA59025-0DCB-46F6-BF08-3D09720C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4876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背景0不进入监督样本</a:t>
            </a:r>
          </a:p>
        </p:txBody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E35B1636-418B-4A57-99BA-C03FB4F8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Patch + center GT">
            <a:extLst xmlns:a="http://schemas.openxmlformats.org/drawingml/2006/main">
              <a:ext uri="{FF2B5EF4-FFF2-40B4-BE49-F238E27FC236}">
                <a16:creationId xmlns:a16="http://schemas.microsoft.com/office/drawing/2014/main" id="{71C86FED-DB7E-4DC4-96B7-FA4D6B60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4767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Patch + center GT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7FCBF-A021-44B9-A3C1-15750227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90825"/>
            <a:ext cx="9525" cy="74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06C288BC-EFE5-40F7-AD16-8CF9ED790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0680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class ID→target">
            <a:extLst xmlns:a="http://schemas.openxmlformats.org/drawingml/2006/main">
              <a:ext uri="{FF2B5EF4-FFF2-40B4-BE49-F238E27FC236}">
                <a16:creationId xmlns:a16="http://schemas.microsoft.com/office/drawing/2014/main" id="{E8E65B46-3D38-4609-9D4A-F954EF0D0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06800"/>
            <a:ext cx="44767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class ID→target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E923C8-77EB-4EFA-8CFA-149E936B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92575"/>
            <a:ext cx="9525" cy="74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A68E665A-F6A2-481C-A1CE-12F00B84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085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logits: N×16">
            <a:extLst xmlns:a="http://schemas.openxmlformats.org/drawingml/2006/main">
              <a:ext uri="{FF2B5EF4-FFF2-40B4-BE49-F238E27FC236}">
                <a16:creationId xmlns:a16="http://schemas.microsoft.com/office/drawing/2014/main" id="{00831D55-8134-451B-B70C-9E0E2FF4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908550"/>
            <a:ext cx="4476750" cy="1149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logits: N×16</a:t>
            </a:r>
          </a:p>
        </p:txBody>
      </p:sp>
    </p:spTree>
    <p:extLst>
      <p:ext uri="{BB962C8B-B14F-4D97-AF65-F5344CB8AC3E}">
        <p14:creationId xmlns:p14="http://schemas.microsoft.com/office/powerpoint/2010/main" val="5909589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05A  /  HSI LEARNING">
            <a:extLst xmlns:a="http://schemas.openxmlformats.org/drawingml/2006/main">
              <a:ext uri="{FF2B5EF4-FFF2-40B4-BE49-F238E27FC236}">
                <a16:creationId xmlns:a16="http://schemas.microsoft.com/office/drawing/2014/main" id="{BBD7C76F-5538-4DF8-BC6D-2FC6803E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L05A  /  HSI LEARNING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A1FE1947-C393-4BD3-9357-3C74ED9C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Logits与交叉熵">
            <a:extLst xmlns:a="http://schemas.openxmlformats.org/drawingml/2006/main">
              <a:ext uri="{FF2B5EF4-FFF2-40B4-BE49-F238E27FC236}">
                <a16:creationId xmlns:a16="http://schemas.microsoft.com/office/drawing/2014/main" id="{C84463CE-92E8-43B8-B2E4-245B04FA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Logits与交叉熵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4F118-4246-4635-A8C7-85DF026C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F7D622F7-CE87-4FA0-A95B-5064ADEC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argmax得到类别索引">
            <a:extLst xmlns:a="http://schemas.openxmlformats.org/drawingml/2006/main">
              <a:ext uri="{FF2B5EF4-FFF2-40B4-BE49-F238E27FC236}">
                <a16:creationId xmlns:a16="http://schemas.microsoft.com/office/drawing/2014/main" id="{5981CE34-1C0D-400C-94A1-7225FC32D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574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argmax得到类别索引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A3D4CD7F-27E7-4D40-95A9-3A7CEF07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CE内部使用log-softmax">
            <a:extLst xmlns:a="http://schemas.openxmlformats.org/drawingml/2006/main">
              <a:ext uri="{FF2B5EF4-FFF2-40B4-BE49-F238E27FC236}">
                <a16:creationId xmlns:a16="http://schemas.microsoft.com/office/drawing/2014/main" id="{B1C621BD-DA73-4EB1-83C2-511DDB9E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CE内部使用log-softmax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6751390B-EECA-4B78-A65A-698B4A66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输入loss不预先重复softmax">
            <a:extLst xmlns:a="http://schemas.openxmlformats.org/drawingml/2006/main">
              <a:ext uri="{FF2B5EF4-FFF2-40B4-BE49-F238E27FC236}">
                <a16:creationId xmlns:a16="http://schemas.microsoft.com/office/drawing/2014/main" id="{F591CFF9-33D5-4965-9DFD-A9887624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958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输入loss不预先重复softmax</a:t>
            </a:r>
          </a:p>
        </p:txBody>
      </p:sp>
    </p:spTree>
    <p:extLst>
      <p:ext uri="{BB962C8B-B14F-4D97-AF65-F5344CB8AC3E}">
        <p14:creationId xmlns:p14="http://schemas.microsoft.com/office/powerpoint/2010/main" val="752514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L05A  /  HSI LEARNING">
            <a:extLst xmlns:a="http://schemas.openxmlformats.org/drawingml/2006/main">
              <a:ext uri="{FF2B5EF4-FFF2-40B4-BE49-F238E27FC236}">
                <a16:creationId xmlns:a16="http://schemas.microsoft.com/office/drawing/2014/main" id="{77DCFEFF-E087-4B1F-B973-3607F2BF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L05A  /  HSI LEARNING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BA159B14-7065-4D73-B1B1-E53EAC61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一次更新的四个操作">
            <a:extLst xmlns:a="http://schemas.openxmlformats.org/drawingml/2006/main">
              <a:ext uri="{FF2B5EF4-FFF2-40B4-BE49-F238E27FC236}">
                <a16:creationId xmlns:a16="http://schemas.microsoft.com/office/drawing/2014/main" id="{36FCF62E-9BC9-4468-B96D-10922420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一次更新的四个操作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0411B-622A-4AE9-BF6A-068F50E4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zero_grad清掉旧梯度">
            <a:extLst xmlns:a="http://schemas.openxmlformats.org/drawingml/2006/main">
              <a:ext uri="{FF2B5EF4-FFF2-40B4-BE49-F238E27FC236}">
                <a16:creationId xmlns:a16="http://schemas.microsoft.com/office/drawing/2014/main" id="{08B46F97-300C-40AC-8D37-E7B6508E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4876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zero_grad清掉旧梯度</a:t>
            </a:r>
          </a:p>
        </p:txBody>
      </p:sp>
      <p:sp>
        <p:nvSpPr>
          <p:cNvPr id="6" name="前向计算当前batch的loss">
            <a:extLst xmlns:a="http://schemas.openxmlformats.org/drawingml/2006/main">
              <a:ext uri="{FF2B5EF4-FFF2-40B4-BE49-F238E27FC236}">
                <a16:creationId xmlns:a16="http://schemas.microsoft.com/office/drawing/2014/main" id="{BD2183FE-B2B9-4470-BEA7-6ADB6497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876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前向计算当前batch的loss</a:t>
            </a:r>
          </a:p>
        </p:txBody>
      </p:sp>
      <p:sp>
        <p:nvSpPr>
          <p:cNvPr id="7" name="backward计算当前loss的梯度">
            <a:extLst xmlns:a="http://schemas.openxmlformats.org/drawingml/2006/main">
              <a:ext uri="{FF2B5EF4-FFF2-40B4-BE49-F238E27FC236}">
                <a16:creationId xmlns:a16="http://schemas.microsoft.com/office/drawing/2014/main" id="{9CEDE3D0-770D-4914-BC13-5AD541D2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4876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backward计算当前loss的梯度</a:t>
            </a:r>
          </a:p>
        </p:txBody>
      </p:sp>
      <p:sp>
        <p:nvSpPr>
          <p:cNvPr id="8" name="step按优化规则更新参数">
            <a:extLst xmlns:a="http://schemas.openxmlformats.org/drawingml/2006/main">
              <a:ext uri="{FF2B5EF4-FFF2-40B4-BE49-F238E27FC236}">
                <a16:creationId xmlns:a16="http://schemas.microsoft.com/office/drawing/2014/main" id="{3BAFBC90-013D-49E6-893E-70C5CF18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876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step按优化规则更新参数</a:t>
            </a:r>
          </a:p>
        </p:txBody>
      </p:sp>
      <p:sp>
        <p:nvSpPr>
          <p:cNvPr id="9" name="01">
            <a:extLst xmlns:a="http://schemas.openxmlformats.org/drawingml/2006/main">
              <a:ext uri="{FF2B5EF4-FFF2-40B4-BE49-F238E27FC236}">
                <a16:creationId xmlns:a16="http://schemas.microsoft.com/office/drawing/2014/main" id="{367451BF-2D38-4B55-8963-0135A3A4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zero_grad">
            <a:extLst xmlns:a="http://schemas.openxmlformats.org/drawingml/2006/main">
              <a:ext uri="{FF2B5EF4-FFF2-40B4-BE49-F238E27FC236}">
                <a16:creationId xmlns:a16="http://schemas.microsoft.com/office/drawing/2014/main" id="{949C7E66-8343-451A-80D8-B329C759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476750" cy="823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zero_grad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60777-8820-489E-81FC-04F5E595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90825"/>
            <a:ext cx="9525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2" name="02">
            <a:extLst xmlns:a="http://schemas.openxmlformats.org/drawingml/2006/main">
              <a:ext uri="{FF2B5EF4-FFF2-40B4-BE49-F238E27FC236}">
                <a16:creationId xmlns:a16="http://schemas.microsoft.com/office/drawing/2014/main" id="{D79FE7CD-3DED-4D7A-ACE8-1372A017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81363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forward → loss">
            <a:extLst xmlns:a="http://schemas.openxmlformats.org/drawingml/2006/main">
              <a:ext uri="{FF2B5EF4-FFF2-40B4-BE49-F238E27FC236}">
                <a16:creationId xmlns:a16="http://schemas.microsoft.com/office/drawing/2014/main" id="{F1082C70-41BA-4E00-BD20-25312C16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81363"/>
            <a:ext cx="4476750" cy="823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forward → loss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EA55F-5038-417E-89B3-0F354A58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7138"/>
            <a:ext cx="9525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4EA55EF6-456F-440C-8AD2-597E604C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57675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loss.backward">
            <a:extLst xmlns:a="http://schemas.openxmlformats.org/drawingml/2006/main">
              <a:ext uri="{FF2B5EF4-FFF2-40B4-BE49-F238E27FC236}">
                <a16:creationId xmlns:a16="http://schemas.microsoft.com/office/drawing/2014/main" id="{73172433-0A4E-4A8B-A81E-1B6D3ACB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257675"/>
            <a:ext cx="4476750" cy="823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loss.backward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466E2-582E-445E-B72F-CDA3F0B3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9525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18" name="04">
            <a:extLst xmlns:a="http://schemas.openxmlformats.org/drawingml/2006/main">
              <a:ext uri="{FF2B5EF4-FFF2-40B4-BE49-F238E27FC236}">
                <a16:creationId xmlns:a16="http://schemas.microsoft.com/office/drawing/2014/main" id="{4A019525-CF30-4A68-8EC5-6B55A5180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33988"/>
            <a:ext cx="533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optimizer.step">
            <a:extLst xmlns:a="http://schemas.openxmlformats.org/drawingml/2006/main">
              <a:ext uri="{FF2B5EF4-FFF2-40B4-BE49-F238E27FC236}">
                <a16:creationId xmlns:a16="http://schemas.microsoft.com/office/drawing/2014/main" id="{1CEB0C7F-54CC-46A0-9E1B-DCC26124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33988"/>
            <a:ext cx="4476750" cy="823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optimizer.step</a:t>
            </a:r>
          </a:p>
        </p:txBody>
      </p:sp>
    </p:spTree>
    <p:extLst>
      <p:ext uri="{BB962C8B-B14F-4D97-AF65-F5344CB8AC3E}">
        <p14:creationId xmlns:p14="http://schemas.microsoft.com/office/powerpoint/2010/main" val="11293902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05A  /  HSI LEARNING">
            <a:extLst xmlns:a="http://schemas.openxmlformats.org/drawingml/2006/main">
              <a:ext uri="{FF2B5EF4-FFF2-40B4-BE49-F238E27FC236}">
                <a16:creationId xmlns:a16="http://schemas.microsoft.com/office/drawing/2014/main" id="{5BC7A228-FB69-4BCC-9581-E90FF764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L05A  /  HSI LEARNING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A39EB332-809D-4358-A4E3-10813974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模式与梯度是两套开关">
            <a:extLst xmlns:a="http://schemas.openxmlformats.org/drawingml/2006/main">
              <a:ext uri="{FF2B5EF4-FFF2-40B4-BE49-F238E27FC236}">
                <a16:creationId xmlns:a16="http://schemas.microsoft.com/office/drawing/2014/main" id="{CF6AC591-E048-4D35-9F81-1DD4F69E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模式与梯度是两套开关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A8B5D-A985-4D70-B05E-CBE47E57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train/eval影响BN与Dropout  ·  eva">
            <a:extLst xmlns:a="http://schemas.openxmlformats.org/drawingml/2006/main">
              <a:ext uri="{FF2B5EF4-FFF2-40B4-BE49-F238E27FC236}">
                <a16:creationId xmlns:a16="http://schemas.microsoft.com/office/drawing/2014/main" id="{33725554-6C1C-489B-92DF-C32CAB1A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train/eval影响BN与Dropout  ·  eval仍能计算梯度  ·  no_grad用于无需求导的推理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C8F42-F86A-4BA9-8207-0ACEAAC2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E5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55CBE-496C-408E-989F-9BA63F85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操作">
            <a:extLst xmlns:a="http://schemas.openxmlformats.org/drawingml/2006/main">
              <a:ext uri="{FF2B5EF4-FFF2-40B4-BE49-F238E27FC236}">
                <a16:creationId xmlns:a16="http://schemas.microsoft.com/office/drawing/2014/main" id="{6372E3A9-37C9-466E-885D-12EE227D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43275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sp>
        <p:nvSpPr>
          <p:cNvPr id="9" name="主要作用">
            <a:extLst xmlns:a="http://schemas.openxmlformats.org/drawingml/2006/main">
              <a:ext uri="{FF2B5EF4-FFF2-40B4-BE49-F238E27FC236}">
                <a16:creationId xmlns:a16="http://schemas.microsoft.com/office/drawing/2014/main" id="{BF188BA7-4BF1-4C81-B9A9-28AF6522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43275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主要作用</a:t>
            </a:r>
          </a:p>
        </p:txBody>
      </p:sp>
      <p:sp>
        <p:nvSpPr>
          <p:cNvPr id="10" name="model.eval()">
            <a:extLst xmlns:a="http://schemas.openxmlformats.org/drawingml/2006/main">
              <a:ext uri="{FF2B5EF4-FFF2-40B4-BE49-F238E27FC236}">
                <a16:creationId xmlns:a16="http://schemas.microsoft.com/office/drawing/2014/main" id="{A35982A0-B49B-4411-A120-32226963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model.eval()</a:t>
            </a:r>
          </a:p>
        </p:txBody>
      </p:sp>
      <p:sp>
        <p:nvSpPr>
          <p:cNvPr id="11" name="固定BN/关闭Dropout随机性">
            <a:extLst xmlns:a="http://schemas.openxmlformats.org/drawingml/2006/main">
              <a:ext uri="{FF2B5EF4-FFF2-40B4-BE49-F238E27FC236}">
                <a16:creationId xmlns:a16="http://schemas.microsoft.com/office/drawing/2014/main" id="{05DA3AF0-383A-467A-99C5-1A153938A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057650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固定BN/关闭Dropout随机性</a:t>
            </a:r>
          </a:p>
        </p:txBody>
      </p:sp>
      <p:sp>
        <p:nvSpPr>
          <p:cNvPr id="12" name="torch.no_grad()">
            <a:extLst xmlns:a="http://schemas.openxmlformats.org/drawingml/2006/main">
              <a:ext uri="{FF2B5EF4-FFF2-40B4-BE49-F238E27FC236}">
                <a16:creationId xmlns:a16="http://schemas.microsoft.com/office/drawing/2014/main" id="{D3015BCB-EBED-4854-81B8-6666E4E5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72025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torch.no_grad()</a:t>
            </a:r>
          </a:p>
        </p:txBody>
      </p:sp>
      <p:sp>
        <p:nvSpPr>
          <p:cNvPr id="13" name="不记录autograd图">
            <a:extLst xmlns:a="http://schemas.openxmlformats.org/drawingml/2006/main">
              <a:ext uri="{FF2B5EF4-FFF2-40B4-BE49-F238E27FC236}">
                <a16:creationId xmlns:a16="http://schemas.microsoft.com/office/drawing/2014/main" id="{C0724339-0F76-4FFF-B1CE-5C3B6971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72025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不记录autograd图</a:t>
            </a:r>
          </a:p>
        </p:txBody>
      </p:sp>
      <p:sp>
        <p:nvSpPr>
          <p:cNvPr id="14" name="Grad-CAM">
            <a:extLst xmlns:a="http://schemas.openxmlformats.org/drawingml/2006/main">
              <a:ext uri="{FF2B5EF4-FFF2-40B4-BE49-F238E27FC236}">
                <a16:creationId xmlns:a16="http://schemas.microsoft.com/office/drawing/2014/main" id="{7A625405-FCAB-4FE5-AB25-2AB8516E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86400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Grad-CAM</a:t>
            </a:r>
          </a:p>
        </p:txBody>
      </p:sp>
      <p:sp>
        <p:nvSpPr>
          <p:cNvPr id="15" name="eval且允许梯度">
            <a:extLst xmlns:a="http://schemas.openxmlformats.org/drawingml/2006/main">
              <a:ext uri="{FF2B5EF4-FFF2-40B4-BE49-F238E27FC236}">
                <a16:creationId xmlns:a16="http://schemas.microsoft.com/office/drawing/2014/main" id="{5A7C0091-5230-4D75-B1DC-E68147246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86400"/>
            <a:ext cx="5143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eval且允许梯度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B362E-EB8C-48AC-B64B-75C3A63A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E5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2713073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05A  /  HSI LEARNING">
            <a:extLst xmlns:a="http://schemas.openxmlformats.org/drawingml/2006/main">
              <a:ext uri="{FF2B5EF4-FFF2-40B4-BE49-F238E27FC236}">
                <a16:creationId xmlns:a16="http://schemas.microsoft.com/office/drawing/2014/main" id="{29ACCFFB-65EE-4716-8EE6-6264D796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L05A  /  HSI LEARNING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51F1F4E7-E971-4AC4-892E-E2008276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验证选模型，测试做报告">
            <a:extLst xmlns:a="http://schemas.openxmlformats.org/drawingml/2006/main">
              <a:ext uri="{FF2B5EF4-FFF2-40B4-BE49-F238E27FC236}">
                <a16:creationId xmlns:a16="http://schemas.microsoft.com/office/drawing/2014/main" id="{A475531A-96CC-46F6-BD1B-265C9343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验证选模型，测试做报告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35191-F9BD-4634-96F4-3B6FCBE9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3D83026E-7048-4499-9CB2-298698BD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记录每轮训练与验证表现">
            <a:extLst xmlns:a="http://schemas.openxmlformats.org/drawingml/2006/main">
              <a:ext uri="{FF2B5EF4-FFF2-40B4-BE49-F238E27FC236}">
                <a16:creationId xmlns:a16="http://schemas.microsoft.com/office/drawing/2014/main" id="{51DF54A7-3630-4B54-A614-00B02F2F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2574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记录每轮训练与验证表现</a:t>
            </a:r>
          </a:p>
        </p:txBody>
      </p:sp>
      <p:sp>
        <p:nvSpPr>
          <p:cNvPr id="7" name="02">
            <a:extLst xmlns:a="http://schemas.openxmlformats.org/drawingml/2006/main">
              <a:ext uri="{FF2B5EF4-FFF2-40B4-BE49-F238E27FC236}">
                <a16:creationId xmlns:a16="http://schemas.microsoft.com/office/drawing/2014/main" id="{EFB690B5-6D6A-4C93-88F8-BF7670EC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best_epoch按validation冻结">
            <a:extLst xmlns:a="http://schemas.openxmlformats.org/drawingml/2006/main">
              <a:ext uri="{FF2B5EF4-FFF2-40B4-BE49-F238E27FC236}">
                <a16:creationId xmlns:a16="http://schemas.microsoft.com/office/drawing/2014/main" id="{BDF0895A-66CF-4C86-9C47-763E2A15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4766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best_epoch按validation冻结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B4E5C71B-B4BB-4A74-8BAF-D241BC1B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0" name="一次batch loss下降不证明泛化提升">
            <a:extLst xmlns:a="http://schemas.openxmlformats.org/drawingml/2006/main">
              <a:ext uri="{FF2B5EF4-FFF2-40B4-BE49-F238E27FC236}">
                <a16:creationId xmlns:a16="http://schemas.microsoft.com/office/drawing/2014/main" id="{76699533-F5A2-4835-8B84-E3821AD8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695825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一次batch loss下降不证明泛化提升</a:t>
            </a:r>
          </a:p>
        </p:txBody>
      </p:sp>
    </p:spTree>
    <p:extLst>
      <p:ext uri="{BB962C8B-B14F-4D97-AF65-F5344CB8AC3E}">
        <p14:creationId xmlns:p14="http://schemas.microsoft.com/office/powerpoint/2010/main" val="1621685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05A  /  HSI LEARNING">
            <a:extLst xmlns:a="http://schemas.openxmlformats.org/drawingml/2006/main">
              <a:ext uri="{FF2B5EF4-FFF2-40B4-BE49-F238E27FC236}">
                <a16:creationId xmlns:a16="http://schemas.microsoft.com/office/drawing/2014/main" id="{09EA2EDB-960F-4FD9-BAD5-7D60A8C0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L05A  /  HSI LEARNING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D663E80D-2AA1-4393-99CA-1377EFDC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让代码验证你的判断">
            <a:extLst xmlns:a="http://schemas.openxmlformats.org/drawingml/2006/main">
              <a:ext uri="{FF2B5EF4-FFF2-40B4-BE49-F238E27FC236}">
                <a16:creationId xmlns:a16="http://schemas.microsoft.com/office/drawing/2014/main" id="{B8515D0D-6363-4093-A17F-CE93AB8F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让代码验证你的判断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CCA67E-B8B2-4172-848A-2CCB617F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BECFB2-84ED-45A4-B949-399DE8D4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E3C"/>
          </a:solidFill>
          <a:ln xmlns:a="http://schemas.openxmlformats.org/drawingml/2006/main" w="0">
            <a:noFill/>
          </a:ln>
        </p:spPr>
      </p:sp>
      <p:sp>
        <p:nvSpPr>
          <p:cNvPr id="6" name="learner = deepcopy(model)&#10;opti">
            <a:extLst xmlns:a="http://schemas.openxmlformats.org/drawingml/2006/main">
              <a:ext uri="{FF2B5EF4-FFF2-40B4-BE49-F238E27FC236}">
                <a16:creationId xmlns:a16="http://schemas.microsoft.com/office/drawing/2014/main" id="{A92EF3FC-F970-4F84-B50D-CCBFE180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102870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learner = deepcopy(model)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optimizer = torch.optim.SGD(learner.parameters(), lr=.001)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optimizer.zero_grad()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loss = F.cross_entropy(learner(x), y)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loss.backward()</a:t>
            </a:r>
          </a:p>
          <a:p xmlns:a="http://schemas.openxmlformats.org/drawingml/2006/main">
            <a:pPr>
              <a:defRPr sz="1875" b="0">
                <a:solidFill>
                  <a:srgbClr val="EAF0F7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AF0F7"/>
                </a:solidFill>
                <a:latin typeface="Consolas"/>
                <a:ea typeface="Consolas"/>
                <a:cs typeface="Consolas"/>
              </a:rPr>
              <a:t>optimizer.step()</a:t>
            </a:r>
          </a:p>
        </p:txBody>
      </p:sp>
      <p:sp>
        <p:nvSpPr>
          <p:cNvPr id="7" name="先预测输出，再运行对应单元格。">
            <a:extLst xmlns:a="http://schemas.openxmlformats.org/drawingml/2006/main">
              <a:ext uri="{FF2B5EF4-FFF2-40B4-BE49-F238E27FC236}">
                <a16:creationId xmlns:a16="http://schemas.microsoft.com/office/drawing/2014/main" id="{0CD9C3D6-1F82-4E85-88A9-1227FB28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先预测输出，再运行对应单元格。</a:t>
            </a:r>
          </a:p>
        </p:txBody>
      </p:sp>
    </p:spTree>
    <p:extLst>
      <p:ext uri="{BB962C8B-B14F-4D97-AF65-F5344CB8AC3E}">
        <p14:creationId xmlns:p14="http://schemas.microsoft.com/office/powerpoint/2010/main" val="20234886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05A  /  HSI LEARNING">
            <a:extLst xmlns:a="http://schemas.openxmlformats.org/drawingml/2006/main">
              <a:ext uri="{FF2B5EF4-FFF2-40B4-BE49-F238E27FC236}">
                <a16:creationId xmlns:a16="http://schemas.microsoft.com/office/drawing/2014/main" id="{A551DDAA-049E-471C-80D1-459BAD25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L05A  /  HSI LEARNING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4BC07A52-E49C-429E-BDEE-04A19577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停下来，做一次判断">
            <a:extLst xmlns:a="http://schemas.openxmlformats.org/drawingml/2006/main">
              <a:ext uri="{FF2B5EF4-FFF2-40B4-BE49-F238E27FC236}">
                <a16:creationId xmlns:a16="http://schemas.microsoft.com/office/drawing/2014/main" id="{5C015870-1F10-4A50-A68C-5FF4FF00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停下来，做一次判断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1DCCF-2762-4DE6-B335-936E34077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课堂预测">
            <a:extLst xmlns:a="http://schemas.openxmlformats.org/drawingml/2006/main">
              <a:ext uri="{FF2B5EF4-FFF2-40B4-BE49-F238E27FC236}">
                <a16:creationId xmlns:a16="http://schemas.microsoft.com/office/drawing/2014/main" id="{2545B68C-4539-497C-8188-1EF93A6A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02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课堂预测</a:t>
            </a:r>
          </a:p>
        </p:txBody>
      </p:sp>
      <p:sp>
        <p:nvSpPr>
          <p:cNvPr id="6" name="漏掉zero_grad，连续两次backward后检查梯度；">
            <a:extLst xmlns:a="http://schemas.openxmlformats.org/drawingml/2006/main">
              <a:ext uri="{FF2B5EF4-FFF2-40B4-BE49-F238E27FC236}">
                <a16:creationId xmlns:a16="http://schemas.microsoft.com/office/drawing/2014/main" id="{04EC897B-A618-4ADA-9668-91C4CA73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漏掉zero_grad，连续两次backward后检查梯度；只操作复制模型。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0B4F2B-C70C-48DD-AE0A-25EB9932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退出题">
            <a:extLst xmlns:a="http://schemas.openxmlformats.org/drawingml/2006/main">
              <a:ext uri="{FF2B5EF4-FFF2-40B4-BE49-F238E27FC236}">
                <a16:creationId xmlns:a16="http://schemas.microsoft.com/office/drawing/2014/main" id="{9D7DADBE-30B0-4CD6-94FD-17A2A0D2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退出题</a:t>
            </a:r>
          </a:p>
        </p:txBody>
      </p:sp>
      <p:sp>
        <p:nvSpPr>
          <p:cNvPr id="9" name="eval模式是否一定没有梯度？">
            <a:extLst xmlns:a="http://schemas.openxmlformats.org/drawingml/2006/main">
              <a:ext uri="{FF2B5EF4-FFF2-40B4-BE49-F238E27FC236}">
                <a16:creationId xmlns:a16="http://schemas.microsoft.com/office/drawing/2014/main" id="{B101564E-6DBE-4699-9300-C3841A2D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108204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eval模式是否一定没有梯度？</a:t>
            </a:r>
          </a:p>
        </p:txBody>
      </p:sp>
    </p:spTree>
    <p:extLst>
      <p:ext uri="{BB962C8B-B14F-4D97-AF65-F5344CB8AC3E}">
        <p14:creationId xmlns:p14="http://schemas.microsoft.com/office/powerpoint/2010/main" val="1366861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05A  /  HSI LEARNING">
            <a:extLst xmlns:a="http://schemas.openxmlformats.org/drawingml/2006/main">
              <a:ext uri="{FF2B5EF4-FFF2-40B4-BE49-F238E27FC236}">
                <a16:creationId xmlns:a16="http://schemas.microsoft.com/office/drawing/2014/main" id="{39B9CEE7-E534-49A1-89D2-116B8134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L05A  /  HSI LEARNING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F30B9C76-2C19-4883-B12F-D93A5723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5750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结论要有边界">
            <a:extLst xmlns:a="http://schemas.openxmlformats.org/drawingml/2006/main">
              <a:ext uri="{FF2B5EF4-FFF2-40B4-BE49-F238E27FC236}">
                <a16:creationId xmlns:a16="http://schemas.microsoft.com/office/drawing/2014/main" id="{6DA6F385-8EF9-4864-A207-717D3E6E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结论要有边界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722F48-8E48-4B29-BEF4-8C8B2C3A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533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DAB"/>
          </a:solidFill>
          <a:ln xmlns:a="http://schemas.openxmlformats.org/drawingml/2006/main" w="0">
            <a:noFill/>
          </a:ln>
        </p:spPr>
      </p:sp>
      <p:sp>
        <p:nvSpPr>
          <p:cNvPr id="5" name="已知">
            <a:extLst xmlns:a="http://schemas.openxmlformats.org/drawingml/2006/main">
              <a:ext uri="{FF2B5EF4-FFF2-40B4-BE49-F238E27FC236}">
                <a16:creationId xmlns:a16="http://schemas.microsoft.com/office/drawing/2014/main" id="{742F2F54-DB89-42DE-90F4-53E11C5F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90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已知</a:t>
            </a:r>
          </a:p>
        </p:txBody>
      </p:sp>
      <p:sp>
        <p:nvSpPr>
          <p:cNvPr id="6" name="单batch更新不保证test改善">
            <a:extLst xmlns:a="http://schemas.openxmlformats.org/drawingml/2006/main">
              <a:ext uri="{FF2B5EF4-FFF2-40B4-BE49-F238E27FC236}">
                <a16:creationId xmlns:a16="http://schemas.microsoft.com/office/drawing/2014/main" id="{34D0EE75-F4F2-486D-8AA0-96A30C11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66950"/>
            <a:ext cx="9296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单batch更新不保证test改善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3C3A2-14FF-4C3F-AEE8-E093A22E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52850"/>
            <a:ext cx="929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9"/>
          </a:solidFill>
          <a:ln xmlns:a="http://schemas.openxmlformats.org/drawingml/2006/main" w="0">
            <a:noFill/>
          </a:ln>
        </p:spPr>
      </p:sp>
      <p:sp>
        <p:nvSpPr>
          <p:cNvPr id="8" name="边界">
            <a:extLst xmlns:a="http://schemas.openxmlformats.org/drawingml/2006/main">
              <a:ext uri="{FF2B5EF4-FFF2-40B4-BE49-F238E27FC236}">
                <a16:creationId xmlns:a16="http://schemas.microsoft.com/office/drawing/2014/main" id="{79FB322F-0111-4AD1-BB25-20FDF7D3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90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315DAB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9" name="训练模式与梯度模式分别控制">
            <a:extLst xmlns:a="http://schemas.openxmlformats.org/drawingml/2006/main">
              <a:ext uri="{FF2B5EF4-FFF2-40B4-BE49-F238E27FC236}">
                <a16:creationId xmlns:a16="http://schemas.microsoft.com/office/drawing/2014/main" id="{E6812E85-F81B-4F31-8FC5-4AD1CF36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10025"/>
            <a:ext cx="92964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52E50"/>
                </a:solidFill>
                <a:latin typeface="Microsoft YaHei"/>
                <a:ea typeface="Microsoft YaHei"/>
                <a:cs typeface="Microsoft YaHei"/>
              </a:rPr>
              <a:t>训练模式与梯度模式分别控制</a:t>
            </a:r>
          </a:p>
        </p:txBody>
      </p:sp>
      <p:sp>
        <p:nvSpPr>
          <p:cNvPr id="10" name="来源、复现入口与辅助提示见讲者备注。">
            <a:extLst xmlns:a="http://schemas.openxmlformats.org/drawingml/2006/main">
              <a:ext uri="{FF2B5EF4-FFF2-40B4-BE49-F238E27FC236}">
                <a16:creationId xmlns:a16="http://schemas.microsoft.com/office/drawing/2014/main" id="{9DAF9A5F-E8CA-45AC-89DB-FA746F35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C6B7A"/>
                </a:solidFill>
                <a:latin typeface="Microsoft YaHei"/>
                <a:ea typeface="Microsoft YaHei"/>
                <a:cs typeface="Microsoft YaHei"/>
              </a:rPr>
              <a:t>来源、复现入口与辅助提示见讲者备注。</a:t>
            </a:r>
          </a:p>
        </p:txBody>
      </p:sp>
    </p:spTree>
    <p:extLst>
      <p:ext uri="{BB962C8B-B14F-4D97-AF65-F5344CB8AC3E}">
        <p14:creationId xmlns:p14="http://schemas.microsoft.com/office/powerpoint/2010/main" val="13165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2026-10-09T03:34:30.2510000Z</dcterms:created>
  <dcterms:modified xsi:type="dcterms:W3CDTF">2026-10-09T03:34:30.2510000Z</dcterms:modified>
</coreProperties>
</file>