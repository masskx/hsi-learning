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开场" id="{39f09656-5c39-a220-76d4-07ccc90b385f}">
          <p14:sldIdLst>
            <p14:sldId id="256"/>
            <p14:sldId id="257"/>
          </p14:sldIdLst>
        </p14:section>
        <p14:section name="讲解" id="{9e82d860-e333-2678-ea63-a107fb361b74}">
          <p14:sldIdLst>
            <p14:sldId id="258"/>
            <p14:sldId id="259"/>
            <p14:sldId id="260"/>
            <p14:sldId id="261"/>
            <p14:sldId id="262"/>
          </p14:sldIdLst>
        </p14:section>
        <p14:section name="练习" id="{95b72c26-570b-2f03-d98f-6dd8337ccf20}">
          <p14:sldIdLst>
            <p14:sldId id="263"/>
            <p14:sldId id="264"/>
          </p14:sldIdLst>
        </p14:section>
        <p14:section name="收束" id="{07255086-7e5e-1b2f-c54d-f0c985817418}">
          <p14:sldIdLst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开场问题：eval模式是否一定没有梯度？
原标题：模型怎样完成一次参数更新？
参考节奏：5分钟回顾，10分钟手算，10分钟代码，12分钟练习，5分钟错误分析，3分钟退出题。
课堂入口: 10_training_step_classroom.ipynb
定位: batch, forward-loss, one-update, mode-gradient, checkpoint
先预测，再运行；答错时回到手算例。
AI辅助：根据给定batch代码标注输入、参数、梯度和优化器状态；为每个shape写出来源。
人工核验：检查目标范围、梯度存在、原演示权重未改变。
PyTorch documentation
https://docs.pytorch.org/docs/stable/index.html
scikit-learn: model evaluation
https://scikit-learn.org/stable/modules/model_evaluation.html
运行配置、数据哈希和结果：artifacts/teaching/classroom-facts.json
封面图源：01_data_reading_and_visualization.ipynb / spectral-comparison / 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交付物以代码、配置、输出和解释为准。先做完整示例，再做填空与迁移任务。
课堂入口: 10_training_step_classroom.ipynb
定位: batch, forward-loss, one-update, mode-gradient, checkpoint
先预测，再运行；答错时回到手算例。
AI辅助：根据给定batch代码标注输入、参数、梯度和优化器状态；为每个shape写出来源。
人工核验：检查目标范围、梯度存在、原演示权重未改变。
PyTorch documentation
https://docs.pytorch.org/docs/stable/index.html
scikit-learn: model evaluation
https://scikit-learn.org/stable/modules/model_evaluation.html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课堂入口: 10_training_step_classroom.ipynb
定位: batch, forward-loss, one-update, mode-gradient, checkpoint
先预测，再运行；答错时回到手算例。
AI辅助：根据给定batch代码标注输入、参数、梯度和优化器状态；为每个shape写出来源。
人工核验：检查目标范围、梯度存在、原演示权重未改变。
PyTorch documentation
https://docs.pytorch.org/docs/stable/index.html
scikit-learn: model evaluation
https://scikit-learn.org/stable/modules/model_evaluation.html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用logits[2,1]手算分类0的CE约0.3133。
课堂入口: 10_training_step_classroom.ipynb
定位: batch, forward-loss, one-update, mode-gradient, checkpoint
先预测，再运行；答错时回到手算例。
AI辅助：根据给定batch代码标注输入、参数、梯度和优化器状态；为每个shape写出来源。
人工核验：检查目标范围、梯度存在、原演示权重未改变。
PyTorch documentation
https://docs.pytorch.org/docs/stable/index.html
scikit-learn: model evaluation
https://scikit-learn.org/stable/modules/model_evaluation.html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课堂入口: 10_training_step_classroom.ipynb
定位: batch, forward-loss, one-update, mode-gradient, checkpoint
先预测，再运行；答错时回到手算例。
AI辅助：根据给定batch代码标注输入、参数、梯度和优化器状态；为每个shape写出来源。
人工核验：检查目标范围、梯度存在、原演示权重未改变。
PyTorch documentation
https://docs.pytorch.org/docs/stable/index.html
scikit-learn: model evaluation
https://scikit-learn.org/stable/modules/model_evaluation.html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课堂入口: 10_training_step_classroom.ipynb
定位: batch, forward-loss, one-update, mode-gradient, checkpoint
先预测，再运行；答错时回到手算例。
AI辅助：根据给定batch代码标注输入、参数、梯度和优化器状态；为每个shape写出来源。
人工核验：检查目标范围、梯度存在、原演示权重未改变。
PyTorch documentation
https://docs.pytorch.org/docs/stable/index.html
scikit-learn: model evaluation
https://scikit-learn.org/stable/modules/model_evaluation.html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课堂入口: 10_training_step_classroom.ipynb
定位: batch, forward-loss, one-update, mode-gradient, checkpoint
先预测，再运行；答错时回到手算例。
AI辅助：根据给定batch代码标注输入、参数、梯度和优化器状态；为每个shape写出来源。
人工核验：检查目标范围、梯度存在、原演示权重未改变。
PyTorch documentation
https://docs.pytorch.org/docs/stable/index.html
scikit-learn: model evaluation
https://scikit-learn.org/stable/modules/model_evaluation.html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只运行指定短cell；完整训练已在课前完成。缺资产时使用已执行输出备用并说明。
课堂入口: 10_training_step_classroom.ipynb
定位: batch, forward-loss, one-update, mode-gradient, checkpoint
先预测，再运行；答错时回到手算例。
AI辅助：根据给定batch代码标注输入、参数、梯度和优化器状态；为每个shape写出来源。
人工核验：检查目标范围、梯度存在、原演示权重未改变。
PyTorch documentation
https://docs.pytorch.org/docs/stable/index.html
scikit-learn: model evaluation
https://scikit-learn.org/stable/modules/model_evaluation.html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停下来收集预测，发现错误后重新解释；不等到课后作业才知道学生没理解。
作业：A03；完整示例 / 填空 / 迁移；提交代码、配置、结果和限制。
课堂入口: 10_training_step_classroom.ipynb
定位: batch, forward-loss, one-update, mode-gradient, checkpoint
先预测，再运行；答错时回到手算例。
AI辅助：根据给定batch代码标注输入、参数、梯度和优化器状态；为每个shape写出来源。
人工核验：检查目标范围、梯度存在、原演示权重未改变。
PyTorch documentation
https://docs.pytorch.org/docs/stable/index.html
scikit-learn: model evaluation
https://scikit-learn.org/stable/modules/model_evaluation.html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区分已观察事实、候选解释与下一项检验。
退出题：eval模式是否一定没有梯度？
课堂入口: 10_training_step_classroom.ipynb
定位: batch, forward-loss, one-update, mode-gradient, checkpoint
先预测，再运行；答错时回到手算例。
AI辅助：根据给定batch代码标注输入、参数、梯度和优化器状态；为每个shape写出来源。
人工核验：检查目标范围、梯度存在、原演示权重未改变。
PyTorch documentation
https://docs.pytorch.org/docs/stable/index.html
scikit-learn: model evaluation
https://scikit-learn.org/stable/modules/model_evaluation.html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0D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HSI-Learning/slides/assets/brand/spectrum-bars.png">    </p:cNvPr>
          <p:cNvPicPr>
            <a:picLocks noChangeAspect="1"/>
          </p:cNvPicPr>
          <p:nvPr/>
        </p:nvPicPr>
        <p:blipFill>
          <a:blip r:embed="rId1">
            <a:alphaModFix amt="85000"/>
          </a:blip>
          <a:stretch>
            <a:fillRect/>
          </a:stretch>
        </p:blipFill>
        <p:spPr>
          <a:xfrm>
            <a:off x="0" y="5440680"/>
            <a:ext cx="12191695" cy="1417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56692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A9BAC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HSI-LEARNING  ·  高光谱图像分类课程</a:t>
            </a:r>
            <a:endParaRPr lang="en-US" sz="12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685800" y="1828800"/>
            <a:ext cx="6309360" cy="1783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8000"/>
              </a:lnSpc>
              <a:buNone/>
              <a:defRPr lang="en-US" sz="5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lnSpc>
                <a:spcPct val="108000"/>
              </a:lnSpc>
              <a:buNone/>
            </a:pPr>
            <a:endParaRPr lang="en-US" sz="5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384048"/>
            <a:ext cx="658368" cy="274320"/>
          </a:xfrm>
          <a:prstGeom prst="rect">
            <a:avLst>
              <a:gd name="adj" fmla="val 20000"/>
            </a:avLst>
          </a:prstGeom>
          <a:solidFill>
            <a:srgbClr val="0D1B2E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384048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L05A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50876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HSI-LEARNING  ·  高光谱图像分类课程</a:t>
            </a:r>
            <a:endParaRPr lang="en-US" sz="1100" dirty="0"/>
          </a:p>
        </p:txBody>
      </p:sp>
      <p:sp>
        <p:nvSpPr>
          <p:cNvPr id="5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0D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HSI-Learning/slides/assets/brand/spectrum-bars.png">    </p:cNvPr>
          <p:cNvPicPr>
            <a:picLocks noChangeAspect="1"/>
          </p:cNvPicPr>
          <p:nvPr/>
        </p:nvPicPr>
        <p:blipFill>
          <a:blip r:embed="rId1">
            <a:alphaModFix amt="55000"/>
          </a:blip>
          <a:stretch>
            <a:fillRect/>
          </a:stretch>
        </p:blipFill>
        <p:spPr>
          <a:xfrm>
            <a:off x="0" y="5897880"/>
            <a:ext cx="12191695" cy="9601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85800" y="384048"/>
            <a:ext cx="658368" cy="274320"/>
          </a:xfrm>
          <a:prstGeom prst="rect">
            <a:avLst>
              <a:gd name="adj" fmla="val 20000"/>
            </a:avLst>
          </a:prstGeom>
          <a:solidFill>
            <a:srgbClr val="2F5BB7"/>
          </a:solidFill>
          <a:ln/>
        </p:spPr>
      </p:sp>
      <p:sp>
        <p:nvSpPr>
          <p:cNvPr id="4" name="Text 1"/>
          <p:cNvSpPr/>
          <p:nvPr/>
        </p:nvSpPr>
        <p:spPr>
          <a:xfrm>
            <a:off x="685800" y="384048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L05A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50876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A9BAC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HSI-LEARNING  ·  高光谱图像分类课程</a:t>
            </a:r>
            <a:endParaRPr lang="en-US" sz="1100" dirty="0"/>
          </a:p>
        </p:txBody>
      </p:sp>
      <p:sp>
        <p:nvSpPr>
          <p:cNvPr id="6" name="Text 3"/>
          <p:cNvSpPr/>
          <p:nvPr>
            <p:ph idx="104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A9BACD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85800" y="1828800"/>
            <a:ext cx="63093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模型的一次</a:t>
            </a:r>
            <a:endParaRPr lang="en-US" sz="50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参数更新</a:t>
            </a:r>
            <a:endParaRPr lang="en-US" sz="5000" dirty="0"/>
          </a:p>
        </p:txBody>
      </p:sp>
      <p:sp>
        <p:nvSpPr>
          <p:cNvPr id="3" name="lesson id"/>
          <p:cNvSpPr/>
          <p:nvPr/>
        </p:nvSpPr>
        <p:spPr>
          <a:xfrm>
            <a:off x="685800" y="1243584"/>
            <a:ext cx="786384" cy="347472"/>
          </a:xfrm>
          <a:prstGeom prst="roundRect">
            <a:avLst>
              <a:gd name="adj" fmla="val 18421"/>
            </a:avLst>
          </a:prstGeom>
          <a:solidFill>
            <a:srgbClr val="2F5BB7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1243584"/>
            <a:ext cx="7863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L05A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3730752"/>
            <a:ext cx="6400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5B5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本课问题  </a:t>
            </a:r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模型怎样完成一次参数更新？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4206240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A9BAC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标签、logits、loss与梯度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4645152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BAC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先修  ·  L04；会读张量shape</a:t>
            </a:r>
            <a:endParaRPr lang="en-US" sz="1300" dirty="0"/>
          </a:p>
        </p:txBody>
      </p:sp>
      <p:sp>
        <p:nvSpPr>
          <p:cNvPr id="8" name="hero frame"/>
          <p:cNvSpPr/>
          <p:nvPr/>
        </p:nvSpPr>
        <p:spPr>
          <a:xfrm>
            <a:off x="6842455" y="1832405"/>
            <a:ext cx="4663440" cy="2324511"/>
          </a:xfrm>
          <a:prstGeom prst="roundRect">
            <a:avLst>
              <a:gd name="adj" fmla="val 393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0" descr="cover figu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3623" y="2033573"/>
            <a:ext cx="4261104" cy="192217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这节课，你将完成什么</a:t>
            </a:r>
            <a:endParaRPr lang="en-US" sz="3000" dirty="0"/>
          </a:p>
        </p:txBody>
      </p:sp>
      <p:sp>
        <p:nvSpPr>
          <p:cNvPr id="3" name="deliverable 1"/>
          <p:cNvSpPr/>
          <p:nvPr/>
        </p:nvSpPr>
        <p:spPr>
          <a:xfrm>
            <a:off x="685800" y="1920240"/>
            <a:ext cx="3423818" cy="2240280"/>
          </a:xfrm>
          <a:prstGeom prst="roundRect">
            <a:avLst>
              <a:gd name="adj" fmla="val 4082"/>
            </a:avLst>
          </a:prstGeom>
          <a:solidFill>
            <a:srgbClr val="F2F5F9"/>
          </a:solidFill>
          <a:ln/>
        </p:spPr>
      </p:sp>
      <p:sp>
        <p:nvSpPr>
          <p:cNvPr id="4" name="chip 01"/>
          <p:cNvSpPr/>
          <p:nvPr/>
        </p:nvSpPr>
        <p:spPr>
          <a:xfrm>
            <a:off x="1005840" y="2240280"/>
            <a:ext cx="512064" cy="512064"/>
          </a:xfrm>
          <a:prstGeom prst="roundRect">
            <a:avLst>
              <a:gd name="adj" fmla="val 16071"/>
            </a:avLst>
          </a:prstGeom>
          <a:solidFill>
            <a:srgbClr val="5B3FA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05840" y="22402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971800"/>
            <a:ext cx="278373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一个batch的数据流</a:t>
            </a:r>
            <a:endParaRPr lang="en-US" sz="2200" dirty="0"/>
          </a:p>
        </p:txBody>
      </p:sp>
      <p:sp>
        <p:nvSpPr>
          <p:cNvPr id="7" name="deliverable 2"/>
          <p:cNvSpPr/>
          <p:nvPr/>
        </p:nvSpPr>
        <p:spPr>
          <a:xfrm>
            <a:off x="4383938" y="1920240"/>
            <a:ext cx="3423818" cy="2240280"/>
          </a:xfrm>
          <a:prstGeom prst="roundRect">
            <a:avLst>
              <a:gd name="adj" fmla="val 4082"/>
            </a:avLst>
          </a:prstGeom>
          <a:solidFill>
            <a:srgbClr val="F2F5F9"/>
          </a:solidFill>
          <a:ln/>
        </p:spPr>
      </p:sp>
      <p:sp>
        <p:nvSpPr>
          <p:cNvPr id="8" name="chip 02"/>
          <p:cNvSpPr/>
          <p:nvPr/>
        </p:nvSpPr>
        <p:spPr>
          <a:xfrm>
            <a:off x="4703978" y="2240280"/>
            <a:ext cx="512064" cy="512064"/>
          </a:xfrm>
          <a:prstGeom prst="roundRect">
            <a:avLst>
              <a:gd name="adj" fmla="val 16071"/>
            </a:avLst>
          </a:prstGeom>
          <a:solidFill>
            <a:srgbClr val="2E9E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703978" y="22402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703978" y="2971800"/>
            <a:ext cx="278373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参数更新证据</a:t>
            </a:r>
            <a:endParaRPr lang="en-US" sz="2200" dirty="0"/>
          </a:p>
        </p:txBody>
      </p:sp>
      <p:sp>
        <p:nvSpPr>
          <p:cNvPr id="11" name="deliverable 3"/>
          <p:cNvSpPr/>
          <p:nvPr/>
        </p:nvSpPr>
        <p:spPr>
          <a:xfrm>
            <a:off x="8082077" y="1920240"/>
            <a:ext cx="3423818" cy="2240280"/>
          </a:xfrm>
          <a:prstGeom prst="roundRect">
            <a:avLst>
              <a:gd name="adj" fmla="val 4082"/>
            </a:avLst>
          </a:prstGeom>
          <a:solidFill>
            <a:srgbClr val="F2F5F9"/>
          </a:solidFill>
          <a:ln/>
        </p:spPr>
      </p:sp>
      <p:sp>
        <p:nvSpPr>
          <p:cNvPr id="12" name="chip 03"/>
          <p:cNvSpPr/>
          <p:nvPr/>
        </p:nvSpPr>
        <p:spPr>
          <a:xfrm>
            <a:off x="8402117" y="2240280"/>
            <a:ext cx="512064" cy="512064"/>
          </a:xfrm>
          <a:prstGeom prst="roundRect">
            <a:avLst>
              <a:gd name="adj" fmla="val 16071"/>
            </a:avLst>
          </a:prstGeom>
          <a:solidFill>
            <a:srgbClr val="D33A2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402117" y="22402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8402117" y="2971800"/>
            <a:ext cx="278373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验证checkpoint规则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685800" y="4846320"/>
            <a:ext cx="10820095" cy="0"/>
          </a:xfrm>
          <a:prstGeom prst="line">
            <a:avLst/>
          </a:prstGeom>
          <a:noFill/>
          <a:ln w="12700">
            <a:solidFill>
              <a:srgbClr val="DCE3E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" y="5074920"/>
            <a:ext cx="34238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NOTEBOOK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5440680"/>
            <a:ext cx="34238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4233A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10_training_step_classroom.ipynb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383938" y="5074920"/>
            <a:ext cx="34238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定位 CELL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383938" y="5440680"/>
            <a:ext cx="34238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4233A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batch · forward-loss · one-update · mode-gradient · checkpoint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8082077" y="5074920"/>
            <a:ext cx="34238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作业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8082077" y="5440680"/>
            <a:ext cx="34238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A03 · 完整示例 / 填空 / 迁移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从中心标签到模型target</a:t>
            </a:r>
            <a:endParaRPr lang="en-US" sz="3000" dirty="0"/>
          </a:p>
        </p:txBody>
      </p:sp>
      <p:sp>
        <p:nvSpPr>
          <p:cNvPr id="3" name="chip 01"/>
          <p:cNvSpPr/>
          <p:nvPr/>
        </p:nvSpPr>
        <p:spPr>
          <a:xfrm>
            <a:off x="685800" y="20025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5B3FA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20025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307592" y="1965960"/>
            <a:ext cx="4498848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原始类别1…16</a:t>
            </a:r>
            <a:endParaRPr lang="en-US" sz="2000" dirty="0"/>
          </a:p>
        </p:txBody>
      </p:sp>
      <p:sp>
        <p:nvSpPr>
          <p:cNvPr id="6" name="chip 02"/>
          <p:cNvSpPr/>
          <p:nvPr/>
        </p:nvSpPr>
        <p:spPr>
          <a:xfrm>
            <a:off x="685800" y="343509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2E9E4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5800" y="34350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307592" y="3398520"/>
            <a:ext cx="4498848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损失target为0…15</a:t>
            </a:r>
            <a:endParaRPr lang="en-US" sz="2000" dirty="0"/>
          </a:p>
        </p:txBody>
      </p:sp>
      <p:sp>
        <p:nvSpPr>
          <p:cNvPr id="9" name="chip 03"/>
          <p:cNvSpPr/>
          <p:nvPr/>
        </p:nvSpPr>
        <p:spPr>
          <a:xfrm>
            <a:off x="685800" y="486765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D33A2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5800" y="48676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307592" y="4831080"/>
            <a:ext cx="4498848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背景0不进入监督样本</a:t>
            </a:r>
            <a:endParaRPr lang="en-US" sz="2000" dirty="0"/>
          </a:p>
        </p:txBody>
      </p:sp>
      <p:sp>
        <p:nvSpPr>
          <p:cNvPr id="12" name="step 1"/>
          <p:cNvSpPr/>
          <p:nvPr/>
        </p:nvSpPr>
        <p:spPr>
          <a:xfrm>
            <a:off x="6400800" y="2596896"/>
            <a:ext cx="5102352" cy="841248"/>
          </a:xfrm>
          <a:prstGeom prst="roundRect">
            <a:avLst>
              <a:gd name="adj" fmla="val 8696"/>
            </a:avLst>
          </a:prstGeom>
          <a:solidFill>
            <a:srgbClr val="F2F5F9"/>
          </a:solidFill>
          <a:ln/>
        </p:spPr>
      </p:sp>
      <p:sp>
        <p:nvSpPr>
          <p:cNvPr id="13" name="chip 01"/>
          <p:cNvSpPr/>
          <p:nvPr/>
        </p:nvSpPr>
        <p:spPr>
          <a:xfrm>
            <a:off x="6601968" y="2807208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5B3FA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601968" y="28072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205472" y="2596896"/>
            <a:ext cx="414223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Patch + center GT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6812280" y="3438144"/>
            <a:ext cx="0" cy="256032"/>
          </a:xfrm>
          <a:prstGeom prst="line">
            <a:avLst/>
          </a:prstGeom>
          <a:noFill/>
          <a:ln w="15875">
            <a:solidFill>
              <a:srgbClr val="5F6E80"/>
            </a:solidFill>
            <a:prstDash val="solid"/>
            <a:tailEnd type="triangle"/>
          </a:ln>
        </p:spPr>
      </p:sp>
      <p:sp>
        <p:nvSpPr>
          <p:cNvPr id="17" name="step 2"/>
          <p:cNvSpPr/>
          <p:nvPr/>
        </p:nvSpPr>
        <p:spPr>
          <a:xfrm>
            <a:off x="6400800" y="3694176"/>
            <a:ext cx="5102352" cy="841248"/>
          </a:xfrm>
          <a:prstGeom prst="roundRect">
            <a:avLst>
              <a:gd name="adj" fmla="val 8696"/>
            </a:avLst>
          </a:prstGeom>
          <a:solidFill>
            <a:srgbClr val="F2F5F9"/>
          </a:solidFill>
          <a:ln/>
        </p:spPr>
      </p:sp>
      <p:sp>
        <p:nvSpPr>
          <p:cNvPr id="18" name="chip 02"/>
          <p:cNvSpPr/>
          <p:nvPr/>
        </p:nvSpPr>
        <p:spPr>
          <a:xfrm>
            <a:off x="6601968" y="3904488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2E9E4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601968" y="39044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7205472" y="3694176"/>
            <a:ext cx="414223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class ID→target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6812280" y="4535424"/>
            <a:ext cx="0" cy="256032"/>
          </a:xfrm>
          <a:prstGeom prst="line">
            <a:avLst/>
          </a:prstGeom>
          <a:noFill/>
          <a:ln w="15875">
            <a:solidFill>
              <a:srgbClr val="5F6E80"/>
            </a:solidFill>
            <a:prstDash val="solid"/>
            <a:tailEnd type="triangle"/>
          </a:ln>
        </p:spPr>
      </p:sp>
      <p:sp>
        <p:nvSpPr>
          <p:cNvPr id="22" name="step 3"/>
          <p:cNvSpPr/>
          <p:nvPr/>
        </p:nvSpPr>
        <p:spPr>
          <a:xfrm>
            <a:off x="6400800" y="4791456"/>
            <a:ext cx="5102352" cy="841248"/>
          </a:xfrm>
          <a:prstGeom prst="roundRect">
            <a:avLst>
              <a:gd name="adj" fmla="val 8696"/>
            </a:avLst>
          </a:prstGeom>
          <a:solidFill>
            <a:srgbClr val="F2F5F9"/>
          </a:solidFill>
          <a:ln/>
        </p:spPr>
      </p:sp>
      <p:sp>
        <p:nvSpPr>
          <p:cNvPr id="23" name="chip 03"/>
          <p:cNvSpPr/>
          <p:nvPr/>
        </p:nvSpPr>
        <p:spPr>
          <a:xfrm>
            <a:off x="6601968" y="5001768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D33A2C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601968" y="50017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7205472" y="4791456"/>
            <a:ext cx="414223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logits: N×16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Logits与交叉熵</a:t>
            </a:r>
            <a:endParaRPr lang="en-US" sz="3000" dirty="0"/>
          </a:p>
        </p:txBody>
      </p:sp>
      <p:sp>
        <p:nvSpPr>
          <p:cNvPr id="3" name="point 1"/>
          <p:cNvSpPr/>
          <p:nvPr/>
        </p:nvSpPr>
        <p:spPr>
          <a:xfrm>
            <a:off x="685800" y="1965960"/>
            <a:ext cx="3423818" cy="2651760"/>
          </a:xfrm>
          <a:prstGeom prst="roundRect">
            <a:avLst>
              <a:gd name="adj" fmla="val 3448"/>
            </a:avLst>
          </a:prstGeom>
          <a:solidFill>
            <a:srgbClr val="F2F5F9"/>
          </a:solidFill>
          <a:ln/>
        </p:spPr>
      </p:sp>
      <p:sp>
        <p:nvSpPr>
          <p:cNvPr id="4" name="chip 01"/>
          <p:cNvSpPr/>
          <p:nvPr/>
        </p:nvSpPr>
        <p:spPr>
          <a:xfrm>
            <a:off x="1005840" y="2286000"/>
            <a:ext cx="475488" cy="475488"/>
          </a:xfrm>
          <a:prstGeom prst="roundRect">
            <a:avLst>
              <a:gd name="adj" fmla="val 17308"/>
            </a:avLst>
          </a:prstGeom>
          <a:solidFill>
            <a:srgbClr val="5B3FA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05840" y="22860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3017520"/>
            <a:ext cx="278373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argmax得到类别索引</a:t>
            </a:r>
            <a:endParaRPr lang="en-US" sz="2000" dirty="0"/>
          </a:p>
        </p:txBody>
      </p:sp>
      <p:sp>
        <p:nvSpPr>
          <p:cNvPr id="7" name="point 2"/>
          <p:cNvSpPr/>
          <p:nvPr/>
        </p:nvSpPr>
        <p:spPr>
          <a:xfrm>
            <a:off x="4383938" y="1965960"/>
            <a:ext cx="3423818" cy="2651760"/>
          </a:xfrm>
          <a:prstGeom prst="roundRect">
            <a:avLst>
              <a:gd name="adj" fmla="val 3448"/>
            </a:avLst>
          </a:prstGeom>
          <a:solidFill>
            <a:srgbClr val="F2F5F9"/>
          </a:solidFill>
          <a:ln/>
        </p:spPr>
      </p:sp>
      <p:sp>
        <p:nvSpPr>
          <p:cNvPr id="8" name="chip 02"/>
          <p:cNvSpPr/>
          <p:nvPr/>
        </p:nvSpPr>
        <p:spPr>
          <a:xfrm>
            <a:off x="4703978" y="2286000"/>
            <a:ext cx="475488" cy="475488"/>
          </a:xfrm>
          <a:prstGeom prst="roundRect">
            <a:avLst>
              <a:gd name="adj" fmla="val 17308"/>
            </a:avLst>
          </a:prstGeom>
          <a:solidFill>
            <a:srgbClr val="2E9E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703978" y="22860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703978" y="3017520"/>
            <a:ext cx="278373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CE内部使用log-softmax</a:t>
            </a:r>
            <a:endParaRPr lang="en-US" sz="2000" dirty="0"/>
          </a:p>
        </p:txBody>
      </p:sp>
      <p:sp>
        <p:nvSpPr>
          <p:cNvPr id="11" name="point 3"/>
          <p:cNvSpPr/>
          <p:nvPr/>
        </p:nvSpPr>
        <p:spPr>
          <a:xfrm>
            <a:off x="8082077" y="1965960"/>
            <a:ext cx="3423818" cy="2651760"/>
          </a:xfrm>
          <a:prstGeom prst="roundRect">
            <a:avLst>
              <a:gd name="adj" fmla="val 3448"/>
            </a:avLst>
          </a:prstGeom>
          <a:solidFill>
            <a:srgbClr val="F2F5F9"/>
          </a:solidFill>
          <a:ln/>
        </p:spPr>
      </p:sp>
      <p:sp>
        <p:nvSpPr>
          <p:cNvPr id="12" name="chip 03"/>
          <p:cNvSpPr/>
          <p:nvPr/>
        </p:nvSpPr>
        <p:spPr>
          <a:xfrm>
            <a:off x="8402117" y="2286000"/>
            <a:ext cx="475488" cy="475488"/>
          </a:xfrm>
          <a:prstGeom prst="roundRect">
            <a:avLst>
              <a:gd name="adj" fmla="val 17308"/>
            </a:avLst>
          </a:prstGeom>
          <a:solidFill>
            <a:srgbClr val="D33A2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402117" y="22860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8402117" y="3017520"/>
            <a:ext cx="278373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输入loss不预先重复softmax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一次更新的四个操作</a:t>
            </a:r>
            <a:endParaRPr lang="en-US" sz="3000" dirty="0"/>
          </a:p>
        </p:txBody>
      </p:sp>
      <p:sp>
        <p:nvSpPr>
          <p:cNvPr id="3" name="chip 01"/>
          <p:cNvSpPr/>
          <p:nvPr/>
        </p:nvSpPr>
        <p:spPr>
          <a:xfrm>
            <a:off x="685800" y="20025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5B3FA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20025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307592" y="1965960"/>
            <a:ext cx="4498848" cy="9646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zero_grad清掉旧梯度</a:t>
            </a:r>
            <a:endParaRPr lang="en-US" sz="2000" dirty="0"/>
          </a:p>
        </p:txBody>
      </p:sp>
      <p:sp>
        <p:nvSpPr>
          <p:cNvPr id="6" name="chip 02"/>
          <p:cNvSpPr/>
          <p:nvPr/>
        </p:nvSpPr>
        <p:spPr>
          <a:xfrm>
            <a:off x="685800" y="307695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1F8FB8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5800" y="30769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307592" y="3040380"/>
            <a:ext cx="4498848" cy="9646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前向计算当前batch的loss</a:t>
            </a:r>
            <a:endParaRPr lang="en-US" sz="2000" dirty="0"/>
          </a:p>
        </p:txBody>
      </p:sp>
      <p:sp>
        <p:nvSpPr>
          <p:cNvPr id="9" name="chip 03"/>
          <p:cNvSpPr/>
          <p:nvPr/>
        </p:nvSpPr>
        <p:spPr>
          <a:xfrm>
            <a:off x="685800" y="415137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2E9E4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5800" y="415137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307592" y="4114800"/>
            <a:ext cx="4498848" cy="9646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backward计算当前loss的梯度</a:t>
            </a:r>
            <a:endParaRPr lang="en-US" sz="2000" dirty="0"/>
          </a:p>
        </p:txBody>
      </p:sp>
      <p:sp>
        <p:nvSpPr>
          <p:cNvPr id="12" name="chip 04"/>
          <p:cNvSpPr/>
          <p:nvPr/>
        </p:nvSpPr>
        <p:spPr>
          <a:xfrm>
            <a:off x="685800" y="522579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D33A2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85800" y="52257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307592" y="5189220"/>
            <a:ext cx="4498848" cy="9646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step按优化规则更新参数</a:t>
            </a:r>
            <a:endParaRPr lang="en-US" sz="2000" dirty="0"/>
          </a:p>
        </p:txBody>
      </p:sp>
      <p:sp>
        <p:nvSpPr>
          <p:cNvPr id="15" name="step 1"/>
          <p:cNvSpPr/>
          <p:nvPr/>
        </p:nvSpPr>
        <p:spPr>
          <a:xfrm>
            <a:off x="6400800" y="2048256"/>
            <a:ext cx="5102352" cy="841248"/>
          </a:xfrm>
          <a:prstGeom prst="roundRect">
            <a:avLst>
              <a:gd name="adj" fmla="val 8696"/>
            </a:avLst>
          </a:prstGeom>
          <a:solidFill>
            <a:srgbClr val="F2F5F9"/>
          </a:solidFill>
          <a:ln/>
        </p:spPr>
      </p:sp>
      <p:sp>
        <p:nvSpPr>
          <p:cNvPr id="16" name="chip 01"/>
          <p:cNvSpPr/>
          <p:nvPr/>
        </p:nvSpPr>
        <p:spPr>
          <a:xfrm>
            <a:off x="6601968" y="2258568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5B3FA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601968" y="22585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7205472" y="2048256"/>
            <a:ext cx="414223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zero_grad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6812280" y="2889504"/>
            <a:ext cx="0" cy="256032"/>
          </a:xfrm>
          <a:prstGeom prst="line">
            <a:avLst/>
          </a:prstGeom>
          <a:noFill/>
          <a:ln w="15875">
            <a:solidFill>
              <a:srgbClr val="5F6E80"/>
            </a:solidFill>
            <a:prstDash val="solid"/>
            <a:tailEnd type="triangle"/>
          </a:ln>
        </p:spPr>
      </p:sp>
      <p:sp>
        <p:nvSpPr>
          <p:cNvPr id="20" name="step 2"/>
          <p:cNvSpPr/>
          <p:nvPr/>
        </p:nvSpPr>
        <p:spPr>
          <a:xfrm>
            <a:off x="6400800" y="3145536"/>
            <a:ext cx="5102352" cy="841248"/>
          </a:xfrm>
          <a:prstGeom prst="roundRect">
            <a:avLst>
              <a:gd name="adj" fmla="val 8696"/>
            </a:avLst>
          </a:prstGeom>
          <a:solidFill>
            <a:srgbClr val="F2F5F9"/>
          </a:solidFill>
          <a:ln/>
        </p:spPr>
      </p:sp>
      <p:sp>
        <p:nvSpPr>
          <p:cNvPr id="21" name="chip 02"/>
          <p:cNvSpPr/>
          <p:nvPr/>
        </p:nvSpPr>
        <p:spPr>
          <a:xfrm>
            <a:off x="6601968" y="3355848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1F8FB8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601968" y="33558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7205472" y="3145536"/>
            <a:ext cx="414223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forward → loss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6812280" y="3986784"/>
            <a:ext cx="0" cy="256032"/>
          </a:xfrm>
          <a:prstGeom prst="line">
            <a:avLst/>
          </a:prstGeom>
          <a:noFill/>
          <a:ln w="15875">
            <a:solidFill>
              <a:srgbClr val="5F6E80"/>
            </a:solidFill>
            <a:prstDash val="solid"/>
            <a:tailEnd type="triangle"/>
          </a:ln>
        </p:spPr>
      </p:sp>
      <p:sp>
        <p:nvSpPr>
          <p:cNvPr id="25" name="step 3"/>
          <p:cNvSpPr/>
          <p:nvPr/>
        </p:nvSpPr>
        <p:spPr>
          <a:xfrm>
            <a:off x="6400800" y="4242816"/>
            <a:ext cx="5102352" cy="841248"/>
          </a:xfrm>
          <a:prstGeom prst="roundRect">
            <a:avLst>
              <a:gd name="adj" fmla="val 8696"/>
            </a:avLst>
          </a:prstGeom>
          <a:solidFill>
            <a:srgbClr val="F2F5F9"/>
          </a:solidFill>
          <a:ln/>
        </p:spPr>
      </p:sp>
      <p:sp>
        <p:nvSpPr>
          <p:cNvPr id="26" name="chip 03"/>
          <p:cNvSpPr/>
          <p:nvPr/>
        </p:nvSpPr>
        <p:spPr>
          <a:xfrm>
            <a:off x="6601968" y="4453128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2E9E4F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601968" y="44531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7205472" y="4242816"/>
            <a:ext cx="414223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loss.backward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6812280" y="5084064"/>
            <a:ext cx="0" cy="256032"/>
          </a:xfrm>
          <a:prstGeom prst="line">
            <a:avLst/>
          </a:prstGeom>
          <a:noFill/>
          <a:ln w="15875">
            <a:solidFill>
              <a:srgbClr val="5F6E80"/>
            </a:solidFill>
            <a:prstDash val="solid"/>
            <a:tailEnd type="triangle"/>
          </a:ln>
        </p:spPr>
      </p:sp>
      <p:sp>
        <p:nvSpPr>
          <p:cNvPr id="30" name="step 4"/>
          <p:cNvSpPr/>
          <p:nvPr/>
        </p:nvSpPr>
        <p:spPr>
          <a:xfrm>
            <a:off x="6400800" y="5340096"/>
            <a:ext cx="5102352" cy="841248"/>
          </a:xfrm>
          <a:prstGeom prst="roundRect">
            <a:avLst>
              <a:gd name="adj" fmla="val 8696"/>
            </a:avLst>
          </a:prstGeom>
          <a:solidFill>
            <a:srgbClr val="F2F5F9"/>
          </a:solidFill>
          <a:ln/>
        </p:spPr>
      </p:sp>
      <p:sp>
        <p:nvSpPr>
          <p:cNvPr id="31" name="chip 04"/>
          <p:cNvSpPr/>
          <p:nvPr/>
        </p:nvSpPr>
        <p:spPr>
          <a:xfrm>
            <a:off x="6601968" y="5550408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D33A2C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601968" y="55504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7205472" y="5340096"/>
            <a:ext cx="414223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optimizer.step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模式与梯度是两套开关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874520"/>
            <a:ext cx="108200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train/eval影响BN与Dropout   ·   eval仍能计算梯度   ·   no_grad用于无需求导的推理</a:t>
            </a:r>
            <a:endParaRPr lang="en-US" sz="17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83464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操作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64592" marR="164592" marT="0" marB="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主要作用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64592" marR="164592" marT="0" marB="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E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423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model.eval()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64592" marR="164592" marT="0" marB="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423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固定BN/关闭Dropout随机性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64592" marR="164592" marT="0" marB="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423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torch.no_grad()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64592" marR="164592" marT="0" marB="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423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不记录autograd图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64592" marR="164592" marT="0" marB="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423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Grad-CAM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64592" marR="164592" marT="0" marB="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423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eval且允许梯度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64592" marR="164592" marT="0" marB="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验证选模型，测试做报告</a:t>
            </a:r>
            <a:endParaRPr lang="en-US" sz="3000" dirty="0"/>
          </a:p>
        </p:txBody>
      </p:sp>
      <p:sp>
        <p:nvSpPr>
          <p:cNvPr id="3" name="point 1"/>
          <p:cNvSpPr/>
          <p:nvPr/>
        </p:nvSpPr>
        <p:spPr>
          <a:xfrm>
            <a:off x="685800" y="1965960"/>
            <a:ext cx="3423818" cy="2651760"/>
          </a:xfrm>
          <a:prstGeom prst="roundRect">
            <a:avLst>
              <a:gd name="adj" fmla="val 3448"/>
            </a:avLst>
          </a:prstGeom>
          <a:solidFill>
            <a:srgbClr val="F2F5F9"/>
          </a:solidFill>
          <a:ln/>
        </p:spPr>
      </p:sp>
      <p:sp>
        <p:nvSpPr>
          <p:cNvPr id="4" name="chip 01"/>
          <p:cNvSpPr/>
          <p:nvPr/>
        </p:nvSpPr>
        <p:spPr>
          <a:xfrm>
            <a:off x="1005840" y="2286000"/>
            <a:ext cx="475488" cy="475488"/>
          </a:xfrm>
          <a:prstGeom prst="roundRect">
            <a:avLst>
              <a:gd name="adj" fmla="val 17308"/>
            </a:avLst>
          </a:prstGeom>
          <a:solidFill>
            <a:srgbClr val="5B3FA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05840" y="22860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3017520"/>
            <a:ext cx="278373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记录每轮训练与验证表现</a:t>
            </a:r>
            <a:endParaRPr lang="en-US" sz="2000" dirty="0"/>
          </a:p>
        </p:txBody>
      </p:sp>
      <p:sp>
        <p:nvSpPr>
          <p:cNvPr id="7" name="point 2"/>
          <p:cNvSpPr/>
          <p:nvPr/>
        </p:nvSpPr>
        <p:spPr>
          <a:xfrm>
            <a:off x="4383938" y="1965960"/>
            <a:ext cx="3423818" cy="2651760"/>
          </a:xfrm>
          <a:prstGeom prst="roundRect">
            <a:avLst>
              <a:gd name="adj" fmla="val 3448"/>
            </a:avLst>
          </a:prstGeom>
          <a:solidFill>
            <a:srgbClr val="F2F5F9"/>
          </a:solidFill>
          <a:ln/>
        </p:spPr>
      </p:sp>
      <p:sp>
        <p:nvSpPr>
          <p:cNvPr id="8" name="chip 02"/>
          <p:cNvSpPr/>
          <p:nvPr/>
        </p:nvSpPr>
        <p:spPr>
          <a:xfrm>
            <a:off x="4703978" y="2286000"/>
            <a:ext cx="475488" cy="475488"/>
          </a:xfrm>
          <a:prstGeom prst="roundRect">
            <a:avLst>
              <a:gd name="adj" fmla="val 17308"/>
            </a:avLst>
          </a:prstGeom>
          <a:solidFill>
            <a:srgbClr val="2E9E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703978" y="22860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703978" y="3017520"/>
            <a:ext cx="278373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best_epoch按validation冻结</a:t>
            </a:r>
            <a:endParaRPr lang="en-US" sz="2000" dirty="0"/>
          </a:p>
        </p:txBody>
      </p:sp>
      <p:sp>
        <p:nvSpPr>
          <p:cNvPr id="11" name="point 3"/>
          <p:cNvSpPr/>
          <p:nvPr/>
        </p:nvSpPr>
        <p:spPr>
          <a:xfrm>
            <a:off x="8082077" y="1965960"/>
            <a:ext cx="3423818" cy="2651760"/>
          </a:xfrm>
          <a:prstGeom prst="roundRect">
            <a:avLst>
              <a:gd name="adj" fmla="val 3448"/>
            </a:avLst>
          </a:prstGeom>
          <a:solidFill>
            <a:srgbClr val="F2F5F9"/>
          </a:solidFill>
          <a:ln/>
        </p:spPr>
      </p:sp>
      <p:sp>
        <p:nvSpPr>
          <p:cNvPr id="12" name="chip 03"/>
          <p:cNvSpPr/>
          <p:nvPr/>
        </p:nvSpPr>
        <p:spPr>
          <a:xfrm>
            <a:off x="8402117" y="2286000"/>
            <a:ext cx="475488" cy="475488"/>
          </a:xfrm>
          <a:prstGeom prst="roundRect">
            <a:avLst>
              <a:gd name="adj" fmla="val 17308"/>
            </a:avLst>
          </a:prstGeom>
          <a:solidFill>
            <a:srgbClr val="D33A2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402117" y="22860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8402117" y="3017520"/>
            <a:ext cx="278373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一次batch loss下降不证明泛化提升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让代码验证你的判断</a:t>
            </a:r>
            <a:endParaRPr lang="en-US" sz="3000" dirty="0"/>
          </a:p>
        </p:txBody>
      </p:sp>
      <p:sp>
        <p:nvSpPr>
          <p:cNvPr id="3" name="code panel"/>
          <p:cNvSpPr/>
          <p:nvPr/>
        </p:nvSpPr>
        <p:spPr>
          <a:xfrm>
            <a:off x="685800" y="1874520"/>
            <a:ext cx="7406640" cy="3749040"/>
          </a:xfrm>
          <a:prstGeom prst="roundRect">
            <a:avLst>
              <a:gd name="adj" fmla="val 2439"/>
            </a:avLst>
          </a:prstGeom>
          <a:solidFill>
            <a:srgbClr val="0D1B2E"/>
          </a:solidFill>
          <a:ln/>
        </p:spPr>
      </p:sp>
      <p:sp>
        <p:nvSpPr>
          <p:cNvPr id="4" name="Shape 2"/>
          <p:cNvSpPr/>
          <p:nvPr/>
        </p:nvSpPr>
        <p:spPr>
          <a:xfrm>
            <a:off x="960120" y="2075688"/>
            <a:ext cx="118872" cy="118872"/>
          </a:xfrm>
          <a:prstGeom prst="ellipse">
            <a:avLst/>
          </a:prstGeom>
          <a:solidFill>
            <a:srgbClr val="D33A2C"/>
          </a:solidFill>
          <a:ln/>
        </p:spPr>
      </p:sp>
      <p:sp>
        <p:nvSpPr>
          <p:cNvPr id="5" name="Shape 3"/>
          <p:cNvSpPr/>
          <p:nvPr/>
        </p:nvSpPr>
        <p:spPr>
          <a:xfrm>
            <a:off x="1179576" y="2075688"/>
            <a:ext cx="118872" cy="118872"/>
          </a:xfrm>
          <a:prstGeom prst="ellipse">
            <a:avLst/>
          </a:prstGeom>
          <a:solidFill>
            <a:srgbClr val="F2C316"/>
          </a:solidFill>
          <a:ln/>
        </p:spPr>
      </p:sp>
      <p:sp>
        <p:nvSpPr>
          <p:cNvPr id="6" name="Shape 4"/>
          <p:cNvSpPr/>
          <p:nvPr/>
        </p:nvSpPr>
        <p:spPr>
          <a:xfrm>
            <a:off x="1399032" y="2075688"/>
            <a:ext cx="118872" cy="118872"/>
          </a:xfrm>
          <a:prstGeom prst="ellipse">
            <a:avLst/>
          </a:prstGeom>
          <a:solidFill>
            <a:srgbClr val="2E9E4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51560" y="2423160"/>
            <a:ext cx="66751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D7E3F0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learner = deepcopy(model)</a:t>
            </a:r>
            <a:endParaRPr lang="en-US" sz="15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D7E3F0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optimizer = torch.optim.SGD(learner.parameters(), lr=.001)</a:t>
            </a:r>
            <a:endParaRPr lang="en-US" sz="15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D7E3F0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optimizer.zero_grad()</a:t>
            </a:r>
            <a:endParaRPr lang="en-US" sz="15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D7E3F0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loss = F.cross_entropy(learner(x), y)</a:t>
            </a:r>
            <a:endParaRPr lang="en-US" sz="15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D7E3F0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loss.backward()</a:t>
            </a:r>
            <a:endParaRPr lang="en-US" sz="15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D7E3F0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optimizer.step()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458200" y="1920240"/>
            <a:ext cx="3044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打开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458200" y="2240280"/>
            <a:ext cx="30449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4233A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10_training_step_classroom.ipynb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8458200" y="3108960"/>
            <a:ext cx="3044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定位 cell</a:t>
            </a:r>
            <a:endParaRPr lang="en-US" sz="1300" dirty="0"/>
          </a:p>
        </p:txBody>
      </p:sp>
      <p:sp>
        <p:nvSpPr>
          <p:cNvPr id="11" name="cell batch"/>
          <p:cNvSpPr/>
          <p:nvPr/>
        </p:nvSpPr>
        <p:spPr>
          <a:xfrm>
            <a:off x="8458200" y="3474720"/>
            <a:ext cx="3044952" cy="365760"/>
          </a:xfrm>
          <a:prstGeom prst="roundRect">
            <a:avLst>
              <a:gd name="adj" fmla="val 15000"/>
            </a:avLst>
          </a:prstGeom>
          <a:ln w="9525">
            <a:solidFill>
              <a:srgbClr val="DCE3E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595360" y="347472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F5BB7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batch</a:t>
            </a:r>
            <a:endParaRPr lang="en-US" sz="1200" dirty="0"/>
          </a:p>
        </p:txBody>
      </p:sp>
      <p:sp>
        <p:nvSpPr>
          <p:cNvPr id="13" name="cell forward-loss"/>
          <p:cNvSpPr/>
          <p:nvPr/>
        </p:nvSpPr>
        <p:spPr>
          <a:xfrm>
            <a:off x="8458200" y="3950208"/>
            <a:ext cx="3044952" cy="365760"/>
          </a:xfrm>
          <a:prstGeom prst="roundRect">
            <a:avLst>
              <a:gd name="adj" fmla="val 15000"/>
            </a:avLst>
          </a:prstGeom>
          <a:ln w="9525">
            <a:solidFill>
              <a:srgbClr val="DCE3E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595360" y="395020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F5BB7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forward-loss</a:t>
            </a:r>
            <a:endParaRPr lang="en-US" sz="1200" dirty="0"/>
          </a:p>
        </p:txBody>
      </p:sp>
      <p:sp>
        <p:nvSpPr>
          <p:cNvPr id="15" name="cell one-update"/>
          <p:cNvSpPr/>
          <p:nvPr/>
        </p:nvSpPr>
        <p:spPr>
          <a:xfrm>
            <a:off x="8458200" y="4425696"/>
            <a:ext cx="3044952" cy="365760"/>
          </a:xfrm>
          <a:prstGeom prst="roundRect">
            <a:avLst>
              <a:gd name="adj" fmla="val 15000"/>
            </a:avLst>
          </a:prstGeom>
          <a:ln w="9525">
            <a:solidFill>
              <a:srgbClr val="DCE3E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595360" y="4425696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F5BB7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one-update</a:t>
            </a:r>
            <a:endParaRPr lang="en-US" sz="1200" dirty="0"/>
          </a:p>
        </p:txBody>
      </p:sp>
      <p:sp>
        <p:nvSpPr>
          <p:cNvPr id="17" name="cell mode-gradient"/>
          <p:cNvSpPr/>
          <p:nvPr/>
        </p:nvSpPr>
        <p:spPr>
          <a:xfrm>
            <a:off x="8458200" y="4901184"/>
            <a:ext cx="3044952" cy="365760"/>
          </a:xfrm>
          <a:prstGeom prst="roundRect">
            <a:avLst>
              <a:gd name="adj" fmla="val 15000"/>
            </a:avLst>
          </a:prstGeom>
          <a:ln w="9525">
            <a:solidFill>
              <a:srgbClr val="DCE3E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595360" y="4901184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F5BB7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mode-gradient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85800" y="585216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先预测输出，再运行对应单元格。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停下来，做一次判断</a:t>
            </a:r>
            <a:endParaRPr lang="en-US" sz="3000" dirty="0"/>
          </a:p>
        </p:txBody>
      </p:sp>
      <p:sp>
        <p:nvSpPr>
          <p:cNvPr id="3" name="prediction card"/>
          <p:cNvSpPr/>
          <p:nvPr/>
        </p:nvSpPr>
        <p:spPr>
          <a:xfrm>
            <a:off x="685800" y="1874520"/>
            <a:ext cx="6355080" cy="4343400"/>
          </a:xfrm>
          <a:prstGeom prst="roundRect">
            <a:avLst>
              <a:gd name="adj" fmla="val 2105"/>
            </a:avLst>
          </a:prstGeom>
          <a:solidFill>
            <a:srgbClr val="F2F5F9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097280" y="224028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F5BB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课堂预测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2697480"/>
            <a:ext cx="55321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4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漏掉zero_grad，连续两次backward后检查梯度；只操作复制模型。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5532120"/>
            <a:ext cx="5532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作业 A03  ·  完整示例 / 填空 / 迁移</a:t>
            </a:r>
            <a:endParaRPr lang="en-US" sz="1400" dirty="0"/>
          </a:p>
        </p:txBody>
      </p:sp>
      <p:sp>
        <p:nvSpPr>
          <p:cNvPr id="7" name="exit question card"/>
          <p:cNvSpPr/>
          <p:nvPr/>
        </p:nvSpPr>
        <p:spPr>
          <a:xfrm>
            <a:off x="7315200" y="1874520"/>
            <a:ext cx="4187952" cy="4343400"/>
          </a:xfrm>
          <a:prstGeom prst="roundRect">
            <a:avLst>
              <a:gd name="adj" fmla="val 2183"/>
            </a:avLst>
          </a:prstGeom>
          <a:solidFill>
            <a:srgbClr val="0D1B2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726680" y="224028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5B5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退出题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726680" y="2697480"/>
            <a:ext cx="33832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eval模式是否一定没有梯度？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4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结论要有边界</a:t>
            </a:r>
            <a:endParaRPr lang="en-US" sz="3000" dirty="0"/>
          </a:p>
        </p:txBody>
      </p:sp>
      <p:sp>
        <p:nvSpPr>
          <p:cNvPr id="3" name="known"/>
          <p:cNvSpPr/>
          <p:nvPr/>
        </p:nvSpPr>
        <p:spPr>
          <a:xfrm>
            <a:off x="685800" y="1920240"/>
            <a:ext cx="5272888" cy="2743200"/>
          </a:xfrm>
          <a:prstGeom prst="roundRect">
            <a:avLst>
              <a:gd name="adj" fmla="val 3333"/>
            </a:avLst>
          </a:prstGeom>
          <a:solidFill>
            <a:srgbClr val="16294A"/>
          </a:solidFill>
          <a:ln/>
        </p:spPr>
      </p:sp>
      <p:sp>
        <p:nvSpPr>
          <p:cNvPr id="4" name="tag"/>
          <p:cNvSpPr/>
          <p:nvPr/>
        </p:nvSpPr>
        <p:spPr>
          <a:xfrm>
            <a:off x="1051560" y="2286000"/>
            <a:ext cx="786384" cy="347472"/>
          </a:xfrm>
          <a:prstGeom prst="roundRect">
            <a:avLst>
              <a:gd name="adj" fmla="val 18421"/>
            </a:avLst>
          </a:prstGeom>
          <a:solidFill>
            <a:srgbClr val="1F8FB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51560" y="2286000"/>
            <a:ext cx="7863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已知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2926080"/>
            <a:ext cx="454136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单batch更新不保证test改善</a:t>
            </a:r>
            <a:endParaRPr lang="en-US" sz="2400" dirty="0"/>
          </a:p>
        </p:txBody>
      </p:sp>
      <p:sp>
        <p:nvSpPr>
          <p:cNvPr id="7" name="boundary"/>
          <p:cNvSpPr/>
          <p:nvPr/>
        </p:nvSpPr>
        <p:spPr>
          <a:xfrm>
            <a:off x="6233008" y="1920240"/>
            <a:ext cx="5272888" cy="2743200"/>
          </a:xfrm>
          <a:prstGeom prst="roundRect">
            <a:avLst>
              <a:gd name="adj" fmla="val 3333"/>
            </a:avLst>
          </a:prstGeom>
          <a:solidFill>
            <a:srgbClr val="16294A"/>
          </a:solidFill>
          <a:ln/>
        </p:spPr>
      </p:sp>
      <p:sp>
        <p:nvSpPr>
          <p:cNvPr id="8" name="tag"/>
          <p:cNvSpPr/>
          <p:nvPr/>
        </p:nvSpPr>
        <p:spPr>
          <a:xfrm>
            <a:off x="6598768" y="2286000"/>
            <a:ext cx="786384" cy="347472"/>
          </a:xfrm>
          <a:prstGeom prst="roundRect">
            <a:avLst>
              <a:gd name="adj" fmla="val 18421"/>
            </a:avLst>
          </a:prstGeom>
          <a:solidFill>
            <a:srgbClr val="E8752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598768" y="2286000"/>
            <a:ext cx="7863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边界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598768" y="2926080"/>
            <a:ext cx="454136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训练模式与梯度模式分别控制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5230368"/>
            <a:ext cx="10820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BAC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来源、复现入口与辅助提示见讲者备注。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A9BACD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HSI-Learning Spectral">
      <a:dk1>
        <a:srgbClr val="14233A"/>
      </a:dk1>
      <a:lt1>
        <a:srgbClr val="FFFFFF"/>
      </a:lt1>
      <a:dk2>
        <a:srgbClr val="0D1B2E"/>
      </a:dk2>
      <a:lt2>
        <a:srgbClr val="F2F5F9"/>
      </a:lt2>
      <a:accent1>
        <a:srgbClr val="2F5BB7"/>
      </a:accent1>
      <a:accent2>
        <a:srgbClr val="1F8FB8"/>
      </a:accent2>
      <a:accent3>
        <a:srgbClr val="2E9E4F"/>
      </a:accent3>
      <a:accent4>
        <a:srgbClr val="E8752A"/>
      </a:accent4>
      <a:accent5>
        <a:srgbClr val="5B3FA0"/>
      </a:accent5>
      <a:accent6>
        <a:srgbClr val="D33A2C"/>
      </a:accent6>
      <a:hlink>
        <a:srgbClr val="2F5BB7"/>
      </a:hlink>
      <a:folHlink>
        <a:srgbClr val="5B3FA0"/>
      </a:folHlink>
    </a:clrScheme>
    <a:fontScheme name="Office">
      <a:majorFont>
        <a:latin typeface="Microsoft YaHei"/>
        <a:ea typeface="Microsoft YaHei"/>
        <a:cs typeface=""/>
        <a:font script="Jpan" typeface="游ゴシック Light"/>
        <a:font script="Hang" typeface="맑은 고딕"/>
        <a:font script="Hans" typeface="Microsoft YaHei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Microsoft YaHei"/>
        <a:cs typeface=""/>
        <a:font script="Jpan" typeface="游ゴシック"/>
        <a:font script="Hang" typeface="맑은 고딕"/>
        <a:font script="Hans" typeface="Microsoft YaHei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L05A 模型怎样完成一次参数更新？</dc:title>
  <dc:subject>PptxGenJS Presentation</dc:subject>
  <dc:creator>HSI-Learning</dc:creator>
  <cp:lastModifiedBy>HSI-Learning</cp:lastModifiedBy>
  <cp:revision>1</cp:revision>
  <dcterms:created xsi:type="dcterms:W3CDTF">2026-10-10T13:41:29Z</dcterms:created>
  <dcterms:modified xsi:type="dcterms:W3CDTF">2026-10-10T13:41:29Z</dcterms:modified>
</cp:coreProperties>
</file>