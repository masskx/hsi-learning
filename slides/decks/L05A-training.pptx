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e62145c9-e7d0-e159-0c5e-96d0e909d735}">
          <p14:sldIdLst>
            <p14:sldId id="256"/>
            <p14:sldId id="257"/>
          </p14:sldIdLst>
        </p14:section>
        <p14:section name="讲解" id="{c17752e3-d9df-ae6a-8b25-d174dd3c410d}">
          <p14:sldIdLst>
            <p14:sldId id="258"/>
            <p14:sldId id="259"/>
            <p14:sldId id="260"/>
            <p14:sldId id="261"/>
            <p14:sldId id="262"/>
          </p14:sldIdLst>
        </p14:section>
        <p14:section name="练习" id="{95d65e58-e5cc-9f45-10f8-3faa8301ffae}">
          <p14:sldIdLst>
            <p14:sldId id="263"/>
            <p14:sldId id="264"/>
          </p14:sldIdLst>
        </p14:section>
        <p14:section name="收束" id="{c1d7d415-6b20-3934-c22e-ffc71171662d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开场问题：eval模式是否一定没有梯度？
原标题：模型怎样完成一次参数更新？
参考节奏：5分钟回顾，10分钟手算，10分钟代码，12分钟练习，5分钟错误分析，3分钟退出题。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
封面图源：01_data_reading_and_visualization.ipynb / spectral-comparison / 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用logits[2,1]手算分类0的CE约0.3133。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作业：A03；完整示例 / 填空 / 迁移；提交代码、配置、结果和限制。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退出题：eval模式是否一定没有梯度？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L05A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L05A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模型的一次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参数更新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L05A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模型怎样完成一次参数更新？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标签、logits、loss与梯度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L04；会读张量shape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6842455" y="1832405"/>
            <a:ext cx="4663440" cy="2324511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3623" y="2033573"/>
            <a:ext cx="4261104" cy="19221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一个batch的数据流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参数更新证据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验证checkpoint规则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10_training_step_classroom.ipynb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batch · forward-loss · one-update · mode-gradient · checkpoint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A03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从中心标签到模型target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原始类别1…16</a:t>
            </a:r>
            <a:endParaRPr lang="en-US" sz="20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损失target为0…15</a:t>
            </a:r>
            <a:endParaRPr lang="en-US" sz="20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背景0不进入监督样本</a:t>
            </a:r>
            <a:endParaRPr lang="en-US" sz="2000" dirty="0"/>
          </a:p>
        </p:txBody>
      </p:sp>
      <p:sp>
        <p:nvSpPr>
          <p:cNvPr id="12" name="step 1"/>
          <p:cNvSpPr/>
          <p:nvPr/>
        </p:nvSpPr>
        <p:spPr>
          <a:xfrm>
            <a:off x="6400800" y="259689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3" name="chip 01"/>
          <p:cNvSpPr/>
          <p:nvPr/>
        </p:nvSpPr>
        <p:spPr>
          <a:xfrm>
            <a:off x="6601968" y="280720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1968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05472" y="259689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Patch + center GT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812280" y="343814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17" name="step 2"/>
          <p:cNvSpPr/>
          <p:nvPr/>
        </p:nvSpPr>
        <p:spPr>
          <a:xfrm>
            <a:off x="6400800" y="369417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8" name="chip 02"/>
          <p:cNvSpPr/>
          <p:nvPr/>
        </p:nvSpPr>
        <p:spPr>
          <a:xfrm>
            <a:off x="6601968" y="390448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05472" y="369417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class ID→target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453542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22" name="step 3"/>
          <p:cNvSpPr/>
          <p:nvPr/>
        </p:nvSpPr>
        <p:spPr>
          <a:xfrm>
            <a:off x="6400800" y="479145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23" name="chip 03"/>
          <p:cNvSpPr/>
          <p:nvPr/>
        </p:nvSpPr>
        <p:spPr>
          <a:xfrm>
            <a:off x="6601968" y="500176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01968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205472" y="479145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logits: N×16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Logits与交叉熵</a:t>
            </a:r>
            <a:endParaRPr lang="en-US" sz="3000" dirty="0"/>
          </a:p>
        </p:txBody>
      </p:sp>
      <p:sp>
        <p:nvSpPr>
          <p:cNvPr id="3" name="point 1"/>
          <p:cNvSpPr/>
          <p:nvPr/>
        </p:nvSpPr>
        <p:spPr>
          <a:xfrm>
            <a:off x="685800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argmax得到类别索引</a:t>
            </a:r>
            <a:endParaRPr lang="en-US" sz="2000" dirty="0"/>
          </a:p>
        </p:txBody>
      </p:sp>
      <p:sp>
        <p:nvSpPr>
          <p:cNvPr id="7" name="point 2"/>
          <p:cNvSpPr/>
          <p:nvPr/>
        </p:nvSpPr>
        <p:spPr>
          <a:xfrm>
            <a:off x="4383938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CE内部使用log-softmax</a:t>
            </a:r>
            <a:endParaRPr lang="en-US" sz="2000" dirty="0"/>
          </a:p>
        </p:txBody>
      </p:sp>
      <p:sp>
        <p:nvSpPr>
          <p:cNvPr id="11" name="point 3"/>
          <p:cNvSpPr/>
          <p:nvPr/>
        </p:nvSpPr>
        <p:spPr>
          <a:xfrm>
            <a:off x="8082077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输入loss不预先重复softmax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一次更新的四个操作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498848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zero_grad清掉旧梯度</a:t>
            </a:r>
            <a:endParaRPr lang="en-US" sz="2000" dirty="0"/>
          </a:p>
        </p:txBody>
      </p:sp>
      <p:sp>
        <p:nvSpPr>
          <p:cNvPr id="6" name="chip 02"/>
          <p:cNvSpPr/>
          <p:nvPr/>
        </p:nvSpPr>
        <p:spPr>
          <a:xfrm>
            <a:off x="685800" y="30769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1F8FB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0769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040380"/>
            <a:ext cx="4498848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前向计算当前batch的loss</a:t>
            </a:r>
            <a:endParaRPr lang="en-US" sz="2000" dirty="0"/>
          </a:p>
        </p:txBody>
      </p:sp>
      <p:sp>
        <p:nvSpPr>
          <p:cNvPr id="9" name="chip 03"/>
          <p:cNvSpPr/>
          <p:nvPr/>
        </p:nvSpPr>
        <p:spPr>
          <a:xfrm>
            <a:off x="685800" y="415137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151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114800"/>
            <a:ext cx="4498848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backward计算当前loss的梯度</a:t>
            </a:r>
            <a:endParaRPr lang="en-US" sz="2000" dirty="0"/>
          </a:p>
        </p:txBody>
      </p:sp>
      <p:sp>
        <p:nvSpPr>
          <p:cNvPr id="12" name="chip 04"/>
          <p:cNvSpPr/>
          <p:nvPr/>
        </p:nvSpPr>
        <p:spPr>
          <a:xfrm>
            <a:off x="685800" y="52257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52257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07592" y="5189220"/>
            <a:ext cx="4498848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step按优化规则更新参数</a:t>
            </a:r>
            <a:endParaRPr lang="en-US" sz="2000" dirty="0"/>
          </a:p>
        </p:txBody>
      </p:sp>
      <p:sp>
        <p:nvSpPr>
          <p:cNvPr id="15" name="step 1"/>
          <p:cNvSpPr/>
          <p:nvPr/>
        </p:nvSpPr>
        <p:spPr>
          <a:xfrm>
            <a:off x="6400800" y="204825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6" name="chip 01"/>
          <p:cNvSpPr/>
          <p:nvPr/>
        </p:nvSpPr>
        <p:spPr>
          <a:xfrm>
            <a:off x="6601968" y="225856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2258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05472" y="204825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zero_grad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812280" y="288950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20" name="step 2"/>
          <p:cNvSpPr/>
          <p:nvPr/>
        </p:nvSpPr>
        <p:spPr>
          <a:xfrm>
            <a:off x="6400800" y="314553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21" name="chip 02"/>
          <p:cNvSpPr/>
          <p:nvPr/>
        </p:nvSpPr>
        <p:spPr>
          <a:xfrm>
            <a:off x="6601968" y="335584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1F8FB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01968" y="3355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05472" y="314553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forward → loss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812280" y="398678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25" name="step 3"/>
          <p:cNvSpPr/>
          <p:nvPr/>
        </p:nvSpPr>
        <p:spPr>
          <a:xfrm>
            <a:off x="6400800" y="424281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26" name="chip 03"/>
          <p:cNvSpPr/>
          <p:nvPr/>
        </p:nvSpPr>
        <p:spPr>
          <a:xfrm>
            <a:off x="6601968" y="445312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01968" y="44531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205472" y="424281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loss.backward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812280" y="508406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30" name="step 4"/>
          <p:cNvSpPr/>
          <p:nvPr/>
        </p:nvSpPr>
        <p:spPr>
          <a:xfrm>
            <a:off x="6400800" y="534009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31" name="chip 04"/>
          <p:cNvSpPr/>
          <p:nvPr/>
        </p:nvSpPr>
        <p:spPr>
          <a:xfrm>
            <a:off x="6601968" y="555040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601968" y="5550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205472" y="534009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optimizer.step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模式与梯度是两套开关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7452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train/eval影响BN与Dropout   ·   eval仍能计算梯度   ·   no_grad用于无需求导的推理</a:t>
            </a:r>
            <a:endParaRPr lang="en-US" sz="1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83464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主要作用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model.eval()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固定BN/关闭Dropout随机性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torch.no_grad()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不记录autograd图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Grad-CAM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eval且允许梯度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验证选模型，测试做报告</a:t>
            </a:r>
            <a:endParaRPr lang="en-US" sz="3000" dirty="0"/>
          </a:p>
        </p:txBody>
      </p:sp>
      <p:sp>
        <p:nvSpPr>
          <p:cNvPr id="3" name="point 1"/>
          <p:cNvSpPr/>
          <p:nvPr/>
        </p:nvSpPr>
        <p:spPr>
          <a:xfrm>
            <a:off x="685800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记录每轮训练与验证表现</a:t>
            </a:r>
            <a:endParaRPr lang="en-US" sz="2000" dirty="0"/>
          </a:p>
        </p:txBody>
      </p:sp>
      <p:sp>
        <p:nvSpPr>
          <p:cNvPr id="7" name="point 2"/>
          <p:cNvSpPr/>
          <p:nvPr/>
        </p:nvSpPr>
        <p:spPr>
          <a:xfrm>
            <a:off x="4383938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best_epoch按validation冻结</a:t>
            </a:r>
            <a:endParaRPr lang="en-US" sz="2000" dirty="0"/>
          </a:p>
        </p:txBody>
      </p:sp>
      <p:sp>
        <p:nvSpPr>
          <p:cNvPr id="11" name="point 3"/>
          <p:cNvSpPr/>
          <p:nvPr/>
        </p:nvSpPr>
        <p:spPr>
          <a:xfrm>
            <a:off x="8082077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一次batch loss下降不证明泛化提升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learner = deepcopy(model)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optimizer = torch.optim.SGD(learner.parameters(), lr=.001)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optimizer.zero_grad()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loss = F.cross_entropy(learner(x), y)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loss.backward()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optimizer.step()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10_training_step_classroom.ipynb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batch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batch</a:t>
            </a:r>
            <a:endParaRPr lang="en-US" sz="1200" dirty="0"/>
          </a:p>
        </p:txBody>
      </p:sp>
      <p:sp>
        <p:nvSpPr>
          <p:cNvPr id="13" name="cell forward-loss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forward-loss</a:t>
            </a:r>
            <a:endParaRPr lang="en-US" sz="1200" dirty="0"/>
          </a:p>
        </p:txBody>
      </p:sp>
      <p:sp>
        <p:nvSpPr>
          <p:cNvPr id="15" name="cell one-update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one-update</a:t>
            </a:r>
            <a:endParaRPr lang="en-US" sz="1200" dirty="0"/>
          </a:p>
        </p:txBody>
      </p:sp>
      <p:sp>
        <p:nvSpPr>
          <p:cNvPr id="17" name="cell mode-gradient"/>
          <p:cNvSpPr/>
          <p:nvPr/>
        </p:nvSpPr>
        <p:spPr>
          <a:xfrm>
            <a:off x="8458200" y="4901184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490118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mode-gradient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漏掉zero_grad，连续两次backward后检查梯度；只操作复制模型。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A03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eval模式是否一定没有梯度？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单batch更新不保证test改善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训练模式与梯度模式分别控制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L05A 模型怎样完成一次参数更新？</dc:title>
  <dc:subject>PptxGenJS Presentation</dc:subject>
  <dc:creator>HSI-Learning</dc:creator>
  <cp:lastModifiedBy>HSI-Learning</cp:lastModifiedBy>
  <cp:revision>1</cp:revision>
  <dcterms:created xsi:type="dcterms:W3CDTF">2026-10-10T13:42:18Z</dcterms:created>
  <dcterms:modified xsi:type="dcterms:W3CDTF">2026-10-10T13:42:18Z</dcterms:modified>
</cp:coreProperties>
</file>